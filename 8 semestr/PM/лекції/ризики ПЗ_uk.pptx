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5297" r:id="rId1"/>
  </p:sldMasterIdLst>
  <p:notesMasterIdLst>
    <p:notesMasterId r:id="rId32"/>
  </p:notesMasterIdLst>
  <p:sldIdLst>
    <p:sldId id="256" r:id="rId2"/>
    <p:sldId id="257" r:id="rId3"/>
    <p:sldId id="287" r:id="rId4"/>
    <p:sldId id="286" r:id="rId5"/>
    <p:sldId id="290" r:id="rId6"/>
    <p:sldId id="258"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259" r:id="rId23"/>
    <p:sldId id="260" r:id="rId24"/>
    <p:sldId id="261" r:id="rId25"/>
    <p:sldId id="262" r:id="rId26"/>
    <p:sldId id="264" r:id="rId27"/>
    <p:sldId id="269" r:id="rId28"/>
    <p:sldId id="272" r:id="rId29"/>
    <p:sldId id="274" r:id="rId30"/>
    <p:sldId id="289" r:id="rId31"/>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02" autoAdjust="0"/>
    <p:restoredTop sz="92430" autoAdjust="0"/>
  </p:normalViewPr>
  <p:slideViewPr>
    <p:cSldViewPr>
      <p:cViewPr varScale="1">
        <p:scale>
          <a:sx n="86" d="100"/>
          <a:sy n="86" d="100"/>
        </p:scale>
        <p:origin x="158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user\Documents\&#1050;&#1085;&#1080;&#1075;&#1072;&#1057;&#1058;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manualLayout>
          <c:layoutTarget val="inner"/>
          <c:xMode val="edge"/>
          <c:yMode val="edge"/>
          <c:x val="6.951896433840743E-2"/>
          <c:y val="3.7680737533490924E-2"/>
          <c:w val="0.69136180233185895"/>
          <c:h val="0.80690494392755807"/>
        </c:manualLayout>
      </c:layout>
      <c:bar3DChart>
        <c:barDir val="col"/>
        <c:grouping val="clustered"/>
        <c:varyColors val="0"/>
        <c:ser>
          <c:idx val="0"/>
          <c:order val="0"/>
          <c:tx>
            <c:strRef>
              <c:f>Лист1!$A$3</c:f>
              <c:strCache>
                <c:ptCount val="1"/>
                <c:pt idx="0">
                  <c:v>провал проекта</c:v>
                </c:pt>
              </c:strCache>
            </c:strRef>
          </c:tx>
          <c:spPr>
            <a:gradFill flip="none" rotWithShape="1">
              <a:gsLst>
                <a:gs pos="0">
                  <a:sysClr val="windowText" lastClr="000000">
                    <a:lumMod val="65000"/>
                    <a:lumOff val="35000"/>
                  </a:sysClr>
                </a:gs>
                <a:gs pos="50000">
                  <a:srgbClr val="FF0000"/>
                </a:gs>
                <a:gs pos="100000">
                  <a:prstClr val="black">
                    <a:lumMod val="65000"/>
                    <a:lumOff val="35000"/>
                  </a:prstClr>
                </a:gs>
              </a:gsLst>
              <a:lin ang="10800000" scaled="1"/>
              <a:tileRect/>
            </a:gra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Лист1!$B$2:$F$2</c:f>
              <c:numCache>
                <c:formatCode>General</c:formatCode>
                <c:ptCount val="5"/>
                <c:pt idx="0">
                  <c:v>2002</c:v>
                </c:pt>
                <c:pt idx="1">
                  <c:v>2004</c:v>
                </c:pt>
                <c:pt idx="2">
                  <c:v>2006</c:v>
                </c:pt>
                <c:pt idx="3">
                  <c:v>2008</c:v>
                </c:pt>
                <c:pt idx="4">
                  <c:v>2010</c:v>
                </c:pt>
              </c:numCache>
            </c:numRef>
          </c:cat>
          <c:val>
            <c:numRef>
              <c:f>Лист1!$B$3:$F$3</c:f>
              <c:numCache>
                <c:formatCode>General</c:formatCode>
                <c:ptCount val="5"/>
                <c:pt idx="0">
                  <c:v>15</c:v>
                </c:pt>
                <c:pt idx="1">
                  <c:v>18</c:v>
                </c:pt>
                <c:pt idx="2">
                  <c:v>19</c:v>
                </c:pt>
                <c:pt idx="3">
                  <c:v>24</c:v>
                </c:pt>
                <c:pt idx="4">
                  <c:v>21</c:v>
                </c:pt>
              </c:numCache>
            </c:numRef>
          </c:val>
          <c:extLst>
            <c:ext xmlns:c16="http://schemas.microsoft.com/office/drawing/2014/chart" uri="{C3380CC4-5D6E-409C-BE32-E72D297353CC}">
              <c16:uniqueId val="{00000000-98DF-4196-B009-319B813516D8}"/>
            </c:ext>
          </c:extLst>
        </c:ser>
        <c:ser>
          <c:idx val="1"/>
          <c:order val="1"/>
          <c:tx>
            <c:strRef>
              <c:f>Лист1!$A$4</c:f>
              <c:strCache>
                <c:ptCount val="1"/>
                <c:pt idx="0">
                  <c:v>окончание проекта с нарушением договора</c:v>
                </c:pt>
              </c:strCache>
            </c:strRef>
          </c:tx>
          <c:spPr>
            <a:gradFill>
              <a:gsLst>
                <a:gs pos="0">
                  <a:sysClr val="windowText" lastClr="000000">
                    <a:lumMod val="65000"/>
                    <a:lumOff val="35000"/>
                  </a:sysClr>
                </a:gs>
                <a:gs pos="50000">
                  <a:srgbClr val="FFFF00"/>
                </a:gs>
                <a:gs pos="100000">
                  <a:prstClr val="black">
                    <a:lumMod val="65000"/>
                    <a:lumOff val="35000"/>
                  </a:prstClr>
                </a:gs>
              </a:gsLst>
              <a:lin ang="10800000" scaled="1"/>
            </a:gra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Лист1!$B$2:$F$2</c:f>
              <c:numCache>
                <c:formatCode>General</c:formatCode>
                <c:ptCount val="5"/>
                <c:pt idx="0">
                  <c:v>2002</c:v>
                </c:pt>
                <c:pt idx="1">
                  <c:v>2004</c:v>
                </c:pt>
                <c:pt idx="2">
                  <c:v>2006</c:v>
                </c:pt>
                <c:pt idx="3">
                  <c:v>2008</c:v>
                </c:pt>
                <c:pt idx="4">
                  <c:v>2010</c:v>
                </c:pt>
              </c:numCache>
            </c:numRef>
          </c:cat>
          <c:val>
            <c:numRef>
              <c:f>Лист1!$B$4:$F$4</c:f>
              <c:numCache>
                <c:formatCode>General</c:formatCode>
                <c:ptCount val="5"/>
                <c:pt idx="0">
                  <c:v>51</c:v>
                </c:pt>
                <c:pt idx="1">
                  <c:v>53</c:v>
                </c:pt>
                <c:pt idx="2">
                  <c:v>46</c:v>
                </c:pt>
                <c:pt idx="3">
                  <c:v>44</c:v>
                </c:pt>
                <c:pt idx="4">
                  <c:v>42</c:v>
                </c:pt>
              </c:numCache>
            </c:numRef>
          </c:val>
          <c:extLst>
            <c:ext xmlns:c16="http://schemas.microsoft.com/office/drawing/2014/chart" uri="{C3380CC4-5D6E-409C-BE32-E72D297353CC}">
              <c16:uniqueId val="{00000001-98DF-4196-B009-319B813516D8}"/>
            </c:ext>
          </c:extLst>
        </c:ser>
        <c:ser>
          <c:idx val="2"/>
          <c:order val="2"/>
          <c:tx>
            <c:strRef>
              <c:f>Лист1!$A$5</c:f>
              <c:strCache>
                <c:ptCount val="1"/>
                <c:pt idx="0">
                  <c:v>успешное окончание проекта</c:v>
                </c:pt>
              </c:strCache>
            </c:strRef>
          </c:tx>
          <c:spPr>
            <a:gradFill flip="none" rotWithShape="1">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path path="circle">
                <a:fillToRect l="100000" t="100000"/>
              </a:path>
              <a:tileRect r="-100000" b="-100000"/>
            </a:gradFill>
          </c:spPr>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Лист1!$B$2:$F$2</c:f>
              <c:numCache>
                <c:formatCode>General</c:formatCode>
                <c:ptCount val="5"/>
                <c:pt idx="0">
                  <c:v>2002</c:v>
                </c:pt>
                <c:pt idx="1">
                  <c:v>2004</c:v>
                </c:pt>
                <c:pt idx="2">
                  <c:v>2006</c:v>
                </c:pt>
                <c:pt idx="3">
                  <c:v>2008</c:v>
                </c:pt>
                <c:pt idx="4">
                  <c:v>2010</c:v>
                </c:pt>
              </c:numCache>
            </c:numRef>
          </c:cat>
          <c:val>
            <c:numRef>
              <c:f>Лист1!$B$5:$F$5</c:f>
              <c:numCache>
                <c:formatCode>General</c:formatCode>
                <c:ptCount val="5"/>
                <c:pt idx="0">
                  <c:v>34</c:v>
                </c:pt>
                <c:pt idx="1">
                  <c:v>29</c:v>
                </c:pt>
                <c:pt idx="2">
                  <c:v>35</c:v>
                </c:pt>
                <c:pt idx="3">
                  <c:v>32</c:v>
                </c:pt>
                <c:pt idx="4">
                  <c:v>37</c:v>
                </c:pt>
              </c:numCache>
            </c:numRef>
          </c:val>
          <c:extLst>
            <c:ext xmlns:c16="http://schemas.microsoft.com/office/drawing/2014/chart" uri="{C3380CC4-5D6E-409C-BE32-E72D297353CC}">
              <c16:uniqueId val="{00000002-98DF-4196-B009-319B813516D8}"/>
            </c:ext>
          </c:extLst>
        </c:ser>
        <c:dLbls>
          <c:showLegendKey val="0"/>
          <c:showVal val="0"/>
          <c:showCatName val="0"/>
          <c:showSerName val="0"/>
          <c:showPercent val="0"/>
          <c:showBubbleSize val="0"/>
        </c:dLbls>
        <c:gapWidth val="150"/>
        <c:shape val="cylinder"/>
        <c:axId val="48340352"/>
        <c:axId val="51913856"/>
        <c:axId val="0"/>
      </c:bar3DChart>
      <c:catAx>
        <c:axId val="48340352"/>
        <c:scaling>
          <c:orientation val="minMax"/>
        </c:scaling>
        <c:delete val="0"/>
        <c:axPos val="b"/>
        <c:minorGridlines/>
        <c:numFmt formatCode="General" sourceLinked="1"/>
        <c:majorTickMark val="out"/>
        <c:minorTickMark val="none"/>
        <c:tickLblPos val="nextTo"/>
        <c:crossAx val="51913856"/>
        <c:crossesAt val="0"/>
        <c:auto val="1"/>
        <c:lblAlgn val="ctr"/>
        <c:lblOffset val="100"/>
        <c:noMultiLvlLbl val="0"/>
      </c:catAx>
      <c:valAx>
        <c:axId val="51913856"/>
        <c:scaling>
          <c:orientation val="minMax"/>
          <c:max val="60"/>
        </c:scaling>
        <c:delete val="0"/>
        <c:axPos val="l"/>
        <c:majorGridlines/>
        <c:numFmt formatCode="General" sourceLinked="1"/>
        <c:majorTickMark val="out"/>
        <c:minorTickMark val="none"/>
        <c:tickLblPos val="nextTo"/>
        <c:crossAx val="48340352"/>
        <c:crosses val="autoZero"/>
        <c:crossBetween val="between"/>
      </c:valAx>
    </c:plotArea>
    <c:legend>
      <c:legendPos val="r"/>
      <c:layout>
        <c:manualLayout>
          <c:xMode val="edge"/>
          <c:yMode val="edge"/>
          <c:x val="0.75232364874590651"/>
          <c:y val="0.24357791780186991"/>
          <c:w val="0.24574247004210345"/>
          <c:h val="0.56937999416739571"/>
        </c:manualLayout>
      </c:layout>
      <c:overlay val="0"/>
      <c:txPr>
        <a:bodyPr/>
        <a:lstStyle/>
        <a:p>
          <a:pPr>
            <a:defRPr sz="1400"/>
          </a:pPr>
          <a:endParaRPr lang="ru-UA"/>
        </a:p>
      </c:txPr>
    </c:legend>
    <c:plotVisOnly val="1"/>
    <c:dispBlanksAs val="gap"/>
    <c:showDLblsOverMax val="0"/>
  </c:chart>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0.00267</cdr:x>
      <cdr:y>0.41333</cdr:y>
    </cdr:from>
    <cdr:to>
      <cdr:x>0.04813</cdr:x>
      <cdr:y>0.49333</cdr:y>
    </cdr:to>
    <cdr:sp macro="" textlink="">
      <cdr:nvSpPr>
        <cdr:cNvPr id="2" name="TextBox 1"/>
        <cdr:cNvSpPr txBox="1"/>
      </cdr:nvSpPr>
      <cdr:spPr>
        <a:xfrm xmlns:a="http://schemas.openxmlformats.org/drawingml/2006/main">
          <a:off x="19050" y="1771650"/>
          <a:ext cx="323850" cy="34289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ru-RU" sz="1400" b="1"/>
            <a:t>%</a:t>
          </a:r>
        </a:p>
      </cdr:txBody>
    </cdr:sp>
  </cdr:relSizeAnchor>
  <cdr:relSizeAnchor xmlns:cdr="http://schemas.openxmlformats.org/drawingml/2006/chartDrawing">
    <cdr:from>
      <cdr:x>0.3623</cdr:x>
      <cdr:y>0.90222</cdr:y>
    </cdr:from>
    <cdr:to>
      <cdr:x>0.43583</cdr:x>
      <cdr:y>0.97111</cdr:y>
    </cdr:to>
    <cdr:sp macro="" textlink="">
      <cdr:nvSpPr>
        <cdr:cNvPr id="3" name="TextBox 2"/>
        <cdr:cNvSpPr txBox="1"/>
      </cdr:nvSpPr>
      <cdr:spPr>
        <a:xfrm xmlns:a="http://schemas.openxmlformats.org/drawingml/2006/main">
          <a:off x="2581275" y="3867149"/>
          <a:ext cx="523875" cy="295276"/>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ru-RU" sz="1400" b="1"/>
            <a:t>год</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884255E5-404F-4CDA-9E31-0BE4E49BCDDB}" type="datetimeFigureOut">
              <a:rPr lang="ru-RU"/>
              <a:pPr>
                <a:defRPr/>
              </a:pPr>
              <a:t>14.03.2023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8100EA81-EEE8-44AF-822E-94CC681F2D50}" type="slidenum">
              <a:rPr lang="ru-RU"/>
              <a:pPr>
                <a:defRPr/>
              </a:pPr>
              <a:t>‹#›</a:t>
            </a:fld>
            <a:endParaRPr 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4" name="Freeform 48"/>
          <p:cNvSpPr>
            <a:spLocks/>
          </p:cNvSpPr>
          <p:nvPr/>
        </p:nvSpPr>
        <p:spPr bwMode="gray">
          <a:xfrm>
            <a:off x="0" y="0"/>
            <a:ext cx="7677150" cy="6858000"/>
          </a:xfrm>
          <a:custGeom>
            <a:avLst/>
            <a:gdLst/>
            <a:ahLst/>
            <a:cxnLst>
              <a:cxn ang="0">
                <a:pos x="0" y="0"/>
              </a:cxn>
              <a:cxn ang="0">
                <a:pos x="4272" y="0"/>
              </a:cxn>
              <a:cxn ang="0">
                <a:pos x="2832" y="4320"/>
              </a:cxn>
              <a:cxn ang="0">
                <a:pos x="0" y="4320"/>
              </a:cxn>
              <a:cxn ang="0">
                <a:pos x="0" y="0"/>
              </a:cxn>
            </a:cxnLst>
            <a:rect l="0" t="0" r="r" b="b"/>
            <a:pathLst>
              <a:path w="4272" h="4320">
                <a:moveTo>
                  <a:pt x="0" y="0"/>
                </a:moveTo>
                <a:lnTo>
                  <a:pt x="4272" y="0"/>
                </a:lnTo>
                <a:lnTo>
                  <a:pt x="2832" y="4320"/>
                </a:lnTo>
                <a:lnTo>
                  <a:pt x="0" y="4320"/>
                </a:lnTo>
                <a:lnTo>
                  <a:pt x="0" y="0"/>
                </a:lnTo>
                <a:close/>
              </a:path>
            </a:pathLst>
          </a:custGeom>
          <a:solidFill>
            <a:schemeClr val="accent1">
              <a:alpha val="23000"/>
            </a:schemeClr>
          </a:solidFill>
          <a:ln w="9525">
            <a:noFill/>
            <a:round/>
            <a:headEnd/>
            <a:tailEnd/>
          </a:ln>
          <a:effectLst/>
        </p:spPr>
        <p:txBody>
          <a:bodyPr/>
          <a:lstStyle/>
          <a:p>
            <a:pPr fontAlgn="auto">
              <a:spcBef>
                <a:spcPts val="0"/>
              </a:spcBef>
              <a:spcAft>
                <a:spcPts val="0"/>
              </a:spcAft>
              <a:defRPr/>
            </a:pPr>
            <a:endParaRPr lang="ru-RU">
              <a:latin typeface="+mn-lt"/>
            </a:endParaRPr>
          </a:p>
        </p:txBody>
      </p:sp>
      <p:sp>
        <p:nvSpPr>
          <p:cNvPr id="5" name="Rectangle 49"/>
          <p:cNvSpPr>
            <a:spLocks noChangeArrowheads="1"/>
          </p:cNvSpPr>
          <p:nvPr/>
        </p:nvSpPr>
        <p:spPr bwMode="gray">
          <a:xfrm>
            <a:off x="0" y="762000"/>
            <a:ext cx="9144000" cy="2386013"/>
          </a:xfrm>
          <a:prstGeom prst="rect">
            <a:avLst/>
          </a:prstGeom>
          <a:solidFill>
            <a:schemeClr val="hlink">
              <a:alpha val="96001"/>
            </a:schemeClr>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6" name="Rectangle 50"/>
          <p:cNvSpPr>
            <a:spLocks noChangeArrowheads="1"/>
          </p:cNvSpPr>
          <p:nvPr/>
        </p:nvSpPr>
        <p:spPr bwMode="gray">
          <a:xfrm>
            <a:off x="0" y="6477000"/>
            <a:ext cx="9144000" cy="381000"/>
          </a:xfrm>
          <a:prstGeom prst="rect">
            <a:avLst/>
          </a:prstGeom>
          <a:solidFill>
            <a:srgbClr val="969696">
              <a:alpha val="56000"/>
            </a:srgbClr>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7" name="Freeform 51" descr="Computer&amp; Communtication"/>
          <p:cNvSpPr>
            <a:spLocks/>
          </p:cNvSpPr>
          <p:nvPr/>
        </p:nvSpPr>
        <p:spPr bwMode="gray">
          <a:xfrm>
            <a:off x="0" y="914400"/>
            <a:ext cx="7326313" cy="2233613"/>
          </a:xfrm>
          <a:custGeom>
            <a:avLst/>
            <a:gdLst/>
            <a:ahLst/>
            <a:cxnLst>
              <a:cxn ang="0">
                <a:pos x="0" y="0"/>
              </a:cxn>
              <a:cxn ang="0">
                <a:pos x="4615" y="0"/>
              </a:cxn>
              <a:cxn ang="0">
                <a:pos x="4092" y="1386"/>
              </a:cxn>
              <a:cxn ang="0">
                <a:pos x="0" y="1407"/>
              </a:cxn>
              <a:cxn ang="0">
                <a:pos x="0" y="0"/>
              </a:cxn>
            </a:cxnLst>
            <a:rect l="0" t="0" r="r" b="b"/>
            <a:pathLst>
              <a:path w="4615" h="1407">
                <a:moveTo>
                  <a:pt x="0" y="0"/>
                </a:moveTo>
                <a:lnTo>
                  <a:pt x="4615" y="0"/>
                </a:lnTo>
                <a:lnTo>
                  <a:pt x="4092" y="1386"/>
                </a:lnTo>
                <a:lnTo>
                  <a:pt x="0" y="1407"/>
                </a:lnTo>
                <a:lnTo>
                  <a:pt x="0" y="0"/>
                </a:lnTo>
                <a:close/>
              </a:path>
            </a:pathLst>
          </a:custGeom>
          <a:blipFill dpi="0" rotWithShape="1">
            <a:blip r:embed="rId2" cstate="print"/>
            <a:srcRect/>
            <a:stretch>
              <a:fillRect/>
            </a:stretch>
          </a:blipFill>
          <a:ln w="9525">
            <a:noFill/>
            <a:round/>
            <a:headEnd/>
            <a:tailEnd/>
          </a:ln>
          <a:effectLst/>
        </p:spPr>
        <p:txBody>
          <a:bodyPr/>
          <a:lstStyle/>
          <a:p>
            <a:pPr fontAlgn="auto">
              <a:spcBef>
                <a:spcPts val="0"/>
              </a:spcBef>
              <a:spcAft>
                <a:spcPts val="0"/>
              </a:spcAft>
              <a:defRPr/>
            </a:pPr>
            <a:endParaRPr lang="ru-RU">
              <a:latin typeface="+mn-lt"/>
            </a:endParaRPr>
          </a:p>
        </p:txBody>
      </p:sp>
      <p:sp>
        <p:nvSpPr>
          <p:cNvPr id="8" name="Rectangle 52"/>
          <p:cNvSpPr>
            <a:spLocks noChangeArrowheads="1"/>
          </p:cNvSpPr>
          <p:nvPr/>
        </p:nvSpPr>
        <p:spPr bwMode="gray">
          <a:xfrm>
            <a:off x="0" y="3113088"/>
            <a:ext cx="9144000" cy="1971675"/>
          </a:xfrm>
          <a:prstGeom prst="rect">
            <a:avLst/>
          </a:prstGeom>
          <a:solidFill>
            <a:schemeClr val="tx2"/>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3074" name="Rectangle 2"/>
          <p:cNvSpPr>
            <a:spLocks noGrp="1" noChangeArrowheads="1"/>
          </p:cNvSpPr>
          <p:nvPr>
            <p:ph type="ctrTitle"/>
          </p:nvPr>
        </p:nvSpPr>
        <p:spPr>
          <a:xfrm>
            <a:off x="304800" y="3090863"/>
            <a:ext cx="8534400" cy="838200"/>
          </a:xfrm>
        </p:spPr>
        <p:txBody>
          <a:bodyPr/>
          <a:lstStyle>
            <a:lvl1pPr>
              <a:defRPr sz="4000"/>
            </a:lvl1pPr>
          </a:lstStyle>
          <a:p>
            <a:r>
              <a:rPr lang="ru-RU"/>
              <a:t>Образец заголовка</a:t>
            </a:r>
            <a:endParaRPr lang="en-US"/>
          </a:p>
        </p:txBody>
      </p:sp>
      <p:sp>
        <p:nvSpPr>
          <p:cNvPr id="3075" name="Rectangle 3"/>
          <p:cNvSpPr>
            <a:spLocks noGrp="1" noChangeArrowheads="1"/>
          </p:cNvSpPr>
          <p:nvPr>
            <p:ph type="subTitle" idx="1"/>
          </p:nvPr>
        </p:nvSpPr>
        <p:spPr bwMode="black">
          <a:xfrm>
            <a:off x="5486400" y="5791200"/>
            <a:ext cx="3429000" cy="381000"/>
          </a:xfrm>
        </p:spPr>
        <p:txBody>
          <a:bodyPr/>
          <a:lstStyle>
            <a:lvl1pPr marL="0" indent="0" algn="ctr">
              <a:buFont typeface="Wingdings" pitchFamily="2" charset="2"/>
              <a:buNone/>
              <a:defRPr sz="1600">
                <a:solidFill>
                  <a:schemeClr val="tx2"/>
                </a:solidFill>
              </a:defRPr>
            </a:lvl1pPr>
          </a:lstStyle>
          <a:p>
            <a:r>
              <a:rPr lang="ru-RU"/>
              <a:t>Образец подзаголовка</a:t>
            </a:r>
            <a:endParaRPr lang="en-US"/>
          </a:p>
        </p:txBody>
      </p:sp>
      <p:sp>
        <p:nvSpPr>
          <p:cNvPr id="9" name="Rectangle 4"/>
          <p:cNvSpPr>
            <a:spLocks noGrp="1" noChangeArrowheads="1"/>
          </p:cNvSpPr>
          <p:nvPr>
            <p:ph type="dt" sz="half" idx="10"/>
          </p:nvPr>
        </p:nvSpPr>
        <p:spPr>
          <a:xfrm>
            <a:off x="457200" y="6477000"/>
            <a:ext cx="2133600" cy="244475"/>
          </a:xfrm>
        </p:spPr>
        <p:txBody>
          <a:bodyPr/>
          <a:lstStyle>
            <a:lvl1pPr>
              <a:defRPr sz="1200"/>
            </a:lvl1pPr>
          </a:lstStyle>
          <a:p>
            <a:pPr>
              <a:defRPr/>
            </a:pPr>
            <a:endParaRPr lang="en-US"/>
          </a:p>
        </p:txBody>
      </p:sp>
      <p:sp>
        <p:nvSpPr>
          <p:cNvPr id="10" name="Rectangle 5"/>
          <p:cNvSpPr>
            <a:spLocks noGrp="1" noChangeArrowheads="1"/>
          </p:cNvSpPr>
          <p:nvPr>
            <p:ph type="ftr" sz="quarter" idx="11"/>
          </p:nvPr>
        </p:nvSpPr>
        <p:spPr>
          <a:xfrm>
            <a:off x="3124200" y="6477000"/>
            <a:ext cx="2895600" cy="244475"/>
          </a:xfrm>
        </p:spPr>
        <p:txBody>
          <a:bodyPr/>
          <a:lstStyle>
            <a:lvl1pPr>
              <a:defRPr sz="1200"/>
            </a:lvl1pPr>
          </a:lstStyle>
          <a:p>
            <a:pPr>
              <a:defRPr/>
            </a:pPr>
            <a:endParaRPr lang="en-US"/>
          </a:p>
        </p:txBody>
      </p:sp>
      <p:sp>
        <p:nvSpPr>
          <p:cNvPr id="11" name="Rectangle 6"/>
          <p:cNvSpPr>
            <a:spLocks noGrp="1" noChangeArrowheads="1"/>
          </p:cNvSpPr>
          <p:nvPr>
            <p:ph type="sldNum" sz="quarter" idx="12"/>
          </p:nvPr>
        </p:nvSpPr>
        <p:spPr>
          <a:xfrm>
            <a:off x="6553200" y="6477000"/>
            <a:ext cx="2133600" cy="244475"/>
          </a:xfrm>
        </p:spPr>
        <p:txBody>
          <a:bodyPr/>
          <a:lstStyle>
            <a:lvl1pPr>
              <a:defRPr sz="1200"/>
            </a:lvl1pPr>
          </a:lstStyle>
          <a:p>
            <a:pPr>
              <a:defRPr/>
            </a:pPr>
            <a:fld id="{AB03B857-A0E2-4714-8952-BFC338AB460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endParaRPr lang="en-US"/>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lIns="0" tIns="0" rIns="0" bIns="0"/>
          <a:lstStyle>
            <a:lvl1pPr>
              <a:defRPr>
                <a:solidFill>
                  <a:schemeClr val="tx1"/>
                </a:solidFill>
              </a:defRPr>
            </a:lvl1pPr>
          </a:lstStyle>
          <a:p>
            <a:pPr>
              <a:defRPr/>
            </a:pPr>
            <a:fld id="{05AFA3F7-E640-4688-84D4-3AD59A60B74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E57D645B-7237-4532-994E-9AD46E9E7F6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999967DE-F864-4364-97B2-A8938D87477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pPr>
              <a:defRPr/>
            </a:pPr>
            <a:fld id="{395FF495-84FE-4007-B053-D1C21BC753C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pPr>
              <a:defRPr/>
            </a:pPr>
            <a:fld id="{2E3A32AB-105B-4127-BD3A-9C5FF81FB8E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pPr>
              <a:defRPr/>
            </a:pPr>
            <a:fld id="{EAC3F62C-ECE4-43F5-87BC-BF78FE57793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CC9115BC-9275-4916-B561-D02A868899A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ru-RU" noProof="0"/>
              <a:t>Вставка рисунка</a:t>
            </a:r>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DF482BD9-61A0-4398-BEC1-BC7EA303BC2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3DCE00FD-E330-452A-9F63-1DC33CC93510}"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743700" y="457200"/>
            <a:ext cx="2095500" cy="5867400"/>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457200"/>
            <a:ext cx="6134100" cy="58674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0C13A1E9-2510-4FB3-9C0F-2884651600DB}"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382000" cy="457200"/>
          </a:xfrm>
        </p:spPr>
        <p:txBody>
          <a:bodyPr/>
          <a:lstStyle/>
          <a:p>
            <a:r>
              <a:rPr lang="ru-RU"/>
              <a:t>Образец заголовка</a:t>
            </a:r>
          </a:p>
        </p:txBody>
      </p:sp>
      <p:sp>
        <p:nvSpPr>
          <p:cNvPr id="3" name="Таблица 2"/>
          <p:cNvSpPr>
            <a:spLocks noGrp="1"/>
          </p:cNvSpPr>
          <p:nvPr>
            <p:ph type="tbl" idx="1"/>
          </p:nvPr>
        </p:nvSpPr>
        <p:spPr>
          <a:xfrm>
            <a:off x="457200" y="1219200"/>
            <a:ext cx="8229600" cy="5105400"/>
          </a:xfrm>
        </p:spPr>
        <p:txBody>
          <a:bodyPr/>
          <a:lstStyle/>
          <a:p>
            <a:pPr lvl="0"/>
            <a:r>
              <a:rPr lang="ru-RU" noProof="0"/>
              <a:t>Вставка таблицы</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85C26B13-CE22-431E-AF13-A1F8699EFC7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3" name="Freeform 39" descr="Computer&amp; Communtication1"/>
          <p:cNvSpPr>
            <a:spLocks/>
          </p:cNvSpPr>
          <p:nvPr/>
        </p:nvSpPr>
        <p:spPr bwMode="gray">
          <a:xfrm>
            <a:off x="0" y="0"/>
            <a:ext cx="8915400" cy="1014413"/>
          </a:xfrm>
          <a:custGeom>
            <a:avLst/>
            <a:gdLst/>
            <a:ahLst/>
            <a:cxnLst>
              <a:cxn ang="0">
                <a:pos x="0" y="576"/>
              </a:cxn>
              <a:cxn ang="0">
                <a:pos x="5465" y="563"/>
              </a:cxn>
              <a:cxn ang="0">
                <a:pos x="5616" y="0"/>
              </a:cxn>
              <a:cxn ang="0">
                <a:pos x="0" y="0"/>
              </a:cxn>
              <a:cxn ang="0">
                <a:pos x="0" y="576"/>
              </a:cxn>
            </a:cxnLst>
            <a:rect l="0" t="0" r="r" b="b"/>
            <a:pathLst>
              <a:path w="5616" h="576">
                <a:moveTo>
                  <a:pt x="0" y="576"/>
                </a:moveTo>
                <a:lnTo>
                  <a:pt x="5465" y="563"/>
                </a:lnTo>
                <a:lnTo>
                  <a:pt x="5616" y="0"/>
                </a:lnTo>
                <a:lnTo>
                  <a:pt x="0" y="0"/>
                </a:lnTo>
                <a:lnTo>
                  <a:pt x="0" y="576"/>
                </a:lnTo>
                <a:close/>
              </a:path>
            </a:pathLst>
          </a:custGeom>
          <a:blipFill dpi="0" rotWithShape="1">
            <a:blip r:embed="rId14" cstate="print"/>
            <a:srcRect/>
            <a:stretch>
              <a:fillRect/>
            </a:stretch>
          </a:blipFill>
          <a:ln w="9525">
            <a:noFill/>
            <a:round/>
            <a:headEnd/>
            <a:tailEnd/>
          </a:ln>
          <a:effectLst/>
        </p:spPr>
        <p:txBody>
          <a:bodyPr/>
          <a:lstStyle/>
          <a:p>
            <a:pPr fontAlgn="auto">
              <a:spcBef>
                <a:spcPts val="0"/>
              </a:spcBef>
              <a:spcAft>
                <a:spcPts val="0"/>
              </a:spcAft>
              <a:defRPr/>
            </a:pPr>
            <a:endParaRPr lang="ru-RU">
              <a:latin typeface="+mn-lt"/>
            </a:endParaRPr>
          </a:p>
        </p:txBody>
      </p:sp>
      <p:sp>
        <p:nvSpPr>
          <p:cNvPr id="1064" name="Freeform 40"/>
          <p:cNvSpPr>
            <a:spLocks/>
          </p:cNvSpPr>
          <p:nvPr/>
        </p:nvSpPr>
        <p:spPr bwMode="gray">
          <a:xfrm>
            <a:off x="0" y="0"/>
            <a:ext cx="8924925" cy="6858000"/>
          </a:xfrm>
          <a:custGeom>
            <a:avLst/>
            <a:gdLst/>
            <a:ahLst/>
            <a:cxnLst>
              <a:cxn ang="0">
                <a:pos x="0" y="0"/>
              </a:cxn>
              <a:cxn ang="0">
                <a:pos x="5622" y="0"/>
              </a:cxn>
              <a:cxn ang="0">
                <a:pos x="4457" y="4313"/>
              </a:cxn>
              <a:cxn ang="0">
                <a:pos x="0" y="4320"/>
              </a:cxn>
              <a:cxn ang="0">
                <a:pos x="0" y="0"/>
              </a:cxn>
            </a:cxnLst>
            <a:rect l="0" t="0" r="r" b="b"/>
            <a:pathLst>
              <a:path w="5622" h="4320">
                <a:moveTo>
                  <a:pt x="0" y="0"/>
                </a:moveTo>
                <a:lnTo>
                  <a:pt x="5622" y="0"/>
                </a:lnTo>
                <a:lnTo>
                  <a:pt x="4457" y="4313"/>
                </a:lnTo>
                <a:lnTo>
                  <a:pt x="0" y="4320"/>
                </a:lnTo>
                <a:lnTo>
                  <a:pt x="0" y="0"/>
                </a:lnTo>
                <a:close/>
              </a:path>
            </a:pathLst>
          </a:custGeom>
          <a:solidFill>
            <a:schemeClr val="accent1">
              <a:alpha val="13000"/>
            </a:schemeClr>
          </a:solidFill>
          <a:ln w="9525">
            <a:noFill/>
            <a:round/>
            <a:headEnd/>
            <a:tailEnd/>
          </a:ln>
          <a:effectLst/>
        </p:spPr>
        <p:txBody>
          <a:bodyPr/>
          <a:lstStyle/>
          <a:p>
            <a:pPr fontAlgn="auto">
              <a:spcBef>
                <a:spcPts val="0"/>
              </a:spcBef>
              <a:spcAft>
                <a:spcPts val="0"/>
              </a:spcAft>
              <a:defRPr/>
            </a:pPr>
            <a:endParaRPr lang="ru-RU">
              <a:latin typeface="+mn-lt"/>
            </a:endParaRPr>
          </a:p>
        </p:txBody>
      </p:sp>
      <p:sp>
        <p:nvSpPr>
          <p:cNvPr id="1065" name="Rectangle 41"/>
          <p:cNvSpPr>
            <a:spLocks noChangeArrowheads="1"/>
          </p:cNvSpPr>
          <p:nvPr/>
        </p:nvSpPr>
        <p:spPr bwMode="gray">
          <a:xfrm>
            <a:off x="0" y="6477000"/>
            <a:ext cx="9144000" cy="381000"/>
          </a:xfrm>
          <a:prstGeom prst="rect">
            <a:avLst/>
          </a:prstGeom>
          <a:solidFill>
            <a:srgbClr val="969696">
              <a:alpha val="39999"/>
            </a:srgbClr>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1066" name="Rectangle 42"/>
          <p:cNvSpPr>
            <a:spLocks noChangeArrowheads="1"/>
          </p:cNvSpPr>
          <p:nvPr/>
        </p:nvSpPr>
        <p:spPr bwMode="gray">
          <a:xfrm>
            <a:off x="0" y="403225"/>
            <a:ext cx="9144000" cy="609600"/>
          </a:xfrm>
          <a:prstGeom prst="rect">
            <a:avLst/>
          </a:prstGeom>
          <a:solidFill>
            <a:schemeClr val="tx2">
              <a:alpha val="77000"/>
            </a:schemeClr>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1067" name="Freeform 43"/>
          <p:cNvSpPr>
            <a:spLocks/>
          </p:cNvSpPr>
          <p:nvPr/>
        </p:nvSpPr>
        <p:spPr bwMode="gray">
          <a:xfrm>
            <a:off x="8664575" y="403225"/>
            <a:ext cx="477838" cy="609600"/>
          </a:xfrm>
          <a:custGeom>
            <a:avLst/>
            <a:gdLst/>
            <a:ahLst/>
            <a:cxnLst>
              <a:cxn ang="0">
                <a:pos x="96" y="0"/>
              </a:cxn>
              <a:cxn ang="0">
                <a:pos x="0" y="384"/>
              </a:cxn>
              <a:cxn ang="0">
                <a:pos x="288" y="384"/>
              </a:cxn>
              <a:cxn ang="0">
                <a:pos x="288" y="0"/>
              </a:cxn>
              <a:cxn ang="0">
                <a:pos x="96" y="0"/>
              </a:cxn>
            </a:cxnLst>
            <a:rect l="0" t="0" r="r" b="b"/>
            <a:pathLst>
              <a:path w="288" h="384">
                <a:moveTo>
                  <a:pt x="96" y="0"/>
                </a:moveTo>
                <a:lnTo>
                  <a:pt x="0" y="384"/>
                </a:lnTo>
                <a:lnTo>
                  <a:pt x="288" y="384"/>
                </a:lnTo>
                <a:lnTo>
                  <a:pt x="288" y="0"/>
                </a:lnTo>
                <a:lnTo>
                  <a:pt x="96" y="0"/>
                </a:lnTo>
                <a:close/>
              </a:path>
            </a:pathLst>
          </a:custGeom>
          <a:solidFill>
            <a:schemeClr val="hlink"/>
          </a:solidFill>
          <a:ln w="9525">
            <a:noFill/>
            <a:round/>
            <a:headEnd/>
            <a:tailEnd/>
          </a:ln>
          <a:effectLst/>
        </p:spPr>
        <p:txBody>
          <a:bodyPr/>
          <a:lstStyle/>
          <a:p>
            <a:pPr fontAlgn="auto">
              <a:spcBef>
                <a:spcPts val="0"/>
              </a:spcBef>
              <a:spcAft>
                <a:spcPts val="0"/>
              </a:spcAft>
              <a:defRPr/>
            </a:pPr>
            <a:endParaRPr lang="ru-RU">
              <a:latin typeface="+mn-lt"/>
            </a:endParaRPr>
          </a:p>
        </p:txBody>
      </p:sp>
      <p:sp>
        <p:nvSpPr>
          <p:cNvPr id="1059" name="AutoShape 35"/>
          <p:cNvSpPr>
            <a:spLocks noChangeArrowheads="1"/>
          </p:cNvSpPr>
          <p:nvPr/>
        </p:nvSpPr>
        <p:spPr bwMode="gray">
          <a:xfrm rot="-37800000">
            <a:off x="1154113" y="185738"/>
            <a:ext cx="381000" cy="228600"/>
          </a:xfrm>
          <a:prstGeom prst="triangle">
            <a:avLst>
              <a:gd name="adj" fmla="val 50000"/>
            </a:avLst>
          </a:prstGeom>
          <a:solidFill>
            <a:schemeClr val="bg2">
              <a:alpha val="27000"/>
            </a:schemeClr>
          </a:solidFill>
          <a:ln w="9525">
            <a:noFill/>
            <a:miter lim="800000"/>
            <a:headEnd/>
            <a:tailEnd/>
          </a:ln>
          <a:effectLst/>
        </p:spPr>
        <p:txBody>
          <a:bodyPr wrap="none" anchor="ctr"/>
          <a:lstStyle/>
          <a:p>
            <a:pPr fontAlgn="auto">
              <a:spcBef>
                <a:spcPts val="0"/>
              </a:spcBef>
              <a:spcAft>
                <a:spcPts val="0"/>
              </a:spcAft>
              <a:defRPr/>
            </a:pPr>
            <a:endParaRPr lang="ru-RU">
              <a:latin typeface="+mn-lt"/>
            </a:endParaRPr>
          </a:p>
        </p:txBody>
      </p:sp>
      <p:sp>
        <p:nvSpPr>
          <p:cNvPr id="1032" name="Rectangle 3"/>
          <p:cNvSpPr>
            <a:spLocks noGrp="1" noChangeArrowheads="1"/>
          </p:cNvSpPr>
          <p:nvPr>
            <p:ph type="body" idx="1"/>
          </p:nvPr>
        </p:nvSpPr>
        <p:spPr bwMode="auto">
          <a:xfrm>
            <a:off x="457200" y="1219200"/>
            <a:ext cx="8229600" cy="5105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1028"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fontAlgn="auto">
              <a:spcBef>
                <a:spcPts val="0"/>
              </a:spcBef>
              <a:spcAft>
                <a:spcPts val="0"/>
              </a:spcAft>
              <a:defRPr sz="140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fontAlgn="auto">
              <a:spcBef>
                <a:spcPts val="0"/>
              </a:spcBef>
              <a:spcAft>
                <a:spcPts val="0"/>
              </a:spcAft>
              <a:defRPr sz="1400">
                <a:latin typeface="+mn-lt"/>
              </a:defRPr>
            </a:lvl1pPr>
          </a:lstStyle>
          <a:p>
            <a:pPr>
              <a:defRPr/>
            </a:pPr>
            <a:endParaRPr lang="ru-RU"/>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fontAlgn="auto">
              <a:spcBef>
                <a:spcPts val="0"/>
              </a:spcBef>
              <a:spcAft>
                <a:spcPts val="0"/>
              </a:spcAft>
              <a:defRPr sz="1400">
                <a:latin typeface="+mn-lt"/>
              </a:defRPr>
            </a:lvl1pPr>
          </a:lstStyle>
          <a:p>
            <a:pPr>
              <a:defRPr/>
            </a:pPr>
            <a:fld id="{C96EB938-8EF0-4E5B-ADEC-71EEDDEB1B71}" type="slidenum">
              <a:rPr lang="en-US"/>
              <a:pPr>
                <a:defRPr/>
              </a:pPr>
              <a:t>‹#›</a:t>
            </a:fld>
            <a:endParaRPr lang="en-US"/>
          </a:p>
        </p:txBody>
      </p:sp>
      <p:sp>
        <p:nvSpPr>
          <p:cNvPr id="1036" name="Rectangle 2"/>
          <p:cNvSpPr>
            <a:spLocks noGrp="1" noChangeArrowheads="1"/>
          </p:cNvSpPr>
          <p:nvPr>
            <p:ph type="title"/>
          </p:nvPr>
        </p:nvSpPr>
        <p:spPr bwMode="white">
          <a:xfrm>
            <a:off x="457200" y="457200"/>
            <a:ext cx="8382000" cy="457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a:t>Образец заголовка</a:t>
            </a:r>
            <a:endParaRPr lang="en-US"/>
          </a:p>
        </p:txBody>
      </p:sp>
    </p:spTree>
  </p:cSld>
  <p:clrMap bg1="lt1" tx1="dk1" bg2="lt2" tx2="dk2" accent1="accent1" accent2="accent2" accent3="accent3" accent4="accent4" accent5="accent5" accent6="accent6" hlink="hlink" folHlink="folHlink"/>
  <p:sldLayoutIdLst>
    <p:sldLayoutId id="2147485310" r:id="rId1"/>
    <p:sldLayoutId id="2147485311" r:id="rId2"/>
    <p:sldLayoutId id="2147485309" r:id="rId3"/>
    <p:sldLayoutId id="2147485308" r:id="rId4"/>
    <p:sldLayoutId id="2147485307" r:id="rId5"/>
    <p:sldLayoutId id="2147485306" r:id="rId6"/>
    <p:sldLayoutId id="2147485305" r:id="rId7"/>
    <p:sldLayoutId id="2147485304" r:id="rId8"/>
    <p:sldLayoutId id="2147485303" r:id="rId9"/>
    <p:sldLayoutId id="2147485302" r:id="rId10"/>
    <p:sldLayoutId id="2147485301" r:id="rId11"/>
    <p:sldLayoutId id="2147485300" r:id="rId12"/>
  </p:sldLayoutIdLst>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Arial" charset="0"/>
        </a:defRPr>
      </a:lvl2pPr>
      <a:lvl3pPr algn="ctr" rtl="0" eaLnBrk="0" fontAlgn="base" hangingPunct="0">
        <a:spcBef>
          <a:spcPct val="0"/>
        </a:spcBef>
        <a:spcAft>
          <a:spcPct val="0"/>
        </a:spcAft>
        <a:defRPr sz="3200" b="1">
          <a:solidFill>
            <a:schemeClr val="bg1"/>
          </a:solidFill>
          <a:latin typeface="Arial" charset="0"/>
        </a:defRPr>
      </a:lvl3pPr>
      <a:lvl4pPr algn="ctr" rtl="0" eaLnBrk="0" fontAlgn="base" hangingPunct="0">
        <a:spcBef>
          <a:spcPct val="0"/>
        </a:spcBef>
        <a:spcAft>
          <a:spcPct val="0"/>
        </a:spcAft>
        <a:defRPr sz="3200" b="1">
          <a:solidFill>
            <a:schemeClr val="bg1"/>
          </a:solidFill>
          <a:latin typeface="Arial" charset="0"/>
        </a:defRPr>
      </a:lvl4pPr>
      <a:lvl5pPr algn="ctr" rtl="0" eaLnBrk="0" fontAlgn="base" hangingPunct="0">
        <a:spcBef>
          <a:spcPct val="0"/>
        </a:spcBef>
        <a:spcAft>
          <a:spcPct val="0"/>
        </a:spcAft>
        <a:defRPr sz="3200" b="1">
          <a:solidFill>
            <a:schemeClr val="bg1"/>
          </a:solidFill>
          <a:latin typeface="Arial" charset="0"/>
        </a:defRPr>
      </a:lvl5pPr>
      <a:lvl6pPr marL="457200" algn="ctr" rtl="0" eaLnBrk="1" fontAlgn="base" hangingPunct="1">
        <a:spcBef>
          <a:spcPct val="0"/>
        </a:spcBef>
        <a:spcAft>
          <a:spcPct val="0"/>
        </a:spcAft>
        <a:defRPr sz="3200" b="1">
          <a:solidFill>
            <a:schemeClr val="bg1"/>
          </a:solidFill>
          <a:latin typeface="Arial" charset="0"/>
        </a:defRPr>
      </a:lvl6pPr>
      <a:lvl7pPr marL="914400" algn="ctr" rtl="0" eaLnBrk="1" fontAlgn="base" hangingPunct="1">
        <a:spcBef>
          <a:spcPct val="0"/>
        </a:spcBef>
        <a:spcAft>
          <a:spcPct val="0"/>
        </a:spcAft>
        <a:defRPr sz="3200" b="1">
          <a:solidFill>
            <a:schemeClr val="bg1"/>
          </a:solidFill>
          <a:latin typeface="Arial" charset="0"/>
        </a:defRPr>
      </a:lvl7pPr>
      <a:lvl8pPr marL="1371600" algn="ctr" rtl="0" eaLnBrk="1" fontAlgn="base" hangingPunct="1">
        <a:spcBef>
          <a:spcPct val="0"/>
        </a:spcBef>
        <a:spcAft>
          <a:spcPct val="0"/>
        </a:spcAft>
        <a:defRPr sz="3200" b="1">
          <a:solidFill>
            <a:schemeClr val="bg1"/>
          </a:solidFill>
          <a:latin typeface="Arial" charset="0"/>
        </a:defRPr>
      </a:lvl8pPr>
      <a:lvl9pPr marL="1828800" algn="ctr" rtl="0" eaLnBrk="1" fontAlgn="base" hangingPunct="1">
        <a:spcBef>
          <a:spcPct val="0"/>
        </a:spcBef>
        <a:spcAft>
          <a:spcPct val="0"/>
        </a:spcAft>
        <a:defRPr sz="3200" b="1">
          <a:solidFill>
            <a:schemeClr val="bg1"/>
          </a:solidFill>
          <a:latin typeface="Arial" charset="0"/>
        </a:defRPr>
      </a:lvl9pPr>
    </p:titleStyle>
    <p:bodyStyle>
      <a:lvl1pPr marL="342900" indent="-342900" algn="l" rtl="0" eaLnBrk="0" fontAlgn="base" hangingPunct="0">
        <a:spcBef>
          <a:spcPct val="20000"/>
        </a:spcBef>
        <a:spcAft>
          <a:spcPct val="0"/>
        </a:spcAft>
        <a:buClr>
          <a:schemeClr val="tx2"/>
        </a:buClr>
        <a:buFont typeface="Wingdings"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600">
          <a:solidFill>
            <a:schemeClr val="tx1"/>
          </a:solidFill>
          <a:latin typeface="+mn-lt"/>
        </a:defRPr>
      </a:lvl2pPr>
      <a:lvl3pPr marL="1143000" indent="-228600" algn="l" rtl="0" eaLnBrk="0" fontAlgn="base" hangingPunct="0">
        <a:spcBef>
          <a:spcPct val="20000"/>
        </a:spcBef>
        <a:spcAft>
          <a:spcPct val="0"/>
        </a:spcAft>
        <a:buClr>
          <a:schemeClr val="accent2"/>
        </a:buClr>
        <a:buChar char="•"/>
        <a:defRPr sz="22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2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1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3090863"/>
            <a:ext cx="9144000" cy="1993900"/>
          </a:xfrm>
        </p:spPr>
        <p:txBody>
          <a:bodyPr/>
          <a:lstStyle/>
          <a:p>
            <a:pPr algn="l" rtl="0" eaLnBrk="1" hangingPunct="1"/>
            <a:r>
              <a:rPr lang="ru-RU" sz="3200" dirty="0">
                <a:effectLst>
                  <a:outerShdw blurRad="38100" dist="38100" dir="2700000" algn="tl">
                    <a:srgbClr val="C0C0C0"/>
                  </a:outerShdw>
                </a:effectLst>
              </a:rPr>
              <a:t>УПРАВЛІННЯ РИЗИКАМИ</a:t>
            </a:r>
            <a:br>
              <a:rPr lang="ru-RU" sz="3200" dirty="0">
                <a:effectLst>
                  <a:outerShdw blurRad="38100" dist="38100" dir="2700000" algn="tl">
                    <a:srgbClr val="C0C0C0"/>
                  </a:outerShdw>
                </a:effectLst>
              </a:rPr>
            </a:br>
            <a:r>
              <a:rPr lang="ru-RU" sz="3200" dirty="0">
                <a:effectLst>
                  <a:outerShdw blurRad="38100" dist="38100" dir="2700000" algn="tl">
                    <a:srgbClr val="C0C0C0"/>
                  </a:outerShdw>
                </a:effectLst>
              </a:rPr>
              <a:t>У ПРОГРАМНИХ ​​ПРОЄКТАХ</a:t>
            </a:r>
          </a:p>
        </p:txBody>
      </p:sp>
      <p:sp>
        <p:nvSpPr>
          <p:cNvPr id="15362" name="Подзаголовок 2"/>
          <p:cNvSpPr>
            <a:spLocks noGrp="1"/>
          </p:cNvSpPr>
          <p:nvPr>
            <p:ph type="subTitle" idx="1"/>
          </p:nvPr>
        </p:nvSpPr>
        <p:spPr>
          <a:xfrm>
            <a:off x="250825" y="5157788"/>
            <a:ext cx="8497888" cy="1295400"/>
          </a:xfrm>
        </p:spPr>
        <p:txBody>
          <a:bodyPr/>
          <a:lstStyle/>
          <a:p>
            <a:pPr algn="l" rtl="0" eaLnBrk="1" hangingPunct="1"/>
            <a:endParaRPr lang="ru-RU" sz="2800" dirty="0"/>
          </a:p>
          <a:p>
            <a:pPr algn="l" rtl="0" eaLnBrk="1" hangingPunct="1"/>
            <a:r>
              <a:rPr lang="ru-RU" sz="2800" b="1" dirty="0" err="1"/>
              <a:t>Мандрікова</a:t>
            </a:r>
            <a:r>
              <a:rPr lang="ru-RU" sz="2800" b="1" dirty="0"/>
              <a:t> Людмила </a:t>
            </a:r>
            <a:r>
              <a:rPr lang="ru-RU" sz="2800" b="1" dirty="0" err="1"/>
              <a:t>Василівна</a:t>
            </a:r>
            <a:endParaRPr lang="ru-RU" sz="2800" b="1" dirty="0"/>
          </a:p>
          <a:p>
            <a:pPr algn="l" rtl="0" eaLnBrk="1" hangingPunct="1"/>
            <a:endParaRPr lang="ru-RU" sz="2800" dirty="0"/>
          </a:p>
          <a:p>
            <a:pPr algn="l" rtl="0" eaLnBrk="1" hangingPunct="1"/>
            <a:endParaRPr lang="ru-RU"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2988" y="457200"/>
            <a:ext cx="7058025" cy="457200"/>
          </a:xfrm>
        </p:spPr>
        <p:txBody>
          <a:bodyPr/>
          <a:lstStyle/>
          <a:p>
            <a:pPr algn="l" rtl="0" eaLnBrk="1" hangingPunct="1">
              <a:defRPr/>
            </a:pPr>
            <a:r>
              <a:rPr lang="ru-RU" sz="2400" dirty="0">
                <a:effectLst>
                  <a:outerShdw blurRad="38100" dist="38100" dir="2700000" algn="tl">
                    <a:srgbClr val="000000">
                      <a:alpha val="43137"/>
                    </a:srgbClr>
                  </a:outerShdw>
                </a:effectLst>
              </a:rPr>
              <a:t>Результати досліджень</a:t>
            </a:r>
            <a:r>
              <a:rPr lang="ru-RU" sz="2400" dirty="0" err="1">
                <a:effectLst>
                  <a:outerShdw blurRad="38100" dist="38100" dir="2700000" algn="tl">
                    <a:srgbClr val="000000">
                      <a:alpha val="43137"/>
                    </a:srgbClr>
                  </a:outerShdw>
                </a:effectLst>
              </a:rPr>
              <a:t>Standish</a:t>
            </a:r>
            <a:r>
              <a:rPr lang="ru-RU" sz="2400" dirty="0">
                <a:effectLst>
                  <a:outerShdw blurRad="38100" dist="38100" dir="2700000" algn="tl">
                    <a:srgbClr val="000000">
                      <a:alpha val="43137"/>
                    </a:srgbClr>
                  </a:outerShdw>
                </a:effectLst>
              </a:rPr>
              <a:t> </a:t>
            </a:r>
            <a:r>
              <a:rPr lang="ru-RU" sz="2400" dirty="0" err="1">
                <a:effectLst>
                  <a:outerShdw blurRad="38100" dist="38100" dir="2700000" algn="tl">
                    <a:srgbClr val="000000">
                      <a:alpha val="43137"/>
                    </a:srgbClr>
                  </a:outerShdw>
                </a:effectLst>
              </a:rPr>
              <a:t>Group</a:t>
            </a:r>
            <a:r>
              <a:rPr lang="ru-RU" sz="2400" dirty="0">
                <a:effectLst>
                  <a:outerShdw blurRad="38100" dist="38100" dir="2700000" algn="tl">
                    <a:srgbClr val="C0C0C0"/>
                  </a:outerShdw>
                </a:effectLst>
              </a:rPr>
              <a:t>:</a:t>
            </a:r>
            <a:r>
              <a:rPr lang="ru-RU" sz="2400" dirty="0">
                <a:effectLst>
                  <a:outerShdw blurRad="38100" dist="38100" dir="2700000" algn="tl">
                    <a:srgbClr val="000000">
                      <a:alpha val="43137"/>
                    </a:srgbClr>
                  </a:outerShdw>
                </a:effectLst>
              </a:rPr>
              <a:t>CHAOS</a:t>
            </a:r>
            <a:r>
              <a:rPr lang="ru-RU" sz="2400" dirty="0" err="1">
                <a:effectLst>
                  <a:outerShdw blurRad="38100" dist="38100" dir="2700000" algn="tl">
                    <a:srgbClr val="000000">
                      <a:alpha val="43137"/>
                    </a:srgbClr>
                  </a:outerShdw>
                </a:effectLst>
              </a:rPr>
              <a:t>reports</a:t>
            </a:r>
            <a:endParaRPr lang="ru-RU" sz="2400" dirty="0">
              <a:effectLst>
                <a:outerShdw blurRad="38100" dist="38100" dir="2700000" algn="tl">
                  <a:srgbClr val="000000">
                    <a:alpha val="43137"/>
                  </a:srgbClr>
                </a:outerShdw>
              </a:effectLst>
            </a:endParaRPr>
          </a:p>
        </p:txBody>
      </p:sp>
      <p:sp>
        <p:nvSpPr>
          <p:cNvPr id="19459" name="Номер слайда 3"/>
          <p:cNvSpPr>
            <a:spLocks noGrp="1"/>
          </p:cNvSpPr>
          <p:nvPr>
            <p:ph type="sldNum" sz="quarter" idx="12"/>
          </p:nvPr>
        </p:nvSpPr>
        <p:spPr/>
        <p:txBody>
          <a:bodyPr/>
          <a:lstStyle/>
          <a:p>
            <a:pPr algn="l" rtl="0" fontAlgn="base">
              <a:spcBef>
                <a:spcPct val="0"/>
              </a:spcBef>
              <a:spcAft>
                <a:spcPct val="0"/>
              </a:spcAft>
              <a:defRPr/>
            </a:pPr>
            <a:fld id="{F5417390-0DB8-443F-86E6-39F05C891FAA}" type="slidenum">
              <a:rPr lang="en-US"/>
              <a:pPr algn="l" rtl="0" fontAlgn="base">
                <a:spcBef>
                  <a:spcPct val="0"/>
                </a:spcBef>
                <a:spcAft>
                  <a:spcPct val="0"/>
                </a:spcAft>
                <a:defRPr/>
              </a:pPr>
              <a:t>2</a:t>
            </a:fld>
            <a:endParaRPr lang="en-US"/>
          </a:p>
        </p:txBody>
      </p:sp>
      <p:graphicFrame>
        <p:nvGraphicFramePr>
          <p:cNvPr id="193" name="Диаграмма 192"/>
          <p:cNvGraphicFramePr/>
          <p:nvPr/>
        </p:nvGraphicFramePr>
        <p:xfrm>
          <a:off x="251520" y="1196752"/>
          <a:ext cx="8892480" cy="566124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eaLnBrk="1" hangingPunct="1">
              <a:defRPr/>
            </a:pPr>
            <a:r>
              <a:rPr lang="ru-RU" sz="2800" dirty="0">
                <a:effectLst>
                  <a:outerShdw blurRad="38100" dist="38100" dir="2700000" algn="tl">
                    <a:srgbClr val="000000">
                      <a:alpha val="43137"/>
                    </a:srgbClr>
                  </a:outerShdw>
                </a:effectLst>
              </a:rPr>
              <a:t>Управління ризиками програмних проектів</a:t>
            </a:r>
            <a:endParaRPr lang="ru-RU" sz="2800" dirty="0"/>
          </a:p>
        </p:txBody>
      </p:sp>
      <p:sp>
        <p:nvSpPr>
          <p:cNvPr id="3" name="Содержимое 2"/>
          <p:cNvSpPr>
            <a:spLocks noGrp="1"/>
          </p:cNvSpPr>
          <p:nvPr>
            <p:ph idx="1"/>
          </p:nvPr>
        </p:nvSpPr>
        <p:spPr>
          <a:xfrm>
            <a:off x="457200" y="1125538"/>
            <a:ext cx="8507413" cy="5638800"/>
          </a:xfrm>
        </p:spPr>
        <p:txBody>
          <a:bodyPr/>
          <a:lstStyle/>
          <a:p>
            <a:pPr marL="0" indent="363538" algn="l" rtl="0" eaLnBrk="1" hangingPunct="1">
              <a:buFont typeface="Wingdings" pitchFamily="2" charset="2"/>
              <a:buNone/>
            </a:pPr>
            <a:r>
              <a:rPr lang="ru-RU" sz="1800" b="1" dirty="0" err="1"/>
              <a:t>Проєкт</a:t>
            </a:r>
            <a:r>
              <a:rPr lang="ru-RU" sz="1800" dirty="0"/>
              <a:t>– </a:t>
            </a:r>
            <a:r>
              <a:rPr lang="ru-RU" sz="1800" dirty="0" err="1"/>
              <a:t>це</a:t>
            </a:r>
            <a:r>
              <a:rPr lang="ru-RU" sz="1800" dirty="0"/>
              <a:t> </a:t>
            </a:r>
            <a:r>
              <a:rPr lang="ru-RU" sz="1800" dirty="0" err="1"/>
              <a:t>обмежена</a:t>
            </a:r>
            <a:r>
              <a:rPr lang="ru-RU" sz="1800" dirty="0"/>
              <a:t> за часом </a:t>
            </a:r>
            <a:r>
              <a:rPr lang="ru-RU" sz="1800" dirty="0" err="1"/>
              <a:t>цілеспрямована</a:t>
            </a:r>
            <a:r>
              <a:rPr lang="ru-RU" sz="1800" dirty="0"/>
              <a:t> </a:t>
            </a:r>
            <a:r>
              <a:rPr lang="ru-RU" sz="1800" dirty="0" err="1"/>
              <a:t>зміна</a:t>
            </a:r>
            <a:r>
              <a:rPr lang="ru-RU" sz="1800" dirty="0"/>
              <a:t> </a:t>
            </a:r>
            <a:r>
              <a:rPr lang="ru-RU" sz="1800" dirty="0" err="1"/>
              <a:t>окремої</a:t>
            </a:r>
            <a:r>
              <a:rPr lang="ru-RU" sz="1800" dirty="0"/>
              <a:t> </a:t>
            </a:r>
            <a:r>
              <a:rPr lang="ru-RU" sz="1800" dirty="0" err="1"/>
              <a:t>системи</a:t>
            </a:r>
            <a:r>
              <a:rPr lang="ru-RU" sz="1800" dirty="0"/>
              <a:t> з </a:t>
            </a:r>
            <a:r>
              <a:rPr lang="ru-RU" sz="1800" dirty="0" err="1"/>
              <a:t>спочатку</a:t>
            </a:r>
            <a:r>
              <a:rPr lang="ru-RU" sz="1800" dirty="0"/>
              <a:t> </a:t>
            </a:r>
            <a:r>
              <a:rPr lang="ru-RU" sz="1800" dirty="0" err="1"/>
              <a:t>чітко</a:t>
            </a:r>
            <a:r>
              <a:rPr lang="ru-RU" sz="1800" dirty="0"/>
              <a:t> </a:t>
            </a:r>
            <a:r>
              <a:rPr lang="ru-RU" sz="1800" dirty="0" err="1"/>
              <a:t>визначеними</a:t>
            </a:r>
            <a:r>
              <a:rPr lang="ru-RU" sz="1800" dirty="0"/>
              <a:t> </a:t>
            </a:r>
            <a:r>
              <a:rPr lang="ru-RU" sz="1800" dirty="0" err="1"/>
              <a:t>цілями</a:t>
            </a:r>
            <a:r>
              <a:rPr lang="ru-RU" sz="1800" dirty="0"/>
              <a:t>, </a:t>
            </a:r>
            <a:r>
              <a:rPr lang="ru-RU" sz="1800" dirty="0" err="1"/>
              <a:t>досягнення</a:t>
            </a:r>
            <a:r>
              <a:rPr lang="ru-RU" sz="1800" dirty="0"/>
              <a:t> </a:t>
            </a:r>
            <a:r>
              <a:rPr lang="ru-RU" sz="1800" dirty="0" err="1"/>
              <a:t>яких</a:t>
            </a:r>
            <a:r>
              <a:rPr lang="ru-RU" sz="1800" dirty="0"/>
              <a:t> </a:t>
            </a:r>
            <a:r>
              <a:rPr lang="ru-RU" sz="1800" dirty="0" err="1"/>
              <a:t>визначає</a:t>
            </a:r>
            <a:r>
              <a:rPr lang="ru-RU" sz="1800" dirty="0"/>
              <a:t> </a:t>
            </a:r>
            <a:r>
              <a:rPr lang="ru-RU" sz="1800" dirty="0" err="1"/>
              <a:t>завершення</a:t>
            </a:r>
            <a:r>
              <a:rPr lang="ru-RU" sz="1800" dirty="0"/>
              <a:t> проекту, </a:t>
            </a:r>
            <a:r>
              <a:rPr lang="ru-RU" sz="1800" dirty="0" err="1"/>
              <a:t>із</a:t>
            </a:r>
            <a:r>
              <a:rPr lang="ru-RU" sz="1800" dirty="0"/>
              <a:t> </a:t>
            </a:r>
            <a:r>
              <a:rPr lang="ru-RU" sz="1800" dirty="0" err="1"/>
              <a:t>встановленими</a:t>
            </a:r>
            <a:r>
              <a:rPr lang="ru-RU" sz="1800" dirty="0"/>
              <a:t> </a:t>
            </a:r>
            <a:r>
              <a:rPr lang="ru-RU" sz="1800" dirty="0" err="1"/>
              <a:t>вимогами</a:t>
            </a:r>
            <a:r>
              <a:rPr lang="ru-RU" sz="1800" dirty="0"/>
              <a:t> до </a:t>
            </a:r>
            <a:r>
              <a:rPr lang="ru-RU" sz="1800" dirty="0" err="1"/>
              <a:t>термінів</a:t>
            </a:r>
            <a:r>
              <a:rPr lang="ru-RU" sz="1800" dirty="0"/>
              <a:t>, </a:t>
            </a:r>
            <a:r>
              <a:rPr lang="ru-RU" sz="1800" dirty="0" err="1"/>
              <a:t>результатів</a:t>
            </a:r>
            <a:r>
              <a:rPr lang="ru-RU" sz="1800" dirty="0"/>
              <a:t>, </a:t>
            </a:r>
            <a:r>
              <a:rPr lang="ru-RU" sz="1800" dirty="0" err="1"/>
              <a:t>ризику</a:t>
            </a:r>
            <a:r>
              <a:rPr lang="ru-RU" sz="1800" dirty="0"/>
              <a:t>, рамок </a:t>
            </a:r>
            <a:r>
              <a:rPr lang="ru-RU" sz="1800" dirty="0" err="1"/>
              <a:t>витрачання</a:t>
            </a:r>
            <a:r>
              <a:rPr lang="ru-RU" sz="1800" dirty="0"/>
              <a:t> </a:t>
            </a:r>
            <a:r>
              <a:rPr lang="ru-RU" sz="1800" dirty="0" err="1"/>
              <a:t>коштів</a:t>
            </a:r>
            <a:r>
              <a:rPr lang="ru-RU" sz="1800" dirty="0"/>
              <a:t> та </a:t>
            </a:r>
            <a:r>
              <a:rPr lang="ru-RU" sz="1800" dirty="0" err="1"/>
              <a:t>ресурсів</a:t>
            </a:r>
            <a:r>
              <a:rPr lang="ru-RU" sz="1800" dirty="0"/>
              <a:t> та до </a:t>
            </a:r>
            <a:r>
              <a:rPr lang="ru-RU" sz="1800" dirty="0" err="1"/>
              <a:t>організаційної</a:t>
            </a:r>
            <a:r>
              <a:rPr lang="ru-RU" sz="1800" dirty="0"/>
              <a:t> структури.</a:t>
            </a:r>
            <a:r>
              <a:rPr lang="ru-RU" sz="1800" baseline="30000" dirty="0"/>
              <a:t>1</a:t>
            </a:r>
          </a:p>
          <a:p>
            <a:pPr marL="0" indent="363538" algn="l" rtl="0" eaLnBrk="1" hangingPunct="1">
              <a:buFont typeface="Wingdings" pitchFamily="2" charset="2"/>
              <a:buNone/>
            </a:pPr>
            <a:r>
              <a:rPr lang="ru-RU" sz="1800" b="1" dirty="0" err="1"/>
              <a:t>Ризик</a:t>
            </a:r>
            <a:r>
              <a:rPr lang="ru-RU" sz="1800" dirty="0"/>
              <a:t>- </a:t>
            </a:r>
            <a:r>
              <a:rPr lang="ru-RU" sz="1800" dirty="0" err="1"/>
              <a:t>можлива</a:t>
            </a:r>
            <a:r>
              <a:rPr lang="ru-RU" sz="1800" dirty="0"/>
              <a:t> </a:t>
            </a:r>
            <a:r>
              <a:rPr lang="ru-RU" sz="1800" dirty="0" err="1"/>
              <a:t>небажана</a:t>
            </a:r>
            <a:r>
              <a:rPr lang="ru-RU" sz="1800" dirty="0"/>
              <a:t> </a:t>
            </a:r>
            <a:r>
              <a:rPr lang="ru-RU" sz="1800" dirty="0" err="1"/>
              <a:t>подія</a:t>
            </a:r>
            <a:r>
              <a:rPr lang="ru-RU" sz="1800" dirty="0"/>
              <a:t> (</a:t>
            </a:r>
            <a:r>
              <a:rPr lang="ru-RU" sz="1800" dirty="0" err="1"/>
              <a:t>або</a:t>
            </a:r>
            <a:r>
              <a:rPr lang="ru-RU" sz="1800" dirty="0"/>
              <a:t> </a:t>
            </a:r>
            <a:r>
              <a:rPr lang="ru-RU" sz="1800" dirty="0" err="1"/>
              <a:t>клас</a:t>
            </a:r>
            <a:r>
              <a:rPr lang="ru-RU" sz="1800" dirty="0"/>
              <a:t> </a:t>
            </a:r>
            <a:r>
              <a:rPr lang="ru-RU" sz="1800" dirty="0" err="1"/>
              <a:t>можливих</a:t>
            </a:r>
            <a:r>
              <a:rPr lang="ru-RU" sz="1800" dirty="0"/>
              <a:t> </a:t>
            </a:r>
            <a:r>
              <a:rPr lang="ru-RU" sz="1800" dirty="0" err="1"/>
              <a:t>небажаних</a:t>
            </a:r>
            <a:r>
              <a:rPr lang="ru-RU" sz="1800" dirty="0"/>
              <a:t> </a:t>
            </a:r>
            <a:r>
              <a:rPr lang="ru-RU" sz="1800" dirty="0" err="1"/>
              <a:t>подій</a:t>
            </a:r>
            <a:r>
              <a:rPr lang="ru-RU" sz="1800" dirty="0"/>
              <a:t>), </a:t>
            </a:r>
            <a:r>
              <a:rPr lang="ru-RU" sz="1800" dirty="0" err="1"/>
              <a:t>під</a:t>
            </a:r>
            <a:r>
              <a:rPr lang="ru-RU" sz="1800" dirty="0"/>
              <a:t> </a:t>
            </a:r>
            <a:r>
              <a:rPr lang="ru-RU" sz="1800" dirty="0" err="1"/>
              <a:t>дією</a:t>
            </a:r>
            <a:r>
              <a:rPr lang="ru-RU" sz="1800" dirty="0"/>
              <a:t> </a:t>
            </a:r>
            <a:r>
              <a:rPr lang="ru-RU" sz="1800" dirty="0" err="1"/>
              <a:t>якої</a:t>
            </a:r>
            <a:r>
              <a:rPr lang="ru-RU" sz="1800" dirty="0"/>
              <a:t> </a:t>
            </a:r>
            <a:r>
              <a:rPr lang="ru-RU" sz="1800" dirty="0" err="1"/>
              <a:t>об'єкт</a:t>
            </a:r>
            <a:r>
              <a:rPr lang="ru-RU" sz="1800" dirty="0"/>
              <a:t> </a:t>
            </a:r>
            <a:r>
              <a:rPr lang="ru-RU" sz="1800" dirty="0" err="1"/>
              <a:t>управління</a:t>
            </a:r>
            <a:r>
              <a:rPr lang="ru-RU" sz="1800" dirty="0"/>
              <a:t> </a:t>
            </a:r>
            <a:r>
              <a:rPr lang="ru-RU" sz="1800" dirty="0" err="1"/>
              <a:t>може</a:t>
            </a:r>
            <a:r>
              <a:rPr lang="ru-RU" sz="1800" dirty="0"/>
              <a:t> перейти в </a:t>
            </a:r>
            <a:r>
              <a:rPr lang="ru-RU" sz="1800" dirty="0" err="1"/>
              <a:t>небажаний</a:t>
            </a:r>
            <a:r>
              <a:rPr lang="ru-RU" sz="1800" dirty="0"/>
              <a:t> стан (</a:t>
            </a:r>
            <a:r>
              <a:rPr lang="ru-RU" sz="1800" dirty="0" err="1"/>
              <a:t>назване</a:t>
            </a:r>
            <a:r>
              <a:rPr lang="ru-RU" sz="1800" i="1" dirty="0" err="1"/>
              <a:t>ризиковою</a:t>
            </a:r>
            <a:r>
              <a:rPr lang="ru-RU" sz="1800" i="1" dirty="0"/>
              <a:t> </a:t>
            </a:r>
            <a:r>
              <a:rPr lang="ru-RU" sz="1800" i="1" dirty="0" err="1"/>
              <a:t>ситуацією</a:t>
            </a:r>
            <a:r>
              <a:rPr lang="ru-RU" sz="1800" dirty="0"/>
              <a:t>)</a:t>
            </a:r>
            <a:r>
              <a:rPr lang="ru-RU" sz="1800" baseline="30000" dirty="0"/>
              <a:t>2</a:t>
            </a:r>
            <a:r>
              <a:rPr lang="ru-RU" sz="1800" dirty="0"/>
              <a:t>.</a:t>
            </a:r>
          </a:p>
          <a:p>
            <a:pPr marL="0" indent="363538" algn="l" rtl="0" eaLnBrk="1" hangingPunct="1">
              <a:buFont typeface="Wingdings" pitchFamily="2" charset="2"/>
              <a:buNone/>
            </a:pPr>
            <a:r>
              <a:rPr lang="ru-RU" sz="1800" dirty="0" err="1"/>
              <a:t>Під</a:t>
            </a:r>
            <a:r>
              <a:rPr lang="ru-RU" sz="1800" dirty="0"/>
              <a:t> </a:t>
            </a:r>
            <a:r>
              <a:rPr lang="ru-RU" sz="1800" b="1" dirty="0" err="1"/>
              <a:t>реалізацією</a:t>
            </a:r>
            <a:r>
              <a:rPr lang="ru-RU" sz="1800" b="1" dirty="0"/>
              <a:t> </a:t>
            </a:r>
            <a:r>
              <a:rPr lang="ru-RU" sz="1800" b="1" dirty="0" err="1"/>
              <a:t>ризику</a:t>
            </a:r>
            <a:r>
              <a:rPr lang="ru-RU" sz="1800" b="1" dirty="0"/>
              <a:t> </a:t>
            </a:r>
            <a:r>
              <a:rPr lang="ru-RU" sz="1800" dirty="0" err="1"/>
              <a:t>розуміється</a:t>
            </a:r>
            <a:r>
              <a:rPr lang="ru-RU" sz="1800" dirty="0"/>
              <a:t> </a:t>
            </a:r>
            <a:r>
              <a:rPr lang="ru-RU" sz="1800" dirty="0" err="1"/>
              <a:t>поява</a:t>
            </a:r>
            <a:r>
              <a:rPr lang="ru-RU" sz="1800" dirty="0"/>
              <a:t> </a:t>
            </a:r>
            <a:r>
              <a:rPr lang="ru-RU" sz="1800" dirty="0" err="1"/>
              <a:t>події</a:t>
            </a:r>
            <a:r>
              <a:rPr lang="ru-RU" sz="1800" dirty="0"/>
              <a:t> </a:t>
            </a:r>
            <a:r>
              <a:rPr lang="ru-RU" sz="1800" dirty="0" err="1"/>
              <a:t>ризику</a:t>
            </a:r>
            <a:r>
              <a:rPr lang="ru-RU" sz="1800" dirty="0"/>
              <a:t> та </a:t>
            </a:r>
            <a:r>
              <a:rPr lang="ru-RU" sz="1800" dirty="0" err="1"/>
              <a:t>перехід</a:t>
            </a:r>
            <a:r>
              <a:rPr lang="ru-RU" sz="1800" dirty="0"/>
              <a:t> </a:t>
            </a:r>
            <a:r>
              <a:rPr lang="ru-RU" sz="1800" dirty="0" err="1"/>
              <a:t>об'єкта</a:t>
            </a:r>
            <a:r>
              <a:rPr lang="ru-RU" sz="1800" dirty="0"/>
              <a:t> </a:t>
            </a:r>
            <a:r>
              <a:rPr lang="ru-RU" sz="1800" dirty="0" err="1"/>
              <a:t>управління</a:t>
            </a:r>
            <a:r>
              <a:rPr lang="ru-RU" sz="1800" dirty="0"/>
              <a:t> в </a:t>
            </a:r>
            <a:r>
              <a:rPr lang="ru-RU" sz="1800" dirty="0" err="1"/>
              <a:t>небажаний</a:t>
            </a:r>
            <a:r>
              <a:rPr lang="ru-RU" sz="1800" dirty="0"/>
              <a:t> стан </a:t>
            </a:r>
            <a:r>
              <a:rPr lang="ru-RU" sz="1800" dirty="0" err="1"/>
              <a:t>під</a:t>
            </a:r>
            <a:r>
              <a:rPr lang="ru-RU" sz="1800" dirty="0"/>
              <a:t> </a:t>
            </a:r>
            <a:r>
              <a:rPr lang="ru-RU" sz="1800" dirty="0" err="1"/>
              <a:t>впливом</a:t>
            </a:r>
            <a:r>
              <a:rPr lang="ru-RU" sz="1800" dirty="0"/>
              <a:t> </a:t>
            </a:r>
            <a:r>
              <a:rPr lang="ru-RU" sz="1800" dirty="0" err="1"/>
              <a:t>цієї</a:t>
            </a:r>
            <a:r>
              <a:rPr lang="ru-RU" sz="1800" dirty="0"/>
              <a:t> </a:t>
            </a:r>
            <a:r>
              <a:rPr lang="ru-RU" sz="1800" dirty="0" err="1"/>
              <a:t>події</a:t>
            </a:r>
            <a:r>
              <a:rPr lang="uk-UA" sz="1800" dirty="0"/>
              <a:t> </a:t>
            </a:r>
            <a:r>
              <a:rPr lang="ru-RU" sz="1800" dirty="0"/>
              <a:t>.</a:t>
            </a:r>
          </a:p>
          <a:p>
            <a:pPr marL="0" indent="363538" algn="l" rtl="0" eaLnBrk="1" hangingPunct="1">
              <a:buFont typeface="Wingdings" pitchFamily="2" charset="2"/>
              <a:buNone/>
            </a:pPr>
            <a:endParaRPr lang="ru-RU" sz="1800" dirty="0"/>
          </a:p>
          <a:p>
            <a:pPr marL="0" indent="363538" algn="l" rtl="0" eaLnBrk="1" hangingPunct="1">
              <a:buFont typeface="Wingdings" pitchFamily="2" charset="2"/>
              <a:buNone/>
            </a:pPr>
            <a:endParaRPr lang="ru-RU" sz="1800" baseline="30000" dirty="0"/>
          </a:p>
          <a:p>
            <a:pPr marL="0" indent="363538" algn="l" rtl="0" eaLnBrk="1" hangingPunct="1">
              <a:buFont typeface="Wingdings" pitchFamily="2" charset="2"/>
              <a:buNone/>
            </a:pPr>
            <a:endParaRPr lang="ru-RU" sz="2000" dirty="0"/>
          </a:p>
          <a:p>
            <a:pPr marL="0" indent="363538" algn="l" rtl="0" eaLnBrk="1" hangingPunct="1">
              <a:buFont typeface="Wingdings" pitchFamily="2" charset="2"/>
              <a:buNone/>
            </a:pPr>
            <a:endParaRPr lang="ru-RU" sz="2000" dirty="0"/>
          </a:p>
          <a:p>
            <a:pPr marL="0" indent="363538" algn="l" rtl="0" eaLnBrk="1" hangingPunct="1">
              <a:buFont typeface="Wingdings" pitchFamily="2" charset="2"/>
              <a:buNone/>
            </a:pPr>
            <a:endParaRPr lang="ru-RU" sz="2000" dirty="0"/>
          </a:p>
          <a:p>
            <a:pPr marL="0" indent="363538" algn="l" rtl="0" eaLnBrk="1" hangingPunct="1">
              <a:buFont typeface="Wingdings" pitchFamily="2" charset="2"/>
              <a:buNone/>
            </a:pPr>
            <a:endParaRPr lang="ru-RU" sz="2000" dirty="0"/>
          </a:p>
          <a:p>
            <a:pPr marL="0" indent="363538" algn="l" rtl="0" eaLnBrk="1" hangingPunct="1"/>
            <a:endParaRPr lang="ru-RU" dirty="0"/>
          </a:p>
        </p:txBody>
      </p:sp>
      <p:sp>
        <p:nvSpPr>
          <p:cNvPr id="4" name="Номер слайда 3"/>
          <p:cNvSpPr>
            <a:spLocks noGrp="1"/>
          </p:cNvSpPr>
          <p:nvPr>
            <p:ph type="sldNum" sz="quarter" idx="12"/>
          </p:nvPr>
        </p:nvSpPr>
        <p:spPr/>
        <p:txBody>
          <a:bodyPr/>
          <a:lstStyle/>
          <a:p>
            <a:pPr algn="l" rtl="0">
              <a:defRPr/>
            </a:pPr>
            <a:fld id="{5C07A55B-47C2-4D7A-9C13-14FD949A9DBB}" type="slidenum">
              <a:rPr lang="en-US" smtClean="0"/>
              <a:pPr algn="l" rtl="0">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eaLnBrk="1" hangingPunct="1">
              <a:defRPr/>
            </a:pPr>
            <a:r>
              <a:rPr lang="ru-RU" dirty="0">
                <a:effectLst>
                  <a:outerShdw blurRad="38100" dist="38100" dir="2700000" algn="tl">
                    <a:srgbClr val="000000">
                      <a:alpha val="43137"/>
                    </a:srgbClr>
                  </a:outerShdw>
                </a:effectLst>
              </a:rPr>
              <a:t>Особливості програмних проектів</a:t>
            </a:r>
          </a:p>
        </p:txBody>
      </p:sp>
      <p:sp>
        <p:nvSpPr>
          <p:cNvPr id="21506" name="Содержимое 2"/>
          <p:cNvSpPr>
            <a:spLocks noGrp="1"/>
          </p:cNvSpPr>
          <p:nvPr>
            <p:ph idx="1"/>
          </p:nvPr>
        </p:nvSpPr>
        <p:spPr>
          <a:xfrm>
            <a:off x="250825" y="1196975"/>
            <a:ext cx="8713788" cy="5127625"/>
          </a:xfrm>
        </p:spPr>
        <p:txBody>
          <a:bodyPr/>
          <a:lstStyle/>
          <a:p>
            <a:pPr algn="l" rtl="0" eaLnBrk="1" hangingPunct="1">
              <a:spcBef>
                <a:spcPts val="1000"/>
              </a:spcBef>
            </a:pPr>
            <a:r>
              <a:rPr lang="ru-RU" sz="2000"/>
              <a:t>Програмний продукт є нематеріальним. На відміну від технічних проектів, керівник програмного проекту може відстежувати процес розвитку програмного забезпечення, що розробляється тільки шляхом аналізу звітної документації.</a:t>
            </a:r>
          </a:p>
          <a:p>
            <a:pPr algn="l" rtl="0" eaLnBrk="1" hangingPunct="1">
              <a:spcBef>
                <a:spcPts val="1000"/>
              </a:spcBef>
            </a:pPr>
            <a:r>
              <a:rPr lang="ru-RU" sz="2000"/>
              <a:t>Немає стандартних процесів розробки ПЗ. Для більшості технічних систем процеси їх створення добре вивчені, тоді як процеси створення програмного забезпечення досліджуються лише кілька останніх років. Тому не можна точно передбачити, на якому етапі процесу розробки програмного забезпечення можуть виникнути проблеми, що загрожують усьому проекту.</a:t>
            </a:r>
          </a:p>
          <a:p>
            <a:pPr algn="l" rtl="0" eaLnBrk="1" hangingPunct="1">
              <a:spcBef>
                <a:spcPts val="1000"/>
              </a:spcBef>
            </a:pPr>
            <a:r>
              <a:rPr lang="ru-RU" sz="2000"/>
              <a:t>Непридатність знання та досвіду розробки попередніх проектів. Великі програмні проекти зазвичай значно відрізняються від раніше реалізованих проектів. Тому керівники повинні мати дуже великий практичний досвід. Однак постійні технологічні зміни комп'ютерної техніки знецінюють попередній досвід.</a:t>
            </a:r>
          </a:p>
          <a:p>
            <a:pPr algn="l" rtl="0" eaLnBrk="1" hangingPunct="1"/>
            <a:endParaRPr lang="ru-RU" sz="1800"/>
          </a:p>
          <a:p>
            <a:pPr algn="l" rtl="0" eaLnBrk="1" hangingPunct="1"/>
            <a:endParaRPr lang="ru-RU"/>
          </a:p>
          <a:p>
            <a:pPr algn="l" rtl="0" eaLnBrk="1" hangingPunct="1"/>
            <a:endParaRPr lang="ru-RU"/>
          </a:p>
          <a:p>
            <a:pPr algn="l" rtl="0" eaLnBrk="1" hangingPunct="1"/>
            <a:endParaRPr lang="ru-RU"/>
          </a:p>
          <a:p>
            <a:pPr algn="l" rtl="0" eaLnBrk="1" hangingPunct="1"/>
            <a:endParaRPr lang="ru-RU"/>
          </a:p>
        </p:txBody>
      </p:sp>
      <p:sp>
        <p:nvSpPr>
          <p:cNvPr id="4" name="Номер слайда 3"/>
          <p:cNvSpPr>
            <a:spLocks noGrp="1"/>
          </p:cNvSpPr>
          <p:nvPr>
            <p:ph type="sldNum" sz="quarter" idx="12"/>
          </p:nvPr>
        </p:nvSpPr>
        <p:spPr/>
        <p:txBody>
          <a:bodyPr/>
          <a:lstStyle/>
          <a:p>
            <a:pPr algn="l" rtl="0">
              <a:defRPr/>
            </a:pPr>
            <a:fld id="{99473115-0464-4F28-A7C2-3B41E65B6A66}" type="slidenum">
              <a:rPr lang="en-US" smtClean="0"/>
              <a:pPr algn="l" rtl="0">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83C2C4-6F50-16D3-9A65-7A2D97CFBDF2}"/>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DEFD2066-A9F0-49A7-3A9A-D7C5DB153FFF}"/>
              </a:ext>
            </a:extLst>
          </p:cNvPr>
          <p:cNvSpPr>
            <a:spLocks noGrp="1"/>
          </p:cNvSpPr>
          <p:nvPr>
            <p:ph idx="1"/>
          </p:nvPr>
        </p:nvSpPr>
        <p:spPr/>
        <p:txBody>
          <a:bodyPr/>
          <a:lstStyle/>
          <a:p>
            <a:r>
              <a:rPr lang="ru-RU" dirty="0" err="1"/>
              <a:t>Управління</a:t>
            </a:r>
            <a:r>
              <a:rPr lang="ru-RU" dirty="0"/>
              <a:t> </a:t>
            </a:r>
            <a:r>
              <a:rPr lang="ru-RU" dirty="0" err="1"/>
              <a:t>ризиками</a:t>
            </a:r>
            <a:r>
              <a:rPr lang="ru-RU" dirty="0"/>
              <a:t> при </a:t>
            </a:r>
            <a:r>
              <a:rPr lang="ru-RU" dirty="0" err="1"/>
              <a:t>розробці</a:t>
            </a:r>
            <a:r>
              <a:rPr lang="ru-RU" dirty="0"/>
              <a:t> ПЗ — </a:t>
            </a:r>
            <a:r>
              <a:rPr lang="ru-RU" dirty="0" err="1"/>
              <a:t>це</a:t>
            </a:r>
            <a:r>
              <a:rPr lang="ru-RU" dirty="0"/>
              <a:t> </a:t>
            </a:r>
            <a:r>
              <a:rPr lang="ru-RU" dirty="0" err="1"/>
              <a:t>процес</a:t>
            </a:r>
            <a:r>
              <a:rPr lang="ru-RU" dirty="0"/>
              <a:t> </a:t>
            </a:r>
            <a:r>
              <a:rPr lang="ru-RU" dirty="0" err="1"/>
              <a:t>вимірювання</a:t>
            </a:r>
            <a:r>
              <a:rPr lang="ru-RU" dirty="0"/>
              <a:t> </a:t>
            </a:r>
            <a:r>
              <a:rPr lang="ru-RU" dirty="0" err="1"/>
              <a:t>або</a:t>
            </a:r>
            <a:r>
              <a:rPr lang="ru-RU" dirty="0"/>
              <a:t> </a:t>
            </a:r>
            <a:r>
              <a:rPr lang="ru-RU" dirty="0" err="1"/>
              <a:t>оцінки</a:t>
            </a:r>
            <a:r>
              <a:rPr lang="ru-RU" dirty="0"/>
              <a:t> </a:t>
            </a:r>
            <a:r>
              <a:rPr lang="ru-RU" dirty="0" err="1"/>
              <a:t>ризику</a:t>
            </a:r>
            <a:r>
              <a:rPr lang="ru-RU" dirty="0"/>
              <a:t> при </a:t>
            </a:r>
            <a:r>
              <a:rPr lang="ru-RU" dirty="0" err="1"/>
              <a:t>розробці</a:t>
            </a:r>
            <a:r>
              <a:rPr lang="ru-RU" dirty="0"/>
              <a:t> </a:t>
            </a:r>
            <a:r>
              <a:rPr lang="ru-RU" dirty="0" err="1"/>
              <a:t>програмного</a:t>
            </a:r>
            <a:r>
              <a:rPr lang="ru-RU" dirty="0"/>
              <a:t> </a:t>
            </a:r>
            <a:r>
              <a:rPr lang="ru-RU" dirty="0" err="1"/>
              <a:t>забезпечення</a:t>
            </a:r>
            <a:r>
              <a:rPr lang="ru-RU" dirty="0"/>
              <a:t> і </a:t>
            </a:r>
            <a:r>
              <a:rPr lang="ru-RU" dirty="0" err="1"/>
              <a:t>потім</a:t>
            </a:r>
            <a:r>
              <a:rPr lang="ru-RU" dirty="0"/>
              <a:t> </a:t>
            </a:r>
            <a:r>
              <a:rPr lang="ru-RU" dirty="0" err="1"/>
              <a:t>розробки</a:t>
            </a:r>
            <a:r>
              <a:rPr lang="ru-RU" dirty="0"/>
              <a:t> </a:t>
            </a:r>
            <a:r>
              <a:rPr lang="ru-RU" dirty="0" err="1"/>
              <a:t>стратегії</a:t>
            </a:r>
            <a:r>
              <a:rPr lang="ru-RU" dirty="0"/>
              <a:t> </a:t>
            </a:r>
            <a:r>
              <a:rPr lang="ru-RU" dirty="0" err="1"/>
              <a:t>управління</a:t>
            </a:r>
            <a:r>
              <a:rPr lang="ru-RU" dirty="0"/>
              <a:t> </a:t>
            </a:r>
            <a:r>
              <a:rPr lang="ru-RU" dirty="0" err="1"/>
              <a:t>ризиком</a:t>
            </a:r>
            <a:r>
              <a:rPr lang="ru-RU" dirty="0"/>
              <a:t> (</a:t>
            </a:r>
            <a:r>
              <a:rPr lang="ru-RU" dirty="0" err="1"/>
              <a:t>Ризик</a:t>
            </a:r>
            <a:r>
              <a:rPr lang="ru-RU" dirty="0"/>
              <a:t>-менеджмент). </a:t>
            </a:r>
            <a:r>
              <a:rPr lang="ru-RU" dirty="0" err="1"/>
              <a:t>Основна</a:t>
            </a:r>
            <a:r>
              <a:rPr lang="ru-RU" dirty="0"/>
              <a:t> мета </a:t>
            </a:r>
            <a:r>
              <a:rPr lang="ru-RU" dirty="0" err="1"/>
              <a:t>процесу</a:t>
            </a:r>
            <a:r>
              <a:rPr lang="ru-RU" dirty="0"/>
              <a:t> </a:t>
            </a:r>
            <a:r>
              <a:rPr lang="ru-RU" dirty="0" err="1"/>
              <a:t>управління</a:t>
            </a:r>
            <a:r>
              <a:rPr lang="ru-RU" dirty="0"/>
              <a:t> </a:t>
            </a:r>
            <a:r>
              <a:rPr lang="ru-RU" dirty="0" err="1"/>
              <a:t>ризиками</a:t>
            </a:r>
            <a:r>
              <a:rPr lang="ru-RU" dirty="0"/>
              <a:t> — </a:t>
            </a:r>
            <a:r>
              <a:rPr lang="ru-RU" dirty="0" err="1"/>
              <a:t>це</a:t>
            </a:r>
            <a:r>
              <a:rPr lang="ru-RU" dirty="0"/>
              <a:t> </a:t>
            </a:r>
            <a:r>
              <a:rPr lang="ru-RU" dirty="0" err="1"/>
              <a:t>змінити</a:t>
            </a:r>
            <a:r>
              <a:rPr lang="ru-RU" dirty="0"/>
              <a:t> модель </a:t>
            </a:r>
            <a:r>
              <a:rPr lang="ru-RU" dirty="0" err="1"/>
              <a:t>поведінки</a:t>
            </a:r>
            <a:r>
              <a:rPr lang="ru-RU" dirty="0"/>
              <a:t>. </a:t>
            </a:r>
            <a:r>
              <a:rPr lang="ru-RU" dirty="0" err="1"/>
              <a:t>Замість</a:t>
            </a:r>
            <a:r>
              <a:rPr lang="ru-RU" dirty="0"/>
              <a:t> </a:t>
            </a:r>
            <a:r>
              <a:rPr lang="ru-RU" dirty="0" err="1"/>
              <a:t>реагування</a:t>
            </a:r>
            <a:r>
              <a:rPr lang="ru-RU" dirty="0"/>
              <a:t> на </a:t>
            </a:r>
            <a:r>
              <a:rPr lang="ru-RU" dirty="0" err="1"/>
              <a:t>ризики</a:t>
            </a:r>
            <a:r>
              <a:rPr lang="ru-RU" dirty="0"/>
              <a:t>, </a:t>
            </a:r>
            <a:r>
              <a:rPr lang="ru-RU" dirty="0" err="1"/>
              <a:t>що</a:t>
            </a:r>
            <a:r>
              <a:rPr lang="ru-RU" dirty="0"/>
              <a:t> </a:t>
            </a:r>
            <a:r>
              <a:rPr lang="ru-RU" dirty="0" err="1"/>
              <a:t>вже</a:t>
            </a:r>
            <a:r>
              <a:rPr lang="ru-RU" dirty="0"/>
              <a:t> настали, </a:t>
            </a:r>
            <a:r>
              <a:rPr lang="ru-RU" dirty="0" err="1"/>
              <a:t>необхідно</a:t>
            </a:r>
            <a:r>
              <a:rPr lang="ru-RU" dirty="0"/>
              <a:t> </a:t>
            </a:r>
            <a:r>
              <a:rPr lang="ru-RU" dirty="0" err="1"/>
              <a:t>проводити</a:t>
            </a:r>
            <a:r>
              <a:rPr lang="ru-RU" dirty="0"/>
              <a:t> </a:t>
            </a:r>
            <a:r>
              <a:rPr lang="ru-RU" dirty="0" err="1"/>
              <a:t>попередження</a:t>
            </a:r>
            <a:r>
              <a:rPr lang="ru-RU" dirty="0"/>
              <a:t> </a:t>
            </a:r>
            <a:r>
              <a:rPr lang="ru-RU" dirty="0" err="1"/>
              <a:t>ризиків</a:t>
            </a:r>
            <a:r>
              <a:rPr lang="ru-RU" dirty="0"/>
              <a:t> і </a:t>
            </a:r>
            <a:r>
              <a:rPr lang="ru-RU" dirty="0" err="1"/>
              <a:t>опрацювання</a:t>
            </a:r>
            <a:r>
              <a:rPr lang="ru-RU" dirty="0"/>
              <a:t> </a:t>
            </a:r>
            <a:r>
              <a:rPr lang="ru-RU" dirty="0" err="1"/>
              <a:t>сценарію</a:t>
            </a:r>
            <a:r>
              <a:rPr lang="ru-RU" dirty="0"/>
              <a:t> </a:t>
            </a:r>
            <a:r>
              <a:rPr lang="ru-RU" dirty="0" err="1"/>
              <a:t>дії</a:t>
            </a:r>
            <a:r>
              <a:rPr lang="ru-RU" dirty="0"/>
              <a:t> в </a:t>
            </a:r>
            <a:r>
              <a:rPr lang="ru-RU" dirty="0" err="1"/>
              <a:t>разі</a:t>
            </a:r>
            <a:r>
              <a:rPr lang="ru-RU" dirty="0"/>
              <a:t> </a:t>
            </a:r>
            <a:r>
              <a:rPr lang="ru-RU" dirty="0" err="1"/>
              <a:t>настання</a:t>
            </a:r>
            <a:r>
              <a:rPr lang="ru-RU" dirty="0"/>
              <a:t> </a:t>
            </a:r>
            <a:r>
              <a:rPr lang="ru-RU" dirty="0" err="1"/>
              <a:t>ризикової</a:t>
            </a:r>
            <a:r>
              <a:rPr lang="ru-RU" dirty="0"/>
              <a:t> </a:t>
            </a:r>
            <a:r>
              <a:rPr lang="ru-RU" dirty="0" err="1"/>
              <a:t>події</a:t>
            </a:r>
            <a:r>
              <a:rPr lang="ru-RU" dirty="0"/>
              <a:t>. </a:t>
            </a:r>
            <a:r>
              <a:rPr lang="ru-RU" dirty="0" err="1"/>
              <a:t>Це</a:t>
            </a:r>
            <a:r>
              <a:rPr lang="ru-RU" dirty="0"/>
              <a:t> те, </a:t>
            </a:r>
            <a:r>
              <a:rPr lang="ru-RU" dirty="0" err="1"/>
              <a:t>що</a:t>
            </a:r>
            <a:r>
              <a:rPr lang="ru-RU" dirty="0"/>
              <a:t> </a:t>
            </a:r>
            <a:r>
              <a:rPr lang="ru-RU" dirty="0" err="1"/>
              <a:t>називається</a:t>
            </a:r>
            <a:r>
              <a:rPr lang="ru-RU" dirty="0"/>
              <a:t> «</a:t>
            </a:r>
            <a:r>
              <a:rPr lang="en-US" dirty="0"/>
              <a:t>be proactive».</a:t>
            </a:r>
            <a:endParaRPr lang="ru-UA" dirty="0"/>
          </a:p>
        </p:txBody>
      </p:sp>
      <p:sp>
        <p:nvSpPr>
          <p:cNvPr id="4" name="Номер слайда 3">
            <a:extLst>
              <a:ext uri="{FF2B5EF4-FFF2-40B4-BE49-F238E27FC236}">
                <a16:creationId xmlns:a16="http://schemas.microsoft.com/office/drawing/2014/main" id="{36D44DB4-0B61-491A-5DD7-0AECF5F3A7EB}"/>
              </a:ext>
            </a:extLst>
          </p:cNvPr>
          <p:cNvSpPr>
            <a:spLocks noGrp="1"/>
          </p:cNvSpPr>
          <p:nvPr>
            <p:ph type="sldNum" sz="quarter" idx="12"/>
          </p:nvPr>
        </p:nvSpPr>
        <p:spPr/>
        <p:txBody>
          <a:bodyPr/>
          <a:lstStyle/>
          <a:p>
            <a:pPr>
              <a:defRPr/>
            </a:pPr>
            <a:fld id="{05AFA3F7-E640-4688-84D4-3AD59A60B741}" type="slidenum">
              <a:rPr lang="en-US" smtClean="0"/>
              <a:pPr>
                <a:defRPr/>
              </a:pPr>
              <a:t>5</a:t>
            </a:fld>
            <a:endParaRPr lang="en-US" dirty="0"/>
          </a:p>
        </p:txBody>
      </p:sp>
    </p:spTree>
    <p:extLst>
      <p:ext uri="{BB962C8B-B14F-4D97-AF65-F5344CB8AC3E}">
        <p14:creationId xmlns:p14="http://schemas.microsoft.com/office/powerpoint/2010/main" val="259794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63" y="217488"/>
            <a:ext cx="8248650" cy="914400"/>
          </a:xfrm>
        </p:spPr>
        <p:txBody>
          <a:bodyPr/>
          <a:lstStyle/>
          <a:p>
            <a:pPr algn="l" rtl="0" eaLnBrk="1" hangingPunct="1">
              <a:defRPr/>
            </a:pPr>
            <a:r>
              <a:rPr lang="ru-RU" sz="2400" dirty="0">
                <a:effectLst>
                  <a:outerShdw blurRad="38100" dist="38100" dir="2700000" algn="tl">
                    <a:srgbClr val="000000">
                      <a:alpha val="43137"/>
                    </a:srgbClr>
                  </a:outerShdw>
                </a:effectLst>
              </a:rPr>
              <a:t>Процес управління ризиками, описаний у PMBOK®, містить такі процеси:</a:t>
            </a:r>
          </a:p>
        </p:txBody>
      </p:sp>
      <p:sp>
        <p:nvSpPr>
          <p:cNvPr id="60420" name="Rectangle 2"/>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algn="l" rtl="0"/>
            <a:endParaRPr lang="ru-RU"/>
          </a:p>
        </p:txBody>
      </p:sp>
      <p:sp>
        <p:nvSpPr>
          <p:cNvPr id="60421" name="Прямоугольник 5"/>
          <p:cNvSpPr>
            <a:spLocks noChangeArrowheads="1"/>
          </p:cNvSpPr>
          <p:nvPr/>
        </p:nvSpPr>
        <p:spPr bwMode="auto">
          <a:xfrm>
            <a:off x="468313" y="1412875"/>
            <a:ext cx="8497887" cy="1754188"/>
          </a:xfrm>
          <a:prstGeom prst="rect">
            <a:avLst/>
          </a:prstGeom>
          <a:noFill/>
          <a:ln w="9525">
            <a:noFill/>
            <a:miter lim="800000"/>
            <a:headEnd/>
            <a:tailEnd/>
          </a:ln>
        </p:spPr>
        <p:txBody>
          <a:bodyPr>
            <a:spAutoFit/>
          </a:bodyPr>
          <a:lstStyle/>
          <a:p>
            <a:pPr algn="l" rtl="0">
              <a:buFont typeface="Wingdings" pitchFamily="2" charset="2"/>
              <a:buChar char="ü"/>
            </a:pPr>
            <a:r>
              <a:rPr lang="ru-RU"/>
              <a:t>Планування управління ризиками (Risk Management Planning);</a:t>
            </a:r>
          </a:p>
          <a:p>
            <a:pPr algn="l" rtl="0">
              <a:buFont typeface="Wingdings" pitchFamily="2" charset="2"/>
              <a:buChar char="ü"/>
            </a:pPr>
            <a:r>
              <a:rPr lang="ru-RU"/>
              <a:t>Ідентифікація ризиків (Risk Identification);</a:t>
            </a:r>
          </a:p>
          <a:p>
            <a:pPr algn="l" rtl="0">
              <a:buFont typeface="Wingdings" pitchFamily="2" charset="2"/>
              <a:buChar char="ü"/>
            </a:pPr>
            <a:r>
              <a:rPr lang="ru-RU"/>
              <a:t>Якісний аналіз ризиків (Qualitative Risk Analysis);</a:t>
            </a:r>
          </a:p>
          <a:p>
            <a:pPr algn="l" rtl="0">
              <a:buFont typeface="Wingdings" pitchFamily="2" charset="2"/>
              <a:buChar char="ü"/>
            </a:pPr>
            <a:r>
              <a:rPr lang="ru-RU"/>
              <a:t>Кількісний аналіз ризиків (Quantitative Risk Analysis);</a:t>
            </a:r>
          </a:p>
          <a:p>
            <a:pPr algn="l" rtl="0">
              <a:buFont typeface="Wingdings" pitchFamily="2" charset="2"/>
              <a:buChar char="ü"/>
            </a:pPr>
            <a:r>
              <a:rPr lang="ru-RU"/>
              <a:t>планування реагування на ризики (Risk Response Planning);</a:t>
            </a:r>
          </a:p>
          <a:p>
            <a:pPr algn="l" rtl="0">
              <a:buFont typeface="Wingdings" pitchFamily="2" charset="2"/>
              <a:buChar char="ü"/>
            </a:pPr>
            <a:r>
              <a:rPr lang="ru-RU"/>
              <a:t>Моніторинг та контроль ризиків (Risk Monitoring and Control).</a:t>
            </a:r>
          </a:p>
        </p:txBody>
      </p:sp>
      <p:sp>
        <p:nvSpPr>
          <p:cNvPr id="3" name="Номер слайда 6"/>
          <p:cNvSpPr>
            <a:spLocks noGrp="1"/>
          </p:cNvSpPr>
          <p:nvPr>
            <p:ph type="sldNum" sz="quarter" idx="12"/>
          </p:nvPr>
        </p:nvSpPr>
        <p:spPr/>
        <p:txBody>
          <a:bodyPr/>
          <a:lstStyle/>
          <a:p>
            <a:pPr algn="l" rtl="0" fontAlgn="base">
              <a:spcBef>
                <a:spcPct val="0"/>
              </a:spcBef>
              <a:spcAft>
                <a:spcPct val="0"/>
              </a:spcAft>
              <a:defRPr/>
            </a:pPr>
            <a:fld id="{875A507A-598B-4C20-B8B5-8D81BBC9932A}" type="slidenum">
              <a:rPr lang="en-US"/>
              <a:pPr algn="l" rtl="0" fontAlgn="base">
                <a:spcBef>
                  <a:spcPct val="0"/>
                </a:spcBef>
                <a:spcAft>
                  <a:spcPct val="0"/>
                </a:spcAft>
                <a:defRPr/>
              </a:pPr>
              <a:t>6</a:t>
            </a:fld>
            <a:endParaRPr lang="en-US"/>
          </a:p>
        </p:txBody>
      </p:sp>
      <p:sp>
        <p:nvSpPr>
          <p:cNvPr id="60423" name="Rectangle 3"/>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lgn="l" rtl="0"/>
            <a:endParaRPr lang="ru-RU"/>
          </a:p>
        </p:txBody>
      </p:sp>
      <p:graphicFrame>
        <p:nvGraphicFramePr>
          <p:cNvPr id="60418" name="Object 2"/>
          <p:cNvGraphicFramePr>
            <a:graphicFrameLocks noChangeAspect="1"/>
          </p:cNvGraphicFramePr>
          <p:nvPr/>
        </p:nvGraphicFramePr>
        <p:xfrm>
          <a:off x="96838" y="3500438"/>
          <a:ext cx="8796337" cy="2117725"/>
        </p:xfrm>
        <a:graphic>
          <a:graphicData uri="http://schemas.openxmlformats.org/presentationml/2006/ole">
            <mc:AlternateContent xmlns:mc="http://schemas.openxmlformats.org/markup-compatibility/2006">
              <mc:Choice xmlns:v="urn:schemas-microsoft-com:vml" Requires="v">
                <p:oleObj name="Visio" r:id="rId2" imgW="7162800" imgH="1726692" progId="">
                  <p:embed/>
                </p:oleObj>
              </mc:Choice>
              <mc:Fallback>
                <p:oleObj name="Visio" r:id="rId2" imgW="7162800" imgH="1726692"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8" y="3500438"/>
                        <a:ext cx="8796337" cy="211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8283BD-D9B2-FEB4-B90A-3D473E2EEA89}"/>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2A3AB949-FA99-F32F-4959-C0D4B1FD1A62}"/>
              </a:ext>
            </a:extLst>
          </p:cNvPr>
          <p:cNvSpPr>
            <a:spLocks noGrp="1"/>
          </p:cNvSpPr>
          <p:nvPr>
            <p:ph idx="1"/>
          </p:nvPr>
        </p:nvSpPr>
        <p:spPr/>
        <p:txBody>
          <a:bodyPr/>
          <a:lstStyle/>
          <a:p>
            <a:r>
              <a:rPr lang="ru-RU" dirty="0" err="1"/>
              <a:t>Основні</a:t>
            </a:r>
            <a:r>
              <a:rPr lang="ru-RU" dirty="0"/>
              <a:t> </a:t>
            </a:r>
            <a:r>
              <a:rPr lang="ru-RU" dirty="0" err="1"/>
              <a:t>Ризики</a:t>
            </a:r>
            <a:endParaRPr lang="ru-RU" dirty="0"/>
          </a:p>
          <a:p>
            <a:r>
              <a:rPr lang="ru-RU" dirty="0" err="1"/>
              <a:t>Згідно</a:t>
            </a:r>
            <a:r>
              <a:rPr lang="ru-RU" dirty="0"/>
              <a:t> з </a:t>
            </a:r>
            <a:r>
              <a:rPr lang="ru-RU" dirty="0" err="1"/>
              <a:t>класифікацією</a:t>
            </a:r>
            <a:r>
              <a:rPr lang="ru-RU" dirty="0"/>
              <a:t> </a:t>
            </a:r>
            <a:r>
              <a:rPr lang="ru-RU" dirty="0" err="1"/>
              <a:t>ризиків</a:t>
            </a:r>
            <a:r>
              <a:rPr lang="ru-RU" dirty="0"/>
              <a:t> </a:t>
            </a:r>
            <a:r>
              <a:rPr lang="ru-RU" dirty="0" err="1"/>
              <a:t>розробки</a:t>
            </a:r>
            <a:r>
              <a:rPr lang="ru-RU" dirty="0"/>
              <a:t> </a:t>
            </a:r>
            <a:r>
              <a:rPr lang="ru-RU" dirty="0" err="1"/>
              <a:t>програмного</a:t>
            </a:r>
            <a:r>
              <a:rPr lang="ru-RU" dirty="0"/>
              <a:t> </a:t>
            </a:r>
            <a:r>
              <a:rPr lang="ru-RU" dirty="0" err="1"/>
              <a:t>забезпечення</a:t>
            </a:r>
            <a:r>
              <a:rPr lang="ru-RU" dirty="0"/>
              <a:t> за характером </a:t>
            </a:r>
            <a:r>
              <a:rPr lang="ru-RU" dirty="0" err="1"/>
              <a:t>наслідків</a:t>
            </a:r>
            <a:r>
              <a:rPr lang="ru-RU" dirty="0"/>
              <a:t>, </a:t>
            </a:r>
            <a:r>
              <a:rPr lang="ru-RU" dirty="0" err="1"/>
              <a:t>ризики</a:t>
            </a:r>
            <a:r>
              <a:rPr lang="ru-RU" dirty="0"/>
              <a:t> </a:t>
            </a:r>
            <a:r>
              <a:rPr lang="ru-RU" dirty="0" err="1"/>
              <a:t>можна</a:t>
            </a:r>
            <a:r>
              <a:rPr lang="ru-RU" dirty="0"/>
              <a:t> </a:t>
            </a:r>
            <a:r>
              <a:rPr lang="ru-RU" dirty="0" err="1"/>
              <a:t>розділити</a:t>
            </a:r>
            <a:r>
              <a:rPr lang="ru-RU" dirty="0"/>
              <a:t> на </a:t>
            </a:r>
            <a:r>
              <a:rPr lang="ru-RU" dirty="0" err="1"/>
              <a:t>дві</a:t>
            </a:r>
            <a:r>
              <a:rPr lang="ru-RU" dirty="0"/>
              <a:t> </a:t>
            </a:r>
            <a:r>
              <a:rPr lang="ru-RU" dirty="0" err="1"/>
              <a:t>групи</a:t>
            </a:r>
            <a:r>
              <a:rPr lang="ru-RU" dirty="0"/>
              <a:t> — </a:t>
            </a:r>
            <a:r>
              <a:rPr lang="ru-RU" dirty="0" err="1"/>
              <a:t>чисті</a:t>
            </a:r>
            <a:r>
              <a:rPr lang="ru-RU" dirty="0"/>
              <a:t> і </a:t>
            </a:r>
            <a:r>
              <a:rPr lang="ru-RU" dirty="0" err="1"/>
              <a:t>спекулятивні</a:t>
            </a:r>
            <a:r>
              <a:rPr lang="ru-RU" dirty="0"/>
              <a:t>. </a:t>
            </a:r>
            <a:r>
              <a:rPr lang="ru-RU" dirty="0" err="1"/>
              <a:t>Особливість</a:t>
            </a:r>
            <a:r>
              <a:rPr lang="ru-RU" dirty="0"/>
              <a:t> </a:t>
            </a:r>
            <a:r>
              <a:rPr lang="ru-RU" dirty="0" err="1"/>
              <a:t>чистих</a:t>
            </a:r>
            <a:r>
              <a:rPr lang="ru-RU" dirty="0"/>
              <a:t> </a:t>
            </a:r>
            <a:r>
              <a:rPr lang="ru-RU" dirty="0" err="1"/>
              <a:t>ризиків</a:t>
            </a:r>
            <a:r>
              <a:rPr lang="ru-RU" dirty="0"/>
              <a:t> </a:t>
            </a:r>
            <a:r>
              <a:rPr lang="ru-RU" dirty="0" err="1"/>
              <a:t>полягає</a:t>
            </a:r>
            <a:r>
              <a:rPr lang="ru-RU" dirty="0"/>
              <a:t> в тому, </a:t>
            </a:r>
            <a:r>
              <a:rPr lang="ru-RU" dirty="0" err="1"/>
              <a:t>що</a:t>
            </a:r>
            <a:r>
              <a:rPr lang="ru-RU" dirty="0"/>
              <a:t> вони, як правило, </a:t>
            </a:r>
            <a:r>
              <a:rPr lang="ru-RU" dirty="0" err="1"/>
              <a:t>несуть</a:t>
            </a:r>
            <a:r>
              <a:rPr lang="ru-RU" dirty="0"/>
              <a:t> у </a:t>
            </a:r>
            <a:r>
              <a:rPr lang="ru-RU" dirty="0" err="1"/>
              <a:t>собі</a:t>
            </a:r>
            <a:r>
              <a:rPr lang="ru-RU" dirty="0"/>
              <a:t> </a:t>
            </a:r>
            <a:r>
              <a:rPr lang="ru-RU" dirty="0" err="1"/>
              <a:t>тільки</a:t>
            </a:r>
            <a:r>
              <a:rPr lang="ru-RU" dirty="0"/>
              <a:t> </a:t>
            </a:r>
            <a:r>
              <a:rPr lang="ru-RU" dirty="0" err="1"/>
              <a:t>втрати</a:t>
            </a:r>
            <a:r>
              <a:rPr lang="ru-RU" dirty="0"/>
              <a:t> для </a:t>
            </a:r>
            <a:r>
              <a:rPr lang="ru-RU" dirty="0" err="1"/>
              <a:t>підприємницької</a:t>
            </a:r>
            <a:r>
              <a:rPr lang="ru-RU" dirty="0"/>
              <a:t> </a:t>
            </a:r>
            <a:r>
              <a:rPr lang="ru-RU" dirty="0" err="1"/>
              <a:t>діяльності</a:t>
            </a:r>
            <a:r>
              <a:rPr lang="ru-RU" dirty="0"/>
              <a:t>, а </a:t>
            </a:r>
            <a:r>
              <a:rPr lang="ru-RU" dirty="0" err="1"/>
              <a:t>комерційні</a:t>
            </a:r>
            <a:r>
              <a:rPr lang="ru-RU" dirty="0"/>
              <a:t> </a:t>
            </a:r>
            <a:r>
              <a:rPr lang="ru-RU" dirty="0" err="1"/>
              <a:t>або</a:t>
            </a:r>
            <a:r>
              <a:rPr lang="ru-RU" dirty="0"/>
              <a:t> </a:t>
            </a:r>
            <a:r>
              <a:rPr lang="ru-RU" dirty="0" err="1"/>
              <a:t>спекулятивні</a:t>
            </a:r>
            <a:r>
              <a:rPr lang="ru-RU" dirty="0"/>
              <a:t> </a:t>
            </a:r>
            <a:r>
              <a:rPr lang="ru-RU" dirty="0" err="1"/>
              <a:t>несуть</a:t>
            </a:r>
            <a:r>
              <a:rPr lang="ru-RU" dirty="0"/>
              <a:t> в </a:t>
            </a:r>
            <a:r>
              <a:rPr lang="ru-RU" dirty="0" err="1"/>
              <a:t>собі</a:t>
            </a:r>
            <a:r>
              <a:rPr lang="ru-RU" dirty="0"/>
              <a:t> </a:t>
            </a:r>
            <a:r>
              <a:rPr lang="ru-RU" dirty="0" err="1"/>
              <a:t>або</a:t>
            </a:r>
            <a:r>
              <a:rPr lang="ru-RU" dirty="0"/>
              <a:t> </a:t>
            </a:r>
            <a:r>
              <a:rPr lang="ru-RU" dirty="0" err="1"/>
              <a:t>втрати</a:t>
            </a:r>
            <a:r>
              <a:rPr lang="ru-RU" dirty="0"/>
              <a:t>, </a:t>
            </a:r>
            <a:r>
              <a:rPr lang="ru-RU" dirty="0" err="1"/>
              <a:t>або</a:t>
            </a:r>
            <a:r>
              <a:rPr lang="ru-RU" dirty="0"/>
              <a:t> </a:t>
            </a:r>
            <a:r>
              <a:rPr lang="ru-RU" dirty="0" err="1"/>
              <a:t>додатковий</a:t>
            </a:r>
            <a:r>
              <a:rPr lang="ru-RU" dirty="0"/>
              <a:t> </a:t>
            </a:r>
            <a:r>
              <a:rPr lang="ru-RU" dirty="0" err="1"/>
              <a:t>прибуток</a:t>
            </a:r>
            <a:r>
              <a:rPr lang="ru-RU" dirty="0"/>
              <a:t>. </a:t>
            </a:r>
            <a:r>
              <a:rPr lang="ru-RU" dirty="0" err="1"/>
              <a:t>Ризики</a:t>
            </a:r>
            <a:r>
              <a:rPr lang="ru-RU" dirty="0"/>
              <a:t>, </a:t>
            </a:r>
            <a:r>
              <a:rPr lang="ru-RU" dirty="0" err="1"/>
              <a:t>що</a:t>
            </a:r>
            <a:r>
              <a:rPr lang="ru-RU" dirty="0"/>
              <a:t> </a:t>
            </a:r>
            <a:r>
              <a:rPr lang="ru-RU" dirty="0" err="1"/>
              <a:t>виникають</a:t>
            </a:r>
            <a:r>
              <a:rPr lang="ru-RU" dirty="0"/>
              <a:t> при </a:t>
            </a:r>
            <a:r>
              <a:rPr lang="ru-RU" dirty="0" err="1"/>
              <a:t>розробці</a:t>
            </a:r>
            <a:r>
              <a:rPr lang="ru-RU" dirty="0"/>
              <a:t> ПЗ, </a:t>
            </a:r>
            <a:r>
              <a:rPr lang="ru-RU" dirty="0" err="1"/>
              <a:t>можна</a:t>
            </a:r>
            <a:r>
              <a:rPr lang="ru-RU" dirty="0"/>
              <a:t> </a:t>
            </a:r>
            <a:r>
              <a:rPr lang="ru-RU" dirty="0" err="1"/>
              <a:t>віднести</a:t>
            </a:r>
            <a:r>
              <a:rPr lang="ru-RU" dirty="0"/>
              <a:t> до </a:t>
            </a:r>
            <a:r>
              <a:rPr lang="ru-RU" dirty="0" err="1"/>
              <a:t>чистих</a:t>
            </a:r>
            <a:r>
              <a:rPr lang="ru-RU" dirty="0"/>
              <a:t> і </a:t>
            </a:r>
            <a:r>
              <a:rPr lang="ru-RU" dirty="0" err="1"/>
              <a:t>спекулятивних</a:t>
            </a:r>
            <a:r>
              <a:rPr lang="ru-RU" dirty="0"/>
              <a:t>.</a:t>
            </a:r>
            <a:endParaRPr lang="ru-UA" dirty="0"/>
          </a:p>
        </p:txBody>
      </p:sp>
      <p:sp>
        <p:nvSpPr>
          <p:cNvPr id="4" name="Номер слайда 3">
            <a:extLst>
              <a:ext uri="{FF2B5EF4-FFF2-40B4-BE49-F238E27FC236}">
                <a16:creationId xmlns:a16="http://schemas.microsoft.com/office/drawing/2014/main" id="{B77F8F8D-EA72-AA06-8541-50343BE334E0}"/>
              </a:ext>
            </a:extLst>
          </p:cNvPr>
          <p:cNvSpPr>
            <a:spLocks noGrp="1"/>
          </p:cNvSpPr>
          <p:nvPr>
            <p:ph type="sldNum" sz="quarter" idx="12"/>
          </p:nvPr>
        </p:nvSpPr>
        <p:spPr/>
        <p:txBody>
          <a:bodyPr/>
          <a:lstStyle/>
          <a:p>
            <a:pPr>
              <a:defRPr/>
            </a:pPr>
            <a:fld id="{05AFA3F7-E640-4688-84D4-3AD59A60B741}" type="slidenum">
              <a:rPr lang="en-US" smtClean="0"/>
              <a:pPr>
                <a:defRPr/>
              </a:pPr>
              <a:t>7</a:t>
            </a:fld>
            <a:endParaRPr lang="en-US" dirty="0"/>
          </a:p>
        </p:txBody>
      </p:sp>
    </p:spTree>
    <p:extLst>
      <p:ext uri="{BB962C8B-B14F-4D97-AF65-F5344CB8AC3E}">
        <p14:creationId xmlns:p14="http://schemas.microsoft.com/office/powerpoint/2010/main" val="82667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B8B607-A26B-A604-87B1-90FDF77BBF9D}"/>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4BD9085C-A6FD-23C7-80CC-66FA40788FAE}"/>
              </a:ext>
            </a:extLst>
          </p:cNvPr>
          <p:cNvSpPr>
            <a:spLocks noGrp="1"/>
          </p:cNvSpPr>
          <p:nvPr>
            <p:ph idx="1"/>
          </p:nvPr>
        </p:nvSpPr>
        <p:spPr/>
        <p:txBody>
          <a:bodyPr/>
          <a:lstStyle/>
          <a:p>
            <a:r>
              <a:rPr lang="ru-RU" sz="2000" dirty="0" err="1"/>
              <a:t>Чисті</a:t>
            </a:r>
            <a:r>
              <a:rPr lang="ru-RU" sz="2000" dirty="0"/>
              <a:t> </a:t>
            </a:r>
            <a:r>
              <a:rPr lang="ru-RU" sz="2000" dirty="0" err="1"/>
              <a:t>ризики</a:t>
            </a:r>
            <a:endParaRPr lang="ru-RU" sz="2000" dirty="0"/>
          </a:p>
          <a:p>
            <a:r>
              <a:rPr lang="ru-RU" sz="2000" dirty="0" err="1"/>
              <a:t>Чисті</a:t>
            </a:r>
            <a:r>
              <a:rPr lang="ru-RU" sz="2000" dirty="0"/>
              <a:t> </a:t>
            </a:r>
            <a:r>
              <a:rPr lang="ru-RU" sz="2000" dirty="0" err="1"/>
              <a:t>ризики</a:t>
            </a:r>
            <a:r>
              <a:rPr lang="ru-RU" sz="2000" dirty="0"/>
              <a:t> </a:t>
            </a:r>
            <a:r>
              <a:rPr lang="ru-RU" sz="2000" dirty="0" err="1"/>
              <a:t>можна</a:t>
            </a:r>
            <a:r>
              <a:rPr lang="ru-RU" sz="2000" dirty="0"/>
              <a:t> </a:t>
            </a:r>
            <a:r>
              <a:rPr lang="ru-RU" sz="2000" dirty="0" err="1"/>
              <a:t>поділити</a:t>
            </a:r>
            <a:r>
              <a:rPr lang="ru-RU" sz="2000" dirty="0"/>
              <a:t> на </a:t>
            </a:r>
            <a:r>
              <a:rPr lang="ru-RU" sz="2000" dirty="0" err="1"/>
              <a:t>ризики</a:t>
            </a:r>
            <a:r>
              <a:rPr lang="ru-RU" sz="2000" dirty="0"/>
              <a:t> проектного </a:t>
            </a:r>
            <a:r>
              <a:rPr lang="ru-RU" sz="2000" dirty="0" err="1"/>
              <a:t>управління</a:t>
            </a:r>
            <a:r>
              <a:rPr lang="ru-RU" sz="2000" dirty="0"/>
              <a:t>, </a:t>
            </a:r>
            <a:r>
              <a:rPr lang="ru-RU" sz="2000" dirty="0" err="1"/>
              <a:t>проектні</a:t>
            </a:r>
            <a:r>
              <a:rPr lang="ru-RU" sz="2000" dirty="0"/>
              <a:t>, </a:t>
            </a:r>
            <a:r>
              <a:rPr lang="ru-RU" sz="2000" dirty="0" err="1"/>
              <a:t>кадрові</a:t>
            </a:r>
            <a:r>
              <a:rPr lang="ru-RU" sz="2000" dirty="0"/>
              <a:t> та </a:t>
            </a:r>
            <a:r>
              <a:rPr lang="ru-RU" sz="2000" dirty="0" err="1"/>
              <a:t>деліктні</a:t>
            </a:r>
            <a:r>
              <a:rPr lang="ru-RU" sz="2000" dirty="0"/>
              <a:t>, </a:t>
            </a:r>
            <a:r>
              <a:rPr lang="ru-RU" sz="2000" dirty="0" err="1"/>
              <a:t>які</a:t>
            </a:r>
            <a:r>
              <a:rPr lang="ru-RU" sz="2000" dirty="0"/>
              <a:t> в свою </a:t>
            </a:r>
            <a:r>
              <a:rPr lang="ru-RU" sz="2000" dirty="0" err="1"/>
              <a:t>чергу</a:t>
            </a:r>
            <a:r>
              <a:rPr lang="ru-RU" sz="2000" dirty="0"/>
              <a:t> </a:t>
            </a:r>
            <a:r>
              <a:rPr lang="ru-RU" sz="2000" dirty="0" err="1"/>
              <a:t>також</a:t>
            </a:r>
            <a:r>
              <a:rPr lang="ru-RU" sz="2000" dirty="0"/>
              <a:t> </a:t>
            </a:r>
            <a:r>
              <a:rPr lang="ru-RU" sz="2000" dirty="0" err="1"/>
              <a:t>допускають</a:t>
            </a:r>
            <a:r>
              <a:rPr lang="ru-RU" sz="2000" dirty="0"/>
              <a:t> </a:t>
            </a:r>
            <a:r>
              <a:rPr lang="ru-RU" sz="2000" dirty="0" err="1"/>
              <a:t>класифікацію</a:t>
            </a:r>
            <a:r>
              <a:rPr lang="ru-RU" sz="2000" dirty="0"/>
              <a:t>.</a:t>
            </a:r>
          </a:p>
          <a:p>
            <a:endParaRPr lang="ru-RU" sz="2000" dirty="0"/>
          </a:p>
          <a:p>
            <a:r>
              <a:rPr lang="ru-RU" sz="2000" dirty="0" err="1"/>
              <a:t>Ризики</a:t>
            </a:r>
            <a:r>
              <a:rPr lang="ru-RU" sz="2000" dirty="0"/>
              <a:t> </a:t>
            </a:r>
            <a:r>
              <a:rPr lang="ru-RU" sz="2000" dirty="0" err="1"/>
              <a:t>поганої</a:t>
            </a:r>
            <a:r>
              <a:rPr lang="ru-RU" sz="2000" dirty="0"/>
              <a:t> </a:t>
            </a:r>
            <a:r>
              <a:rPr lang="ru-RU" sz="2000" dirty="0" err="1"/>
              <a:t>взаємодії</a:t>
            </a:r>
            <a:r>
              <a:rPr lang="ru-RU" sz="2000" dirty="0"/>
              <a:t> </a:t>
            </a:r>
            <a:r>
              <a:rPr lang="ru-RU" sz="2000" dirty="0" err="1"/>
              <a:t>між</a:t>
            </a:r>
            <a:r>
              <a:rPr lang="ru-RU" sz="2000" dirty="0"/>
              <a:t> </a:t>
            </a:r>
            <a:r>
              <a:rPr lang="ru-RU" sz="2000" dirty="0" err="1"/>
              <a:t>замовником</a:t>
            </a:r>
            <a:r>
              <a:rPr lang="ru-RU" sz="2000" dirty="0"/>
              <a:t> і </a:t>
            </a:r>
            <a:r>
              <a:rPr lang="ru-RU" sz="2000" dirty="0" err="1"/>
              <a:t>виконавцем</a:t>
            </a:r>
            <a:r>
              <a:rPr lang="ru-RU" sz="2000" dirty="0"/>
              <a:t> — </a:t>
            </a:r>
            <a:r>
              <a:rPr lang="ru-RU" sz="2000" dirty="0" err="1"/>
              <a:t>це</a:t>
            </a:r>
            <a:r>
              <a:rPr lang="ru-RU" sz="2000" dirty="0"/>
              <a:t> </a:t>
            </a:r>
            <a:r>
              <a:rPr lang="ru-RU" sz="2000" dirty="0" err="1"/>
              <a:t>ризики</a:t>
            </a:r>
            <a:r>
              <a:rPr lang="ru-RU" sz="2000" dirty="0"/>
              <a:t>, </a:t>
            </a:r>
            <a:r>
              <a:rPr lang="ru-RU" sz="2000" dirty="0" err="1"/>
              <a:t>пов'язані</a:t>
            </a:r>
            <a:r>
              <a:rPr lang="ru-RU" sz="2000" dirty="0"/>
              <a:t> з </a:t>
            </a:r>
            <a:r>
              <a:rPr lang="ru-RU" sz="2000" dirty="0" err="1"/>
              <a:t>відсутністю</a:t>
            </a:r>
            <a:r>
              <a:rPr lang="ru-RU" sz="2000" dirty="0"/>
              <a:t> </a:t>
            </a:r>
            <a:r>
              <a:rPr lang="ru-RU" sz="2000" dirty="0" err="1"/>
              <a:t>комунікації</a:t>
            </a:r>
            <a:r>
              <a:rPr lang="ru-RU" sz="2000" dirty="0"/>
              <a:t> </a:t>
            </a:r>
            <a:r>
              <a:rPr lang="ru-RU" sz="2000" dirty="0" err="1"/>
              <a:t>між</a:t>
            </a:r>
            <a:r>
              <a:rPr lang="ru-RU" sz="2000" dirty="0"/>
              <a:t> </a:t>
            </a:r>
            <a:r>
              <a:rPr lang="ru-RU" sz="2000" dirty="0" err="1"/>
              <a:t>виконавцем</a:t>
            </a:r>
            <a:r>
              <a:rPr lang="ru-RU" sz="2000" dirty="0"/>
              <a:t> і </a:t>
            </a:r>
            <a:r>
              <a:rPr lang="ru-RU" sz="2000" dirty="0" err="1"/>
              <a:t>замовником</a:t>
            </a:r>
            <a:r>
              <a:rPr lang="ru-RU" sz="2000" dirty="0"/>
              <a:t> </a:t>
            </a:r>
            <a:r>
              <a:rPr lang="ru-RU" sz="2000" dirty="0" err="1"/>
              <a:t>або</a:t>
            </a:r>
            <a:r>
              <a:rPr lang="ru-RU" sz="2000" dirty="0"/>
              <a:t> </a:t>
            </a:r>
            <a:r>
              <a:rPr lang="ru-RU" sz="2000" dirty="0" err="1"/>
              <a:t>їх</a:t>
            </a:r>
            <a:r>
              <a:rPr lang="ru-RU" sz="2000" dirty="0"/>
              <a:t> </a:t>
            </a:r>
            <a:r>
              <a:rPr lang="ru-RU" sz="2000" dirty="0" err="1"/>
              <a:t>представниками</a:t>
            </a:r>
            <a:r>
              <a:rPr lang="ru-RU" sz="2000" dirty="0"/>
              <a:t>. </a:t>
            </a:r>
            <a:r>
              <a:rPr lang="ru-RU" sz="2000" dirty="0" err="1"/>
              <a:t>Недостатнє</a:t>
            </a:r>
            <a:r>
              <a:rPr lang="ru-RU" sz="2000" dirty="0"/>
              <a:t> </a:t>
            </a:r>
            <a:r>
              <a:rPr lang="ru-RU" sz="2000" dirty="0" err="1"/>
              <a:t>обговорення</a:t>
            </a:r>
            <a:r>
              <a:rPr lang="ru-RU" sz="2000" dirty="0"/>
              <a:t> </a:t>
            </a:r>
            <a:r>
              <a:rPr lang="ru-RU" sz="2000" dirty="0" err="1"/>
              <a:t>завдань</a:t>
            </a:r>
            <a:r>
              <a:rPr lang="ru-RU" sz="2000" dirty="0"/>
              <a:t> </a:t>
            </a:r>
            <a:r>
              <a:rPr lang="ru-RU" sz="2000" dirty="0" err="1"/>
              <a:t>або</a:t>
            </a:r>
            <a:r>
              <a:rPr lang="ru-RU" sz="2000" dirty="0"/>
              <a:t> </a:t>
            </a:r>
            <a:r>
              <a:rPr lang="ru-RU" sz="2000" dirty="0" err="1"/>
              <a:t>архітектури</a:t>
            </a:r>
            <a:r>
              <a:rPr lang="ru-RU" sz="2000" dirty="0"/>
              <a:t> </a:t>
            </a:r>
            <a:r>
              <a:rPr lang="ru-RU" sz="2000" dirty="0" err="1"/>
              <a:t>може</a:t>
            </a:r>
            <a:r>
              <a:rPr lang="ru-RU" sz="2000" dirty="0"/>
              <a:t> негативно </a:t>
            </a:r>
            <a:r>
              <a:rPr lang="ru-RU" sz="2000" dirty="0" err="1"/>
              <a:t>позначитися</a:t>
            </a:r>
            <a:r>
              <a:rPr lang="ru-RU" sz="2000" dirty="0"/>
              <a:t> на ПЗ </a:t>
            </a:r>
            <a:r>
              <a:rPr lang="ru-RU" sz="2000" dirty="0" err="1"/>
              <a:t>що</a:t>
            </a:r>
            <a:r>
              <a:rPr lang="ru-RU" sz="2000" dirty="0"/>
              <a:t> </a:t>
            </a:r>
            <a:r>
              <a:rPr lang="ru-RU" sz="2000" dirty="0" err="1"/>
              <a:t>розробляється</a:t>
            </a:r>
            <a:r>
              <a:rPr lang="ru-RU" sz="2000" dirty="0"/>
              <a:t>.</a:t>
            </a:r>
          </a:p>
          <a:p>
            <a:r>
              <a:rPr lang="ru-RU" sz="2000" dirty="0" err="1"/>
              <a:t>Ризики</a:t>
            </a:r>
            <a:r>
              <a:rPr lang="ru-RU" sz="2000" dirty="0"/>
              <a:t> </a:t>
            </a:r>
            <a:r>
              <a:rPr lang="ru-RU" sz="2000" dirty="0" err="1"/>
              <a:t>управління</a:t>
            </a:r>
            <a:r>
              <a:rPr lang="ru-RU" sz="2000" dirty="0"/>
              <a:t> проектом — </a:t>
            </a:r>
            <a:r>
              <a:rPr lang="ru-RU" sz="2000" dirty="0" err="1"/>
              <a:t>це</a:t>
            </a:r>
            <a:r>
              <a:rPr lang="ru-RU" sz="2000" dirty="0"/>
              <a:t> </a:t>
            </a:r>
            <a:r>
              <a:rPr lang="ru-RU" sz="2000" dirty="0" err="1"/>
              <a:t>ризики</a:t>
            </a:r>
            <a:r>
              <a:rPr lang="ru-RU" sz="2000" dirty="0"/>
              <a:t>, </a:t>
            </a:r>
            <a:r>
              <a:rPr lang="ru-RU" sz="2000" dirty="0" err="1"/>
              <a:t>пов'язані</a:t>
            </a:r>
            <a:r>
              <a:rPr lang="ru-RU" sz="2000" dirty="0"/>
              <a:t> з </a:t>
            </a:r>
            <a:r>
              <a:rPr lang="ru-RU" sz="2000" dirty="0" err="1"/>
              <a:t>відсутністю</a:t>
            </a:r>
            <a:r>
              <a:rPr lang="ru-RU" sz="2000" dirty="0"/>
              <a:t> </a:t>
            </a:r>
            <a:r>
              <a:rPr lang="ru-RU" sz="2000" dirty="0" err="1"/>
              <a:t>навичок</a:t>
            </a:r>
            <a:r>
              <a:rPr lang="ru-RU" sz="2000" dirty="0"/>
              <a:t> проектного менеджменту у менеджера проекту, а </a:t>
            </a:r>
            <a:r>
              <a:rPr lang="ru-RU" sz="2000" dirty="0" err="1"/>
              <a:t>також</a:t>
            </a:r>
            <a:r>
              <a:rPr lang="ru-RU" sz="2000" dirty="0"/>
              <a:t> з </a:t>
            </a:r>
            <a:r>
              <a:rPr lang="ru-RU" sz="2000" dirty="0" err="1"/>
              <a:t>відсутністю</a:t>
            </a:r>
            <a:r>
              <a:rPr lang="ru-RU" sz="2000" dirty="0"/>
              <a:t> </a:t>
            </a:r>
            <a:r>
              <a:rPr lang="ru-RU" sz="2000" dirty="0" err="1"/>
              <a:t>інтересу</a:t>
            </a:r>
            <a:r>
              <a:rPr lang="ru-RU" sz="2000" dirty="0"/>
              <a:t> </a:t>
            </a:r>
            <a:r>
              <a:rPr lang="ru-RU" sz="2000" dirty="0" err="1"/>
              <a:t>або</a:t>
            </a:r>
            <a:r>
              <a:rPr lang="ru-RU" sz="2000" dirty="0"/>
              <a:t> </a:t>
            </a:r>
            <a:r>
              <a:rPr lang="ru-RU" sz="2000" dirty="0" err="1"/>
              <a:t>мотивації</a:t>
            </a:r>
            <a:r>
              <a:rPr lang="ru-RU" sz="2000" dirty="0"/>
              <a:t> у </a:t>
            </a:r>
            <a:r>
              <a:rPr lang="ru-RU" sz="2000" dirty="0" err="1"/>
              <a:t>нього</a:t>
            </a:r>
            <a:r>
              <a:rPr lang="ru-RU" sz="2000" dirty="0"/>
              <a:t>.</a:t>
            </a:r>
          </a:p>
          <a:p>
            <a:endParaRPr lang="ru-UA" sz="2000" dirty="0"/>
          </a:p>
        </p:txBody>
      </p:sp>
      <p:sp>
        <p:nvSpPr>
          <p:cNvPr id="4" name="Номер слайда 3">
            <a:extLst>
              <a:ext uri="{FF2B5EF4-FFF2-40B4-BE49-F238E27FC236}">
                <a16:creationId xmlns:a16="http://schemas.microsoft.com/office/drawing/2014/main" id="{C7F9A3D8-C1FC-DAA1-9D43-5500835FEC94}"/>
              </a:ext>
            </a:extLst>
          </p:cNvPr>
          <p:cNvSpPr>
            <a:spLocks noGrp="1"/>
          </p:cNvSpPr>
          <p:nvPr>
            <p:ph type="sldNum" sz="quarter" idx="12"/>
          </p:nvPr>
        </p:nvSpPr>
        <p:spPr/>
        <p:txBody>
          <a:bodyPr/>
          <a:lstStyle/>
          <a:p>
            <a:pPr>
              <a:defRPr/>
            </a:pPr>
            <a:fld id="{05AFA3F7-E640-4688-84D4-3AD59A60B741}" type="slidenum">
              <a:rPr lang="en-US" smtClean="0"/>
              <a:pPr>
                <a:defRPr/>
              </a:pPr>
              <a:t>8</a:t>
            </a:fld>
            <a:endParaRPr lang="en-US" dirty="0"/>
          </a:p>
        </p:txBody>
      </p:sp>
    </p:spTree>
    <p:extLst>
      <p:ext uri="{BB962C8B-B14F-4D97-AF65-F5344CB8AC3E}">
        <p14:creationId xmlns:p14="http://schemas.microsoft.com/office/powerpoint/2010/main" val="2564278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F5B643-7F55-5061-0AF9-FFAF81EA1473}"/>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57CC6280-27D6-0932-03DE-84777A976180}"/>
              </a:ext>
            </a:extLst>
          </p:cNvPr>
          <p:cNvSpPr>
            <a:spLocks noGrp="1"/>
          </p:cNvSpPr>
          <p:nvPr>
            <p:ph idx="1"/>
          </p:nvPr>
        </p:nvSpPr>
        <p:spPr/>
        <p:txBody>
          <a:bodyPr/>
          <a:lstStyle/>
          <a:p>
            <a:r>
              <a:rPr lang="ru-RU" sz="2000" dirty="0" err="1"/>
              <a:t>Ризики</a:t>
            </a:r>
            <a:r>
              <a:rPr lang="ru-RU" sz="2000" dirty="0"/>
              <a:t>, </a:t>
            </a:r>
            <a:r>
              <a:rPr lang="ru-RU" sz="2000" dirty="0" err="1"/>
              <a:t>пов'язані</a:t>
            </a:r>
            <a:r>
              <a:rPr lang="ru-RU" sz="2000" dirty="0"/>
              <a:t> з </a:t>
            </a:r>
            <a:r>
              <a:rPr lang="ru-RU" sz="2000" dirty="0" err="1"/>
              <a:t>недостатньою</a:t>
            </a:r>
            <a:r>
              <a:rPr lang="ru-RU" sz="2000" dirty="0"/>
              <a:t> </a:t>
            </a:r>
            <a:r>
              <a:rPr lang="ru-RU" sz="2000" dirty="0" err="1"/>
              <a:t>обізнаністю</a:t>
            </a:r>
            <a:r>
              <a:rPr lang="ru-RU" sz="2000" dirty="0"/>
              <a:t> </a:t>
            </a:r>
            <a:r>
              <a:rPr lang="ru-RU" sz="2000" dirty="0" err="1"/>
              <a:t>керуючого</a:t>
            </a:r>
            <a:r>
              <a:rPr lang="ru-RU" sz="2000" dirty="0"/>
              <a:t> проектом про </a:t>
            </a:r>
            <a:r>
              <a:rPr lang="ru-RU" sz="2000" dirty="0" err="1"/>
              <a:t>точний</a:t>
            </a:r>
            <a:r>
              <a:rPr lang="ru-RU" sz="2000" dirty="0"/>
              <a:t> стан проекту — </a:t>
            </a:r>
            <a:r>
              <a:rPr lang="ru-RU" sz="2000" dirty="0" err="1"/>
              <a:t>це</a:t>
            </a:r>
            <a:r>
              <a:rPr lang="ru-RU" sz="2000" dirty="0"/>
              <a:t> вид </a:t>
            </a:r>
            <a:r>
              <a:rPr lang="ru-RU" sz="2000" dirty="0" err="1"/>
              <a:t>ризиків</a:t>
            </a:r>
            <a:r>
              <a:rPr lang="ru-RU" sz="2000" dirty="0"/>
              <a:t>, </a:t>
            </a:r>
            <a:r>
              <a:rPr lang="ru-RU" sz="2000" dirty="0" err="1"/>
              <a:t>пов'язаних</a:t>
            </a:r>
            <a:r>
              <a:rPr lang="ru-RU" sz="2000" dirty="0"/>
              <a:t> з </a:t>
            </a:r>
            <a:r>
              <a:rPr lang="ru-RU" sz="2000" dirty="0" err="1"/>
              <a:t>відсутністю</a:t>
            </a:r>
            <a:r>
              <a:rPr lang="ru-RU" sz="2000" dirty="0"/>
              <a:t> </a:t>
            </a:r>
            <a:r>
              <a:rPr lang="ru-RU" sz="2000" dirty="0" err="1"/>
              <a:t>зворотного</a:t>
            </a:r>
            <a:r>
              <a:rPr lang="ru-RU" sz="2000" dirty="0"/>
              <a:t> </a:t>
            </a:r>
            <a:r>
              <a:rPr lang="ru-RU" sz="2000" dirty="0" err="1"/>
              <a:t>зв'язку</a:t>
            </a:r>
            <a:r>
              <a:rPr lang="ru-RU" sz="2000" dirty="0"/>
              <a:t>. </a:t>
            </a:r>
            <a:r>
              <a:rPr lang="ru-RU" sz="2000" dirty="0" err="1"/>
              <a:t>Він</a:t>
            </a:r>
            <a:r>
              <a:rPr lang="ru-RU" sz="2000" dirty="0"/>
              <a:t> </a:t>
            </a:r>
            <a:r>
              <a:rPr lang="ru-RU" sz="2000" dirty="0" err="1"/>
              <a:t>виникає</a:t>
            </a:r>
            <a:r>
              <a:rPr lang="ru-RU" sz="2000" dirty="0"/>
              <a:t>, коли </a:t>
            </a:r>
            <a:r>
              <a:rPr lang="ru-RU" sz="2000" dirty="0" err="1"/>
              <a:t>проектний</a:t>
            </a:r>
            <a:r>
              <a:rPr lang="ru-RU" sz="2000" dirty="0"/>
              <a:t> менеджер не </a:t>
            </a:r>
            <a:r>
              <a:rPr lang="ru-RU" sz="2000" dirty="0" err="1"/>
              <a:t>вибудував</a:t>
            </a:r>
            <a:r>
              <a:rPr lang="ru-RU" sz="2000" dirty="0"/>
              <a:t> </a:t>
            </a:r>
            <a:r>
              <a:rPr lang="ru-RU" sz="2000" dirty="0" err="1"/>
              <a:t>робочий</a:t>
            </a:r>
            <a:r>
              <a:rPr lang="ru-RU" sz="2000" dirty="0"/>
              <a:t> </a:t>
            </a:r>
            <a:r>
              <a:rPr lang="ru-RU" sz="2000" dirty="0" err="1"/>
              <a:t>процес</a:t>
            </a:r>
            <a:r>
              <a:rPr lang="ru-RU" sz="2000" dirty="0"/>
              <a:t> таким чином, </a:t>
            </a:r>
            <a:r>
              <a:rPr lang="ru-RU" sz="2000" dirty="0" err="1"/>
              <a:t>щоб</a:t>
            </a:r>
            <a:r>
              <a:rPr lang="ru-RU" sz="2000" dirty="0"/>
              <a:t> </a:t>
            </a:r>
            <a:r>
              <a:rPr lang="ru-RU" sz="2000" dirty="0" err="1"/>
              <a:t>контролювати</a:t>
            </a:r>
            <a:r>
              <a:rPr lang="ru-RU" sz="2000" dirty="0"/>
              <a:t> </a:t>
            </a:r>
            <a:r>
              <a:rPr lang="ru-RU" sz="2000" dirty="0" err="1"/>
              <a:t>хід</a:t>
            </a:r>
            <a:r>
              <a:rPr lang="ru-RU" sz="2000" dirty="0"/>
              <a:t> </a:t>
            </a:r>
            <a:r>
              <a:rPr lang="ru-RU" sz="2000" dirty="0" err="1"/>
              <a:t>виконання</a:t>
            </a:r>
            <a:r>
              <a:rPr lang="ru-RU" sz="2000" dirty="0"/>
              <a:t> проекту на </a:t>
            </a:r>
            <a:r>
              <a:rPr lang="ru-RU" sz="2000" dirty="0" err="1"/>
              <a:t>всіх</a:t>
            </a:r>
            <a:r>
              <a:rPr lang="ru-RU" sz="2000" dirty="0"/>
              <a:t> </a:t>
            </a:r>
            <a:r>
              <a:rPr lang="ru-RU" sz="2000" dirty="0" err="1"/>
              <a:t>його</a:t>
            </a:r>
            <a:r>
              <a:rPr lang="ru-RU" sz="2000" dirty="0"/>
              <a:t> </a:t>
            </a:r>
            <a:r>
              <a:rPr lang="ru-RU" sz="2000" dirty="0" err="1"/>
              <a:t>етапах</a:t>
            </a:r>
            <a:r>
              <a:rPr lang="ru-RU" sz="2000" dirty="0"/>
              <a:t>.</a:t>
            </a:r>
          </a:p>
          <a:p>
            <a:r>
              <a:rPr lang="ru-RU" sz="2000" dirty="0" err="1"/>
              <a:t>Ризики</a:t>
            </a:r>
            <a:r>
              <a:rPr lang="ru-RU" sz="2000" dirty="0"/>
              <a:t> </a:t>
            </a:r>
            <a:r>
              <a:rPr lang="ru-RU" sz="2000" dirty="0" err="1"/>
              <a:t>планування</a:t>
            </a:r>
            <a:r>
              <a:rPr lang="ru-RU" sz="2000" dirty="0"/>
              <a:t> — </a:t>
            </a:r>
            <a:r>
              <a:rPr lang="ru-RU" sz="2000" dirty="0" err="1"/>
              <a:t>це</a:t>
            </a:r>
            <a:r>
              <a:rPr lang="ru-RU" sz="2000" dirty="0"/>
              <a:t> </a:t>
            </a:r>
            <a:r>
              <a:rPr lang="ru-RU" sz="2000" dirty="0" err="1"/>
              <a:t>ризики</a:t>
            </a:r>
            <a:r>
              <a:rPr lang="ru-RU" sz="2000" dirty="0"/>
              <a:t>, </a:t>
            </a:r>
            <a:r>
              <a:rPr lang="ru-RU" sz="2000" dirty="0" err="1"/>
              <a:t>які</a:t>
            </a:r>
            <a:r>
              <a:rPr lang="ru-RU" sz="2000" dirty="0"/>
              <a:t> </a:t>
            </a:r>
            <a:r>
              <a:rPr lang="ru-RU" sz="2000" dirty="0" err="1"/>
              <a:t>можуть</a:t>
            </a:r>
            <a:r>
              <a:rPr lang="ru-RU" sz="2000" dirty="0"/>
              <a:t> бути </a:t>
            </a:r>
            <a:r>
              <a:rPr lang="ru-RU" sz="2000" dirty="0" err="1"/>
              <a:t>пов'язані</a:t>
            </a:r>
            <a:r>
              <a:rPr lang="ru-RU" sz="2000" dirty="0"/>
              <a:t> з </a:t>
            </a:r>
            <a:r>
              <a:rPr lang="ru-RU" sz="2000" dirty="0" err="1"/>
              <a:t>відсутністю</a:t>
            </a:r>
            <a:r>
              <a:rPr lang="ru-RU" sz="2000" dirty="0"/>
              <a:t> </a:t>
            </a:r>
            <a:r>
              <a:rPr lang="ru-RU" sz="2000" dirty="0" err="1"/>
              <a:t>навичок</a:t>
            </a:r>
            <a:r>
              <a:rPr lang="ru-RU" sz="2000" dirty="0"/>
              <a:t> </a:t>
            </a:r>
            <a:r>
              <a:rPr lang="ru-RU" sz="2000" dirty="0" err="1"/>
              <a:t>планування</a:t>
            </a:r>
            <a:r>
              <a:rPr lang="ru-RU" sz="2000" dirty="0"/>
              <a:t> за проектом як менеджером, так і </a:t>
            </a:r>
            <a:r>
              <a:rPr lang="ru-RU" sz="2000" dirty="0" err="1"/>
              <a:t>виконавцями</a:t>
            </a:r>
            <a:r>
              <a:rPr lang="ru-RU" sz="2000" dirty="0"/>
              <a:t>, </a:t>
            </a:r>
            <a:r>
              <a:rPr lang="ru-RU" sz="2000" dirty="0" err="1"/>
              <a:t>якщо</a:t>
            </a:r>
            <a:r>
              <a:rPr lang="ru-RU" sz="2000" dirty="0"/>
              <a:t> вони </a:t>
            </a:r>
            <a:r>
              <a:rPr lang="ru-RU" sz="2000" dirty="0" err="1"/>
              <a:t>готують</a:t>
            </a:r>
            <a:r>
              <a:rPr lang="ru-RU" sz="2000" dirty="0"/>
              <a:t> </a:t>
            </a:r>
            <a:r>
              <a:rPr lang="ru-RU" sz="2000" dirty="0" err="1"/>
              <a:t>інформацію</a:t>
            </a:r>
            <a:r>
              <a:rPr lang="ru-RU" sz="2000" dirty="0"/>
              <a:t> про </a:t>
            </a:r>
            <a:r>
              <a:rPr lang="ru-RU" sz="2000" dirty="0" err="1"/>
              <a:t>терміни</a:t>
            </a:r>
            <a:r>
              <a:rPr lang="ru-RU" sz="2000" dirty="0"/>
              <a:t> </a:t>
            </a:r>
            <a:r>
              <a:rPr lang="ru-RU" sz="2000" dirty="0" err="1"/>
              <a:t>виконання</a:t>
            </a:r>
            <a:r>
              <a:rPr lang="ru-RU" sz="2000" dirty="0"/>
              <a:t> </a:t>
            </a:r>
            <a:r>
              <a:rPr lang="ru-RU" sz="2000" dirty="0" err="1"/>
              <a:t>робіт</a:t>
            </a:r>
            <a:r>
              <a:rPr lang="ru-RU" sz="2000" dirty="0"/>
              <a:t>.</a:t>
            </a:r>
          </a:p>
          <a:p>
            <a:r>
              <a:rPr lang="ru-RU" sz="2000" dirty="0" err="1"/>
              <a:t>Ризики</a:t>
            </a:r>
            <a:r>
              <a:rPr lang="ru-RU" sz="2000" dirty="0"/>
              <a:t> </a:t>
            </a:r>
            <a:r>
              <a:rPr lang="ru-RU" sz="2000" dirty="0" err="1"/>
              <a:t>відсутності</a:t>
            </a:r>
            <a:r>
              <a:rPr lang="ru-RU" sz="2000" dirty="0"/>
              <a:t> </a:t>
            </a:r>
            <a:r>
              <a:rPr lang="ru-RU" sz="2000" dirty="0" err="1"/>
              <a:t>системи</a:t>
            </a:r>
            <a:r>
              <a:rPr lang="ru-RU" sz="2000" dirty="0"/>
              <a:t> контролю — </a:t>
            </a:r>
            <a:r>
              <a:rPr lang="ru-RU" sz="2000" dirty="0" err="1"/>
              <a:t>обумовлені</a:t>
            </a:r>
            <a:r>
              <a:rPr lang="ru-RU" sz="2000" dirty="0"/>
              <a:t> великою </a:t>
            </a:r>
            <a:r>
              <a:rPr lang="ru-RU" sz="2000" dirty="0" err="1"/>
              <a:t>кількістю</a:t>
            </a:r>
            <a:r>
              <a:rPr lang="ru-RU" sz="2000" dirty="0"/>
              <a:t> </a:t>
            </a:r>
            <a:r>
              <a:rPr lang="ru-RU" sz="2000" dirty="0" err="1"/>
              <a:t>аспектів</a:t>
            </a:r>
            <a:r>
              <a:rPr lang="ru-RU" sz="2000" dirty="0"/>
              <a:t> у </a:t>
            </a:r>
            <a:r>
              <a:rPr lang="ru-RU" sz="2000" dirty="0" err="1"/>
              <a:t>області</a:t>
            </a:r>
            <a:r>
              <a:rPr lang="ru-RU" sz="2000" dirty="0"/>
              <a:t> проектного менеджменту при </a:t>
            </a:r>
            <a:r>
              <a:rPr lang="ru-RU" sz="2000" dirty="0" err="1"/>
              <a:t>розробці</a:t>
            </a:r>
            <a:r>
              <a:rPr lang="ru-RU" sz="2000" dirty="0"/>
              <a:t> ПЗ, коли складно </a:t>
            </a:r>
            <a:r>
              <a:rPr lang="ru-RU" sz="2000" dirty="0" err="1"/>
              <a:t>врахувати</a:t>
            </a:r>
            <a:r>
              <a:rPr lang="ru-RU" sz="2000" dirty="0"/>
              <a:t> </a:t>
            </a:r>
            <a:r>
              <a:rPr lang="ru-RU" sz="2000" dirty="0" err="1"/>
              <a:t>всі</a:t>
            </a:r>
            <a:r>
              <a:rPr lang="ru-RU" sz="2000" dirty="0"/>
              <a:t> </a:t>
            </a:r>
            <a:r>
              <a:rPr lang="ru-RU" sz="2000" dirty="0" err="1"/>
              <a:t>можливі</a:t>
            </a:r>
            <a:r>
              <a:rPr lang="ru-RU" sz="2000" dirty="0"/>
              <a:t> </a:t>
            </a:r>
            <a:r>
              <a:rPr lang="ru-RU" sz="2000" dirty="0" err="1"/>
              <a:t>ситуації</a:t>
            </a:r>
            <a:r>
              <a:rPr lang="ru-RU" sz="2000" dirty="0"/>
              <a:t>.</a:t>
            </a:r>
          </a:p>
          <a:p>
            <a:r>
              <a:rPr lang="ru-RU" sz="2000" dirty="0" err="1"/>
              <a:t>Ризик</a:t>
            </a:r>
            <a:r>
              <a:rPr lang="ru-RU" sz="2000" dirty="0"/>
              <a:t> </a:t>
            </a:r>
            <a:r>
              <a:rPr lang="ru-RU" sz="2000" dirty="0" err="1"/>
              <a:t>появи</a:t>
            </a:r>
            <a:r>
              <a:rPr lang="ru-RU" sz="2000" dirty="0"/>
              <a:t> </a:t>
            </a:r>
            <a:r>
              <a:rPr lang="ru-RU" sz="2000" dirty="0" err="1"/>
              <a:t>нових</a:t>
            </a:r>
            <a:r>
              <a:rPr lang="ru-RU" sz="2000" dirty="0"/>
              <a:t> </a:t>
            </a:r>
            <a:r>
              <a:rPr lang="ru-RU" sz="2000" dirty="0" err="1"/>
              <a:t>вимог</a:t>
            </a:r>
            <a:r>
              <a:rPr lang="ru-RU" sz="2000" dirty="0"/>
              <a:t> — </a:t>
            </a:r>
            <a:r>
              <a:rPr lang="ru-RU" sz="2000" dirty="0" err="1"/>
              <a:t>виникає</a:t>
            </a:r>
            <a:r>
              <a:rPr lang="ru-RU" sz="2000" dirty="0"/>
              <a:t> в </a:t>
            </a:r>
            <a:r>
              <a:rPr lang="ru-RU" sz="2000" dirty="0" err="1"/>
              <a:t>процесі</a:t>
            </a:r>
            <a:r>
              <a:rPr lang="ru-RU" sz="2000" dirty="0"/>
              <a:t> </a:t>
            </a:r>
            <a:r>
              <a:rPr lang="ru-RU" sz="2000" dirty="0" err="1"/>
              <a:t>розробки</a:t>
            </a:r>
            <a:r>
              <a:rPr lang="ru-RU" sz="2000" dirty="0"/>
              <a:t> ПЗ, коли </a:t>
            </a:r>
            <a:r>
              <a:rPr lang="ru-RU" sz="2000" dirty="0" err="1"/>
              <a:t>з'являються</a:t>
            </a:r>
            <a:r>
              <a:rPr lang="ru-RU" sz="2000" dirty="0"/>
              <a:t> все </a:t>
            </a:r>
            <a:r>
              <a:rPr lang="ru-RU" sz="2000" dirty="0" err="1"/>
              <a:t>нові</a:t>
            </a:r>
            <a:r>
              <a:rPr lang="ru-RU" sz="2000" dirty="0"/>
              <a:t> і </a:t>
            </a:r>
            <a:r>
              <a:rPr lang="ru-RU" sz="2000" dirty="0" err="1"/>
              <a:t>нові</a:t>
            </a:r>
            <a:r>
              <a:rPr lang="ru-RU" sz="2000" dirty="0"/>
              <a:t> </a:t>
            </a:r>
            <a:r>
              <a:rPr lang="ru-RU" sz="2000" dirty="0" err="1"/>
              <a:t>вимоги</a:t>
            </a:r>
            <a:r>
              <a:rPr lang="ru-RU" sz="2000" dirty="0"/>
              <a:t>, </a:t>
            </a:r>
            <a:r>
              <a:rPr lang="ru-RU" sz="2000" dirty="0" err="1"/>
              <a:t>які</a:t>
            </a:r>
            <a:r>
              <a:rPr lang="ru-RU" sz="2000" dirty="0"/>
              <a:t> </a:t>
            </a:r>
            <a:r>
              <a:rPr lang="ru-RU" sz="2000" dirty="0" err="1"/>
              <a:t>відсувають</a:t>
            </a:r>
            <a:r>
              <a:rPr lang="ru-RU" sz="2000" dirty="0"/>
              <a:t> </a:t>
            </a:r>
            <a:r>
              <a:rPr lang="ru-RU" sz="2000" dirty="0" err="1"/>
              <a:t>терміни</a:t>
            </a:r>
            <a:r>
              <a:rPr lang="ru-RU" sz="2000" dirty="0"/>
              <a:t> і </a:t>
            </a:r>
            <a:r>
              <a:rPr lang="ru-RU" sz="2000" dirty="0" err="1"/>
              <a:t>оцінку</a:t>
            </a:r>
            <a:r>
              <a:rPr lang="ru-RU" sz="2000" dirty="0"/>
              <a:t> </a:t>
            </a:r>
            <a:r>
              <a:rPr lang="ru-RU" sz="2000" dirty="0" err="1"/>
              <a:t>конкретних</a:t>
            </a:r>
            <a:r>
              <a:rPr lang="ru-RU" sz="2000" dirty="0"/>
              <a:t> </a:t>
            </a:r>
            <a:r>
              <a:rPr lang="ru-RU" sz="2000" dirty="0" err="1"/>
              <a:t>завдань</a:t>
            </a:r>
            <a:r>
              <a:rPr lang="ru-RU" sz="2000" dirty="0"/>
              <a:t>.</a:t>
            </a:r>
            <a:endParaRPr lang="ru-UA" sz="2000" dirty="0"/>
          </a:p>
        </p:txBody>
      </p:sp>
      <p:sp>
        <p:nvSpPr>
          <p:cNvPr id="4" name="Номер слайда 3">
            <a:extLst>
              <a:ext uri="{FF2B5EF4-FFF2-40B4-BE49-F238E27FC236}">
                <a16:creationId xmlns:a16="http://schemas.microsoft.com/office/drawing/2014/main" id="{AEA785CF-D03F-B1F2-1761-E9EBFFD0449A}"/>
              </a:ext>
            </a:extLst>
          </p:cNvPr>
          <p:cNvSpPr>
            <a:spLocks noGrp="1"/>
          </p:cNvSpPr>
          <p:nvPr>
            <p:ph type="sldNum" sz="quarter" idx="12"/>
          </p:nvPr>
        </p:nvSpPr>
        <p:spPr/>
        <p:txBody>
          <a:bodyPr/>
          <a:lstStyle/>
          <a:p>
            <a:pPr>
              <a:defRPr/>
            </a:pPr>
            <a:fld id="{05AFA3F7-E640-4688-84D4-3AD59A60B741}" type="slidenum">
              <a:rPr lang="en-US" smtClean="0"/>
              <a:pPr>
                <a:defRPr/>
              </a:pPr>
              <a:t>9</a:t>
            </a:fld>
            <a:endParaRPr lang="en-US" dirty="0"/>
          </a:p>
        </p:txBody>
      </p:sp>
    </p:spTree>
    <p:extLst>
      <p:ext uri="{BB962C8B-B14F-4D97-AF65-F5344CB8AC3E}">
        <p14:creationId xmlns:p14="http://schemas.microsoft.com/office/powerpoint/2010/main" val="880961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B3C560-E2DD-40DF-DE7F-1FE5BD7968DD}"/>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9F389A52-C5AD-D63D-8C7F-B3C7EC1FD615}"/>
              </a:ext>
            </a:extLst>
          </p:cNvPr>
          <p:cNvSpPr>
            <a:spLocks noGrp="1"/>
          </p:cNvSpPr>
          <p:nvPr>
            <p:ph idx="1"/>
          </p:nvPr>
        </p:nvSpPr>
        <p:spPr/>
        <p:txBody>
          <a:bodyPr/>
          <a:lstStyle/>
          <a:p>
            <a:r>
              <a:rPr lang="ru-RU" sz="2000" dirty="0" err="1"/>
              <a:t>Ризик</a:t>
            </a:r>
            <a:r>
              <a:rPr lang="ru-RU" sz="2000" dirty="0"/>
              <a:t> </a:t>
            </a:r>
            <a:r>
              <a:rPr lang="ru-RU" sz="2000" dirty="0" err="1"/>
              <a:t>суперечливості</a:t>
            </a:r>
            <a:r>
              <a:rPr lang="ru-RU" sz="2000" dirty="0"/>
              <a:t> у </a:t>
            </a:r>
            <a:r>
              <a:rPr lang="ru-RU" sz="2000" dirty="0" err="1"/>
              <a:t>вимогах</a:t>
            </a:r>
            <a:r>
              <a:rPr lang="ru-RU" sz="2000" dirty="0"/>
              <a:t> (</a:t>
            </a:r>
            <a:r>
              <a:rPr lang="ru-RU" sz="2000" dirty="0" err="1"/>
              <a:t>декомпозиція</a:t>
            </a:r>
            <a:r>
              <a:rPr lang="ru-RU" sz="2000" dirty="0"/>
              <a:t> </a:t>
            </a:r>
            <a:r>
              <a:rPr lang="ru-RU" sz="2000" dirty="0" err="1"/>
              <a:t>специфікації</a:t>
            </a:r>
            <a:r>
              <a:rPr lang="ru-RU" sz="2000" dirty="0"/>
              <a:t>) — </a:t>
            </a:r>
            <a:r>
              <a:rPr lang="ru-RU" sz="2000" dirty="0" err="1"/>
              <a:t>це</a:t>
            </a:r>
            <a:r>
              <a:rPr lang="ru-RU" sz="2000" dirty="0"/>
              <a:t> </a:t>
            </a:r>
            <a:r>
              <a:rPr lang="ru-RU" sz="2000" dirty="0" err="1"/>
              <a:t>ризики</a:t>
            </a:r>
            <a:r>
              <a:rPr lang="ru-RU" sz="2000" dirty="0"/>
              <a:t>, </a:t>
            </a:r>
            <a:r>
              <a:rPr lang="ru-RU" sz="2000" dirty="0" err="1"/>
              <a:t>пов'язані</a:t>
            </a:r>
            <a:r>
              <a:rPr lang="ru-RU" sz="2000" dirty="0"/>
              <a:t> з </a:t>
            </a:r>
            <a:r>
              <a:rPr lang="ru-RU" sz="2000" dirty="0" err="1"/>
              <a:t>виявленням</a:t>
            </a:r>
            <a:r>
              <a:rPr lang="ru-RU" sz="2000" dirty="0"/>
              <a:t> </a:t>
            </a:r>
            <a:r>
              <a:rPr lang="ru-RU" sz="2000" dirty="0" err="1"/>
              <a:t>суперечливості</a:t>
            </a:r>
            <a:r>
              <a:rPr lang="ru-RU" sz="2000" dirty="0"/>
              <a:t> в </a:t>
            </a:r>
            <a:r>
              <a:rPr lang="ru-RU" sz="2000" dirty="0" err="1"/>
              <a:t>вимогах</a:t>
            </a:r>
            <a:r>
              <a:rPr lang="ru-RU" sz="2000" dirty="0"/>
              <a:t> </a:t>
            </a:r>
            <a:r>
              <a:rPr lang="ru-RU" sz="2000" dirty="0" err="1"/>
              <a:t>замовника</a:t>
            </a:r>
            <a:r>
              <a:rPr lang="ru-RU" sz="2000" dirty="0"/>
              <a:t> на </a:t>
            </a:r>
            <a:r>
              <a:rPr lang="ru-RU" sz="2000" dirty="0" err="1"/>
              <a:t>етапі</a:t>
            </a:r>
            <a:r>
              <a:rPr lang="ru-RU" sz="2000" dirty="0"/>
              <a:t> </a:t>
            </a:r>
            <a:r>
              <a:rPr lang="ru-RU" sz="2000" dirty="0" err="1"/>
              <a:t>програмування</a:t>
            </a:r>
            <a:r>
              <a:rPr lang="ru-RU" sz="2000" dirty="0"/>
              <a:t> </a:t>
            </a:r>
            <a:r>
              <a:rPr lang="ru-RU" sz="2000" dirty="0" err="1"/>
              <a:t>або</a:t>
            </a:r>
            <a:r>
              <a:rPr lang="ru-RU" sz="2000" dirty="0"/>
              <a:t> </a:t>
            </a:r>
            <a:r>
              <a:rPr lang="ru-RU" sz="2000" dirty="0" err="1"/>
              <a:t>інтеграції</a:t>
            </a:r>
            <a:r>
              <a:rPr lang="ru-RU" sz="2000" dirty="0"/>
              <a:t> проекту.</a:t>
            </a:r>
          </a:p>
          <a:p>
            <a:r>
              <a:rPr lang="ru-RU" sz="2000" dirty="0" err="1"/>
              <a:t>Ризики</a:t>
            </a:r>
            <a:r>
              <a:rPr lang="ru-RU" sz="2000" dirty="0"/>
              <a:t> неправильно </a:t>
            </a:r>
            <a:r>
              <a:rPr lang="ru-RU" sz="2000" dirty="0" err="1"/>
              <a:t>певних</a:t>
            </a:r>
            <a:r>
              <a:rPr lang="ru-RU" sz="2000" dirty="0"/>
              <a:t> </a:t>
            </a:r>
            <a:r>
              <a:rPr lang="ru-RU" sz="2000" dirty="0" err="1"/>
              <a:t>системних</a:t>
            </a:r>
            <a:r>
              <a:rPr lang="ru-RU" sz="2000" dirty="0"/>
              <a:t> </a:t>
            </a:r>
            <a:r>
              <a:rPr lang="ru-RU" sz="2000" dirty="0" err="1"/>
              <a:t>вимог</a:t>
            </a:r>
            <a:r>
              <a:rPr lang="ru-RU" sz="2000" dirty="0"/>
              <a:t> — </a:t>
            </a:r>
            <a:r>
              <a:rPr lang="ru-RU" sz="2000" dirty="0" err="1"/>
              <a:t>це</a:t>
            </a:r>
            <a:r>
              <a:rPr lang="ru-RU" sz="2000" dirty="0"/>
              <a:t> </a:t>
            </a:r>
            <a:r>
              <a:rPr lang="ru-RU" sz="2000" dirty="0" err="1"/>
              <a:t>ризики</a:t>
            </a:r>
            <a:r>
              <a:rPr lang="ru-RU" sz="2000" dirty="0"/>
              <a:t>, коли на самому початку проекту </a:t>
            </a:r>
            <a:r>
              <a:rPr lang="ru-RU" sz="2000" dirty="0" err="1"/>
              <a:t>були</a:t>
            </a:r>
            <a:r>
              <a:rPr lang="ru-RU" sz="2000" dirty="0"/>
              <a:t> </a:t>
            </a:r>
            <a:r>
              <a:rPr lang="ru-RU" sz="2000" dirty="0" err="1"/>
              <a:t>некоректно</a:t>
            </a:r>
            <a:r>
              <a:rPr lang="ru-RU" sz="2000" dirty="0"/>
              <a:t> </a:t>
            </a:r>
            <a:r>
              <a:rPr lang="ru-RU" sz="2000" dirty="0" err="1"/>
              <a:t>сформульовані</a:t>
            </a:r>
            <a:r>
              <a:rPr lang="ru-RU" sz="2000" dirty="0"/>
              <a:t> характеристики </a:t>
            </a:r>
            <a:r>
              <a:rPr lang="ru-RU" sz="2000" dirty="0" err="1"/>
              <a:t>цільової</a:t>
            </a:r>
            <a:r>
              <a:rPr lang="ru-RU" sz="2000" dirty="0"/>
              <a:t> </a:t>
            </a:r>
            <a:r>
              <a:rPr lang="ru-RU" sz="2000" dirty="0" err="1"/>
              <a:t>системи</a:t>
            </a:r>
            <a:r>
              <a:rPr lang="ru-RU" sz="2000" dirty="0"/>
              <a:t>, для </a:t>
            </a:r>
            <a:r>
              <a:rPr lang="ru-RU" sz="2000" dirty="0" err="1"/>
              <a:t>якої</a:t>
            </a:r>
            <a:r>
              <a:rPr lang="ru-RU" sz="2000" dirty="0"/>
              <a:t> </a:t>
            </a:r>
            <a:r>
              <a:rPr lang="ru-RU" sz="2000" dirty="0" err="1"/>
              <a:t>розробляється</a:t>
            </a:r>
            <a:r>
              <a:rPr lang="ru-RU" sz="2000" dirty="0"/>
              <a:t> </a:t>
            </a:r>
            <a:r>
              <a:rPr lang="ru-RU" sz="2000" dirty="0" err="1"/>
              <a:t>програмне</a:t>
            </a:r>
            <a:r>
              <a:rPr lang="ru-RU" sz="2000" dirty="0"/>
              <a:t> </a:t>
            </a:r>
            <a:r>
              <a:rPr lang="ru-RU" sz="2000" dirty="0" err="1"/>
              <a:t>забезпечення</a:t>
            </a:r>
            <a:r>
              <a:rPr lang="ru-RU" sz="2000" dirty="0"/>
              <a:t>: </a:t>
            </a:r>
            <a:r>
              <a:rPr lang="ru-RU" sz="2000" dirty="0" err="1"/>
              <a:t>програмне</a:t>
            </a:r>
            <a:r>
              <a:rPr lang="ru-RU" sz="2000" dirty="0"/>
              <a:t> </a:t>
            </a:r>
            <a:r>
              <a:rPr lang="ru-RU" sz="2000" dirty="0" err="1"/>
              <a:t>оточення</a:t>
            </a:r>
            <a:r>
              <a:rPr lang="ru-RU" sz="2000" dirty="0"/>
              <a:t> (</a:t>
            </a:r>
            <a:r>
              <a:rPr lang="ru-RU" sz="2000" dirty="0" err="1"/>
              <a:t>операційна</a:t>
            </a:r>
            <a:r>
              <a:rPr lang="ru-RU" sz="2000" dirty="0"/>
              <a:t> система, </a:t>
            </a:r>
            <a:r>
              <a:rPr lang="ru-RU" sz="2000" dirty="0" err="1"/>
              <a:t>встановлені</a:t>
            </a:r>
            <a:r>
              <a:rPr lang="ru-RU" sz="2000" dirty="0"/>
              <a:t> </a:t>
            </a:r>
            <a:r>
              <a:rPr lang="ru-RU" sz="2000" dirty="0" err="1"/>
              <a:t>компоненти</a:t>
            </a:r>
            <a:r>
              <a:rPr lang="ru-RU" sz="2000" dirty="0"/>
              <a:t>, </a:t>
            </a:r>
            <a:r>
              <a:rPr lang="ru-RU" sz="2000" dirty="0" err="1"/>
              <a:t>сервіси</a:t>
            </a:r>
            <a:r>
              <a:rPr lang="ru-RU" sz="2000" dirty="0"/>
              <a:t> і т. </a:t>
            </a:r>
            <a:r>
              <a:rPr lang="ru-RU" sz="2000" dirty="0" err="1"/>
              <a:t>ін</a:t>
            </a:r>
            <a:r>
              <a:rPr lang="ru-RU" sz="2000" dirty="0"/>
              <a:t>.) </a:t>
            </a:r>
            <a:r>
              <a:rPr lang="ru-RU" sz="2000" dirty="0" err="1"/>
              <a:t>або</a:t>
            </a:r>
            <a:r>
              <a:rPr lang="ru-RU" sz="2000" dirty="0"/>
              <a:t> </a:t>
            </a:r>
            <a:r>
              <a:rPr lang="ru-RU" sz="2000" dirty="0" err="1"/>
              <a:t>вимоги</a:t>
            </a:r>
            <a:r>
              <a:rPr lang="ru-RU" sz="2000" dirty="0"/>
              <a:t> до </a:t>
            </a:r>
            <a:r>
              <a:rPr lang="ru-RU" sz="2000" dirty="0" err="1"/>
              <a:t>апаратної</a:t>
            </a:r>
            <a:r>
              <a:rPr lang="ru-RU" sz="2000" dirty="0"/>
              <a:t> </a:t>
            </a:r>
            <a:r>
              <a:rPr lang="ru-RU" sz="2000" dirty="0" err="1"/>
              <a:t>частини</a:t>
            </a:r>
            <a:r>
              <a:rPr lang="ru-RU" sz="2000" dirty="0"/>
              <a:t> (частота </a:t>
            </a:r>
            <a:r>
              <a:rPr lang="ru-RU" sz="2000" dirty="0" err="1"/>
              <a:t>процесора</a:t>
            </a:r>
            <a:r>
              <a:rPr lang="ru-RU" sz="2000" dirty="0"/>
              <a:t>, </a:t>
            </a:r>
            <a:r>
              <a:rPr lang="ru-RU" sz="2000" dirty="0" err="1"/>
              <a:t>об'єм</a:t>
            </a:r>
            <a:r>
              <a:rPr lang="ru-RU" sz="2000" dirty="0"/>
              <a:t> </a:t>
            </a:r>
            <a:r>
              <a:rPr lang="ru-RU" sz="2000" dirty="0" err="1"/>
              <a:t>жорсткого</a:t>
            </a:r>
            <a:r>
              <a:rPr lang="ru-RU" sz="2000" dirty="0"/>
              <a:t> диска, </a:t>
            </a:r>
            <a:r>
              <a:rPr lang="ru-RU" sz="2000" dirty="0" err="1"/>
              <a:t>обсяг</a:t>
            </a:r>
            <a:r>
              <a:rPr lang="ru-RU" sz="2000" dirty="0"/>
              <a:t> </a:t>
            </a:r>
            <a:r>
              <a:rPr lang="ru-RU" sz="2000" dirty="0" err="1"/>
              <a:t>оперативної</a:t>
            </a:r>
            <a:r>
              <a:rPr lang="ru-RU" sz="2000" dirty="0"/>
              <a:t> </a:t>
            </a:r>
            <a:r>
              <a:rPr lang="ru-RU" sz="2000" dirty="0" err="1"/>
              <a:t>пам'яті</a:t>
            </a:r>
            <a:r>
              <a:rPr lang="ru-RU" sz="2000" dirty="0"/>
              <a:t> і т. </a:t>
            </a:r>
            <a:r>
              <a:rPr lang="ru-RU" sz="2000" dirty="0" err="1"/>
              <a:t>ін</a:t>
            </a:r>
            <a:r>
              <a:rPr lang="ru-RU" sz="2000" dirty="0"/>
              <a:t>.).</a:t>
            </a:r>
          </a:p>
          <a:p>
            <a:r>
              <a:rPr lang="ru-RU" sz="2000" dirty="0" err="1"/>
              <a:t>Ризики</a:t>
            </a:r>
            <a:r>
              <a:rPr lang="ru-RU" sz="2000" dirty="0"/>
              <a:t> </a:t>
            </a:r>
            <a:r>
              <a:rPr lang="ru-RU" sz="2000" dirty="0" err="1"/>
              <a:t>використання</a:t>
            </a:r>
            <a:r>
              <a:rPr lang="ru-RU" sz="2000" dirty="0"/>
              <a:t> </a:t>
            </a:r>
            <a:r>
              <a:rPr lang="ru-RU" sz="2000" dirty="0" err="1"/>
              <a:t>нестабільних</a:t>
            </a:r>
            <a:r>
              <a:rPr lang="ru-RU" sz="2000" dirty="0"/>
              <a:t> </a:t>
            </a:r>
            <a:r>
              <a:rPr lang="ru-RU" sz="2000" dirty="0" err="1"/>
              <a:t>технологій</a:t>
            </a:r>
            <a:r>
              <a:rPr lang="ru-RU" sz="2000" dirty="0"/>
              <a:t> — </a:t>
            </a:r>
            <a:r>
              <a:rPr lang="ru-RU" sz="2000" dirty="0" err="1"/>
              <a:t>це</a:t>
            </a:r>
            <a:r>
              <a:rPr lang="ru-RU" sz="2000" dirty="0"/>
              <a:t> </a:t>
            </a:r>
            <a:r>
              <a:rPr lang="ru-RU" sz="2000" dirty="0" err="1"/>
              <a:t>ризики</a:t>
            </a:r>
            <a:r>
              <a:rPr lang="ru-RU" sz="2000" dirty="0"/>
              <a:t>, </a:t>
            </a:r>
            <a:r>
              <a:rPr lang="ru-RU" sz="2000" dirty="0" err="1"/>
              <a:t>пов'язані</a:t>
            </a:r>
            <a:r>
              <a:rPr lang="ru-RU" sz="2000" dirty="0"/>
              <a:t> з </a:t>
            </a:r>
            <a:r>
              <a:rPr lang="ru-RU" sz="2000" dirty="0" err="1"/>
              <a:t>використанням</a:t>
            </a:r>
            <a:r>
              <a:rPr lang="ru-RU" sz="2000" dirty="0"/>
              <a:t> </a:t>
            </a:r>
            <a:r>
              <a:rPr lang="ru-RU" sz="2000" dirty="0" err="1"/>
              <a:t>нових</a:t>
            </a:r>
            <a:r>
              <a:rPr lang="ru-RU" sz="2000" dirty="0"/>
              <a:t> </a:t>
            </a:r>
            <a:r>
              <a:rPr lang="ru-RU" sz="2000" dirty="0" err="1"/>
              <a:t>технологій</a:t>
            </a:r>
            <a:r>
              <a:rPr lang="ru-RU" sz="2000" dirty="0"/>
              <a:t>, </a:t>
            </a:r>
            <a:r>
              <a:rPr lang="ru-RU" sz="2000" dirty="0" err="1"/>
              <a:t>які</a:t>
            </a:r>
            <a:r>
              <a:rPr lang="ru-RU" sz="2000" dirty="0"/>
              <a:t> </a:t>
            </a:r>
            <a:r>
              <a:rPr lang="ru-RU" sz="2000" dirty="0" err="1"/>
              <a:t>ще</a:t>
            </a:r>
            <a:r>
              <a:rPr lang="ru-RU" sz="2000" dirty="0"/>
              <a:t> не </a:t>
            </a:r>
            <a:r>
              <a:rPr lang="ru-RU" sz="2000" dirty="0" err="1"/>
              <a:t>пройшли</a:t>
            </a:r>
            <a:r>
              <a:rPr lang="ru-RU" sz="2000" dirty="0"/>
              <a:t> </a:t>
            </a:r>
            <a:r>
              <a:rPr lang="ru-RU" sz="2000" dirty="0" err="1"/>
              <a:t>апробацію</a:t>
            </a:r>
            <a:r>
              <a:rPr lang="ru-RU" sz="2000" dirty="0"/>
              <a:t> у </a:t>
            </a:r>
            <a:r>
              <a:rPr lang="ru-RU" sz="2000" dirty="0" err="1"/>
              <a:t>виробництві</a:t>
            </a:r>
            <a:r>
              <a:rPr lang="ru-RU" sz="2000" dirty="0"/>
              <a:t> </a:t>
            </a:r>
            <a:r>
              <a:rPr lang="ru-RU" sz="2000" dirty="0" err="1"/>
              <a:t>або</a:t>
            </a:r>
            <a:r>
              <a:rPr lang="ru-RU" sz="2000" dirty="0"/>
              <a:t> </a:t>
            </a:r>
            <a:r>
              <a:rPr lang="ru-RU" sz="2000" dirty="0" err="1"/>
              <a:t>інших</a:t>
            </a:r>
            <a:r>
              <a:rPr lang="ru-RU" sz="2000" dirty="0"/>
              <a:t> проектах.</a:t>
            </a:r>
          </a:p>
          <a:p>
            <a:r>
              <a:rPr lang="ru-RU" sz="2000" dirty="0" err="1"/>
              <a:t>Ризики</a:t>
            </a:r>
            <a:r>
              <a:rPr lang="ru-RU" sz="2000" dirty="0"/>
              <a:t>, </a:t>
            </a:r>
            <a:r>
              <a:rPr lang="ru-RU" sz="2000" dirty="0" err="1"/>
              <a:t>пов'язані</a:t>
            </a:r>
            <a:r>
              <a:rPr lang="ru-RU" sz="2000" dirty="0"/>
              <a:t> з </a:t>
            </a:r>
            <a:r>
              <a:rPr lang="ru-RU" sz="2000" dirty="0" err="1"/>
              <a:t>нездатністю</a:t>
            </a:r>
            <a:r>
              <a:rPr lang="ru-RU" sz="2000" dirty="0"/>
              <a:t> </a:t>
            </a:r>
            <a:r>
              <a:rPr lang="ru-RU" sz="2000" dirty="0" err="1"/>
              <a:t>впоратися</a:t>
            </a:r>
            <a:r>
              <a:rPr lang="ru-RU" sz="2000" dirty="0"/>
              <a:t> </a:t>
            </a:r>
            <a:r>
              <a:rPr lang="ru-RU" sz="2000" dirty="0" err="1"/>
              <a:t>зі</a:t>
            </a:r>
            <a:r>
              <a:rPr lang="ru-RU" sz="2000" dirty="0"/>
              <a:t> </a:t>
            </a:r>
            <a:r>
              <a:rPr lang="ru-RU" sz="2000" dirty="0" err="1"/>
              <a:t>складністю</a:t>
            </a:r>
            <a:r>
              <a:rPr lang="ru-RU" sz="2000" dirty="0"/>
              <a:t> проекту — </a:t>
            </a:r>
            <a:r>
              <a:rPr lang="ru-RU" sz="2000" dirty="0" err="1"/>
              <a:t>іноді</a:t>
            </a:r>
            <a:r>
              <a:rPr lang="ru-RU" sz="2000" dirty="0"/>
              <a:t> проект </a:t>
            </a:r>
            <a:r>
              <a:rPr lang="ru-RU" sz="2000" dirty="0" err="1"/>
              <a:t>може</a:t>
            </a:r>
            <a:r>
              <a:rPr lang="ru-RU" sz="2000" dirty="0"/>
              <a:t> бути </a:t>
            </a:r>
            <a:r>
              <a:rPr lang="ru-RU" sz="2000" dirty="0" err="1"/>
              <a:t>настільки</a:t>
            </a:r>
            <a:r>
              <a:rPr lang="ru-RU" sz="2000" dirty="0"/>
              <a:t> </a:t>
            </a:r>
            <a:r>
              <a:rPr lang="ru-RU" sz="2000" dirty="0" err="1"/>
              <a:t>складним</a:t>
            </a:r>
            <a:r>
              <a:rPr lang="ru-RU" sz="2000" dirty="0"/>
              <a:t>, </a:t>
            </a:r>
            <a:r>
              <a:rPr lang="ru-RU" sz="2000" dirty="0" err="1"/>
              <a:t>що</a:t>
            </a:r>
            <a:r>
              <a:rPr lang="ru-RU" sz="2000" dirty="0"/>
              <a:t> команда просто </a:t>
            </a:r>
            <a:r>
              <a:rPr lang="ru-RU" sz="2000" dirty="0" err="1"/>
              <a:t>може</a:t>
            </a:r>
            <a:r>
              <a:rPr lang="ru-RU" sz="2000" dirty="0"/>
              <a:t> з ним не </a:t>
            </a:r>
            <a:r>
              <a:rPr lang="ru-RU" sz="2000" dirty="0" err="1"/>
              <a:t>упоратися</a:t>
            </a:r>
            <a:r>
              <a:rPr lang="ru-RU" sz="2000" dirty="0"/>
              <a:t>.</a:t>
            </a:r>
            <a:endParaRPr lang="ru-UA" sz="2000" dirty="0"/>
          </a:p>
        </p:txBody>
      </p:sp>
      <p:sp>
        <p:nvSpPr>
          <p:cNvPr id="4" name="Номер слайда 3">
            <a:extLst>
              <a:ext uri="{FF2B5EF4-FFF2-40B4-BE49-F238E27FC236}">
                <a16:creationId xmlns:a16="http://schemas.microsoft.com/office/drawing/2014/main" id="{7C70BFC5-269D-368F-5B12-1B09F54EAF6F}"/>
              </a:ext>
            </a:extLst>
          </p:cNvPr>
          <p:cNvSpPr>
            <a:spLocks noGrp="1"/>
          </p:cNvSpPr>
          <p:nvPr>
            <p:ph type="sldNum" sz="quarter" idx="12"/>
          </p:nvPr>
        </p:nvSpPr>
        <p:spPr/>
        <p:txBody>
          <a:bodyPr/>
          <a:lstStyle/>
          <a:p>
            <a:pPr>
              <a:defRPr/>
            </a:pPr>
            <a:fld id="{05AFA3F7-E640-4688-84D4-3AD59A60B741}" type="slidenum">
              <a:rPr lang="en-US" smtClean="0"/>
              <a:pPr>
                <a:defRPr/>
              </a:pPr>
              <a:t>10</a:t>
            </a:fld>
            <a:endParaRPr lang="en-US" dirty="0"/>
          </a:p>
        </p:txBody>
      </p:sp>
    </p:spTree>
    <p:extLst>
      <p:ext uri="{BB962C8B-B14F-4D97-AF65-F5344CB8AC3E}">
        <p14:creationId xmlns:p14="http://schemas.microsoft.com/office/powerpoint/2010/main" val="2899960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71C593-21F2-B42B-557D-42E9F5B9AE84}"/>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A88DFDC2-2C16-ED67-0C94-B5579D104526}"/>
              </a:ext>
            </a:extLst>
          </p:cNvPr>
          <p:cNvSpPr>
            <a:spLocks noGrp="1"/>
          </p:cNvSpPr>
          <p:nvPr>
            <p:ph idx="1"/>
          </p:nvPr>
        </p:nvSpPr>
        <p:spPr/>
        <p:txBody>
          <a:bodyPr/>
          <a:lstStyle/>
          <a:p>
            <a:r>
              <a:rPr lang="ru-RU" sz="2000" dirty="0" err="1"/>
              <a:t>Ризик</a:t>
            </a:r>
            <a:r>
              <a:rPr lang="ru-RU" sz="2000" dirty="0"/>
              <a:t> </a:t>
            </a:r>
            <a:r>
              <a:rPr lang="ru-RU" sz="2000" dirty="0" err="1"/>
              <a:t>низької</a:t>
            </a:r>
            <a:r>
              <a:rPr lang="ru-RU" sz="2000" dirty="0"/>
              <a:t> </a:t>
            </a:r>
            <a:r>
              <a:rPr lang="ru-RU" sz="2000" dirty="0" err="1"/>
              <a:t>продуктивності</a:t>
            </a:r>
            <a:r>
              <a:rPr lang="ru-RU" sz="2000" dirty="0"/>
              <a:t> </a:t>
            </a:r>
            <a:r>
              <a:rPr lang="ru-RU" sz="2000" dirty="0" err="1"/>
              <a:t>обумовлений</a:t>
            </a:r>
            <a:r>
              <a:rPr lang="ru-RU" sz="2000" dirty="0"/>
              <a:t> </a:t>
            </a:r>
            <a:r>
              <a:rPr lang="ru-RU" sz="2000" dirty="0" err="1"/>
              <a:t>тривалістю</a:t>
            </a:r>
            <a:r>
              <a:rPr lang="ru-RU" sz="2000" dirty="0"/>
              <a:t> </a:t>
            </a:r>
            <a:r>
              <a:rPr lang="ru-RU" sz="2000" dirty="0" err="1"/>
              <a:t>реалізації</a:t>
            </a:r>
            <a:r>
              <a:rPr lang="ru-RU" sz="2000" dirty="0"/>
              <a:t> проекту. </a:t>
            </a:r>
            <a:r>
              <a:rPr lang="ru-RU" sz="2000" dirty="0" err="1"/>
              <a:t>Це</a:t>
            </a:r>
            <a:r>
              <a:rPr lang="ru-RU" sz="2000" dirty="0"/>
              <a:t> на самому початку проекту </a:t>
            </a:r>
            <a:r>
              <a:rPr lang="ru-RU" sz="2000" dirty="0" err="1"/>
              <a:t>створює</a:t>
            </a:r>
            <a:r>
              <a:rPr lang="ru-RU" sz="2000" dirty="0"/>
              <a:t> велику </a:t>
            </a:r>
            <a:r>
              <a:rPr lang="ru-RU" sz="2000" dirty="0" err="1"/>
              <a:t>втрату</a:t>
            </a:r>
            <a:r>
              <a:rPr lang="ru-RU" sz="2000" dirty="0"/>
              <a:t> часу, яку складно буде </a:t>
            </a:r>
            <a:r>
              <a:rPr lang="ru-RU" sz="2000" dirty="0" err="1"/>
              <a:t>надолужити</a:t>
            </a:r>
            <a:r>
              <a:rPr lang="ru-RU" sz="2000" dirty="0"/>
              <a:t>. При </a:t>
            </a:r>
            <a:r>
              <a:rPr lang="ru-RU" sz="2000" dirty="0" err="1"/>
              <a:t>цьому</a:t>
            </a:r>
            <a:r>
              <a:rPr lang="ru-RU" sz="2000" dirty="0"/>
              <a:t> доводиться </a:t>
            </a:r>
            <a:r>
              <a:rPr lang="ru-RU" sz="2000" dirty="0" err="1"/>
              <a:t>або</a:t>
            </a:r>
            <a:r>
              <a:rPr lang="ru-RU" sz="2000" dirty="0"/>
              <a:t> </a:t>
            </a:r>
            <a:r>
              <a:rPr lang="ru-RU" sz="2000" dirty="0" err="1"/>
              <a:t>переносити</a:t>
            </a:r>
            <a:r>
              <a:rPr lang="ru-RU" sz="2000" dirty="0"/>
              <a:t> </a:t>
            </a:r>
            <a:r>
              <a:rPr lang="ru-RU" sz="2000" dirty="0" err="1"/>
              <a:t>терміни</a:t>
            </a:r>
            <a:r>
              <a:rPr lang="ru-RU" sz="2000" dirty="0"/>
              <a:t>, </a:t>
            </a:r>
            <a:r>
              <a:rPr lang="ru-RU" sz="2000" dirty="0" err="1"/>
              <a:t>або</a:t>
            </a:r>
            <a:r>
              <a:rPr lang="ru-RU" sz="2000" dirty="0"/>
              <a:t> </a:t>
            </a:r>
            <a:r>
              <a:rPr lang="ru-RU" sz="2000" dirty="0" err="1"/>
              <a:t>працювати</a:t>
            </a:r>
            <a:r>
              <a:rPr lang="ru-RU" sz="2000" dirty="0"/>
              <a:t> в </a:t>
            </a:r>
            <a:r>
              <a:rPr lang="ru-RU" sz="2000" dirty="0" err="1"/>
              <a:t>більш</a:t>
            </a:r>
            <a:r>
              <a:rPr lang="ru-RU" sz="2000" dirty="0"/>
              <a:t> </a:t>
            </a:r>
            <a:r>
              <a:rPr lang="ru-RU" sz="2000" dirty="0" err="1"/>
              <a:t>динамічному</a:t>
            </a:r>
            <a:r>
              <a:rPr lang="ru-RU" sz="2000" dirty="0"/>
              <a:t> </a:t>
            </a:r>
            <a:r>
              <a:rPr lang="ru-RU" sz="2000" dirty="0" err="1"/>
              <a:t>режимі</a:t>
            </a:r>
            <a:r>
              <a:rPr lang="ru-RU" sz="2000" dirty="0"/>
              <a:t> на </a:t>
            </a:r>
            <a:r>
              <a:rPr lang="ru-RU" sz="2000" dirty="0" err="1"/>
              <a:t>більш</a:t>
            </a:r>
            <a:r>
              <a:rPr lang="ru-RU" sz="2000" dirty="0"/>
              <a:t> </a:t>
            </a:r>
            <a:r>
              <a:rPr lang="ru-RU" sz="2000" dirty="0" err="1"/>
              <a:t>пізніх</a:t>
            </a:r>
            <a:r>
              <a:rPr lang="ru-RU" sz="2000" dirty="0"/>
              <a:t> </a:t>
            </a:r>
            <a:r>
              <a:rPr lang="ru-RU" sz="2000" dirty="0" err="1"/>
              <a:t>етапах</a:t>
            </a:r>
            <a:r>
              <a:rPr lang="ru-RU" sz="2000" dirty="0"/>
              <a:t> проекту.</a:t>
            </a:r>
          </a:p>
          <a:p>
            <a:r>
              <a:rPr lang="ru-RU" sz="2000" dirty="0" err="1"/>
              <a:t>Ризик</a:t>
            </a:r>
            <a:r>
              <a:rPr lang="ru-RU" sz="2000" dirty="0"/>
              <a:t> </a:t>
            </a:r>
            <a:r>
              <a:rPr lang="ru-RU" sz="2000" dirty="0" err="1"/>
              <a:t>зміни</a:t>
            </a:r>
            <a:r>
              <a:rPr lang="ru-RU" sz="2000" dirty="0"/>
              <a:t> </a:t>
            </a:r>
            <a:r>
              <a:rPr lang="ru-RU" sz="2000" dirty="0" err="1"/>
              <a:t>співробітників</a:t>
            </a:r>
            <a:r>
              <a:rPr lang="ru-RU" sz="2000" dirty="0"/>
              <a:t> — коли проект </a:t>
            </a:r>
            <a:r>
              <a:rPr lang="ru-RU" sz="2000" dirty="0" err="1"/>
              <a:t>покидають</a:t>
            </a:r>
            <a:r>
              <a:rPr lang="ru-RU" sz="2000" dirty="0"/>
              <a:t> </a:t>
            </a:r>
            <a:r>
              <a:rPr lang="ru-RU" sz="2000" dirty="0" err="1"/>
              <a:t>ключові</a:t>
            </a:r>
            <a:r>
              <a:rPr lang="ru-RU" sz="2000" dirty="0"/>
              <a:t> </a:t>
            </a:r>
            <a:r>
              <a:rPr lang="ru-RU" sz="2000" dirty="0" err="1"/>
              <a:t>співробітники</a:t>
            </a:r>
            <a:r>
              <a:rPr lang="ru-RU" sz="2000" dirty="0"/>
              <a:t>, </a:t>
            </a:r>
            <a:r>
              <a:rPr lang="ru-RU" sz="2000" dirty="0" err="1"/>
              <a:t>які</a:t>
            </a:r>
            <a:r>
              <a:rPr lang="ru-RU" sz="2000" dirty="0"/>
              <a:t> максимально </a:t>
            </a:r>
            <a:r>
              <a:rPr lang="ru-RU" sz="2000" dirty="0" err="1"/>
              <a:t>володіють</a:t>
            </a:r>
            <a:r>
              <a:rPr lang="ru-RU" sz="2000" dirty="0"/>
              <a:t> </a:t>
            </a:r>
            <a:r>
              <a:rPr lang="ru-RU" sz="2000" dirty="0" err="1"/>
              <a:t>інформацією</a:t>
            </a:r>
            <a:r>
              <a:rPr lang="ru-RU" sz="2000" dirty="0"/>
              <a:t>.</a:t>
            </a:r>
          </a:p>
          <a:p>
            <a:r>
              <a:rPr lang="ru-RU" sz="2000" dirty="0" err="1"/>
              <a:t>Ризики</a:t>
            </a:r>
            <a:r>
              <a:rPr lang="ru-RU" sz="2000" dirty="0"/>
              <a:t> </a:t>
            </a:r>
            <a:r>
              <a:rPr lang="ru-RU" sz="2000" dirty="0" err="1"/>
              <a:t>розкрадання</a:t>
            </a:r>
            <a:r>
              <a:rPr lang="ru-RU" sz="2000" dirty="0"/>
              <a:t> </a:t>
            </a:r>
            <a:r>
              <a:rPr lang="ru-RU" sz="2000" dirty="0" err="1"/>
              <a:t>вихідного</a:t>
            </a:r>
            <a:r>
              <a:rPr lang="ru-RU" sz="2000" dirty="0"/>
              <a:t> коду </a:t>
            </a:r>
            <a:r>
              <a:rPr lang="ru-RU" sz="2000" dirty="0" err="1"/>
              <a:t>виникають</a:t>
            </a:r>
            <a:r>
              <a:rPr lang="ru-RU" sz="2000" dirty="0"/>
              <a:t>, коли </a:t>
            </a:r>
            <a:r>
              <a:rPr lang="ru-RU" sz="2000" dirty="0" err="1"/>
              <a:t>розробники</a:t>
            </a:r>
            <a:r>
              <a:rPr lang="ru-RU" sz="2000" dirty="0"/>
              <a:t>, </a:t>
            </a:r>
            <a:r>
              <a:rPr lang="ru-RU" sz="2000" dirty="0" err="1"/>
              <a:t>йдучи</a:t>
            </a:r>
            <a:r>
              <a:rPr lang="ru-RU" sz="2000" dirty="0"/>
              <a:t> з </a:t>
            </a:r>
            <a:r>
              <a:rPr lang="ru-RU" sz="2000" dirty="0" err="1"/>
              <a:t>компанії</a:t>
            </a:r>
            <a:r>
              <a:rPr lang="ru-RU" sz="2000" dirty="0"/>
              <a:t>, </a:t>
            </a:r>
            <a:r>
              <a:rPr lang="ru-RU" sz="2000" dirty="0" err="1"/>
              <a:t>забирають</a:t>
            </a:r>
            <a:r>
              <a:rPr lang="ru-RU" sz="2000" dirty="0"/>
              <a:t> з собою проект, </a:t>
            </a:r>
            <a:r>
              <a:rPr lang="ru-RU" sz="2000" dirty="0" err="1"/>
              <a:t>що</a:t>
            </a:r>
            <a:r>
              <a:rPr lang="ru-RU" sz="2000" dirty="0"/>
              <a:t> </a:t>
            </a:r>
            <a:r>
              <a:rPr lang="ru-RU" sz="2000" dirty="0" err="1"/>
              <a:t>розробляється</a:t>
            </a:r>
            <a:r>
              <a:rPr lang="ru-RU" sz="2000" dirty="0"/>
              <a:t> ними і, </a:t>
            </a:r>
            <a:r>
              <a:rPr lang="ru-RU" sz="2000" dirty="0" err="1"/>
              <a:t>трохи</a:t>
            </a:r>
            <a:r>
              <a:rPr lang="ru-RU" sz="2000" dirty="0"/>
              <a:t> </a:t>
            </a:r>
            <a:r>
              <a:rPr lang="ru-RU" sz="2000" dirty="0" err="1"/>
              <a:t>модифікувавши</a:t>
            </a:r>
            <a:r>
              <a:rPr lang="ru-RU" sz="2000" dirty="0"/>
              <a:t> </a:t>
            </a:r>
            <a:r>
              <a:rPr lang="ru-RU" sz="2000" dirty="0" err="1"/>
              <a:t>вихідний</a:t>
            </a:r>
            <a:r>
              <a:rPr lang="ru-RU" sz="2000" dirty="0"/>
              <a:t> код, </a:t>
            </a:r>
            <a:r>
              <a:rPr lang="ru-RU" sz="2000" dirty="0" err="1"/>
              <a:t>можуть</a:t>
            </a:r>
            <a:r>
              <a:rPr lang="ru-RU" sz="2000" dirty="0"/>
              <a:t> </a:t>
            </a:r>
            <a:r>
              <a:rPr lang="ru-RU" sz="2000" dirty="0" err="1"/>
              <a:t>продати</a:t>
            </a:r>
            <a:r>
              <a:rPr lang="ru-RU" sz="2000" dirty="0"/>
              <a:t> </a:t>
            </a:r>
            <a:r>
              <a:rPr lang="ru-RU" sz="2000" dirty="0" err="1"/>
              <a:t>його</a:t>
            </a:r>
            <a:r>
              <a:rPr lang="ru-RU" sz="2000" dirty="0"/>
              <a:t> </a:t>
            </a:r>
            <a:r>
              <a:rPr lang="ru-RU" sz="2000" dirty="0" err="1"/>
              <a:t>або</a:t>
            </a:r>
            <a:r>
              <a:rPr lang="ru-RU" sz="2000" dirty="0"/>
              <a:t> </a:t>
            </a:r>
            <a:r>
              <a:rPr lang="ru-RU" sz="2000" dirty="0" err="1"/>
              <a:t>використовувати</a:t>
            </a:r>
            <a:r>
              <a:rPr lang="ru-RU" sz="2000" dirty="0"/>
              <a:t> в </a:t>
            </a:r>
            <a:r>
              <a:rPr lang="ru-RU" sz="2000" dirty="0" err="1"/>
              <a:t>інших</a:t>
            </a:r>
            <a:r>
              <a:rPr lang="ru-RU" sz="2000" dirty="0"/>
              <a:t> проектах, </a:t>
            </a:r>
            <a:r>
              <a:rPr lang="ru-RU" sz="2000" dirty="0" err="1"/>
              <a:t>наприклад</a:t>
            </a:r>
            <a:r>
              <a:rPr lang="ru-RU" sz="2000" dirty="0"/>
              <a:t>, у </a:t>
            </a:r>
            <a:r>
              <a:rPr lang="ru-RU" sz="2000" dirty="0" err="1"/>
              <a:t>конкурентів</a:t>
            </a:r>
            <a:r>
              <a:rPr lang="ru-RU" sz="2000" dirty="0"/>
              <a:t>.</a:t>
            </a:r>
          </a:p>
          <a:p>
            <a:r>
              <a:rPr lang="ru-RU" sz="2000" dirty="0" err="1"/>
              <a:t>Ризики</a:t>
            </a:r>
            <a:r>
              <a:rPr lang="ru-RU" sz="2000" dirty="0"/>
              <a:t> </a:t>
            </a:r>
            <a:r>
              <a:rPr lang="ru-RU" sz="2000" dirty="0" err="1"/>
              <a:t>порушення</a:t>
            </a:r>
            <a:r>
              <a:rPr lang="ru-RU" sz="2000" dirty="0"/>
              <a:t> закону про </a:t>
            </a:r>
            <a:r>
              <a:rPr lang="ru-RU" sz="2000" dirty="0" err="1"/>
              <a:t>авторське</a:t>
            </a:r>
            <a:r>
              <a:rPr lang="ru-RU" sz="2000" dirty="0"/>
              <a:t> право </a:t>
            </a:r>
            <a:r>
              <a:rPr lang="ru-RU" sz="2000" dirty="0" err="1"/>
              <a:t>можуть</a:t>
            </a:r>
            <a:r>
              <a:rPr lang="ru-RU" sz="2000" dirty="0"/>
              <a:t> </a:t>
            </a:r>
            <a:r>
              <a:rPr lang="ru-RU" sz="2000" dirty="0" err="1"/>
              <a:t>виникнути</a:t>
            </a:r>
            <a:r>
              <a:rPr lang="ru-RU" sz="2000" dirty="0"/>
              <a:t> при </a:t>
            </a:r>
            <a:r>
              <a:rPr lang="ru-RU" sz="2000" dirty="0" err="1"/>
              <a:t>використанні</a:t>
            </a:r>
            <a:r>
              <a:rPr lang="ru-RU" sz="2000" dirty="0"/>
              <a:t> </a:t>
            </a:r>
            <a:r>
              <a:rPr lang="ru-RU" sz="2000" dirty="0" err="1"/>
              <a:t>розробниками</a:t>
            </a:r>
            <a:r>
              <a:rPr lang="ru-RU" sz="2000" dirty="0"/>
              <a:t> без </a:t>
            </a:r>
            <a:r>
              <a:rPr lang="ru-RU" sz="2000" dirty="0" err="1"/>
              <a:t>відома</a:t>
            </a:r>
            <a:r>
              <a:rPr lang="ru-RU" sz="2000" dirty="0"/>
              <a:t> проектного менеджера чужого </a:t>
            </a:r>
            <a:r>
              <a:rPr lang="ru-RU" sz="2000" dirty="0" err="1"/>
              <a:t>вихідного</a:t>
            </a:r>
            <a:r>
              <a:rPr lang="ru-RU" sz="2000" dirty="0"/>
              <a:t> коду, алгоритму </a:t>
            </a:r>
            <a:r>
              <a:rPr lang="ru-RU" sz="2000" dirty="0" err="1"/>
              <a:t>або</a:t>
            </a:r>
            <a:r>
              <a:rPr lang="ru-RU" sz="2000" dirty="0"/>
              <a:t> </a:t>
            </a:r>
            <a:r>
              <a:rPr lang="ru-RU" sz="2000" dirty="0" err="1"/>
              <a:t>бібліотеки</a:t>
            </a:r>
            <a:r>
              <a:rPr lang="ru-RU" sz="2000" dirty="0"/>
              <a:t>, </a:t>
            </a:r>
            <a:r>
              <a:rPr lang="ru-RU" sz="2000" dirty="0" err="1"/>
              <a:t>які</a:t>
            </a:r>
            <a:r>
              <a:rPr lang="ru-RU" sz="2000" dirty="0"/>
              <a:t> </a:t>
            </a:r>
            <a:r>
              <a:rPr lang="ru-RU" sz="2000" dirty="0" err="1"/>
              <a:t>захищені</a:t>
            </a:r>
            <a:r>
              <a:rPr lang="ru-RU" sz="2000" dirty="0"/>
              <a:t> законом про </a:t>
            </a:r>
            <a:r>
              <a:rPr lang="ru-RU" sz="2000" dirty="0" err="1"/>
              <a:t>авторське</a:t>
            </a:r>
            <a:r>
              <a:rPr lang="ru-RU" sz="2000" dirty="0"/>
              <a:t> право, але не </a:t>
            </a:r>
            <a:r>
              <a:rPr lang="ru-RU" sz="2000" dirty="0" err="1"/>
              <a:t>придбано</a:t>
            </a:r>
            <a:r>
              <a:rPr lang="ru-RU" sz="2000" dirty="0"/>
              <a:t> </a:t>
            </a:r>
            <a:r>
              <a:rPr lang="ru-RU" sz="2000" dirty="0" err="1"/>
              <a:t>або</a:t>
            </a:r>
            <a:r>
              <a:rPr lang="ru-RU" sz="2000" dirty="0"/>
              <a:t> </a:t>
            </a:r>
            <a:r>
              <a:rPr lang="ru-RU" sz="2000" dirty="0" err="1"/>
              <a:t>їх</a:t>
            </a:r>
            <a:r>
              <a:rPr lang="ru-RU" sz="2000" dirty="0"/>
              <a:t> </a:t>
            </a:r>
            <a:r>
              <a:rPr lang="ru-RU" sz="2000" dirty="0" err="1"/>
              <a:t>використання</a:t>
            </a:r>
            <a:r>
              <a:rPr lang="ru-RU" sz="2000" dirty="0"/>
              <a:t> не </a:t>
            </a:r>
            <a:r>
              <a:rPr lang="ru-RU" sz="2000" dirty="0" err="1"/>
              <a:t>узгоджене</a:t>
            </a:r>
            <a:r>
              <a:rPr lang="ru-RU" sz="2000" dirty="0"/>
              <a:t> з автором.</a:t>
            </a:r>
            <a:endParaRPr lang="ru-UA" sz="2000" dirty="0"/>
          </a:p>
        </p:txBody>
      </p:sp>
      <p:sp>
        <p:nvSpPr>
          <p:cNvPr id="4" name="Номер слайда 3">
            <a:extLst>
              <a:ext uri="{FF2B5EF4-FFF2-40B4-BE49-F238E27FC236}">
                <a16:creationId xmlns:a16="http://schemas.microsoft.com/office/drawing/2014/main" id="{2869343F-05B0-E8D5-BBEE-9D6660FA530B}"/>
              </a:ext>
            </a:extLst>
          </p:cNvPr>
          <p:cNvSpPr>
            <a:spLocks noGrp="1"/>
          </p:cNvSpPr>
          <p:nvPr>
            <p:ph type="sldNum" sz="quarter" idx="12"/>
          </p:nvPr>
        </p:nvSpPr>
        <p:spPr/>
        <p:txBody>
          <a:bodyPr/>
          <a:lstStyle/>
          <a:p>
            <a:pPr>
              <a:defRPr/>
            </a:pPr>
            <a:fld id="{05AFA3F7-E640-4688-84D4-3AD59A60B741}" type="slidenum">
              <a:rPr lang="en-US" smtClean="0"/>
              <a:pPr>
                <a:defRPr/>
              </a:pPr>
              <a:t>11</a:t>
            </a:fld>
            <a:endParaRPr lang="en-US" dirty="0"/>
          </a:p>
        </p:txBody>
      </p:sp>
    </p:spTree>
    <p:extLst>
      <p:ext uri="{BB962C8B-B14F-4D97-AF65-F5344CB8AC3E}">
        <p14:creationId xmlns:p14="http://schemas.microsoft.com/office/powerpoint/2010/main" val="2008813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13EAC9-59D8-035B-6782-CA1073A4D059}"/>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2F43B1FC-D025-C64B-5103-424269146206}"/>
              </a:ext>
            </a:extLst>
          </p:cNvPr>
          <p:cNvSpPr>
            <a:spLocks noGrp="1"/>
          </p:cNvSpPr>
          <p:nvPr>
            <p:ph idx="1"/>
          </p:nvPr>
        </p:nvSpPr>
        <p:spPr/>
        <p:txBody>
          <a:bodyPr/>
          <a:lstStyle/>
          <a:p>
            <a:r>
              <a:rPr lang="ru-RU" sz="2000" dirty="0" err="1"/>
              <a:t>Спекулятивні</a:t>
            </a:r>
            <a:r>
              <a:rPr lang="ru-RU" sz="2000" dirty="0"/>
              <a:t> </a:t>
            </a:r>
            <a:r>
              <a:rPr lang="ru-RU" sz="2000" dirty="0" err="1"/>
              <a:t>ризики</a:t>
            </a:r>
            <a:endParaRPr lang="ru-RU" sz="2000" dirty="0"/>
          </a:p>
          <a:p>
            <a:r>
              <a:rPr lang="ru-RU" sz="2000" dirty="0" err="1"/>
              <a:t>Спекулятивні</a:t>
            </a:r>
            <a:r>
              <a:rPr lang="ru-RU" sz="2000" dirty="0"/>
              <a:t> </a:t>
            </a:r>
            <a:r>
              <a:rPr lang="ru-RU" sz="2000" dirty="0" err="1"/>
              <a:t>ризики</a:t>
            </a:r>
            <a:r>
              <a:rPr lang="ru-RU" sz="2000" dirty="0"/>
              <a:t> </a:t>
            </a:r>
            <a:r>
              <a:rPr lang="ru-RU" sz="2000" dirty="0" err="1"/>
              <a:t>можна</a:t>
            </a:r>
            <a:r>
              <a:rPr lang="ru-RU" sz="2000" dirty="0"/>
              <a:t> </a:t>
            </a:r>
            <a:r>
              <a:rPr lang="ru-RU" sz="2000" dirty="0" err="1"/>
              <a:t>структурувати</a:t>
            </a:r>
            <a:r>
              <a:rPr lang="ru-RU" sz="2000" dirty="0"/>
              <a:t> на </a:t>
            </a:r>
            <a:r>
              <a:rPr lang="ru-RU" sz="2000" dirty="0" err="1"/>
              <a:t>ризики</a:t>
            </a:r>
            <a:r>
              <a:rPr lang="ru-RU" sz="2000" dirty="0"/>
              <a:t> </a:t>
            </a:r>
            <a:r>
              <a:rPr lang="ru-RU" sz="2000" dirty="0" err="1"/>
              <a:t>фінансових</a:t>
            </a:r>
            <a:r>
              <a:rPr lang="ru-RU" sz="2000" dirty="0"/>
              <a:t> </a:t>
            </a:r>
            <a:r>
              <a:rPr lang="ru-RU" sz="2000" dirty="0" err="1"/>
              <a:t>обмежень</a:t>
            </a:r>
            <a:r>
              <a:rPr lang="ru-RU" sz="2000" dirty="0"/>
              <a:t>, </a:t>
            </a:r>
            <a:r>
              <a:rPr lang="ru-RU" sz="2000" dirty="0" err="1"/>
              <a:t>ризики</a:t>
            </a:r>
            <a:r>
              <a:rPr lang="ru-RU" sz="2000" dirty="0"/>
              <a:t> </a:t>
            </a:r>
            <a:r>
              <a:rPr lang="ru-RU" sz="2000" dirty="0" err="1"/>
              <a:t>зміни</a:t>
            </a:r>
            <a:r>
              <a:rPr lang="ru-RU" sz="2000" dirty="0"/>
              <a:t> </a:t>
            </a:r>
            <a:r>
              <a:rPr lang="ru-RU" sz="2000" dirty="0" err="1"/>
              <a:t>кон'юнктури</a:t>
            </a:r>
            <a:r>
              <a:rPr lang="ru-RU" sz="2000" dirty="0"/>
              <a:t>, </a:t>
            </a:r>
            <a:r>
              <a:rPr lang="ru-RU" sz="2000" dirty="0" err="1"/>
              <a:t>ризики</a:t>
            </a:r>
            <a:r>
              <a:rPr lang="ru-RU" sz="2000" dirty="0"/>
              <a:t> </a:t>
            </a:r>
            <a:r>
              <a:rPr lang="ru-RU" sz="2000" dirty="0" err="1"/>
              <a:t>зміни</a:t>
            </a:r>
            <a:r>
              <a:rPr lang="ru-RU" sz="2000" dirty="0"/>
              <a:t> </a:t>
            </a:r>
            <a:r>
              <a:rPr lang="ru-RU" sz="2000" dirty="0" err="1"/>
              <a:t>курсів</a:t>
            </a:r>
            <a:r>
              <a:rPr lang="ru-RU" sz="2000" dirty="0"/>
              <a:t> валют.</a:t>
            </a:r>
          </a:p>
          <a:p>
            <a:endParaRPr lang="ru-RU" sz="2000" dirty="0"/>
          </a:p>
          <a:p>
            <a:r>
              <a:rPr lang="ru-RU" sz="2000" dirty="0" err="1"/>
              <a:t>Ризики</a:t>
            </a:r>
            <a:r>
              <a:rPr lang="ru-RU" sz="2000" dirty="0"/>
              <a:t> </a:t>
            </a:r>
            <a:r>
              <a:rPr lang="ru-RU" sz="2000" dirty="0" err="1"/>
              <a:t>фінансових</a:t>
            </a:r>
            <a:r>
              <a:rPr lang="ru-RU" sz="2000" dirty="0"/>
              <a:t> </a:t>
            </a:r>
            <a:r>
              <a:rPr lang="ru-RU" sz="2000" dirty="0" err="1"/>
              <a:t>обмежень</a:t>
            </a:r>
            <a:r>
              <a:rPr lang="ru-RU" sz="2000" dirty="0"/>
              <a:t> — </a:t>
            </a:r>
            <a:r>
              <a:rPr lang="ru-RU" sz="2000" dirty="0" err="1"/>
              <a:t>можуть</a:t>
            </a:r>
            <a:r>
              <a:rPr lang="ru-RU" sz="2000" dirty="0"/>
              <a:t> </a:t>
            </a:r>
            <a:r>
              <a:rPr lang="ru-RU" sz="2000" dirty="0" err="1"/>
              <a:t>виникнути</a:t>
            </a:r>
            <a:r>
              <a:rPr lang="ru-RU" sz="2000" dirty="0"/>
              <a:t> як з вини менеджера, </a:t>
            </a:r>
            <a:r>
              <a:rPr lang="ru-RU" sz="2000" dirty="0" err="1"/>
              <a:t>який</a:t>
            </a:r>
            <a:r>
              <a:rPr lang="ru-RU" sz="2000" dirty="0"/>
              <a:t> </a:t>
            </a:r>
            <a:r>
              <a:rPr lang="ru-RU" sz="2000" dirty="0" err="1"/>
              <a:t>планував</a:t>
            </a:r>
            <a:r>
              <a:rPr lang="ru-RU" sz="2000" dirty="0"/>
              <a:t> бюджет проекту, так і з </a:t>
            </a:r>
            <a:r>
              <a:rPr lang="ru-RU" sz="2000" dirty="0" err="1"/>
              <a:t>інших</a:t>
            </a:r>
            <a:r>
              <a:rPr lang="ru-RU" sz="2000" dirty="0"/>
              <a:t> причин.</a:t>
            </a:r>
          </a:p>
          <a:p>
            <a:r>
              <a:rPr lang="ru-RU" sz="2000" dirty="0" err="1"/>
              <a:t>Ризики</a:t>
            </a:r>
            <a:r>
              <a:rPr lang="ru-RU" sz="2000" dirty="0"/>
              <a:t> </a:t>
            </a:r>
            <a:r>
              <a:rPr lang="ru-RU" sz="2000" dirty="0" err="1"/>
              <a:t>зміни</a:t>
            </a:r>
            <a:r>
              <a:rPr lang="ru-RU" sz="2000" dirty="0"/>
              <a:t> </a:t>
            </a:r>
            <a:r>
              <a:rPr lang="ru-RU" sz="2000" dirty="0" err="1"/>
              <a:t>кон'юнктури</a:t>
            </a:r>
            <a:r>
              <a:rPr lang="ru-RU" sz="2000" dirty="0"/>
              <a:t> ринку </a:t>
            </a:r>
            <a:r>
              <a:rPr lang="ru-RU" sz="2000" dirty="0" err="1"/>
              <a:t>обумовлені</a:t>
            </a:r>
            <a:r>
              <a:rPr lang="ru-RU" sz="2000" dirty="0"/>
              <a:t> </a:t>
            </a:r>
            <a:r>
              <a:rPr lang="ru-RU" sz="2000" dirty="0" err="1"/>
              <a:t>зміною</a:t>
            </a:r>
            <a:r>
              <a:rPr lang="ru-RU" sz="2000" dirty="0"/>
              <a:t> </a:t>
            </a:r>
            <a:r>
              <a:rPr lang="ru-RU" sz="2000" dirty="0" err="1"/>
              <a:t>економічної</a:t>
            </a:r>
            <a:r>
              <a:rPr lang="ru-RU" sz="2000" dirty="0"/>
              <a:t> </a:t>
            </a:r>
            <a:r>
              <a:rPr lang="ru-RU" sz="2000" dirty="0" err="1"/>
              <a:t>ситуації</a:t>
            </a:r>
            <a:r>
              <a:rPr lang="ru-RU" sz="2000" dirty="0"/>
              <a:t>, яка </a:t>
            </a:r>
            <a:r>
              <a:rPr lang="ru-RU" sz="2000" dirty="0" err="1"/>
              <a:t>складалася</a:t>
            </a:r>
            <a:r>
              <a:rPr lang="ru-RU" sz="2000" dirty="0"/>
              <a:t> на ринку при </a:t>
            </a:r>
            <a:r>
              <a:rPr lang="ru-RU" sz="2000" dirty="0" err="1"/>
              <a:t>плануванні</a:t>
            </a:r>
            <a:r>
              <a:rPr lang="ru-RU" sz="2000" dirty="0"/>
              <a:t>. При </a:t>
            </a:r>
            <a:r>
              <a:rPr lang="ru-RU" sz="2000" dirty="0" err="1"/>
              <a:t>цьому</a:t>
            </a:r>
            <a:r>
              <a:rPr lang="ru-RU" sz="2000" dirty="0"/>
              <a:t> могли </a:t>
            </a:r>
            <a:r>
              <a:rPr lang="ru-RU" sz="2000" dirty="0" err="1"/>
              <a:t>закладатися</a:t>
            </a:r>
            <a:r>
              <a:rPr lang="ru-RU" sz="2000" dirty="0"/>
              <a:t> </a:t>
            </a:r>
            <a:r>
              <a:rPr lang="ru-RU" sz="2000" dirty="0" err="1"/>
              <a:t>фактори</a:t>
            </a:r>
            <a:r>
              <a:rPr lang="ru-RU" sz="2000" dirty="0"/>
              <a:t>, </a:t>
            </a:r>
            <a:r>
              <a:rPr lang="ru-RU" sz="2000" dirty="0" err="1"/>
              <a:t>актуальні</a:t>
            </a:r>
            <a:r>
              <a:rPr lang="ru-RU" sz="2000" dirty="0"/>
              <a:t> на момент </a:t>
            </a:r>
            <a:r>
              <a:rPr lang="ru-RU" sz="2000" dirty="0" err="1"/>
              <a:t>планування</a:t>
            </a:r>
            <a:r>
              <a:rPr lang="ru-RU" sz="2000" dirty="0"/>
              <a:t>, а </a:t>
            </a:r>
            <a:r>
              <a:rPr lang="ru-RU" sz="2000" dirty="0" err="1"/>
              <a:t>їх</a:t>
            </a:r>
            <a:r>
              <a:rPr lang="ru-RU" sz="2000" dirty="0"/>
              <a:t> </a:t>
            </a:r>
            <a:r>
              <a:rPr lang="ru-RU" sz="2000" dirty="0" err="1"/>
              <a:t>зміна</a:t>
            </a:r>
            <a:r>
              <a:rPr lang="ru-RU" sz="2000" dirty="0"/>
              <a:t> не </a:t>
            </a:r>
            <a:r>
              <a:rPr lang="ru-RU" sz="2000" dirty="0" err="1"/>
              <a:t>була</a:t>
            </a:r>
            <a:r>
              <a:rPr lang="ru-RU" sz="2000" dirty="0"/>
              <a:t> </a:t>
            </a:r>
            <a:r>
              <a:rPr lang="ru-RU" sz="2000" dirty="0" err="1"/>
              <a:t>врахована</a:t>
            </a:r>
            <a:r>
              <a:rPr lang="ru-RU" sz="2000" dirty="0"/>
              <a:t>.</a:t>
            </a:r>
          </a:p>
          <a:p>
            <a:r>
              <a:rPr lang="ru-RU" sz="2000" dirty="0" err="1"/>
              <a:t>Валютні</a:t>
            </a:r>
            <a:r>
              <a:rPr lang="ru-RU" sz="2000" dirty="0"/>
              <a:t> </a:t>
            </a:r>
            <a:r>
              <a:rPr lang="ru-RU" sz="2000" dirty="0" err="1"/>
              <a:t>ризики</a:t>
            </a:r>
            <a:r>
              <a:rPr lang="ru-RU" sz="2000" dirty="0"/>
              <a:t> — </a:t>
            </a:r>
            <a:r>
              <a:rPr lang="ru-RU" sz="2000" dirty="0" err="1"/>
              <a:t>це</a:t>
            </a:r>
            <a:r>
              <a:rPr lang="ru-RU" sz="2000" dirty="0"/>
              <a:t> </a:t>
            </a:r>
            <a:r>
              <a:rPr lang="ru-RU" sz="2000" dirty="0" err="1"/>
              <a:t>ризики</a:t>
            </a:r>
            <a:r>
              <a:rPr lang="ru-RU" sz="2000" dirty="0"/>
              <a:t>, </a:t>
            </a:r>
            <a:r>
              <a:rPr lang="ru-RU" sz="2000" dirty="0" err="1"/>
              <a:t>пов'язані</a:t>
            </a:r>
            <a:r>
              <a:rPr lang="ru-RU" sz="2000" dirty="0"/>
              <a:t> з </a:t>
            </a:r>
            <a:r>
              <a:rPr lang="ru-RU" sz="2000" dirty="0" err="1"/>
              <a:t>можливим</a:t>
            </a:r>
            <a:r>
              <a:rPr lang="ru-RU" sz="2000" dirty="0"/>
              <a:t> </a:t>
            </a:r>
            <a:r>
              <a:rPr lang="ru-RU" sz="2000" dirty="0" err="1"/>
              <a:t>виникненням</a:t>
            </a:r>
            <a:r>
              <a:rPr lang="ru-RU" sz="2000" dirty="0"/>
              <a:t> </a:t>
            </a:r>
            <a:r>
              <a:rPr lang="ru-RU" sz="2000" dirty="0" err="1"/>
              <a:t>збитків</a:t>
            </a:r>
            <a:r>
              <a:rPr lang="ru-RU" sz="2000" dirty="0"/>
              <a:t> </a:t>
            </a:r>
            <a:r>
              <a:rPr lang="ru-RU" sz="2000" dirty="0" err="1"/>
              <a:t>або</a:t>
            </a:r>
            <a:r>
              <a:rPr lang="ru-RU" sz="2000" dirty="0"/>
              <a:t> </a:t>
            </a:r>
            <a:r>
              <a:rPr lang="ru-RU" sz="2000" dirty="0" err="1"/>
              <a:t>додаткових</a:t>
            </a:r>
            <a:r>
              <a:rPr lang="ru-RU" sz="2000" dirty="0"/>
              <a:t> </a:t>
            </a:r>
            <a:r>
              <a:rPr lang="ru-RU" sz="2000" dirty="0" err="1"/>
              <a:t>доходів</a:t>
            </a:r>
            <a:r>
              <a:rPr lang="ru-RU" sz="2000" dirty="0"/>
              <a:t> </a:t>
            </a:r>
            <a:r>
              <a:rPr lang="ru-RU" sz="2000" dirty="0" err="1"/>
              <a:t>внаслідок</a:t>
            </a:r>
            <a:r>
              <a:rPr lang="ru-RU" sz="2000" dirty="0"/>
              <a:t> </a:t>
            </a:r>
            <a:r>
              <a:rPr lang="ru-RU" sz="2000" dirty="0" err="1"/>
              <a:t>несприятливої</a:t>
            </a:r>
            <a:r>
              <a:rPr lang="ru-RU" sz="2000" dirty="0"/>
              <a:t> </a:t>
            </a:r>
            <a:r>
              <a:rPr lang="ru-RU" sz="2000" dirty="0" err="1"/>
              <a:t>або</a:t>
            </a:r>
            <a:r>
              <a:rPr lang="ru-RU" sz="2000" dirty="0"/>
              <a:t> </a:t>
            </a:r>
            <a:r>
              <a:rPr lang="ru-RU" sz="2000" dirty="0" err="1"/>
              <a:t>сприятливої</a:t>
            </a:r>
            <a:r>
              <a:rPr lang="ru-RU" sz="2000" dirty="0"/>
              <a:t> </a:t>
            </a:r>
            <a:r>
              <a:rPr lang="ru-RU" sz="2000" dirty="0" err="1"/>
              <a:t>зміни</a:t>
            </a:r>
            <a:r>
              <a:rPr lang="ru-RU" sz="2000" dirty="0"/>
              <a:t> </a:t>
            </a:r>
            <a:r>
              <a:rPr lang="ru-RU" sz="2000" dirty="0" err="1"/>
              <a:t>курсів</a:t>
            </a:r>
            <a:r>
              <a:rPr lang="ru-RU" sz="2000" dirty="0"/>
              <a:t> </a:t>
            </a:r>
            <a:r>
              <a:rPr lang="ru-RU" sz="2000" dirty="0" err="1"/>
              <a:t>іноземних</a:t>
            </a:r>
            <a:r>
              <a:rPr lang="ru-RU" sz="2000" dirty="0"/>
              <a:t> валют.</a:t>
            </a:r>
            <a:endParaRPr lang="ru-UA" sz="2000" dirty="0"/>
          </a:p>
        </p:txBody>
      </p:sp>
      <p:sp>
        <p:nvSpPr>
          <p:cNvPr id="4" name="Номер слайда 3">
            <a:extLst>
              <a:ext uri="{FF2B5EF4-FFF2-40B4-BE49-F238E27FC236}">
                <a16:creationId xmlns:a16="http://schemas.microsoft.com/office/drawing/2014/main" id="{F8B89AFE-8D0A-C633-D4C0-464BFEB86A70}"/>
              </a:ext>
            </a:extLst>
          </p:cNvPr>
          <p:cNvSpPr>
            <a:spLocks noGrp="1"/>
          </p:cNvSpPr>
          <p:nvPr>
            <p:ph type="sldNum" sz="quarter" idx="12"/>
          </p:nvPr>
        </p:nvSpPr>
        <p:spPr/>
        <p:txBody>
          <a:bodyPr/>
          <a:lstStyle/>
          <a:p>
            <a:pPr>
              <a:defRPr/>
            </a:pPr>
            <a:fld id="{05AFA3F7-E640-4688-84D4-3AD59A60B741}" type="slidenum">
              <a:rPr lang="en-US" smtClean="0"/>
              <a:pPr>
                <a:defRPr/>
              </a:pPr>
              <a:t>12</a:t>
            </a:fld>
            <a:endParaRPr lang="en-US" dirty="0"/>
          </a:p>
        </p:txBody>
      </p:sp>
    </p:spTree>
    <p:extLst>
      <p:ext uri="{BB962C8B-B14F-4D97-AF65-F5344CB8AC3E}">
        <p14:creationId xmlns:p14="http://schemas.microsoft.com/office/powerpoint/2010/main" val="1791359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F92688-ACBD-5E4B-7E65-1B37F8FAA6C0}"/>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C419171E-E29F-9675-4098-95C22EC90A97}"/>
              </a:ext>
            </a:extLst>
          </p:cNvPr>
          <p:cNvSpPr>
            <a:spLocks noGrp="1"/>
          </p:cNvSpPr>
          <p:nvPr>
            <p:ph idx="1"/>
          </p:nvPr>
        </p:nvSpPr>
        <p:spPr/>
        <p:txBody>
          <a:bodyPr/>
          <a:lstStyle/>
          <a:p>
            <a:r>
              <a:rPr lang="ru-RU" dirty="0" err="1"/>
              <a:t>Ризик</a:t>
            </a:r>
            <a:r>
              <a:rPr lang="ru-RU" dirty="0"/>
              <a:t>-менеджмент план</a:t>
            </a:r>
          </a:p>
          <a:p>
            <a:r>
              <a:rPr lang="ru-RU" dirty="0"/>
              <a:t>PMBOK </a:t>
            </a:r>
            <a:r>
              <a:rPr lang="ru-RU" dirty="0" err="1"/>
              <a:t>рекомендує</a:t>
            </a:r>
            <a:r>
              <a:rPr lang="ru-RU" dirty="0"/>
              <a:t> </a:t>
            </a:r>
            <a:r>
              <a:rPr lang="ru-RU" dirty="0" err="1"/>
              <a:t>управляти</a:t>
            </a:r>
            <a:r>
              <a:rPr lang="ru-RU" dirty="0"/>
              <a:t> </a:t>
            </a:r>
            <a:r>
              <a:rPr lang="ru-RU" dirty="0" err="1"/>
              <a:t>ризиками</a:t>
            </a:r>
            <a:r>
              <a:rPr lang="ru-RU" dirty="0"/>
              <a:t> в 4 </a:t>
            </a:r>
            <a:r>
              <a:rPr lang="ru-RU" dirty="0" err="1"/>
              <a:t>етапи</a:t>
            </a:r>
            <a:r>
              <a:rPr lang="ru-RU" dirty="0"/>
              <a:t>, </a:t>
            </a:r>
            <a:r>
              <a:rPr lang="ru-RU" dirty="0" err="1"/>
              <a:t>які</a:t>
            </a:r>
            <a:r>
              <a:rPr lang="ru-RU" dirty="0"/>
              <a:t> </a:t>
            </a:r>
            <a:r>
              <a:rPr lang="ru-RU" dirty="0" err="1"/>
              <a:t>циклічно</a:t>
            </a:r>
            <a:r>
              <a:rPr lang="ru-RU" dirty="0"/>
              <a:t> </a:t>
            </a:r>
            <a:r>
              <a:rPr lang="ru-RU" dirty="0" err="1"/>
              <a:t>повторюються</a:t>
            </a:r>
            <a:r>
              <a:rPr lang="ru-RU" dirty="0"/>
              <a:t> до </a:t>
            </a:r>
            <a:r>
              <a:rPr lang="ru-RU" dirty="0" err="1"/>
              <a:t>успішної</a:t>
            </a:r>
            <a:r>
              <a:rPr lang="ru-RU" dirty="0"/>
              <a:t> </a:t>
            </a:r>
            <a:r>
              <a:rPr lang="ru-RU" dirty="0" err="1"/>
              <a:t>здачі</a:t>
            </a:r>
            <a:r>
              <a:rPr lang="ru-RU" dirty="0"/>
              <a:t> проекту з </a:t>
            </a:r>
            <a:r>
              <a:rPr lang="ru-RU" dirty="0" err="1"/>
              <a:t>інтервалом</a:t>
            </a:r>
            <a:r>
              <a:rPr lang="ru-RU" dirty="0"/>
              <a:t> у два </a:t>
            </a:r>
            <a:r>
              <a:rPr lang="ru-RU" dirty="0" err="1"/>
              <a:t>тижні</a:t>
            </a:r>
            <a:r>
              <a:rPr lang="ru-RU" dirty="0"/>
              <a:t>:</a:t>
            </a:r>
            <a:endParaRPr lang="ru-UA" dirty="0"/>
          </a:p>
        </p:txBody>
      </p:sp>
      <p:sp>
        <p:nvSpPr>
          <p:cNvPr id="4" name="Номер слайда 3">
            <a:extLst>
              <a:ext uri="{FF2B5EF4-FFF2-40B4-BE49-F238E27FC236}">
                <a16:creationId xmlns:a16="http://schemas.microsoft.com/office/drawing/2014/main" id="{7DBDB54D-3DF4-BF08-6C9E-F7777D3DFA36}"/>
              </a:ext>
            </a:extLst>
          </p:cNvPr>
          <p:cNvSpPr>
            <a:spLocks noGrp="1"/>
          </p:cNvSpPr>
          <p:nvPr>
            <p:ph type="sldNum" sz="quarter" idx="12"/>
          </p:nvPr>
        </p:nvSpPr>
        <p:spPr/>
        <p:txBody>
          <a:bodyPr/>
          <a:lstStyle/>
          <a:p>
            <a:pPr>
              <a:defRPr/>
            </a:pPr>
            <a:fld id="{05AFA3F7-E640-4688-84D4-3AD59A60B741}" type="slidenum">
              <a:rPr lang="en-US" smtClean="0"/>
              <a:pPr>
                <a:defRPr/>
              </a:pPr>
              <a:t>13</a:t>
            </a:fld>
            <a:endParaRPr lang="en-US" dirty="0"/>
          </a:p>
        </p:txBody>
      </p:sp>
    </p:spTree>
    <p:extLst>
      <p:ext uri="{BB962C8B-B14F-4D97-AF65-F5344CB8AC3E}">
        <p14:creationId xmlns:p14="http://schemas.microsoft.com/office/powerpoint/2010/main" val="2796099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2903AE-5A34-2E09-3DEC-ACEAD9C288F1}"/>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35C0E9EC-956A-05DB-6915-6A2B5B7B395D}"/>
              </a:ext>
            </a:extLst>
          </p:cNvPr>
          <p:cNvSpPr>
            <a:spLocks noGrp="1"/>
          </p:cNvSpPr>
          <p:nvPr>
            <p:ph idx="1"/>
          </p:nvPr>
        </p:nvSpPr>
        <p:spPr/>
        <p:txBody>
          <a:bodyPr/>
          <a:lstStyle/>
          <a:p>
            <a:r>
              <a:rPr lang="ru-RU" dirty="0" err="1"/>
              <a:t>Ідентифікація</a:t>
            </a:r>
            <a:endParaRPr lang="ru-RU" dirty="0"/>
          </a:p>
          <a:p>
            <a:r>
              <a:rPr lang="ru-RU" dirty="0"/>
              <a:t>Мета </a:t>
            </a:r>
            <a:r>
              <a:rPr lang="ru-RU" dirty="0" err="1"/>
              <a:t>цього</a:t>
            </a:r>
            <a:r>
              <a:rPr lang="ru-RU" dirty="0"/>
              <a:t> </a:t>
            </a:r>
            <a:r>
              <a:rPr lang="ru-RU" dirty="0" err="1"/>
              <a:t>етапу</a:t>
            </a:r>
            <a:r>
              <a:rPr lang="ru-RU" dirty="0"/>
              <a:t> — </a:t>
            </a:r>
            <a:r>
              <a:rPr lang="ru-RU" dirty="0" err="1"/>
              <a:t>виявити</a:t>
            </a:r>
            <a:r>
              <a:rPr lang="ru-RU" dirty="0"/>
              <a:t> </a:t>
            </a:r>
            <a:r>
              <a:rPr lang="ru-RU" dirty="0" err="1"/>
              <a:t>деяку</a:t>
            </a:r>
            <a:r>
              <a:rPr lang="ru-RU" dirty="0"/>
              <a:t> </a:t>
            </a:r>
            <a:r>
              <a:rPr lang="ru-RU" dirty="0" err="1"/>
              <a:t>кількість</a:t>
            </a:r>
            <a:r>
              <a:rPr lang="ru-RU" dirty="0"/>
              <a:t> </a:t>
            </a:r>
            <a:r>
              <a:rPr lang="ru-RU" dirty="0" err="1"/>
              <a:t>невідомих</a:t>
            </a:r>
            <a:r>
              <a:rPr lang="ru-RU" dirty="0"/>
              <a:t> </a:t>
            </a:r>
            <a:r>
              <a:rPr lang="ru-RU" dirty="0" err="1"/>
              <a:t>ризиків</a:t>
            </a:r>
            <a:r>
              <a:rPr lang="ru-RU" dirty="0"/>
              <a:t> проекту. </a:t>
            </a:r>
            <a:r>
              <a:rPr lang="ru-RU" dirty="0" err="1"/>
              <a:t>Вважаємо</a:t>
            </a:r>
            <a:r>
              <a:rPr lang="ru-RU" dirty="0"/>
              <a:t>, </a:t>
            </a:r>
            <a:r>
              <a:rPr lang="ru-RU" dirty="0" err="1"/>
              <a:t>що</a:t>
            </a:r>
            <a:r>
              <a:rPr lang="ru-RU" dirty="0"/>
              <a:t> </a:t>
            </a:r>
            <a:r>
              <a:rPr lang="ru-RU" dirty="0" err="1"/>
              <a:t>потенційних</a:t>
            </a:r>
            <a:r>
              <a:rPr lang="ru-RU" dirty="0"/>
              <a:t> проблем </a:t>
            </a:r>
            <a:r>
              <a:rPr lang="ru-RU" dirty="0" err="1"/>
              <a:t>навколо</a:t>
            </a:r>
            <a:r>
              <a:rPr lang="ru-RU" dirty="0"/>
              <a:t> нас </a:t>
            </a:r>
            <a:r>
              <a:rPr lang="ru-RU" dirty="0" err="1"/>
              <a:t>нескінченно</a:t>
            </a:r>
            <a:r>
              <a:rPr lang="ru-RU" dirty="0"/>
              <a:t> </a:t>
            </a:r>
            <a:r>
              <a:rPr lang="ru-RU" dirty="0" err="1"/>
              <a:t>багато</a:t>
            </a:r>
            <a:r>
              <a:rPr lang="ru-RU" dirty="0"/>
              <a:t>, тому </a:t>
            </a:r>
            <a:r>
              <a:rPr lang="ru-RU" dirty="0" err="1"/>
              <a:t>завдання</a:t>
            </a:r>
            <a:r>
              <a:rPr lang="ru-RU" dirty="0"/>
              <a:t> </a:t>
            </a:r>
            <a:r>
              <a:rPr lang="ru-RU" dirty="0" err="1"/>
              <a:t>будемо</a:t>
            </a:r>
            <a:r>
              <a:rPr lang="ru-RU" dirty="0"/>
              <a:t> </a:t>
            </a:r>
            <a:r>
              <a:rPr lang="ru-RU" dirty="0" err="1"/>
              <a:t>ставити</a:t>
            </a:r>
            <a:r>
              <a:rPr lang="ru-RU" dirty="0"/>
              <a:t> </a:t>
            </a:r>
            <a:r>
              <a:rPr lang="ru-RU" dirty="0" err="1"/>
              <a:t>кількісно</a:t>
            </a:r>
            <a:r>
              <a:rPr lang="ru-RU" dirty="0"/>
              <a:t>. На початку проекту </a:t>
            </a:r>
            <a:r>
              <a:rPr lang="ru-RU" dirty="0" err="1"/>
              <a:t>непогано</a:t>
            </a:r>
            <a:r>
              <a:rPr lang="ru-RU" dirty="0"/>
              <a:t> </a:t>
            </a:r>
            <a:r>
              <a:rPr lang="ru-RU" dirty="0" err="1"/>
              <a:t>ідентифікувати</a:t>
            </a:r>
            <a:r>
              <a:rPr lang="ru-RU" dirty="0"/>
              <a:t> 50-100 </a:t>
            </a:r>
            <a:r>
              <a:rPr lang="ru-RU" dirty="0" err="1"/>
              <a:t>ризиків</a:t>
            </a:r>
            <a:r>
              <a:rPr lang="ru-RU" dirty="0"/>
              <a:t>, у </a:t>
            </a:r>
            <a:r>
              <a:rPr lang="ru-RU" dirty="0" err="1"/>
              <a:t>подальшому</a:t>
            </a:r>
            <a:r>
              <a:rPr lang="ru-RU" dirty="0"/>
              <a:t> — по 20-30 штук.</a:t>
            </a:r>
          </a:p>
          <a:p>
            <a:endParaRPr lang="ru-RU" dirty="0"/>
          </a:p>
          <a:p>
            <a:r>
              <a:rPr lang="ru-RU" dirty="0"/>
              <a:t>На </a:t>
            </a:r>
            <a:r>
              <a:rPr lang="ru-RU" dirty="0" err="1"/>
              <a:t>вході</a:t>
            </a:r>
            <a:r>
              <a:rPr lang="ru-RU" dirty="0"/>
              <a:t>: план проекту, </a:t>
            </a:r>
            <a:r>
              <a:rPr lang="ru-RU" dirty="0" err="1"/>
              <a:t>поточний</a:t>
            </a:r>
            <a:r>
              <a:rPr lang="ru-RU" dirty="0"/>
              <a:t> список </a:t>
            </a:r>
            <a:r>
              <a:rPr lang="ru-RU" dirty="0" err="1"/>
              <a:t>ризиків</a:t>
            </a:r>
            <a:r>
              <a:rPr lang="ru-RU" dirty="0"/>
              <a:t> (</a:t>
            </a:r>
            <a:r>
              <a:rPr lang="ru-RU" dirty="0" err="1"/>
              <a:t>якщо</a:t>
            </a:r>
            <a:r>
              <a:rPr lang="ru-RU" dirty="0"/>
              <a:t> є);</a:t>
            </a:r>
            <a:endParaRPr lang="ru-UA" dirty="0"/>
          </a:p>
        </p:txBody>
      </p:sp>
      <p:sp>
        <p:nvSpPr>
          <p:cNvPr id="4" name="Номер слайда 3">
            <a:extLst>
              <a:ext uri="{FF2B5EF4-FFF2-40B4-BE49-F238E27FC236}">
                <a16:creationId xmlns:a16="http://schemas.microsoft.com/office/drawing/2014/main" id="{E406450C-567F-EC51-5399-64D27C1FEDB2}"/>
              </a:ext>
            </a:extLst>
          </p:cNvPr>
          <p:cNvSpPr>
            <a:spLocks noGrp="1"/>
          </p:cNvSpPr>
          <p:nvPr>
            <p:ph type="sldNum" sz="quarter" idx="12"/>
          </p:nvPr>
        </p:nvSpPr>
        <p:spPr/>
        <p:txBody>
          <a:bodyPr/>
          <a:lstStyle/>
          <a:p>
            <a:pPr>
              <a:defRPr/>
            </a:pPr>
            <a:fld id="{05AFA3F7-E640-4688-84D4-3AD59A60B741}" type="slidenum">
              <a:rPr lang="en-US" smtClean="0"/>
              <a:pPr>
                <a:defRPr/>
              </a:pPr>
              <a:t>14</a:t>
            </a:fld>
            <a:endParaRPr lang="en-US" dirty="0"/>
          </a:p>
        </p:txBody>
      </p:sp>
    </p:spTree>
    <p:extLst>
      <p:ext uri="{BB962C8B-B14F-4D97-AF65-F5344CB8AC3E}">
        <p14:creationId xmlns:p14="http://schemas.microsoft.com/office/powerpoint/2010/main" val="53027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B8989A-8AD2-7F59-BFC6-8EAC24FDD439}"/>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FACC4A2F-46CB-8C2D-11D1-E94520FA7A53}"/>
              </a:ext>
            </a:extLst>
          </p:cNvPr>
          <p:cNvSpPr>
            <a:spLocks noGrp="1"/>
          </p:cNvSpPr>
          <p:nvPr>
            <p:ph idx="1"/>
          </p:nvPr>
        </p:nvSpPr>
        <p:spPr/>
        <p:txBody>
          <a:bodyPr/>
          <a:lstStyle/>
          <a:p>
            <a:r>
              <a:rPr lang="ru-RU" dirty="0" err="1"/>
              <a:t>Процес</a:t>
            </a:r>
            <a:r>
              <a:rPr lang="ru-RU" dirty="0"/>
              <a:t>:</a:t>
            </a:r>
          </a:p>
          <a:p>
            <a:endParaRPr lang="ru-RU" dirty="0"/>
          </a:p>
          <a:p>
            <a:r>
              <a:rPr lang="en-US" sz="2000" dirty="0"/>
              <a:t>PM </a:t>
            </a:r>
            <a:r>
              <a:rPr lang="ru-RU" sz="2000" dirty="0" err="1"/>
              <a:t>збирає</a:t>
            </a:r>
            <a:r>
              <a:rPr lang="ru-RU" sz="2000" dirty="0"/>
              <a:t> </a:t>
            </a:r>
            <a:r>
              <a:rPr lang="ru-RU" sz="2000" dirty="0" err="1"/>
              <a:t>мітинг</a:t>
            </a:r>
            <a:r>
              <a:rPr lang="ru-RU" sz="2000" dirty="0"/>
              <a:t> (</a:t>
            </a:r>
            <a:r>
              <a:rPr lang="en-US" sz="2000" dirty="0"/>
              <a:t>meeting) </a:t>
            </a:r>
            <a:r>
              <a:rPr lang="ru-RU" sz="2000" dirty="0"/>
              <a:t>з </a:t>
            </a:r>
            <a:r>
              <a:rPr lang="ru-RU" sz="2000" dirty="0" err="1"/>
              <a:t>усією</a:t>
            </a:r>
            <a:r>
              <a:rPr lang="ru-RU" sz="2000" dirty="0"/>
              <a:t> командою, </a:t>
            </a:r>
            <a:r>
              <a:rPr lang="ru-RU" sz="2000" dirty="0" err="1"/>
              <a:t>повідомляє</a:t>
            </a:r>
            <a:r>
              <a:rPr lang="ru-RU" sz="2000" dirty="0"/>
              <a:t> про </a:t>
            </a:r>
            <a:r>
              <a:rPr lang="ru-RU" sz="2000" dirty="0" err="1"/>
              <a:t>його</a:t>
            </a:r>
            <a:r>
              <a:rPr lang="ru-RU" sz="2000" dirty="0"/>
              <a:t> мету та </a:t>
            </a:r>
            <a:r>
              <a:rPr lang="ru-RU" sz="2000" dirty="0" err="1"/>
              <a:t>тривалість</a:t>
            </a:r>
            <a:r>
              <a:rPr lang="ru-RU" sz="2000" dirty="0"/>
              <a:t>;</a:t>
            </a:r>
          </a:p>
          <a:p>
            <a:r>
              <a:rPr lang="en-US" sz="2000" dirty="0"/>
              <a:t>PM </a:t>
            </a:r>
            <a:r>
              <a:rPr lang="ru-RU" sz="2000" dirty="0" err="1"/>
              <a:t>повідомляє</a:t>
            </a:r>
            <a:r>
              <a:rPr lang="ru-RU" sz="2000" dirty="0"/>
              <a:t> про статус проекту, </a:t>
            </a:r>
            <a:r>
              <a:rPr lang="ru-RU" sz="2000" dirty="0" err="1"/>
              <a:t>основні</a:t>
            </a:r>
            <a:r>
              <a:rPr lang="ru-RU" sz="2000" dirty="0"/>
              <a:t> </a:t>
            </a:r>
            <a:r>
              <a:rPr lang="ru-RU" sz="2000" dirty="0" err="1"/>
              <a:t>поточні</a:t>
            </a:r>
            <a:r>
              <a:rPr lang="ru-RU" sz="2000" dirty="0"/>
              <a:t> </a:t>
            </a:r>
            <a:r>
              <a:rPr lang="ru-RU" sz="2000" dirty="0" err="1"/>
              <a:t>ризики</a:t>
            </a:r>
            <a:r>
              <a:rPr lang="ru-RU" sz="2000" dirty="0"/>
              <a:t> і </a:t>
            </a:r>
            <a:r>
              <a:rPr lang="ru-RU" sz="2000" dirty="0" err="1"/>
              <a:t>проблеми</a:t>
            </a:r>
            <a:r>
              <a:rPr lang="ru-RU" sz="2000" dirty="0"/>
              <a:t>, </a:t>
            </a:r>
            <a:r>
              <a:rPr lang="ru-RU" sz="2000" dirty="0" err="1"/>
              <a:t>відповідає</a:t>
            </a:r>
            <a:r>
              <a:rPr lang="ru-RU" sz="2000" dirty="0"/>
              <a:t> на </a:t>
            </a:r>
            <a:r>
              <a:rPr lang="ru-RU" sz="2000" dirty="0" err="1"/>
              <a:t>питання</a:t>
            </a:r>
            <a:r>
              <a:rPr lang="ru-RU" sz="2000" dirty="0"/>
              <a:t>;</a:t>
            </a:r>
          </a:p>
          <a:p>
            <a:r>
              <a:rPr lang="ru-RU" sz="2000" dirty="0" err="1"/>
              <a:t>Учасники</a:t>
            </a:r>
            <a:r>
              <a:rPr lang="ru-RU" sz="2000" dirty="0"/>
              <a:t> </a:t>
            </a:r>
            <a:r>
              <a:rPr lang="ru-RU" sz="2000" dirty="0" err="1"/>
              <a:t>мітингу</a:t>
            </a:r>
            <a:r>
              <a:rPr lang="ru-RU" sz="2000" dirty="0"/>
              <a:t> </a:t>
            </a:r>
            <a:r>
              <a:rPr lang="ru-RU" sz="2000" dirty="0" err="1"/>
              <a:t>озвучують</a:t>
            </a:r>
            <a:r>
              <a:rPr lang="ru-RU" sz="2000" dirty="0"/>
              <a:t> </a:t>
            </a:r>
            <a:r>
              <a:rPr lang="ru-RU" sz="2000" dirty="0" err="1"/>
              <a:t>потенційні</a:t>
            </a:r>
            <a:r>
              <a:rPr lang="ru-RU" sz="2000" dirty="0"/>
              <a:t> </a:t>
            </a:r>
            <a:r>
              <a:rPr lang="ru-RU" sz="2000" dirty="0" err="1"/>
              <a:t>ризики</a:t>
            </a:r>
            <a:r>
              <a:rPr lang="ru-RU" sz="2000" dirty="0"/>
              <a:t>. </a:t>
            </a:r>
            <a:r>
              <a:rPr lang="ru-RU" sz="2000" dirty="0" err="1"/>
              <a:t>Приймаються</a:t>
            </a:r>
            <a:r>
              <a:rPr lang="ru-RU" sz="2000" dirty="0"/>
              <a:t> </a:t>
            </a:r>
            <a:r>
              <a:rPr lang="ru-RU" sz="2000" dirty="0" err="1"/>
              <a:t>всі</a:t>
            </a:r>
            <a:r>
              <a:rPr lang="ru-RU" sz="2000" dirty="0"/>
              <a:t> </a:t>
            </a:r>
            <a:r>
              <a:rPr lang="ru-RU" sz="2000" dirty="0" err="1"/>
              <a:t>ідеї</a:t>
            </a:r>
            <a:r>
              <a:rPr lang="ru-RU" sz="2000" dirty="0"/>
              <a:t> без </a:t>
            </a:r>
            <a:r>
              <a:rPr lang="ru-RU" sz="2000" dirty="0" err="1"/>
              <a:t>винятку</a:t>
            </a:r>
            <a:r>
              <a:rPr lang="ru-RU" sz="2000" dirty="0"/>
              <a:t>, без </a:t>
            </a:r>
            <a:r>
              <a:rPr lang="ru-RU" sz="2000" dirty="0" err="1"/>
              <a:t>обговорень</a:t>
            </a:r>
            <a:r>
              <a:rPr lang="ru-RU" sz="2000" dirty="0"/>
              <a:t> і </a:t>
            </a:r>
            <a:r>
              <a:rPr lang="ru-RU" sz="2000" dirty="0" err="1"/>
              <a:t>коментарів</a:t>
            </a:r>
            <a:r>
              <a:rPr lang="ru-RU" sz="2000" dirty="0"/>
              <a:t>;</a:t>
            </a:r>
          </a:p>
          <a:p>
            <a:r>
              <a:rPr lang="en-US" sz="2000" dirty="0"/>
              <a:t>PM </a:t>
            </a:r>
            <a:r>
              <a:rPr lang="ru-RU" sz="2000" dirty="0" err="1"/>
              <a:t>записує</a:t>
            </a:r>
            <a:r>
              <a:rPr lang="ru-RU" sz="2000" dirty="0"/>
              <a:t> </a:t>
            </a:r>
            <a:r>
              <a:rPr lang="ru-RU" sz="2000" dirty="0" err="1"/>
              <a:t>результати</a:t>
            </a:r>
            <a:r>
              <a:rPr lang="ru-RU" sz="2000" dirty="0"/>
              <a:t> в </a:t>
            </a:r>
            <a:r>
              <a:rPr lang="ru-RU" sz="2000" dirty="0" err="1"/>
              <a:t>форматі</a:t>
            </a:r>
            <a:r>
              <a:rPr lang="ru-RU" sz="2000" dirty="0"/>
              <a:t> «причина-</a:t>
            </a:r>
            <a:r>
              <a:rPr lang="ru-RU" sz="2000" dirty="0" err="1"/>
              <a:t>ризик</a:t>
            </a:r>
            <a:r>
              <a:rPr lang="ru-RU" sz="2000" dirty="0"/>
              <a:t>-</a:t>
            </a:r>
            <a:r>
              <a:rPr lang="ru-RU" sz="2000" dirty="0" err="1"/>
              <a:t>ефект</a:t>
            </a:r>
            <a:r>
              <a:rPr lang="ru-RU" sz="2000" dirty="0"/>
              <a:t>». Як </a:t>
            </a:r>
            <a:r>
              <a:rPr lang="ru-RU" sz="2000" dirty="0" err="1"/>
              <a:t>тільки</a:t>
            </a:r>
            <a:r>
              <a:rPr lang="ru-RU" sz="2000" dirty="0"/>
              <a:t> мета </a:t>
            </a:r>
            <a:r>
              <a:rPr lang="ru-RU" sz="2000" dirty="0" err="1"/>
              <a:t>досягнута</a:t>
            </a:r>
            <a:r>
              <a:rPr lang="ru-RU" sz="2000" dirty="0"/>
              <a:t>, </a:t>
            </a:r>
            <a:r>
              <a:rPr lang="ru-RU" sz="2000" dirty="0" err="1"/>
              <a:t>або</a:t>
            </a:r>
            <a:r>
              <a:rPr lang="ru-RU" sz="2000" dirty="0"/>
              <a:t> час минув, </a:t>
            </a:r>
            <a:r>
              <a:rPr lang="ru-RU" sz="2000" dirty="0" err="1"/>
              <a:t>мітинг</a:t>
            </a:r>
            <a:r>
              <a:rPr lang="ru-RU" sz="2000" dirty="0"/>
              <a:t> </a:t>
            </a:r>
            <a:r>
              <a:rPr lang="ru-RU" sz="2000" dirty="0" err="1"/>
              <a:t>завершується</a:t>
            </a:r>
            <a:r>
              <a:rPr lang="ru-RU" sz="2000" dirty="0"/>
              <a:t>;</a:t>
            </a:r>
          </a:p>
          <a:p>
            <a:r>
              <a:rPr lang="ru-RU" sz="2000" dirty="0"/>
              <a:t>На </a:t>
            </a:r>
            <a:r>
              <a:rPr lang="ru-RU" sz="2000" dirty="0" err="1"/>
              <a:t>виході</a:t>
            </a:r>
            <a:r>
              <a:rPr lang="ru-RU" sz="2000" dirty="0"/>
              <a:t>: </a:t>
            </a:r>
            <a:r>
              <a:rPr lang="ru-RU" sz="2000" dirty="0" err="1"/>
              <a:t>оновлений</a:t>
            </a:r>
            <a:r>
              <a:rPr lang="ru-RU" sz="2000" dirty="0"/>
              <a:t> список </a:t>
            </a:r>
            <a:r>
              <a:rPr lang="ru-RU" sz="2000" dirty="0" err="1"/>
              <a:t>ризиків</a:t>
            </a:r>
            <a:r>
              <a:rPr lang="ru-RU" sz="2000" dirty="0"/>
              <a:t> у </a:t>
            </a:r>
            <a:r>
              <a:rPr lang="ru-RU" sz="2000" dirty="0" err="1"/>
              <a:t>форматі</a:t>
            </a:r>
            <a:r>
              <a:rPr lang="ru-RU" sz="2000" dirty="0"/>
              <a:t> «причина-</a:t>
            </a:r>
            <a:r>
              <a:rPr lang="ru-RU" sz="2000" dirty="0" err="1"/>
              <a:t>ризик</a:t>
            </a:r>
            <a:r>
              <a:rPr lang="ru-RU" sz="2000" dirty="0"/>
              <a:t>-</a:t>
            </a:r>
            <a:r>
              <a:rPr lang="ru-RU" sz="2000" dirty="0" err="1"/>
              <a:t>ефект</a:t>
            </a:r>
            <a:r>
              <a:rPr lang="ru-RU" sz="2000" dirty="0"/>
              <a:t>».</a:t>
            </a:r>
            <a:endParaRPr lang="ru-UA" sz="2000" dirty="0"/>
          </a:p>
        </p:txBody>
      </p:sp>
      <p:sp>
        <p:nvSpPr>
          <p:cNvPr id="4" name="Номер слайда 3">
            <a:extLst>
              <a:ext uri="{FF2B5EF4-FFF2-40B4-BE49-F238E27FC236}">
                <a16:creationId xmlns:a16="http://schemas.microsoft.com/office/drawing/2014/main" id="{11233C7C-04F5-5616-E2DC-749668BF132D}"/>
              </a:ext>
            </a:extLst>
          </p:cNvPr>
          <p:cNvSpPr>
            <a:spLocks noGrp="1"/>
          </p:cNvSpPr>
          <p:nvPr>
            <p:ph type="sldNum" sz="quarter" idx="12"/>
          </p:nvPr>
        </p:nvSpPr>
        <p:spPr/>
        <p:txBody>
          <a:bodyPr/>
          <a:lstStyle/>
          <a:p>
            <a:pPr>
              <a:defRPr/>
            </a:pPr>
            <a:fld id="{05AFA3F7-E640-4688-84D4-3AD59A60B741}" type="slidenum">
              <a:rPr lang="en-US" smtClean="0"/>
              <a:pPr>
                <a:defRPr/>
              </a:pPr>
              <a:t>15</a:t>
            </a:fld>
            <a:endParaRPr lang="en-US" dirty="0"/>
          </a:p>
        </p:txBody>
      </p:sp>
    </p:spTree>
    <p:extLst>
      <p:ext uri="{BB962C8B-B14F-4D97-AF65-F5344CB8AC3E}">
        <p14:creationId xmlns:p14="http://schemas.microsoft.com/office/powerpoint/2010/main" val="3155041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AC9E16-D8B7-2FE4-A5FB-BF14A28AF2F5}"/>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6A3C175E-8F58-3566-2B8C-E57B76E79816}"/>
              </a:ext>
            </a:extLst>
          </p:cNvPr>
          <p:cNvSpPr>
            <a:spLocks noGrp="1"/>
          </p:cNvSpPr>
          <p:nvPr>
            <p:ph idx="1"/>
          </p:nvPr>
        </p:nvSpPr>
        <p:spPr/>
        <p:txBody>
          <a:bodyPr/>
          <a:lstStyle/>
          <a:p>
            <a:r>
              <a:rPr lang="ru-RU" dirty="0" err="1"/>
              <a:t>Аналіз</a:t>
            </a:r>
            <a:endParaRPr lang="ru-RU" dirty="0"/>
          </a:p>
          <a:p>
            <a:r>
              <a:rPr lang="ru-RU" sz="2400" dirty="0"/>
              <a:t>Очевидно, </a:t>
            </a:r>
            <a:r>
              <a:rPr lang="ru-RU" sz="2400" dirty="0" err="1"/>
              <a:t>що</a:t>
            </a:r>
            <a:r>
              <a:rPr lang="ru-RU" sz="2400" dirty="0"/>
              <a:t> </a:t>
            </a:r>
            <a:r>
              <a:rPr lang="ru-RU" sz="2400" dirty="0" err="1"/>
              <a:t>боротися</a:t>
            </a:r>
            <a:r>
              <a:rPr lang="ru-RU" sz="2400" dirty="0"/>
              <a:t> з </a:t>
            </a:r>
            <a:r>
              <a:rPr lang="ru-RU" sz="2400" dirty="0" err="1"/>
              <a:t>усіма</a:t>
            </a:r>
            <a:r>
              <a:rPr lang="ru-RU" sz="2400" dirty="0"/>
              <a:t> </a:t>
            </a:r>
            <a:r>
              <a:rPr lang="ru-RU" sz="2400" dirty="0" err="1"/>
              <a:t>ризиками</a:t>
            </a:r>
            <a:r>
              <a:rPr lang="ru-RU" sz="2400" dirty="0"/>
              <a:t> </a:t>
            </a:r>
            <a:r>
              <a:rPr lang="ru-RU" sz="2400" dirty="0" err="1"/>
              <a:t>відразу</a:t>
            </a:r>
            <a:r>
              <a:rPr lang="ru-RU" sz="2400" dirty="0"/>
              <a:t> дорого і </a:t>
            </a:r>
            <a:r>
              <a:rPr lang="ru-RU" sz="2400" dirty="0" err="1"/>
              <a:t>малоефективно</a:t>
            </a:r>
            <a:r>
              <a:rPr lang="ru-RU" sz="2400" dirty="0"/>
              <a:t>. Мета </a:t>
            </a:r>
            <a:r>
              <a:rPr lang="ru-RU" sz="2400" dirty="0" err="1"/>
              <a:t>цього</a:t>
            </a:r>
            <a:r>
              <a:rPr lang="ru-RU" sz="2400" dirty="0"/>
              <a:t> </a:t>
            </a:r>
            <a:r>
              <a:rPr lang="ru-RU" sz="2400" dirty="0" err="1"/>
              <a:t>етапу</a:t>
            </a:r>
            <a:r>
              <a:rPr lang="ru-RU" sz="2400" dirty="0"/>
              <a:t> — </a:t>
            </a:r>
            <a:r>
              <a:rPr lang="ru-RU" sz="2400" dirty="0" err="1"/>
              <a:t>виявити</a:t>
            </a:r>
            <a:r>
              <a:rPr lang="ru-RU" sz="2400" dirty="0"/>
              <a:t> </a:t>
            </a:r>
            <a:r>
              <a:rPr lang="ru-RU" sz="2400" dirty="0" err="1"/>
              <a:t>найбільш</a:t>
            </a:r>
            <a:r>
              <a:rPr lang="ru-RU" sz="2400" dirty="0"/>
              <a:t> </a:t>
            </a:r>
            <a:r>
              <a:rPr lang="ru-RU" sz="2400" dirty="0" err="1"/>
              <a:t>важливі</a:t>
            </a:r>
            <a:r>
              <a:rPr lang="ru-RU" sz="2400" dirty="0"/>
              <a:t> з них. Для кожного </a:t>
            </a:r>
            <a:r>
              <a:rPr lang="ru-RU" sz="2400" dirty="0" err="1"/>
              <a:t>ризику</a:t>
            </a:r>
            <a:r>
              <a:rPr lang="ru-RU" sz="2400" dirty="0"/>
              <a:t> </a:t>
            </a:r>
            <a:r>
              <a:rPr lang="ru-RU" sz="2400" dirty="0" err="1"/>
              <a:t>необхідно</a:t>
            </a:r>
            <a:r>
              <a:rPr lang="ru-RU" sz="2400" dirty="0"/>
              <a:t> </a:t>
            </a:r>
            <a:r>
              <a:rPr lang="ru-RU" sz="2400" dirty="0" err="1"/>
              <a:t>оцінити</a:t>
            </a:r>
            <a:r>
              <a:rPr lang="ru-RU" sz="2400" dirty="0"/>
              <a:t> </a:t>
            </a:r>
            <a:r>
              <a:rPr lang="ru-RU" sz="2400" dirty="0" err="1"/>
              <a:t>його</a:t>
            </a:r>
            <a:r>
              <a:rPr lang="ru-RU" sz="2400" dirty="0"/>
              <a:t> </a:t>
            </a:r>
            <a:r>
              <a:rPr lang="ru-RU" sz="2400" dirty="0" err="1"/>
              <a:t>імовірність</a:t>
            </a:r>
            <a:r>
              <a:rPr lang="ru-RU" sz="2400" dirty="0"/>
              <a:t> і </a:t>
            </a:r>
            <a:r>
              <a:rPr lang="ru-RU" sz="2400" dirty="0" err="1"/>
              <a:t>наслідки</a:t>
            </a:r>
            <a:r>
              <a:rPr lang="ru-RU" sz="2400" dirty="0"/>
              <a:t> за </a:t>
            </a:r>
            <a:r>
              <a:rPr lang="ru-RU" sz="2400" dirty="0" err="1"/>
              <a:t>десятибальною</a:t>
            </a:r>
            <a:r>
              <a:rPr lang="ru-RU" sz="2400" dirty="0"/>
              <a:t> шкалою. Перемноживши </a:t>
            </a:r>
            <a:r>
              <a:rPr lang="ru-RU" sz="2400" dirty="0" err="1"/>
              <a:t>їх</a:t>
            </a:r>
            <a:r>
              <a:rPr lang="ru-RU" sz="2400" dirty="0"/>
              <a:t>, </a:t>
            </a:r>
            <a:r>
              <a:rPr lang="ru-RU" sz="2400" dirty="0" err="1"/>
              <a:t>отримаємо</a:t>
            </a:r>
            <a:r>
              <a:rPr lang="ru-RU" sz="2400" dirty="0"/>
              <a:t> </a:t>
            </a:r>
            <a:r>
              <a:rPr lang="ru-RU" sz="2400" dirty="0" err="1"/>
              <a:t>важливість</a:t>
            </a:r>
            <a:r>
              <a:rPr lang="ru-RU" sz="2400" dirty="0"/>
              <a:t>. </a:t>
            </a:r>
            <a:r>
              <a:rPr lang="ru-RU" sz="2400" dirty="0" err="1"/>
              <a:t>Позначимо</a:t>
            </a:r>
            <a:r>
              <a:rPr lang="ru-RU" sz="2400" dirty="0"/>
              <a:t> </a:t>
            </a:r>
            <a:r>
              <a:rPr lang="ru-RU" sz="2400" dirty="0" err="1"/>
              <a:t>також</a:t>
            </a:r>
            <a:r>
              <a:rPr lang="ru-RU" sz="2400" dirty="0"/>
              <a:t> </a:t>
            </a:r>
            <a:r>
              <a:rPr lang="ru-RU" sz="2400" dirty="0" err="1"/>
              <a:t>деяку</a:t>
            </a:r>
            <a:r>
              <a:rPr lang="ru-RU" sz="2400" dirty="0"/>
              <a:t> межу </a:t>
            </a:r>
            <a:r>
              <a:rPr lang="ru-RU" sz="2400" dirty="0" err="1"/>
              <a:t>важливості</a:t>
            </a:r>
            <a:r>
              <a:rPr lang="ru-RU" sz="2400" dirty="0"/>
              <a:t> (</a:t>
            </a:r>
            <a:r>
              <a:rPr lang="ru-RU" sz="2400" dirty="0" err="1"/>
              <a:t>наприклад</a:t>
            </a:r>
            <a:r>
              <a:rPr lang="ru-RU" sz="2400" dirty="0"/>
              <a:t>, 50), </a:t>
            </a:r>
            <a:r>
              <a:rPr lang="ru-RU" sz="2400" dirty="0" err="1"/>
              <a:t>щоб</a:t>
            </a:r>
            <a:r>
              <a:rPr lang="ru-RU" sz="2400" dirty="0"/>
              <a:t> </a:t>
            </a:r>
            <a:r>
              <a:rPr lang="ru-RU" sz="2400" dirty="0" err="1"/>
              <a:t>зрозуміти</a:t>
            </a:r>
            <a:r>
              <a:rPr lang="ru-RU" sz="2400" dirty="0"/>
              <a:t> </a:t>
            </a:r>
            <a:r>
              <a:rPr lang="ru-RU" sz="2400" dirty="0" err="1"/>
              <a:t>які</a:t>
            </a:r>
            <a:r>
              <a:rPr lang="ru-RU" sz="2400" dirty="0"/>
              <a:t> </a:t>
            </a:r>
            <a:r>
              <a:rPr lang="ru-RU" sz="2400" dirty="0" err="1"/>
              <a:t>ризики</a:t>
            </a:r>
            <a:r>
              <a:rPr lang="ru-RU" sz="2400" dirty="0"/>
              <a:t> </a:t>
            </a:r>
            <a:r>
              <a:rPr lang="ru-RU" sz="2400" dirty="0" err="1"/>
              <a:t>критичні</a:t>
            </a:r>
            <a:r>
              <a:rPr lang="ru-RU" sz="2400" dirty="0"/>
              <a:t> і </a:t>
            </a:r>
            <a:r>
              <a:rPr lang="ru-RU" sz="2400" dirty="0" err="1"/>
              <a:t>далі</a:t>
            </a:r>
            <a:r>
              <a:rPr lang="ru-RU" sz="2400" dirty="0"/>
              <a:t> </a:t>
            </a:r>
            <a:r>
              <a:rPr lang="ru-RU" sz="2400" dirty="0" err="1"/>
              <a:t>працювати</a:t>
            </a:r>
            <a:r>
              <a:rPr lang="ru-RU" sz="2400" dirty="0"/>
              <a:t> </a:t>
            </a:r>
            <a:r>
              <a:rPr lang="ru-RU" sz="2400" dirty="0" err="1"/>
              <a:t>тільки</a:t>
            </a:r>
            <a:r>
              <a:rPr lang="ru-RU" sz="2400" dirty="0"/>
              <a:t> з ними.</a:t>
            </a:r>
          </a:p>
          <a:p>
            <a:endParaRPr lang="ru-RU" sz="2400" dirty="0"/>
          </a:p>
          <a:p>
            <a:r>
              <a:rPr lang="ru-RU" sz="2400" dirty="0"/>
              <a:t>На </a:t>
            </a:r>
            <a:r>
              <a:rPr lang="ru-RU" sz="2400" dirty="0" err="1"/>
              <a:t>вході</a:t>
            </a:r>
            <a:r>
              <a:rPr lang="ru-RU" sz="2400" dirty="0"/>
              <a:t>: список </a:t>
            </a:r>
            <a:r>
              <a:rPr lang="ru-RU" sz="2400" dirty="0" err="1"/>
              <a:t>ризиків</a:t>
            </a:r>
            <a:r>
              <a:rPr lang="ru-RU" sz="2400" dirty="0"/>
              <a:t>;</a:t>
            </a:r>
            <a:endParaRPr lang="ru-UA" sz="2400" dirty="0"/>
          </a:p>
        </p:txBody>
      </p:sp>
      <p:sp>
        <p:nvSpPr>
          <p:cNvPr id="4" name="Номер слайда 3">
            <a:extLst>
              <a:ext uri="{FF2B5EF4-FFF2-40B4-BE49-F238E27FC236}">
                <a16:creationId xmlns:a16="http://schemas.microsoft.com/office/drawing/2014/main" id="{933D39FA-F83C-7A22-CECA-C1B9284ED321}"/>
              </a:ext>
            </a:extLst>
          </p:cNvPr>
          <p:cNvSpPr>
            <a:spLocks noGrp="1"/>
          </p:cNvSpPr>
          <p:nvPr>
            <p:ph type="sldNum" sz="quarter" idx="12"/>
          </p:nvPr>
        </p:nvSpPr>
        <p:spPr/>
        <p:txBody>
          <a:bodyPr/>
          <a:lstStyle/>
          <a:p>
            <a:pPr>
              <a:defRPr/>
            </a:pPr>
            <a:fld id="{05AFA3F7-E640-4688-84D4-3AD59A60B741}" type="slidenum">
              <a:rPr lang="en-US" smtClean="0"/>
              <a:pPr>
                <a:defRPr/>
              </a:pPr>
              <a:t>16</a:t>
            </a:fld>
            <a:endParaRPr lang="en-US" dirty="0"/>
          </a:p>
        </p:txBody>
      </p:sp>
    </p:spTree>
    <p:extLst>
      <p:ext uri="{BB962C8B-B14F-4D97-AF65-F5344CB8AC3E}">
        <p14:creationId xmlns:p14="http://schemas.microsoft.com/office/powerpoint/2010/main" val="805777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B308BF-15E2-C921-3984-5BDBF97D81AE}"/>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185043B0-D539-4AB4-F9EB-93E66D6AA269}"/>
              </a:ext>
            </a:extLst>
          </p:cNvPr>
          <p:cNvSpPr>
            <a:spLocks noGrp="1"/>
          </p:cNvSpPr>
          <p:nvPr>
            <p:ph idx="1"/>
          </p:nvPr>
        </p:nvSpPr>
        <p:spPr/>
        <p:txBody>
          <a:bodyPr/>
          <a:lstStyle/>
          <a:p>
            <a:r>
              <a:rPr lang="ru-RU" dirty="0" err="1"/>
              <a:t>Процес</a:t>
            </a:r>
            <a:r>
              <a:rPr lang="ru-RU" dirty="0"/>
              <a:t>:</a:t>
            </a:r>
          </a:p>
          <a:p>
            <a:r>
              <a:rPr lang="en-US" sz="2400" dirty="0"/>
              <a:t>PM </a:t>
            </a:r>
            <a:r>
              <a:rPr lang="ru-RU" sz="2400" dirty="0" err="1"/>
              <a:t>збирає</a:t>
            </a:r>
            <a:r>
              <a:rPr lang="ru-RU" sz="2400" dirty="0"/>
              <a:t> </a:t>
            </a:r>
            <a:r>
              <a:rPr lang="ru-RU" sz="2400" dirty="0" err="1"/>
              <a:t>мітинг</a:t>
            </a:r>
            <a:r>
              <a:rPr lang="ru-RU" sz="2400" dirty="0"/>
              <a:t> (</a:t>
            </a:r>
            <a:r>
              <a:rPr lang="en-US" sz="2400" dirty="0"/>
              <a:t>meeting) </a:t>
            </a:r>
            <a:r>
              <a:rPr lang="ru-RU" sz="2400" dirty="0"/>
              <a:t>з </a:t>
            </a:r>
            <a:r>
              <a:rPr lang="ru-RU" sz="2400" dirty="0" err="1"/>
              <a:t>тім</a:t>
            </a:r>
            <a:r>
              <a:rPr lang="ru-RU" sz="2400" dirty="0"/>
              <a:t> </a:t>
            </a:r>
            <a:r>
              <a:rPr lang="ru-RU" sz="2400" dirty="0" err="1"/>
              <a:t>лідами</a:t>
            </a:r>
            <a:r>
              <a:rPr lang="ru-RU" sz="2400" dirty="0"/>
              <a:t> (</a:t>
            </a:r>
            <a:r>
              <a:rPr lang="en-US" sz="2400" dirty="0"/>
              <a:t>Teem Lead), </a:t>
            </a:r>
            <a:r>
              <a:rPr lang="ru-RU" sz="2400" dirty="0" err="1"/>
              <a:t>повідомляє</a:t>
            </a:r>
            <a:r>
              <a:rPr lang="ru-RU" sz="2400" dirty="0"/>
              <a:t> про </a:t>
            </a:r>
            <a:r>
              <a:rPr lang="ru-RU" sz="2400" dirty="0" err="1"/>
              <a:t>його</a:t>
            </a:r>
            <a:r>
              <a:rPr lang="ru-RU" sz="2400" dirty="0"/>
              <a:t> мету та </a:t>
            </a:r>
            <a:r>
              <a:rPr lang="ru-RU" sz="2400" dirty="0" err="1"/>
              <a:t>тривалість</a:t>
            </a:r>
            <a:r>
              <a:rPr lang="ru-RU" sz="2400" dirty="0"/>
              <a:t>;</a:t>
            </a:r>
          </a:p>
          <a:p>
            <a:r>
              <a:rPr lang="en-US" sz="2400" dirty="0"/>
              <a:t>PM </a:t>
            </a:r>
            <a:r>
              <a:rPr lang="ru-RU" sz="2400" dirty="0" err="1"/>
              <a:t>оголошує</a:t>
            </a:r>
            <a:r>
              <a:rPr lang="ru-RU" sz="2400" dirty="0"/>
              <a:t> </a:t>
            </a:r>
            <a:r>
              <a:rPr lang="ru-RU" sz="2400" dirty="0" err="1"/>
              <a:t>ризик</a:t>
            </a:r>
            <a:r>
              <a:rPr lang="ru-RU" sz="2400" dirty="0"/>
              <a:t>, </a:t>
            </a:r>
            <a:r>
              <a:rPr lang="ru-RU" sz="2400" dirty="0" err="1"/>
              <a:t>учасники</a:t>
            </a:r>
            <a:r>
              <a:rPr lang="ru-RU" sz="2400" dirty="0"/>
              <a:t> </a:t>
            </a:r>
            <a:r>
              <a:rPr lang="ru-RU" sz="2400" dirty="0" err="1"/>
              <a:t>мітингу</a:t>
            </a:r>
            <a:r>
              <a:rPr lang="ru-RU" sz="2400" dirty="0"/>
              <a:t> </a:t>
            </a:r>
            <a:r>
              <a:rPr lang="ru-RU" sz="2400" dirty="0" err="1"/>
              <a:t>оцінюють</a:t>
            </a:r>
            <a:r>
              <a:rPr lang="ru-RU" sz="2400" dirty="0"/>
              <a:t> </a:t>
            </a:r>
            <a:r>
              <a:rPr lang="ru-RU" sz="2400" dirty="0" err="1"/>
              <a:t>його</a:t>
            </a:r>
            <a:r>
              <a:rPr lang="ru-RU" sz="2400" dirty="0"/>
              <a:t> </a:t>
            </a:r>
            <a:r>
              <a:rPr lang="ru-RU" sz="2400" dirty="0" err="1"/>
              <a:t>вірогідність</a:t>
            </a:r>
            <a:r>
              <a:rPr lang="ru-RU" sz="2400" dirty="0"/>
              <a:t> і </a:t>
            </a:r>
            <a:r>
              <a:rPr lang="ru-RU" sz="2400" dirty="0" err="1"/>
              <a:t>наслідки</a:t>
            </a:r>
            <a:r>
              <a:rPr lang="ru-RU" sz="2400" dirty="0"/>
              <a:t>;</a:t>
            </a:r>
          </a:p>
          <a:p>
            <a:r>
              <a:rPr lang="en-US" sz="2400" dirty="0"/>
              <a:t>PM </a:t>
            </a:r>
            <a:r>
              <a:rPr lang="ru-RU" sz="2400" dirty="0" err="1"/>
              <a:t>записує</a:t>
            </a:r>
            <a:r>
              <a:rPr lang="ru-RU" sz="2400" dirty="0"/>
              <a:t> </a:t>
            </a:r>
            <a:r>
              <a:rPr lang="ru-RU" sz="2400" dirty="0" err="1"/>
              <a:t>оцінки</a:t>
            </a:r>
            <a:r>
              <a:rPr lang="ru-RU" sz="2400" dirty="0"/>
              <a:t>, як </a:t>
            </a:r>
            <a:r>
              <a:rPr lang="ru-RU" sz="2400" dirty="0" err="1"/>
              <a:t>тільки</a:t>
            </a:r>
            <a:r>
              <a:rPr lang="ru-RU" sz="2400" dirty="0"/>
              <a:t> мета </a:t>
            </a:r>
            <a:r>
              <a:rPr lang="ru-RU" sz="2400" dirty="0" err="1"/>
              <a:t>мітингу</a:t>
            </a:r>
            <a:r>
              <a:rPr lang="ru-RU" sz="2400" dirty="0"/>
              <a:t> </a:t>
            </a:r>
            <a:r>
              <a:rPr lang="ru-RU" sz="2400" dirty="0" err="1"/>
              <a:t>досягнута</a:t>
            </a:r>
            <a:r>
              <a:rPr lang="ru-RU" sz="2400" dirty="0"/>
              <a:t>, </a:t>
            </a:r>
            <a:r>
              <a:rPr lang="ru-RU" sz="2400" dirty="0" err="1"/>
              <a:t>або</a:t>
            </a:r>
            <a:r>
              <a:rPr lang="ru-RU" sz="2400" dirty="0"/>
              <a:t> час минув, </a:t>
            </a:r>
            <a:r>
              <a:rPr lang="ru-RU" sz="2400" dirty="0" err="1"/>
              <a:t>мітинг</a:t>
            </a:r>
            <a:r>
              <a:rPr lang="ru-RU" sz="2400" dirty="0"/>
              <a:t> </a:t>
            </a:r>
            <a:r>
              <a:rPr lang="ru-RU" sz="2400" dirty="0" err="1"/>
              <a:t>завершується</a:t>
            </a:r>
            <a:r>
              <a:rPr lang="ru-RU" sz="2400" dirty="0"/>
              <a:t>;</a:t>
            </a:r>
          </a:p>
          <a:p>
            <a:r>
              <a:rPr lang="en-US" sz="2400" dirty="0"/>
              <a:t>PM </a:t>
            </a:r>
            <a:r>
              <a:rPr lang="ru-RU" sz="2400" dirty="0" err="1"/>
              <a:t>вираховує</a:t>
            </a:r>
            <a:r>
              <a:rPr lang="ru-RU" sz="2400" dirty="0"/>
              <a:t> </a:t>
            </a:r>
            <a:r>
              <a:rPr lang="ru-RU" sz="2400" dirty="0" err="1"/>
              <a:t>істотність</a:t>
            </a:r>
            <a:r>
              <a:rPr lang="ru-RU" sz="2400" dirty="0"/>
              <a:t> </a:t>
            </a:r>
            <a:r>
              <a:rPr lang="ru-RU" sz="2400" dirty="0" err="1"/>
              <a:t>ризиків</a:t>
            </a:r>
            <a:r>
              <a:rPr lang="ru-RU" sz="2400" dirty="0"/>
              <a:t> як </a:t>
            </a:r>
            <a:r>
              <a:rPr lang="ru-RU" sz="2400" dirty="0" err="1"/>
              <a:t>імовірність</a:t>
            </a:r>
            <a:r>
              <a:rPr lang="ru-RU" sz="2400" dirty="0"/>
              <a:t> * </a:t>
            </a:r>
            <a:r>
              <a:rPr lang="ru-RU" sz="2400" dirty="0" err="1"/>
              <a:t>наслідки</a:t>
            </a:r>
            <a:r>
              <a:rPr lang="ru-RU" sz="2400" dirty="0"/>
              <a:t>, </a:t>
            </a:r>
            <a:r>
              <a:rPr lang="ru-RU" sz="2400" dirty="0" err="1"/>
              <a:t>сортує</a:t>
            </a:r>
            <a:r>
              <a:rPr lang="ru-RU" sz="2400" dirty="0"/>
              <a:t> список по </a:t>
            </a:r>
            <a:r>
              <a:rPr lang="ru-RU" sz="2400" dirty="0" err="1"/>
              <a:t>спадаючій</a:t>
            </a:r>
            <a:r>
              <a:rPr lang="ru-RU" sz="2400" dirty="0"/>
              <a:t> </a:t>
            </a:r>
            <a:r>
              <a:rPr lang="ru-RU" sz="2400" dirty="0" err="1"/>
              <a:t>важливості</a:t>
            </a:r>
            <a:r>
              <a:rPr lang="ru-RU" sz="2400" dirty="0"/>
              <a:t>;</a:t>
            </a:r>
          </a:p>
          <a:p>
            <a:r>
              <a:rPr lang="en-US" sz="2400" dirty="0"/>
              <a:t>PM </a:t>
            </a:r>
            <a:r>
              <a:rPr lang="ru-RU" sz="2400" dirty="0" err="1"/>
              <a:t>позначає</a:t>
            </a:r>
            <a:r>
              <a:rPr lang="ru-RU" sz="2400" dirty="0"/>
              <a:t> </a:t>
            </a:r>
            <a:r>
              <a:rPr lang="ru-RU" sz="2400" dirty="0" err="1"/>
              <a:t>ризики</a:t>
            </a:r>
            <a:r>
              <a:rPr lang="ru-RU" sz="2400" dirty="0"/>
              <a:t>, </a:t>
            </a:r>
            <a:r>
              <a:rPr lang="ru-RU" sz="2400" dirty="0" err="1"/>
              <a:t>що</a:t>
            </a:r>
            <a:r>
              <a:rPr lang="ru-RU" sz="2400" dirty="0"/>
              <a:t> </a:t>
            </a:r>
            <a:r>
              <a:rPr lang="ru-RU" sz="2400" dirty="0" err="1"/>
              <a:t>перевищили</a:t>
            </a:r>
            <a:r>
              <a:rPr lang="ru-RU" sz="2400" dirty="0"/>
              <a:t> межу </a:t>
            </a:r>
            <a:r>
              <a:rPr lang="ru-RU" sz="2400" dirty="0" err="1"/>
              <a:t>Важливості</a:t>
            </a:r>
            <a:r>
              <a:rPr lang="ru-RU" sz="2400" dirty="0"/>
              <a:t> в списку;</a:t>
            </a:r>
          </a:p>
          <a:p>
            <a:r>
              <a:rPr lang="ru-RU" sz="2400" dirty="0"/>
              <a:t>На </a:t>
            </a:r>
            <a:r>
              <a:rPr lang="ru-RU" sz="2400" dirty="0" err="1"/>
              <a:t>виході</a:t>
            </a:r>
            <a:r>
              <a:rPr lang="ru-RU" sz="2400" dirty="0"/>
              <a:t>: список </a:t>
            </a:r>
            <a:r>
              <a:rPr lang="ru-RU" sz="2400" dirty="0" err="1"/>
              <a:t>критичних</a:t>
            </a:r>
            <a:r>
              <a:rPr lang="ru-RU" sz="2400" dirty="0"/>
              <a:t> </a:t>
            </a:r>
            <a:r>
              <a:rPr lang="ru-RU" sz="2400" dirty="0" err="1"/>
              <a:t>ризиків</a:t>
            </a:r>
            <a:r>
              <a:rPr lang="ru-RU" sz="2400" dirty="0"/>
              <a:t>;</a:t>
            </a:r>
            <a:endParaRPr lang="ru-UA" sz="2400" dirty="0"/>
          </a:p>
        </p:txBody>
      </p:sp>
      <p:sp>
        <p:nvSpPr>
          <p:cNvPr id="4" name="Номер слайда 3">
            <a:extLst>
              <a:ext uri="{FF2B5EF4-FFF2-40B4-BE49-F238E27FC236}">
                <a16:creationId xmlns:a16="http://schemas.microsoft.com/office/drawing/2014/main" id="{9A165C0A-7380-CF20-1662-EBAFC1FECDB3}"/>
              </a:ext>
            </a:extLst>
          </p:cNvPr>
          <p:cNvSpPr>
            <a:spLocks noGrp="1"/>
          </p:cNvSpPr>
          <p:nvPr>
            <p:ph type="sldNum" sz="quarter" idx="12"/>
          </p:nvPr>
        </p:nvSpPr>
        <p:spPr/>
        <p:txBody>
          <a:bodyPr/>
          <a:lstStyle/>
          <a:p>
            <a:pPr>
              <a:defRPr/>
            </a:pPr>
            <a:fld id="{05AFA3F7-E640-4688-84D4-3AD59A60B741}" type="slidenum">
              <a:rPr lang="en-US" smtClean="0"/>
              <a:pPr>
                <a:defRPr/>
              </a:pPr>
              <a:t>17</a:t>
            </a:fld>
            <a:endParaRPr lang="en-US" dirty="0"/>
          </a:p>
        </p:txBody>
      </p:sp>
    </p:spTree>
    <p:extLst>
      <p:ext uri="{BB962C8B-B14F-4D97-AF65-F5344CB8AC3E}">
        <p14:creationId xmlns:p14="http://schemas.microsoft.com/office/powerpoint/2010/main" val="2595976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59BE54-45B7-7821-0325-61DA6B6CE36C}"/>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7EB5FA34-084D-AE6D-27EE-1CD63F97244A}"/>
              </a:ext>
            </a:extLst>
          </p:cNvPr>
          <p:cNvSpPr>
            <a:spLocks noGrp="1"/>
          </p:cNvSpPr>
          <p:nvPr>
            <p:ph idx="1"/>
          </p:nvPr>
        </p:nvSpPr>
        <p:spPr/>
        <p:txBody>
          <a:bodyPr/>
          <a:lstStyle/>
          <a:p>
            <a:r>
              <a:rPr lang="ru-RU" dirty="0" err="1"/>
              <a:t>Планування</a:t>
            </a:r>
            <a:endParaRPr lang="ru-RU" dirty="0"/>
          </a:p>
          <a:p>
            <a:r>
              <a:rPr lang="ru-RU" sz="1800" dirty="0" err="1"/>
              <a:t>Фактично</a:t>
            </a:r>
            <a:r>
              <a:rPr lang="ru-RU" sz="1800" dirty="0"/>
              <a:t>, на </a:t>
            </a:r>
            <a:r>
              <a:rPr lang="ru-RU" sz="1800" dirty="0" err="1"/>
              <a:t>цьому</a:t>
            </a:r>
            <a:r>
              <a:rPr lang="ru-RU" sz="1800" dirty="0"/>
              <a:t> </a:t>
            </a:r>
            <a:r>
              <a:rPr lang="ru-RU" sz="1800" dirty="0" err="1"/>
              <a:t>етапі</a:t>
            </a:r>
            <a:r>
              <a:rPr lang="ru-RU" sz="1800" dirty="0"/>
              <a:t> і </a:t>
            </a:r>
            <a:r>
              <a:rPr lang="ru-RU" sz="1800" dirty="0" err="1"/>
              <a:t>відбувається</a:t>
            </a:r>
            <a:r>
              <a:rPr lang="ru-RU" sz="1800" dirty="0"/>
              <a:t> </a:t>
            </a:r>
            <a:r>
              <a:rPr lang="ru-RU" sz="1800" dirty="0" err="1"/>
              <a:t>управління</a:t>
            </a:r>
            <a:r>
              <a:rPr lang="ru-RU" sz="1800" dirty="0"/>
              <a:t> проектом. Для кожного </a:t>
            </a:r>
            <a:r>
              <a:rPr lang="ru-RU" sz="1800" dirty="0" err="1"/>
              <a:t>ризику</a:t>
            </a:r>
            <a:r>
              <a:rPr lang="ru-RU" sz="1800" dirty="0"/>
              <a:t> </a:t>
            </a:r>
            <a:r>
              <a:rPr lang="ru-RU" sz="1800" dirty="0" err="1"/>
              <a:t>зі</a:t>
            </a:r>
            <a:r>
              <a:rPr lang="ru-RU" sz="1800" dirty="0"/>
              <a:t> списку </a:t>
            </a:r>
            <a:r>
              <a:rPr lang="ru-RU" sz="1800" dirty="0" err="1"/>
              <a:t>критичних</a:t>
            </a:r>
            <a:r>
              <a:rPr lang="ru-RU" sz="1800" dirty="0"/>
              <a:t> </a:t>
            </a:r>
            <a:r>
              <a:rPr lang="ru-RU" sz="1800" dirty="0" err="1"/>
              <a:t>необхідно</a:t>
            </a:r>
            <a:r>
              <a:rPr lang="ru-RU" sz="1800" dirty="0"/>
              <a:t> </a:t>
            </a:r>
            <a:r>
              <a:rPr lang="ru-RU" sz="1800" dirty="0" err="1"/>
              <a:t>вигадати</a:t>
            </a:r>
            <a:r>
              <a:rPr lang="ru-RU" sz="1800" dirty="0"/>
              <a:t> </a:t>
            </a:r>
            <a:r>
              <a:rPr lang="ru-RU" sz="1800" dirty="0" err="1"/>
              <a:t>стратегію</a:t>
            </a:r>
            <a:r>
              <a:rPr lang="ru-RU" sz="1800" dirty="0"/>
              <a:t>, яка </a:t>
            </a:r>
            <a:r>
              <a:rPr lang="ru-RU" sz="1800" dirty="0" err="1"/>
              <a:t>убезпечить</a:t>
            </a:r>
            <a:r>
              <a:rPr lang="ru-RU" sz="1800" dirty="0"/>
              <a:t> проект </a:t>
            </a:r>
            <a:r>
              <a:rPr lang="ru-RU" sz="1800" dirty="0" err="1"/>
              <a:t>від</a:t>
            </a:r>
            <a:r>
              <a:rPr lang="ru-RU" sz="1800" dirty="0"/>
              <a:t> </a:t>
            </a:r>
            <a:r>
              <a:rPr lang="ru-RU" sz="1800" dirty="0" err="1"/>
              <a:t>нього</a:t>
            </a:r>
            <a:r>
              <a:rPr lang="ru-RU" sz="1800" dirty="0"/>
              <a:t>. </a:t>
            </a:r>
            <a:r>
              <a:rPr lang="ru-RU" sz="1800" dirty="0" err="1"/>
              <a:t>Усього</a:t>
            </a:r>
            <a:r>
              <a:rPr lang="ru-RU" sz="1800" dirty="0"/>
              <a:t> </a:t>
            </a:r>
            <a:r>
              <a:rPr lang="ru-RU" sz="1800" dirty="0" err="1"/>
              <a:t>стратегій</a:t>
            </a:r>
            <a:r>
              <a:rPr lang="ru-RU" sz="1800" dirty="0"/>
              <a:t> </a:t>
            </a:r>
            <a:r>
              <a:rPr lang="ru-RU" sz="1800" dirty="0" err="1"/>
              <a:t>використовується</a:t>
            </a:r>
            <a:r>
              <a:rPr lang="ru-RU" sz="1800" dirty="0"/>
              <a:t> три:</a:t>
            </a:r>
          </a:p>
          <a:p>
            <a:endParaRPr lang="ru-RU" sz="1800" dirty="0"/>
          </a:p>
          <a:p>
            <a:r>
              <a:rPr lang="ru-RU" sz="1800" dirty="0"/>
              <a:t>Transfer. Переносимо </a:t>
            </a:r>
            <a:r>
              <a:rPr lang="ru-RU" sz="1800" dirty="0" err="1"/>
              <a:t>відповідальність</a:t>
            </a:r>
            <a:r>
              <a:rPr lang="ru-RU" sz="1800" dirty="0"/>
              <a:t> за </a:t>
            </a:r>
            <a:r>
              <a:rPr lang="ru-RU" sz="1800" dirty="0" err="1"/>
              <a:t>наслідки</a:t>
            </a:r>
            <a:r>
              <a:rPr lang="ru-RU" sz="1800" dirty="0"/>
              <a:t> </a:t>
            </a:r>
            <a:r>
              <a:rPr lang="ru-RU" sz="1800" dirty="0" err="1"/>
              <a:t>ризику</a:t>
            </a:r>
            <a:r>
              <a:rPr lang="ru-RU" sz="1800" dirty="0"/>
              <a:t> на </a:t>
            </a:r>
            <a:r>
              <a:rPr lang="ru-RU" sz="1800" dirty="0" err="1"/>
              <a:t>третю</a:t>
            </a:r>
            <a:r>
              <a:rPr lang="ru-RU" sz="1800" dirty="0"/>
              <a:t> сторону (</a:t>
            </a:r>
            <a:r>
              <a:rPr lang="ru-RU" sz="1800" dirty="0" err="1"/>
              <a:t>замовника</a:t>
            </a:r>
            <a:r>
              <a:rPr lang="ru-RU" sz="1800" dirty="0"/>
              <a:t>, </a:t>
            </a:r>
            <a:r>
              <a:rPr lang="ru-RU" sz="1800" dirty="0" err="1"/>
              <a:t>компанію</a:t>
            </a:r>
            <a:r>
              <a:rPr lang="ru-RU" sz="1800" dirty="0"/>
              <a:t>-партнера, </a:t>
            </a:r>
            <a:r>
              <a:rPr lang="ru-RU" sz="1800" dirty="0" err="1"/>
              <a:t>страхову</a:t>
            </a:r>
            <a:r>
              <a:rPr lang="ru-RU" sz="1800" dirty="0"/>
              <a:t> </a:t>
            </a:r>
            <a:r>
              <a:rPr lang="ru-RU" sz="1800" dirty="0" err="1"/>
              <a:t>компанію</a:t>
            </a:r>
            <a:r>
              <a:rPr lang="ru-RU" sz="1800" dirty="0"/>
              <a:t> і так </a:t>
            </a:r>
            <a:r>
              <a:rPr lang="ru-RU" sz="1800" dirty="0" err="1"/>
              <a:t>далі</a:t>
            </a:r>
            <a:r>
              <a:rPr lang="ru-RU" sz="1800" dirty="0"/>
              <a:t>). </a:t>
            </a:r>
            <a:r>
              <a:rPr lang="ru-RU" sz="1800" dirty="0" err="1"/>
              <a:t>Застосовувати</a:t>
            </a:r>
            <a:r>
              <a:rPr lang="ru-RU" sz="1800" dirty="0"/>
              <a:t> </a:t>
            </a:r>
            <a:r>
              <a:rPr lang="ru-RU" sz="1800" dirty="0" err="1"/>
              <a:t>цю</a:t>
            </a:r>
            <a:r>
              <a:rPr lang="ru-RU" sz="1800" dirty="0"/>
              <a:t> </a:t>
            </a:r>
            <a:r>
              <a:rPr lang="ru-RU" sz="1800" dirty="0" err="1"/>
              <a:t>стратегію</a:t>
            </a:r>
            <a:r>
              <a:rPr lang="ru-RU" sz="1800" dirty="0"/>
              <a:t> є </a:t>
            </a:r>
            <a:r>
              <a:rPr lang="ru-RU" sz="1800" dirty="0" err="1"/>
              <a:t>сенс</a:t>
            </a:r>
            <a:r>
              <a:rPr lang="ru-RU" sz="1800" dirty="0"/>
              <a:t>, </a:t>
            </a:r>
            <a:r>
              <a:rPr lang="ru-RU" sz="1800" dirty="0" err="1"/>
              <a:t>якщо</a:t>
            </a:r>
            <a:r>
              <a:rPr lang="ru-RU" sz="1800" dirty="0"/>
              <a:t> </a:t>
            </a:r>
            <a:r>
              <a:rPr lang="ru-RU" sz="1800" dirty="0" err="1"/>
              <a:t>самі</a:t>
            </a:r>
            <a:r>
              <a:rPr lang="ru-RU" sz="1800" dirty="0"/>
              <a:t> ми не </a:t>
            </a:r>
            <a:r>
              <a:rPr lang="ru-RU" sz="1800" dirty="0" err="1"/>
              <a:t>можемо</a:t>
            </a:r>
            <a:r>
              <a:rPr lang="ru-RU" sz="1800" dirty="0"/>
              <a:t> </a:t>
            </a:r>
            <a:r>
              <a:rPr lang="ru-RU" sz="1800" dirty="0" err="1"/>
              <a:t>вплинути</a:t>
            </a:r>
            <a:r>
              <a:rPr lang="ru-RU" sz="1800" dirty="0"/>
              <a:t> на </a:t>
            </a:r>
            <a:r>
              <a:rPr lang="ru-RU" sz="1800" dirty="0" err="1"/>
              <a:t>ризик</a:t>
            </a:r>
            <a:r>
              <a:rPr lang="ru-RU" sz="1800" dirty="0"/>
              <a:t> і є на кого </a:t>
            </a:r>
            <a:r>
              <a:rPr lang="ru-RU" sz="1800" dirty="0" err="1"/>
              <a:t>цю</a:t>
            </a:r>
            <a:r>
              <a:rPr lang="ru-RU" sz="1800" dirty="0"/>
              <a:t> </a:t>
            </a:r>
            <a:r>
              <a:rPr lang="ru-RU" sz="1800" dirty="0" err="1"/>
              <a:t>відповідальність</a:t>
            </a:r>
            <a:r>
              <a:rPr lang="ru-RU" sz="1800" dirty="0"/>
              <a:t> </a:t>
            </a:r>
            <a:r>
              <a:rPr lang="ru-RU" sz="1800" dirty="0" err="1"/>
              <a:t>перекласти</a:t>
            </a:r>
            <a:r>
              <a:rPr lang="ru-RU" sz="1800" dirty="0"/>
              <a:t>.</a:t>
            </a:r>
          </a:p>
          <a:p>
            <a:r>
              <a:rPr lang="ru-RU" sz="1800" dirty="0" err="1"/>
              <a:t>Accept</a:t>
            </a:r>
            <a:r>
              <a:rPr lang="ru-RU" sz="1800" dirty="0"/>
              <a:t>. </a:t>
            </a:r>
            <a:r>
              <a:rPr lang="ru-RU" sz="1800" dirty="0" err="1"/>
              <a:t>Приймаємо</a:t>
            </a:r>
            <a:r>
              <a:rPr lang="ru-RU" sz="1800" dirty="0"/>
              <a:t> </a:t>
            </a:r>
            <a:r>
              <a:rPr lang="ru-RU" sz="1800" dirty="0" err="1"/>
              <a:t>відповідальність</a:t>
            </a:r>
            <a:r>
              <a:rPr lang="ru-RU" sz="1800" dirty="0"/>
              <a:t> за </a:t>
            </a:r>
            <a:r>
              <a:rPr lang="ru-RU" sz="1800" dirty="0" err="1"/>
              <a:t>наслідки</a:t>
            </a:r>
            <a:r>
              <a:rPr lang="ru-RU" sz="1800" dirty="0"/>
              <a:t> </a:t>
            </a:r>
            <a:r>
              <a:rPr lang="ru-RU" sz="1800" dirty="0" err="1"/>
              <a:t>ризику</a:t>
            </a:r>
            <a:r>
              <a:rPr lang="ru-RU" sz="1800" dirty="0"/>
              <a:t> на себе, але </a:t>
            </a:r>
            <a:r>
              <a:rPr lang="ru-RU" sz="1800" dirty="0" err="1"/>
              <a:t>нічого</a:t>
            </a:r>
            <a:r>
              <a:rPr lang="ru-RU" sz="1800" dirty="0"/>
              <a:t> не робимо, </a:t>
            </a:r>
            <a:r>
              <a:rPr lang="ru-RU" sz="1800" dirty="0" err="1"/>
              <a:t>залишаємо</a:t>
            </a:r>
            <a:r>
              <a:rPr lang="ru-RU" sz="1800" dirty="0"/>
              <a:t> все як є. </a:t>
            </a:r>
            <a:r>
              <a:rPr lang="ru-RU" sz="1800" dirty="0" err="1"/>
              <a:t>Застосовувати</a:t>
            </a:r>
            <a:r>
              <a:rPr lang="ru-RU" sz="1800" dirty="0"/>
              <a:t> </a:t>
            </a:r>
            <a:r>
              <a:rPr lang="ru-RU" sz="1800" dirty="0" err="1"/>
              <a:t>цей</a:t>
            </a:r>
            <a:r>
              <a:rPr lang="ru-RU" sz="1800" dirty="0"/>
              <a:t> </a:t>
            </a:r>
            <a:r>
              <a:rPr lang="ru-RU" sz="1800" dirty="0" err="1"/>
              <a:t>підхід</a:t>
            </a:r>
            <a:r>
              <a:rPr lang="ru-RU" sz="1800" dirty="0"/>
              <a:t> є </a:t>
            </a:r>
            <a:r>
              <a:rPr lang="ru-RU" sz="1800" dirty="0" err="1"/>
              <a:t>сенс</a:t>
            </a:r>
            <a:r>
              <a:rPr lang="ru-RU" sz="1800" dirty="0"/>
              <a:t> </a:t>
            </a:r>
            <a:r>
              <a:rPr lang="ru-RU" sz="1800" dirty="0" err="1"/>
              <a:t>тільки</a:t>
            </a:r>
            <a:r>
              <a:rPr lang="ru-RU" sz="1800" dirty="0"/>
              <a:t> коли з </a:t>
            </a:r>
            <a:r>
              <a:rPr lang="ru-RU" sz="1800" dirty="0" err="1"/>
              <a:t>ризиком</a:t>
            </a:r>
            <a:r>
              <a:rPr lang="ru-RU" sz="1800" dirty="0"/>
              <a:t> ми </a:t>
            </a:r>
            <a:r>
              <a:rPr lang="ru-RU" sz="1800" dirty="0" err="1"/>
              <a:t>вдіяти</a:t>
            </a:r>
            <a:r>
              <a:rPr lang="ru-RU" sz="1800" dirty="0"/>
              <a:t> </a:t>
            </a:r>
            <a:r>
              <a:rPr lang="ru-RU" sz="1800" dirty="0" err="1"/>
              <a:t>нічого</a:t>
            </a:r>
            <a:r>
              <a:rPr lang="ru-RU" sz="1800" dirty="0"/>
              <a:t> не </a:t>
            </a:r>
            <a:r>
              <a:rPr lang="ru-RU" sz="1800" dirty="0" err="1"/>
              <a:t>можемо</a:t>
            </a:r>
            <a:r>
              <a:rPr lang="ru-RU" sz="1800" dirty="0"/>
              <a:t>, а </a:t>
            </a:r>
            <a:r>
              <a:rPr lang="ru-RU" sz="1800" dirty="0" err="1"/>
              <a:t>робити</a:t>
            </a:r>
            <a:r>
              <a:rPr lang="ru-RU" sz="1800" dirty="0"/>
              <a:t> трансфер на </a:t>
            </a:r>
            <a:r>
              <a:rPr lang="ru-RU" sz="1800" dirty="0" err="1"/>
              <a:t>третю</a:t>
            </a:r>
            <a:r>
              <a:rPr lang="ru-RU" sz="1800" dirty="0"/>
              <a:t> сторону </a:t>
            </a:r>
            <a:r>
              <a:rPr lang="ru-RU" sz="1800" dirty="0" err="1"/>
              <a:t>невиправдано</a:t>
            </a:r>
            <a:r>
              <a:rPr lang="ru-RU" sz="1800" dirty="0"/>
              <a:t> дорого.</a:t>
            </a:r>
          </a:p>
          <a:p>
            <a:r>
              <a:rPr lang="ru-RU" sz="1800" dirty="0" err="1"/>
              <a:t>Mitigate</a:t>
            </a:r>
            <a:r>
              <a:rPr lang="ru-RU" sz="1800" dirty="0"/>
              <a:t>. </a:t>
            </a:r>
            <a:r>
              <a:rPr lang="ru-RU" sz="1800" dirty="0" err="1"/>
              <a:t>Боремося</a:t>
            </a:r>
            <a:r>
              <a:rPr lang="ru-RU" sz="1800" dirty="0"/>
              <a:t> з </a:t>
            </a:r>
            <a:r>
              <a:rPr lang="ru-RU" sz="1800" dirty="0" err="1"/>
              <a:t>ризиком</a:t>
            </a:r>
            <a:r>
              <a:rPr lang="ru-RU" sz="1800" dirty="0"/>
              <a:t>, </a:t>
            </a:r>
            <a:r>
              <a:rPr lang="ru-RU" sz="1800" dirty="0" err="1"/>
              <a:t>приймаючи</a:t>
            </a:r>
            <a:r>
              <a:rPr lang="ru-RU" sz="1800" dirty="0"/>
              <a:t> </a:t>
            </a:r>
            <a:r>
              <a:rPr lang="ru-RU" sz="1800" dirty="0" err="1"/>
              <a:t>відповідальність</a:t>
            </a:r>
            <a:r>
              <a:rPr lang="ru-RU" sz="1800" dirty="0"/>
              <a:t> за </a:t>
            </a:r>
            <a:r>
              <a:rPr lang="ru-RU" sz="1800" dirty="0" err="1"/>
              <a:t>нього</a:t>
            </a:r>
            <a:r>
              <a:rPr lang="ru-RU" sz="1800" dirty="0"/>
              <a:t> на себе. Для </a:t>
            </a:r>
            <a:r>
              <a:rPr lang="ru-RU" sz="1800" dirty="0" err="1"/>
              <a:t>боротьби</a:t>
            </a:r>
            <a:r>
              <a:rPr lang="ru-RU" sz="1800" dirty="0"/>
              <a:t> з </a:t>
            </a:r>
            <a:r>
              <a:rPr lang="ru-RU" sz="1800" dirty="0" err="1"/>
              <a:t>ризиком</a:t>
            </a:r>
            <a:r>
              <a:rPr lang="ru-RU" sz="1800" dirty="0"/>
              <a:t> добре </a:t>
            </a:r>
            <a:r>
              <a:rPr lang="ru-RU" sz="1800" dirty="0" err="1"/>
              <a:t>мати</a:t>
            </a:r>
            <a:r>
              <a:rPr lang="ru-RU" sz="1800" dirty="0"/>
              <a:t> </a:t>
            </a:r>
            <a:r>
              <a:rPr lang="ru-RU" sz="1800" dirty="0" err="1"/>
              <a:t>кілька</a:t>
            </a:r>
            <a:r>
              <a:rPr lang="ru-RU" sz="1800" dirty="0"/>
              <a:t> </a:t>
            </a:r>
            <a:r>
              <a:rPr lang="ru-RU" sz="1800" dirty="0" err="1"/>
              <a:t>планів</a:t>
            </a:r>
            <a:r>
              <a:rPr lang="ru-RU" sz="1800" dirty="0"/>
              <a:t>.</a:t>
            </a:r>
          </a:p>
        </p:txBody>
      </p:sp>
      <p:sp>
        <p:nvSpPr>
          <p:cNvPr id="4" name="Номер слайда 3">
            <a:extLst>
              <a:ext uri="{FF2B5EF4-FFF2-40B4-BE49-F238E27FC236}">
                <a16:creationId xmlns:a16="http://schemas.microsoft.com/office/drawing/2014/main" id="{E9543D72-B510-902C-CC6A-7A8B81ABD3EE}"/>
              </a:ext>
            </a:extLst>
          </p:cNvPr>
          <p:cNvSpPr>
            <a:spLocks noGrp="1"/>
          </p:cNvSpPr>
          <p:nvPr>
            <p:ph type="sldNum" sz="quarter" idx="12"/>
          </p:nvPr>
        </p:nvSpPr>
        <p:spPr/>
        <p:txBody>
          <a:bodyPr/>
          <a:lstStyle/>
          <a:p>
            <a:pPr>
              <a:defRPr/>
            </a:pPr>
            <a:fld id="{05AFA3F7-E640-4688-84D4-3AD59A60B741}" type="slidenum">
              <a:rPr lang="en-US" smtClean="0"/>
              <a:pPr>
                <a:defRPr/>
              </a:pPr>
              <a:t>18</a:t>
            </a:fld>
            <a:endParaRPr lang="en-US" dirty="0"/>
          </a:p>
        </p:txBody>
      </p:sp>
    </p:spTree>
    <p:extLst>
      <p:ext uri="{BB962C8B-B14F-4D97-AF65-F5344CB8AC3E}">
        <p14:creationId xmlns:p14="http://schemas.microsoft.com/office/powerpoint/2010/main" val="3538334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D69990-85CD-C165-69B2-204C139D1CD7}"/>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2C0B9B57-C7BC-BAEC-368D-E263754B6D1E}"/>
              </a:ext>
            </a:extLst>
          </p:cNvPr>
          <p:cNvSpPr>
            <a:spLocks noGrp="1"/>
          </p:cNvSpPr>
          <p:nvPr>
            <p:ph idx="1"/>
          </p:nvPr>
        </p:nvSpPr>
        <p:spPr/>
        <p:txBody>
          <a:bodyPr/>
          <a:lstStyle/>
          <a:p>
            <a:r>
              <a:rPr lang="ru-RU" sz="2400" dirty="0" err="1"/>
              <a:t>Основний</a:t>
            </a:r>
            <a:r>
              <a:rPr lang="ru-RU" sz="2400" dirty="0"/>
              <a:t> — для того, </a:t>
            </a:r>
            <a:r>
              <a:rPr lang="ru-RU" sz="2400" dirty="0" err="1"/>
              <a:t>щоб</a:t>
            </a:r>
            <a:r>
              <a:rPr lang="ru-RU" sz="2400" dirty="0"/>
              <a:t> </a:t>
            </a:r>
            <a:r>
              <a:rPr lang="ru-RU" sz="2400" dirty="0" err="1"/>
              <a:t>ризик</a:t>
            </a:r>
            <a:r>
              <a:rPr lang="ru-RU" sz="2400" dirty="0"/>
              <a:t> </a:t>
            </a:r>
            <a:r>
              <a:rPr lang="ru-RU" sz="2400" dirty="0" err="1"/>
              <a:t>придушити</a:t>
            </a:r>
            <a:r>
              <a:rPr lang="ru-RU" sz="2400" dirty="0"/>
              <a:t>. </a:t>
            </a:r>
            <a:r>
              <a:rPr lang="ru-RU" sz="2400" dirty="0" err="1"/>
              <a:t>Основний</a:t>
            </a:r>
            <a:r>
              <a:rPr lang="ru-RU" sz="2400" dirty="0"/>
              <a:t> план </a:t>
            </a:r>
            <a:r>
              <a:rPr lang="ru-RU" sz="2400" dirty="0" err="1"/>
              <a:t>необхідно</a:t>
            </a:r>
            <a:r>
              <a:rPr lang="ru-RU" sz="2400" dirty="0"/>
              <a:t> </a:t>
            </a:r>
            <a:r>
              <a:rPr lang="ru-RU" sz="2400" dirty="0" err="1"/>
              <a:t>впроваджувати</a:t>
            </a:r>
            <a:r>
              <a:rPr lang="ru-RU" sz="2400" dirty="0"/>
              <a:t> </a:t>
            </a:r>
            <a:r>
              <a:rPr lang="ru-RU" sz="2400" dirty="0" err="1"/>
              <a:t>відразу</a:t>
            </a:r>
            <a:r>
              <a:rPr lang="ru-RU" sz="2400" dirty="0"/>
              <a:t>, до того як </a:t>
            </a:r>
            <a:r>
              <a:rPr lang="ru-RU" sz="2400" dirty="0" err="1"/>
              <a:t>ризик</a:t>
            </a:r>
            <a:r>
              <a:rPr lang="ru-RU" sz="2400" dirty="0"/>
              <a:t> </a:t>
            </a:r>
            <a:r>
              <a:rPr lang="ru-RU" sz="2400" dirty="0" err="1"/>
              <a:t>трапився</a:t>
            </a:r>
            <a:r>
              <a:rPr lang="ru-RU" sz="2400" dirty="0"/>
              <a:t>. </a:t>
            </a:r>
            <a:r>
              <a:rPr lang="ru-RU" sz="2400" dirty="0" err="1"/>
              <a:t>Він</a:t>
            </a:r>
            <a:r>
              <a:rPr lang="ru-RU" sz="2400" dirty="0"/>
              <a:t> повинен </a:t>
            </a:r>
            <a:r>
              <a:rPr lang="ru-RU" sz="2400" dirty="0" err="1"/>
              <a:t>знижувати</a:t>
            </a:r>
            <a:r>
              <a:rPr lang="ru-RU" sz="2400" dirty="0"/>
              <a:t> </a:t>
            </a:r>
            <a:r>
              <a:rPr lang="ru-RU" sz="2400" dirty="0" err="1"/>
              <a:t>або</a:t>
            </a:r>
            <a:r>
              <a:rPr lang="ru-RU" sz="2400" dirty="0"/>
              <a:t> </a:t>
            </a:r>
            <a:r>
              <a:rPr lang="ru-RU" sz="2400" dirty="0" err="1"/>
              <a:t>імовірність</a:t>
            </a:r>
            <a:r>
              <a:rPr lang="ru-RU" sz="2400" dirty="0"/>
              <a:t>, </a:t>
            </a:r>
            <a:r>
              <a:rPr lang="ru-RU" sz="2400" dirty="0" err="1"/>
              <a:t>або</a:t>
            </a:r>
            <a:r>
              <a:rPr lang="ru-RU" sz="2400" dirty="0"/>
              <a:t> </a:t>
            </a:r>
            <a:r>
              <a:rPr lang="ru-RU" sz="2400" dirty="0" err="1"/>
              <a:t>наслідки</a:t>
            </a:r>
            <a:r>
              <a:rPr lang="ru-RU" sz="2400" dirty="0"/>
              <a:t> </a:t>
            </a:r>
            <a:r>
              <a:rPr lang="ru-RU" sz="2400" dirty="0" err="1"/>
              <a:t>ризику</a:t>
            </a:r>
            <a:r>
              <a:rPr lang="ru-RU" sz="2400" dirty="0"/>
              <a:t>. Тут нам </a:t>
            </a:r>
            <a:r>
              <a:rPr lang="ru-RU" sz="2400" dirty="0" err="1"/>
              <a:t>допоможе</a:t>
            </a:r>
            <a:r>
              <a:rPr lang="ru-RU" sz="2400" dirty="0"/>
              <a:t> </a:t>
            </a:r>
            <a:r>
              <a:rPr lang="ru-RU" sz="2400" dirty="0" err="1"/>
              <a:t>запис</a:t>
            </a:r>
            <a:r>
              <a:rPr lang="ru-RU" sz="2400" dirty="0"/>
              <a:t> </a:t>
            </a:r>
            <a:r>
              <a:rPr lang="ru-RU" sz="2400" dirty="0" err="1"/>
              <a:t>ризиків</a:t>
            </a:r>
            <a:r>
              <a:rPr lang="ru-RU" sz="2400" dirty="0"/>
              <a:t> у </a:t>
            </a:r>
            <a:r>
              <a:rPr lang="ru-RU" sz="2400" dirty="0" err="1"/>
              <a:t>форматі</a:t>
            </a:r>
            <a:r>
              <a:rPr lang="ru-RU" sz="2400" dirty="0"/>
              <a:t> «причина-</a:t>
            </a:r>
            <a:r>
              <a:rPr lang="ru-RU" sz="2400" dirty="0" err="1"/>
              <a:t>ризик</a:t>
            </a:r>
            <a:r>
              <a:rPr lang="ru-RU" sz="2400" dirty="0"/>
              <a:t>-</a:t>
            </a:r>
            <a:r>
              <a:rPr lang="ru-RU" sz="2400" dirty="0" err="1"/>
              <a:t>ефект</a:t>
            </a:r>
            <a:r>
              <a:rPr lang="ru-RU" sz="2400" dirty="0"/>
              <a:t>». </a:t>
            </a:r>
            <a:r>
              <a:rPr lang="ru-RU" sz="2400" dirty="0" err="1"/>
              <a:t>Щоб</a:t>
            </a:r>
            <a:r>
              <a:rPr lang="ru-RU" sz="2400" dirty="0"/>
              <a:t> </a:t>
            </a:r>
            <a:r>
              <a:rPr lang="ru-RU" sz="2400" dirty="0" err="1"/>
              <a:t>знизити</a:t>
            </a:r>
            <a:r>
              <a:rPr lang="ru-RU" sz="2400" dirty="0"/>
              <a:t> </a:t>
            </a:r>
            <a:r>
              <a:rPr lang="ru-RU" sz="2400" dirty="0" err="1"/>
              <a:t>імовірність</a:t>
            </a:r>
            <a:r>
              <a:rPr lang="ru-RU" sz="2400" dirty="0"/>
              <a:t> </a:t>
            </a:r>
            <a:r>
              <a:rPr lang="ru-RU" sz="2400" dirty="0" err="1"/>
              <a:t>ризику</a:t>
            </a:r>
            <a:r>
              <a:rPr lang="ru-RU" sz="2400" dirty="0"/>
              <a:t>, </a:t>
            </a:r>
            <a:r>
              <a:rPr lang="ru-RU" sz="2400" dirty="0" err="1"/>
              <a:t>потрібно</a:t>
            </a:r>
            <a:r>
              <a:rPr lang="ru-RU" sz="2400" dirty="0"/>
              <a:t> </a:t>
            </a:r>
            <a:r>
              <a:rPr lang="ru-RU" sz="2400" dirty="0" err="1"/>
              <a:t>боротися</a:t>
            </a:r>
            <a:r>
              <a:rPr lang="ru-RU" sz="2400" dirty="0"/>
              <a:t> з </a:t>
            </a:r>
            <a:r>
              <a:rPr lang="ru-RU" sz="2400" dirty="0" err="1"/>
              <a:t>його</a:t>
            </a:r>
            <a:r>
              <a:rPr lang="ru-RU" sz="2400" dirty="0"/>
              <a:t> причиною. </a:t>
            </a:r>
            <a:r>
              <a:rPr lang="ru-RU" sz="2400" dirty="0" err="1"/>
              <a:t>Щоб</a:t>
            </a:r>
            <a:r>
              <a:rPr lang="ru-RU" sz="2400" dirty="0"/>
              <a:t> </a:t>
            </a:r>
            <a:r>
              <a:rPr lang="ru-RU" sz="2400" dirty="0" err="1"/>
              <a:t>побороти</a:t>
            </a:r>
            <a:r>
              <a:rPr lang="ru-RU" sz="2400" dirty="0"/>
              <a:t> </a:t>
            </a:r>
            <a:r>
              <a:rPr lang="ru-RU" sz="2400" dirty="0" err="1"/>
              <a:t>наслідки</a:t>
            </a:r>
            <a:r>
              <a:rPr lang="ru-RU" sz="2400" dirty="0"/>
              <a:t>, </a:t>
            </a:r>
            <a:r>
              <a:rPr lang="ru-RU" sz="2400" dirty="0" err="1"/>
              <a:t>потрібно</a:t>
            </a:r>
            <a:r>
              <a:rPr lang="ru-RU" sz="2400" dirty="0"/>
              <a:t> </a:t>
            </a:r>
            <a:r>
              <a:rPr lang="ru-RU" sz="2400" dirty="0" err="1"/>
              <a:t>захищати</a:t>
            </a:r>
            <a:r>
              <a:rPr lang="ru-RU" sz="2400" dirty="0"/>
              <a:t> предмет </a:t>
            </a:r>
            <a:r>
              <a:rPr lang="ru-RU" sz="2400" dirty="0" err="1"/>
              <a:t>його</a:t>
            </a:r>
            <a:r>
              <a:rPr lang="ru-RU" sz="2400" dirty="0"/>
              <a:t> </a:t>
            </a:r>
            <a:r>
              <a:rPr lang="ru-RU" sz="2400" dirty="0" err="1"/>
              <a:t>впливу</a:t>
            </a:r>
            <a:r>
              <a:rPr lang="ru-RU" sz="2400" dirty="0"/>
              <a:t>.</a:t>
            </a:r>
          </a:p>
          <a:p>
            <a:r>
              <a:rPr lang="ru-RU" sz="2400" dirty="0" err="1"/>
              <a:t>Відхідний</a:t>
            </a:r>
            <a:r>
              <a:rPr lang="ru-RU" sz="2400" dirty="0"/>
              <a:t> — на </a:t>
            </a:r>
            <a:r>
              <a:rPr lang="ru-RU" sz="2400" dirty="0" err="1"/>
              <a:t>випадок</a:t>
            </a:r>
            <a:r>
              <a:rPr lang="ru-RU" sz="2400" dirty="0"/>
              <a:t> </a:t>
            </a:r>
            <a:r>
              <a:rPr lang="ru-RU" sz="2400" dirty="0" err="1"/>
              <a:t>якщо</a:t>
            </a:r>
            <a:r>
              <a:rPr lang="ru-RU" sz="2400" dirty="0"/>
              <a:t> </a:t>
            </a:r>
            <a:r>
              <a:rPr lang="ru-RU" sz="2400" dirty="0" err="1"/>
              <a:t>ризик</a:t>
            </a:r>
            <a:r>
              <a:rPr lang="ru-RU" sz="2400" dirty="0"/>
              <a:t> усе-таки </a:t>
            </a:r>
            <a:r>
              <a:rPr lang="ru-RU" sz="2400" dirty="0" err="1"/>
              <a:t>трапився</a:t>
            </a:r>
            <a:r>
              <a:rPr lang="ru-RU" sz="2400" dirty="0"/>
              <a:t> і </a:t>
            </a:r>
            <a:r>
              <a:rPr lang="ru-RU" sz="2400" dirty="0" err="1"/>
              <a:t>впливає</a:t>
            </a:r>
            <a:r>
              <a:rPr lang="ru-RU" sz="2400" dirty="0"/>
              <a:t> на проект. </a:t>
            </a:r>
            <a:r>
              <a:rPr lang="ru-RU" sz="2400" dirty="0" err="1"/>
              <a:t>Він</a:t>
            </a:r>
            <a:r>
              <a:rPr lang="ru-RU" sz="2400" dirty="0"/>
              <a:t> </a:t>
            </a:r>
            <a:r>
              <a:rPr lang="ru-RU" sz="2400" dirty="0" err="1"/>
              <a:t>упроваджується</a:t>
            </a:r>
            <a:r>
              <a:rPr lang="ru-RU" sz="2400" dirty="0"/>
              <a:t> у тому </a:t>
            </a:r>
            <a:r>
              <a:rPr lang="ru-RU" sz="2400" dirty="0" err="1"/>
              <a:t>разі</a:t>
            </a:r>
            <a:r>
              <a:rPr lang="ru-RU" sz="2400" dirty="0"/>
              <a:t>, </a:t>
            </a:r>
            <a:r>
              <a:rPr lang="ru-RU" sz="2400" dirty="0" err="1"/>
              <a:t>якщо</a:t>
            </a:r>
            <a:r>
              <a:rPr lang="ru-RU" sz="2400" dirty="0"/>
              <a:t> заходи по </a:t>
            </a:r>
            <a:r>
              <a:rPr lang="ru-RU" sz="2400" dirty="0" err="1"/>
              <a:t>боротьбі</a:t>
            </a:r>
            <a:r>
              <a:rPr lang="ru-RU" sz="2400" dirty="0"/>
              <a:t> з </a:t>
            </a:r>
            <a:r>
              <a:rPr lang="ru-RU" sz="2400" dirty="0" err="1"/>
              <a:t>ризиком</a:t>
            </a:r>
            <a:r>
              <a:rPr lang="ru-RU" sz="2400" dirty="0"/>
              <a:t> не принесли </a:t>
            </a:r>
            <a:r>
              <a:rPr lang="ru-RU" sz="2400" dirty="0" err="1"/>
              <a:t>результатів</a:t>
            </a:r>
            <a:r>
              <a:rPr lang="ru-RU" sz="2400" dirty="0"/>
              <a:t>, </a:t>
            </a:r>
            <a:r>
              <a:rPr lang="ru-RU" sz="2400" dirty="0" err="1"/>
              <a:t>ризик</a:t>
            </a:r>
            <a:r>
              <a:rPr lang="ru-RU" sz="2400" dirty="0"/>
              <a:t> </a:t>
            </a:r>
            <a:r>
              <a:rPr lang="ru-RU" sz="2400" dirty="0" err="1"/>
              <a:t>трапився</a:t>
            </a:r>
            <a:r>
              <a:rPr lang="ru-RU" sz="2400" dirty="0"/>
              <a:t> і став проблемою.</a:t>
            </a:r>
          </a:p>
          <a:p>
            <a:r>
              <a:rPr lang="ru-RU" sz="2400" dirty="0"/>
              <a:t>На </a:t>
            </a:r>
            <a:r>
              <a:rPr lang="ru-RU" sz="2400" dirty="0" err="1"/>
              <a:t>вході</a:t>
            </a:r>
            <a:r>
              <a:rPr lang="ru-RU" sz="2400" dirty="0"/>
              <a:t>: список </a:t>
            </a:r>
            <a:r>
              <a:rPr lang="ru-RU" sz="2400" dirty="0" err="1"/>
              <a:t>критичних</a:t>
            </a:r>
            <a:r>
              <a:rPr lang="ru-RU" sz="2400" dirty="0"/>
              <a:t> </a:t>
            </a:r>
            <a:r>
              <a:rPr lang="ru-RU" sz="2400" dirty="0" err="1"/>
              <a:t>ризиків</a:t>
            </a:r>
            <a:r>
              <a:rPr lang="ru-RU" sz="2400" dirty="0"/>
              <a:t>;</a:t>
            </a:r>
            <a:endParaRPr lang="ru-UA" sz="2400" dirty="0"/>
          </a:p>
        </p:txBody>
      </p:sp>
      <p:sp>
        <p:nvSpPr>
          <p:cNvPr id="4" name="Номер слайда 3">
            <a:extLst>
              <a:ext uri="{FF2B5EF4-FFF2-40B4-BE49-F238E27FC236}">
                <a16:creationId xmlns:a16="http://schemas.microsoft.com/office/drawing/2014/main" id="{38A93052-EE9B-C0FA-5E13-37DA42908128}"/>
              </a:ext>
            </a:extLst>
          </p:cNvPr>
          <p:cNvSpPr>
            <a:spLocks noGrp="1"/>
          </p:cNvSpPr>
          <p:nvPr>
            <p:ph type="sldNum" sz="quarter" idx="12"/>
          </p:nvPr>
        </p:nvSpPr>
        <p:spPr/>
        <p:txBody>
          <a:bodyPr/>
          <a:lstStyle/>
          <a:p>
            <a:pPr>
              <a:defRPr/>
            </a:pPr>
            <a:fld id="{05AFA3F7-E640-4688-84D4-3AD59A60B741}" type="slidenum">
              <a:rPr lang="en-US" smtClean="0"/>
              <a:pPr>
                <a:defRPr/>
              </a:pPr>
              <a:t>19</a:t>
            </a:fld>
            <a:endParaRPr lang="en-US" dirty="0"/>
          </a:p>
        </p:txBody>
      </p:sp>
    </p:spTree>
    <p:extLst>
      <p:ext uri="{BB962C8B-B14F-4D97-AF65-F5344CB8AC3E}">
        <p14:creationId xmlns:p14="http://schemas.microsoft.com/office/powerpoint/2010/main" val="2480997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E1D67C-A513-79A0-FFD0-68FDD5FAC85D}"/>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A9D11F4D-8CC9-D604-F1A2-B4376D27F7CE}"/>
              </a:ext>
            </a:extLst>
          </p:cNvPr>
          <p:cNvSpPr>
            <a:spLocks noGrp="1"/>
          </p:cNvSpPr>
          <p:nvPr>
            <p:ph idx="1"/>
          </p:nvPr>
        </p:nvSpPr>
        <p:spPr/>
        <p:txBody>
          <a:bodyPr/>
          <a:lstStyle/>
          <a:p>
            <a:r>
              <a:rPr lang="ru-RU" dirty="0" err="1"/>
              <a:t>Процес</a:t>
            </a:r>
            <a:r>
              <a:rPr lang="ru-RU" dirty="0"/>
              <a:t>:</a:t>
            </a:r>
          </a:p>
          <a:p>
            <a:r>
              <a:rPr lang="en-US" sz="2400" dirty="0"/>
              <a:t>PM </a:t>
            </a:r>
            <a:r>
              <a:rPr lang="ru-RU" sz="2400" dirty="0" err="1"/>
              <a:t>збирає</a:t>
            </a:r>
            <a:r>
              <a:rPr lang="ru-RU" sz="2400" dirty="0"/>
              <a:t> </a:t>
            </a:r>
            <a:r>
              <a:rPr lang="ru-RU" sz="2400" dirty="0" err="1"/>
              <a:t>мітинг</a:t>
            </a:r>
            <a:r>
              <a:rPr lang="ru-RU" sz="2400" dirty="0"/>
              <a:t> (</a:t>
            </a:r>
            <a:r>
              <a:rPr lang="en-US" sz="2400" dirty="0"/>
              <a:t>meeting) </a:t>
            </a:r>
            <a:r>
              <a:rPr lang="ru-RU" sz="2400" dirty="0"/>
              <a:t>з </a:t>
            </a:r>
            <a:r>
              <a:rPr lang="ru-RU" sz="2400" dirty="0" err="1"/>
              <a:t>керівниками</a:t>
            </a:r>
            <a:r>
              <a:rPr lang="ru-RU" sz="2400" dirty="0"/>
              <a:t> </a:t>
            </a:r>
            <a:r>
              <a:rPr lang="ru-RU" sz="2400" dirty="0" err="1"/>
              <a:t>інших</a:t>
            </a:r>
            <a:r>
              <a:rPr lang="ru-RU" sz="2400" dirty="0"/>
              <a:t> </a:t>
            </a:r>
            <a:r>
              <a:rPr lang="ru-RU" sz="2400" dirty="0" err="1"/>
              <a:t>проектів</a:t>
            </a:r>
            <a:r>
              <a:rPr lang="ru-RU" sz="2400" dirty="0"/>
              <a:t>, </a:t>
            </a:r>
            <a:r>
              <a:rPr lang="ru-RU" sz="2400" dirty="0" err="1"/>
              <a:t>повідомляє</a:t>
            </a:r>
            <a:r>
              <a:rPr lang="ru-RU" sz="2400" dirty="0"/>
              <a:t> про </a:t>
            </a:r>
            <a:r>
              <a:rPr lang="ru-RU" sz="2400" dirty="0" err="1"/>
              <a:t>його</a:t>
            </a:r>
            <a:r>
              <a:rPr lang="ru-RU" sz="2400" dirty="0"/>
              <a:t> мету та </a:t>
            </a:r>
            <a:r>
              <a:rPr lang="ru-RU" sz="2400" dirty="0" err="1"/>
              <a:t>тривалість</a:t>
            </a:r>
            <a:r>
              <a:rPr lang="ru-RU" sz="2400" dirty="0"/>
              <a:t>;</a:t>
            </a:r>
          </a:p>
          <a:p>
            <a:r>
              <a:rPr lang="en-US" sz="2400" dirty="0"/>
              <a:t>PM </a:t>
            </a:r>
            <a:r>
              <a:rPr lang="ru-RU" sz="2400" dirty="0" err="1"/>
              <a:t>оголошує</a:t>
            </a:r>
            <a:r>
              <a:rPr lang="ru-RU" sz="2400" dirty="0"/>
              <a:t> </a:t>
            </a:r>
            <a:r>
              <a:rPr lang="ru-RU" sz="2400" dirty="0" err="1"/>
              <a:t>ризик</a:t>
            </a:r>
            <a:r>
              <a:rPr lang="ru-RU" sz="2400" dirty="0"/>
              <a:t>, </a:t>
            </a:r>
            <a:r>
              <a:rPr lang="ru-RU" sz="2400" dirty="0" err="1"/>
              <a:t>учасники</a:t>
            </a:r>
            <a:r>
              <a:rPr lang="ru-RU" sz="2400" dirty="0"/>
              <a:t> </a:t>
            </a:r>
            <a:r>
              <a:rPr lang="ru-RU" sz="2400" dirty="0" err="1"/>
              <a:t>мітингу</a:t>
            </a:r>
            <a:r>
              <a:rPr lang="ru-RU" sz="2400" dirty="0"/>
              <a:t> </a:t>
            </a:r>
            <a:r>
              <a:rPr lang="ru-RU" sz="2400" dirty="0" err="1"/>
              <a:t>визначають</a:t>
            </a:r>
            <a:r>
              <a:rPr lang="ru-RU" sz="2400" dirty="0"/>
              <a:t> </a:t>
            </a:r>
            <a:r>
              <a:rPr lang="ru-RU" sz="2400" dirty="0" err="1"/>
              <a:t>стратегію</a:t>
            </a:r>
            <a:r>
              <a:rPr lang="ru-RU" sz="2400" dirty="0"/>
              <a:t> </a:t>
            </a:r>
            <a:r>
              <a:rPr lang="ru-RU" sz="2400" dirty="0" err="1"/>
              <a:t>роботи</a:t>
            </a:r>
            <a:r>
              <a:rPr lang="ru-RU" sz="2400" dirty="0"/>
              <a:t> з ним, </a:t>
            </a:r>
            <a:r>
              <a:rPr lang="ru-RU" sz="2400" dirty="0" err="1"/>
              <a:t>основний</a:t>
            </a:r>
            <a:r>
              <a:rPr lang="ru-RU" sz="2400" dirty="0"/>
              <a:t> план і </a:t>
            </a:r>
            <a:r>
              <a:rPr lang="ru-RU" sz="2400" dirty="0" err="1"/>
              <a:t>запасний</a:t>
            </a:r>
            <a:r>
              <a:rPr lang="ru-RU" sz="2400" dirty="0"/>
              <a:t> план (для </a:t>
            </a:r>
            <a:r>
              <a:rPr lang="en-US" sz="2400" dirty="0"/>
              <a:t>Mitigate);</a:t>
            </a:r>
          </a:p>
          <a:p>
            <a:r>
              <a:rPr lang="en-US" sz="2400" dirty="0"/>
              <a:t>PM </a:t>
            </a:r>
            <a:r>
              <a:rPr lang="ru-RU" sz="2400" dirty="0" err="1"/>
              <a:t>записує</a:t>
            </a:r>
            <a:r>
              <a:rPr lang="ru-RU" sz="2400" dirty="0"/>
              <a:t> </a:t>
            </a:r>
            <a:r>
              <a:rPr lang="ru-RU" sz="2400" dirty="0" err="1"/>
              <a:t>плани</a:t>
            </a:r>
            <a:r>
              <a:rPr lang="ru-RU" sz="2400" dirty="0"/>
              <a:t> в </a:t>
            </a:r>
            <a:r>
              <a:rPr lang="ru-RU" sz="2400" dirty="0" err="1"/>
              <a:t>ризик</a:t>
            </a:r>
            <a:r>
              <a:rPr lang="ru-RU" sz="2400" dirty="0"/>
              <a:t> лист, як </a:t>
            </a:r>
            <a:r>
              <a:rPr lang="ru-RU" sz="2400" dirty="0" err="1"/>
              <a:t>тільки</a:t>
            </a:r>
            <a:r>
              <a:rPr lang="ru-RU" sz="2400" dirty="0"/>
              <a:t> мета </a:t>
            </a:r>
            <a:r>
              <a:rPr lang="ru-RU" sz="2400" dirty="0" err="1"/>
              <a:t>мітингу</a:t>
            </a:r>
            <a:r>
              <a:rPr lang="ru-RU" sz="2400" dirty="0"/>
              <a:t> </a:t>
            </a:r>
            <a:r>
              <a:rPr lang="ru-RU" sz="2400" dirty="0" err="1"/>
              <a:t>досягнута</a:t>
            </a:r>
            <a:r>
              <a:rPr lang="ru-RU" sz="2400" dirty="0"/>
              <a:t>, </a:t>
            </a:r>
            <a:r>
              <a:rPr lang="ru-RU" sz="2400" dirty="0" err="1"/>
              <a:t>або</a:t>
            </a:r>
            <a:r>
              <a:rPr lang="ru-RU" sz="2400" dirty="0"/>
              <a:t> час минув, </a:t>
            </a:r>
            <a:r>
              <a:rPr lang="ru-RU" sz="2400" dirty="0" err="1"/>
              <a:t>мітинг</a:t>
            </a:r>
            <a:r>
              <a:rPr lang="ru-RU" sz="2400" dirty="0"/>
              <a:t> </a:t>
            </a:r>
            <a:r>
              <a:rPr lang="ru-RU" sz="2400" dirty="0" err="1"/>
              <a:t>завершується</a:t>
            </a:r>
            <a:r>
              <a:rPr lang="ru-RU" sz="2400" dirty="0"/>
              <a:t>;</a:t>
            </a:r>
          </a:p>
          <a:p>
            <a:r>
              <a:rPr lang="en-US" sz="2400" dirty="0"/>
              <a:t>PM </a:t>
            </a:r>
            <a:r>
              <a:rPr lang="ru-RU" sz="2400" dirty="0" err="1"/>
              <a:t>оновлює</a:t>
            </a:r>
            <a:r>
              <a:rPr lang="ru-RU" sz="2400" dirty="0"/>
              <a:t> план проекту, </a:t>
            </a:r>
            <a:r>
              <a:rPr lang="ru-RU" sz="2400" dirty="0" err="1"/>
              <a:t>додаючи</a:t>
            </a:r>
            <a:r>
              <a:rPr lang="ru-RU" sz="2400" dirty="0"/>
              <a:t> </a:t>
            </a:r>
            <a:r>
              <a:rPr lang="ru-RU" sz="2400" dirty="0" err="1"/>
              <a:t>основні</a:t>
            </a:r>
            <a:r>
              <a:rPr lang="ru-RU" sz="2400" dirty="0"/>
              <a:t> </a:t>
            </a:r>
            <a:r>
              <a:rPr lang="ru-RU" sz="2400" dirty="0" err="1"/>
              <a:t>плани</a:t>
            </a:r>
            <a:r>
              <a:rPr lang="ru-RU" sz="2400" dirty="0"/>
              <a:t> по </a:t>
            </a:r>
            <a:r>
              <a:rPr lang="ru-RU" sz="2400" dirty="0" err="1"/>
              <a:t>ризиках</a:t>
            </a:r>
            <a:r>
              <a:rPr lang="ru-RU" sz="2400" dirty="0"/>
              <a:t>;</a:t>
            </a:r>
          </a:p>
          <a:p>
            <a:r>
              <a:rPr lang="ru-RU" sz="2400" dirty="0"/>
              <a:t>На </a:t>
            </a:r>
            <a:r>
              <a:rPr lang="ru-RU" sz="2400" dirty="0" err="1"/>
              <a:t>виході</a:t>
            </a:r>
            <a:r>
              <a:rPr lang="ru-RU" sz="2400" dirty="0"/>
              <a:t>: список </a:t>
            </a:r>
            <a:r>
              <a:rPr lang="ru-RU" sz="2400" dirty="0" err="1"/>
              <a:t>критичних</a:t>
            </a:r>
            <a:r>
              <a:rPr lang="ru-RU" sz="2400" dirty="0"/>
              <a:t> </a:t>
            </a:r>
            <a:r>
              <a:rPr lang="ru-RU" sz="2400" dirty="0" err="1"/>
              <a:t>ризиків</a:t>
            </a:r>
            <a:r>
              <a:rPr lang="ru-RU" sz="2400" dirty="0"/>
              <a:t> </a:t>
            </a:r>
            <a:r>
              <a:rPr lang="ru-RU" sz="2400" dirty="0" err="1"/>
              <a:t>зі</a:t>
            </a:r>
            <a:r>
              <a:rPr lang="ru-RU" sz="2400" dirty="0"/>
              <a:t> </a:t>
            </a:r>
            <a:r>
              <a:rPr lang="ru-RU" sz="2400" dirty="0" err="1"/>
              <a:t>стратегією</a:t>
            </a:r>
            <a:r>
              <a:rPr lang="ru-RU" sz="2400" dirty="0"/>
              <a:t> і планом на </a:t>
            </a:r>
            <a:r>
              <a:rPr lang="ru-RU" sz="2400" dirty="0" err="1"/>
              <a:t>кожен</a:t>
            </a:r>
            <a:r>
              <a:rPr lang="ru-RU" sz="2400" dirty="0"/>
              <a:t> </a:t>
            </a:r>
            <a:r>
              <a:rPr lang="ru-RU" sz="2400" dirty="0" err="1"/>
              <a:t>ризик</a:t>
            </a:r>
            <a:r>
              <a:rPr lang="ru-RU" sz="2400" dirty="0"/>
              <a:t>, </a:t>
            </a:r>
            <a:r>
              <a:rPr lang="ru-RU" sz="2400" dirty="0" err="1"/>
              <a:t>оновлений</a:t>
            </a:r>
            <a:r>
              <a:rPr lang="ru-RU" sz="2400" dirty="0"/>
              <a:t> план проекту;</a:t>
            </a:r>
            <a:endParaRPr lang="ru-UA" sz="2400" dirty="0"/>
          </a:p>
        </p:txBody>
      </p:sp>
      <p:sp>
        <p:nvSpPr>
          <p:cNvPr id="4" name="Номер слайда 3">
            <a:extLst>
              <a:ext uri="{FF2B5EF4-FFF2-40B4-BE49-F238E27FC236}">
                <a16:creationId xmlns:a16="http://schemas.microsoft.com/office/drawing/2014/main" id="{DF76BAE1-CCBF-931B-3D6A-94759651916F}"/>
              </a:ext>
            </a:extLst>
          </p:cNvPr>
          <p:cNvSpPr>
            <a:spLocks noGrp="1"/>
          </p:cNvSpPr>
          <p:nvPr>
            <p:ph type="sldNum" sz="quarter" idx="12"/>
          </p:nvPr>
        </p:nvSpPr>
        <p:spPr/>
        <p:txBody>
          <a:bodyPr/>
          <a:lstStyle/>
          <a:p>
            <a:pPr>
              <a:defRPr/>
            </a:pPr>
            <a:fld id="{05AFA3F7-E640-4688-84D4-3AD59A60B741}" type="slidenum">
              <a:rPr lang="en-US" smtClean="0"/>
              <a:pPr>
                <a:defRPr/>
              </a:pPr>
              <a:t>20</a:t>
            </a:fld>
            <a:endParaRPr lang="en-US" dirty="0"/>
          </a:p>
        </p:txBody>
      </p:sp>
    </p:spTree>
    <p:extLst>
      <p:ext uri="{BB962C8B-B14F-4D97-AF65-F5344CB8AC3E}">
        <p14:creationId xmlns:p14="http://schemas.microsoft.com/office/powerpoint/2010/main" val="1024911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1302BD-E198-D171-0EFD-4436E287385A}"/>
              </a:ext>
            </a:extLst>
          </p:cNvPr>
          <p:cNvSpPr>
            <a:spLocks noGrp="1"/>
          </p:cNvSpPr>
          <p:nvPr>
            <p:ph type="title"/>
          </p:nvPr>
        </p:nvSpPr>
        <p:spPr/>
        <p:txBody>
          <a:bodyPr/>
          <a:lstStyle/>
          <a:p>
            <a:endParaRPr lang="ru-UA"/>
          </a:p>
        </p:txBody>
      </p:sp>
      <p:sp>
        <p:nvSpPr>
          <p:cNvPr id="3" name="Объект 2">
            <a:extLst>
              <a:ext uri="{FF2B5EF4-FFF2-40B4-BE49-F238E27FC236}">
                <a16:creationId xmlns:a16="http://schemas.microsoft.com/office/drawing/2014/main" id="{042817F5-89B9-92E9-66F6-AEC6176B3B9E}"/>
              </a:ext>
            </a:extLst>
          </p:cNvPr>
          <p:cNvSpPr>
            <a:spLocks noGrp="1"/>
          </p:cNvSpPr>
          <p:nvPr>
            <p:ph idx="1"/>
          </p:nvPr>
        </p:nvSpPr>
        <p:spPr/>
        <p:txBody>
          <a:bodyPr/>
          <a:lstStyle/>
          <a:p>
            <a:r>
              <a:rPr lang="ru-RU" dirty="0" err="1"/>
              <a:t>Моніторинг</a:t>
            </a:r>
            <a:r>
              <a:rPr lang="ru-RU" dirty="0"/>
              <a:t> і контроль</a:t>
            </a:r>
          </a:p>
          <a:p>
            <a:r>
              <a:rPr lang="ru-RU" sz="2000" dirty="0" err="1"/>
              <a:t>Це</a:t>
            </a:r>
            <a:r>
              <a:rPr lang="ru-RU" sz="2000" dirty="0"/>
              <a:t> </a:t>
            </a:r>
            <a:r>
              <a:rPr lang="ru-RU" sz="2000" dirty="0" err="1"/>
              <a:t>швидше</a:t>
            </a:r>
            <a:r>
              <a:rPr lang="ru-RU" sz="2000" dirty="0"/>
              <a:t> </a:t>
            </a:r>
            <a:r>
              <a:rPr lang="ru-RU" sz="2000" dirty="0" err="1"/>
              <a:t>процес</a:t>
            </a:r>
            <a:r>
              <a:rPr lang="ru-RU" sz="2000" dirty="0"/>
              <a:t>, </a:t>
            </a:r>
            <a:r>
              <a:rPr lang="ru-RU" sz="2000" dirty="0" err="1"/>
              <a:t>ніж</a:t>
            </a:r>
            <a:r>
              <a:rPr lang="ru-RU" sz="2000" dirty="0"/>
              <a:t> </a:t>
            </a:r>
            <a:r>
              <a:rPr lang="ru-RU" sz="2000" dirty="0" err="1"/>
              <a:t>етап</a:t>
            </a:r>
            <a:r>
              <a:rPr lang="ru-RU" sz="2000" dirty="0"/>
              <a:t>. </a:t>
            </a:r>
            <a:r>
              <a:rPr lang="ru-RU" sz="2000" dirty="0" err="1"/>
              <a:t>Його</a:t>
            </a:r>
            <a:r>
              <a:rPr lang="ru-RU" sz="2000" dirty="0"/>
              <a:t> мета — </a:t>
            </a:r>
            <a:r>
              <a:rPr lang="ru-RU" sz="2000" dirty="0" err="1"/>
              <a:t>підтримувати</a:t>
            </a:r>
            <a:r>
              <a:rPr lang="ru-RU" sz="2000" dirty="0"/>
              <a:t> список </a:t>
            </a:r>
            <a:r>
              <a:rPr lang="ru-RU" sz="2000" dirty="0" err="1"/>
              <a:t>ризиків</a:t>
            </a:r>
            <a:r>
              <a:rPr lang="ru-RU" sz="2000" dirty="0"/>
              <a:t> і план проекту в актуальному </a:t>
            </a:r>
            <a:r>
              <a:rPr lang="ru-RU" sz="2000" dirty="0" err="1"/>
              <a:t>стані</a:t>
            </a:r>
            <a:r>
              <a:rPr lang="ru-RU" sz="2000" dirty="0"/>
              <a:t>.</a:t>
            </a:r>
          </a:p>
          <a:p>
            <a:endParaRPr lang="ru-RU" sz="2000" dirty="0"/>
          </a:p>
          <a:p>
            <a:r>
              <a:rPr lang="ru-RU" sz="2000" dirty="0"/>
              <a:t>На </a:t>
            </a:r>
            <a:r>
              <a:rPr lang="ru-RU" sz="2000" dirty="0" err="1"/>
              <a:t>вході</a:t>
            </a:r>
            <a:r>
              <a:rPr lang="ru-RU" sz="2000" dirty="0"/>
              <a:t>: </a:t>
            </a:r>
            <a:r>
              <a:rPr lang="ru-RU" sz="2000" dirty="0" err="1"/>
              <a:t>спланований</a:t>
            </a:r>
            <a:r>
              <a:rPr lang="ru-RU" sz="2000" dirty="0"/>
              <a:t> список </a:t>
            </a:r>
            <a:r>
              <a:rPr lang="ru-RU" sz="2000" dirty="0" err="1"/>
              <a:t>ризиків</a:t>
            </a:r>
            <a:r>
              <a:rPr lang="ru-RU" sz="2000" dirty="0"/>
              <a:t>, план проекту, </a:t>
            </a:r>
            <a:r>
              <a:rPr lang="ru-RU" sz="2000" dirty="0" err="1"/>
              <a:t>щоденні</a:t>
            </a:r>
            <a:r>
              <a:rPr lang="ru-RU" sz="2000" dirty="0"/>
              <a:t> </a:t>
            </a:r>
            <a:r>
              <a:rPr lang="ru-RU" sz="2000" dirty="0" err="1"/>
              <a:t>звіти</a:t>
            </a:r>
            <a:r>
              <a:rPr lang="ru-RU" sz="2000" dirty="0"/>
              <a:t> </a:t>
            </a:r>
            <a:r>
              <a:rPr lang="ru-RU" sz="2000" dirty="0" err="1"/>
              <a:t>команди</a:t>
            </a:r>
            <a:r>
              <a:rPr lang="ru-RU" sz="2000" dirty="0"/>
              <a:t>;</a:t>
            </a:r>
          </a:p>
          <a:p>
            <a:r>
              <a:rPr lang="ru-RU" sz="2000" dirty="0" err="1"/>
              <a:t>Процес</a:t>
            </a:r>
            <a:r>
              <a:rPr lang="ru-RU" sz="2000" dirty="0"/>
              <a:t>:</a:t>
            </a:r>
          </a:p>
          <a:p>
            <a:endParaRPr lang="ru-RU" sz="2000" dirty="0"/>
          </a:p>
          <a:p>
            <a:r>
              <a:rPr lang="en-US" sz="2000" dirty="0"/>
              <a:t>PM </a:t>
            </a:r>
            <a:r>
              <a:rPr lang="ru-RU" sz="2000" dirty="0" err="1"/>
              <a:t>виконує</a:t>
            </a:r>
            <a:r>
              <a:rPr lang="ru-RU" sz="2000" dirty="0"/>
              <a:t> </a:t>
            </a:r>
            <a:r>
              <a:rPr lang="ru-RU" sz="2000" dirty="0" err="1"/>
              <a:t>ревізію</a:t>
            </a:r>
            <a:r>
              <a:rPr lang="ru-RU" sz="2000" dirty="0"/>
              <a:t> списку </a:t>
            </a:r>
            <a:r>
              <a:rPr lang="ru-RU" sz="2000" dirty="0" err="1"/>
              <a:t>ризиків</a:t>
            </a:r>
            <a:r>
              <a:rPr lang="ru-RU" sz="2000" dirty="0"/>
              <a:t>, </a:t>
            </a:r>
            <a:r>
              <a:rPr lang="ru-RU" sz="2000" dirty="0" err="1"/>
              <a:t>оновлює</a:t>
            </a:r>
            <a:r>
              <a:rPr lang="ru-RU" sz="2000" dirty="0"/>
              <a:t> </a:t>
            </a:r>
            <a:r>
              <a:rPr lang="ru-RU" sz="2000" dirty="0" err="1"/>
              <a:t>оцінки</a:t>
            </a:r>
            <a:r>
              <a:rPr lang="ru-RU" sz="2000" dirty="0"/>
              <a:t>, </a:t>
            </a:r>
            <a:r>
              <a:rPr lang="ru-RU" sz="2000" dirty="0" err="1"/>
              <a:t>оновлює</a:t>
            </a:r>
            <a:r>
              <a:rPr lang="ru-RU" sz="2000" dirty="0"/>
              <a:t> </a:t>
            </a:r>
            <a:r>
              <a:rPr lang="ru-RU" sz="2000" dirty="0" err="1"/>
              <a:t>застарілі</a:t>
            </a:r>
            <a:r>
              <a:rPr lang="ru-RU" sz="2000" dirty="0"/>
              <a:t> </a:t>
            </a:r>
            <a:r>
              <a:rPr lang="ru-RU" sz="2000" dirty="0" err="1"/>
              <a:t>плани</a:t>
            </a:r>
            <a:r>
              <a:rPr lang="ru-RU" sz="2000" dirty="0"/>
              <a:t>;</a:t>
            </a:r>
          </a:p>
          <a:p>
            <a:r>
              <a:rPr lang="en-US" sz="2000" dirty="0"/>
              <a:t>PM </a:t>
            </a:r>
            <a:r>
              <a:rPr lang="ru-RU" sz="2000" dirty="0" err="1"/>
              <a:t>виявляє</a:t>
            </a:r>
            <a:r>
              <a:rPr lang="ru-RU" sz="2000" dirty="0"/>
              <a:t> </a:t>
            </a:r>
            <a:r>
              <a:rPr lang="ru-RU" sz="2000" dirty="0" err="1"/>
              <a:t>ризики</a:t>
            </a:r>
            <a:r>
              <a:rPr lang="ru-RU" sz="2000" dirty="0"/>
              <a:t>, </a:t>
            </a:r>
            <a:r>
              <a:rPr lang="ru-RU" sz="2000" dirty="0" err="1"/>
              <a:t>що</a:t>
            </a:r>
            <a:r>
              <a:rPr lang="ru-RU" sz="2000" dirty="0"/>
              <a:t> </a:t>
            </a:r>
            <a:r>
              <a:rPr lang="ru-RU" sz="2000" dirty="0" err="1"/>
              <a:t>трапилися</a:t>
            </a:r>
            <a:r>
              <a:rPr lang="ru-RU" sz="2000" dirty="0"/>
              <a:t>, </a:t>
            </a:r>
            <a:r>
              <a:rPr lang="ru-RU" sz="2000" dirty="0" err="1"/>
              <a:t>приймає</a:t>
            </a:r>
            <a:r>
              <a:rPr lang="ru-RU" sz="2000" dirty="0"/>
              <a:t> </a:t>
            </a:r>
            <a:r>
              <a:rPr lang="ru-RU" sz="2000" dirty="0" err="1"/>
              <a:t>рішення</a:t>
            </a:r>
            <a:r>
              <a:rPr lang="ru-RU" sz="2000" dirty="0"/>
              <a:t> про </a:t>
            </a:r>
            <a:r>
              <a:rPr lang="ru-RU" sz="2000" dirty="0" err="1"/>
              <a:t>впровадження</a:t>
            </a:r>
            <a:r>
              <a:rPr lang="ru-RU" sz="2000" dirty="0"/>
              <a:t> </a:t>
            </a:r>
            <a:r>
              <a:rPr lang="ru-RU" sz="2000" dirty="0" err="1"/>
              <a:t>відхідних</a:t>
            </a:r>
            <a:r>
              <a:rPr lang="ru-RU" sz="2000" dirty="0"/>
              <a:t> </a:t>
            </a:r>
            <a:r>
              <a:rPr lang="ru-RU" sz="2000" dirty="0" err="1"/>
              <a:t>планів</a:t>
            </a:r>
            <a:r>
              <a:rPr lang="ru-RU" sz="2000" dirty="0"/>
              <a:t>, </a:t>
            </a:r>
            <a:r>
              <a:rPr lang="ru-RU" sz="2000" dirty="0" err="1"/>
              <a:t>оновлює</a:t>
            </a:r>
            <a:r>
              <a:rPr lang="ru-RU" sz="2000" dirty="0"/>
              <a:t> план проекту;</a:t>
            </a:r>
          </a:p>
          <a:p>
            <a:r>
              <a:rPr lang="ru-RU" sz="2000" dirty="0"/>
              <a:t>На </a:t>
            </a:r>
            <a:r>
              <a:rPr lang="ru-RU" sz="2000" dirty="0" err="1"/>
              <a:t>виході</a:t>
            </a:r>
            <a:r>
              <a:rPr lang="ru-RU" sz="2000" dirty="0"/>
              <a:t>: </a:t>
            </a:r>
            <a:r>
              <a:rPr lang="ru-RU" sz="2000" dirty="0" err="1"/>
              <a:t>оновлений</a:t>
            </a:r>
            <a:r>
              <a:rPr lang="ru-RU" sz="2000" dirty="0"/>
              <a:t> список </a:t>
            </a:r>
            <a:r>
              <a:rPr lang="ru-RU" sz="2000" dirty="0" err="1"/>
              <a:t>ризиків</a:t>
            </a:r>
            <a:r>
              <a:rPr lang="ru-RU" sz="2000" dirty="0"/>
              <a:t>, </a:t>
            </a:r>
            <a:r>
              <a:rPr lang="ru-RU" sz="2000" dirty="0" err="1"/>
              <a:t>оновлений</a:t>
            </a:r>
            <a:r>
              <a:rPr lang="ru-RU" sz="2000" dirty="0"/>
              <a:t> план проекту;</a:t>
            </a:r>
            <a:endParaRPr lang="ru-UA" sz="2000" dirty="0"/>
          </a:p>
        </p:txBody>
      </p:sp>
      <p:sp>
        <p:nvSpPr>
          <p:cNvPr id="4" name="Номер слайда 3">
            <a:extLst>
              <a:ext uri="{FF2B5EF4-FFF2-40B4-BE49-F238E27FC236}">
                <a16:creationId xmlns:a16="http://schemas.microsoft.com/office/drawing/2014/main" id="{ACD79411-D4D5-886D-603A-583D62C26029}"/>
              </a:ext>
            </a:extLst>
          </p:cNvPr>
          <p:cNvSpPr>
            <a:spLocks noGrp="1"/>
          </p:cNvSpPr>
          <p:nvPr>
            <p:ph type="sldNum" sz="quarter" idx="12"/>
          </p:nvPr>
        </p:nvSpPr>
        <p:spPr/>
        <p:txBody>
          <a:bodyPr/>
          <a:lstStyle/>
          <a:p>
            <a:pPr>
              <a:defRPr/>
            </a:pPr>
            <a:fld id="{05AFA3F7-E640-4688-84D4-3AD59A60B741}" type="slidenum">
              <a:rPr lang="en-US" smtClean="0"/>
              <a:pPr>
                <a:defRPr/>
              </a:pPr>
              <a:t>21</a:t>
            </a:fld>
            <a:endParaRPr lang="en-US" dirty="0"/>
          </a:p>
        </p:txBody>
      </p:sp>
    </p:spTree>
    <p:extLst>
      <p:ext uri="{BB962C8B-B14F-4D97-AF65-F5344CB8AC3E}">
        <p14:creationId xmlns:p14="http://schemas.microsoft.com/office/powerpoint/2010/main" val="2357077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eaLnBrk="1" hangingPunct="1">
              <a:defRPr/>
            </a:pPr>
            <a:r>
              <a:rPr lang="ru-RU" sz="2200" dirty="0">
                <a:effectLst>
                  <a:outerShdw blurRad="38100" dist="38100" dir="2700000" algn="tl">
                    <a:srgbClr val="000000">
                      <a:alpha val="43137"/>
                    </a:srgbClr>
                  </a:outerShdw>
                </a:effectLst>
              </a:rPr>
              <a:t>Відомі класифікації ризиків проектів із розробки програмного забезпечення</a:t>
            </a:r>
          </a:p>
        </p:txBody>
      </p:sp>
      <p:sp>
        <p:nvSpPr>
          <p:cNvPr id="61442" name="Прямоугольник 3"/>
          <p:cNvSpPr>
            <a:spLocks noChangeArrowheads="1"/>
          </p:cNvSpPr>
          <p:nvPr/>
        </p:nvSpPr>
        <p:spPr bwMode="auto">
          <a:xfrm>
            <a:off x="395288" y="1268413"/>
            <a:ext cx="8353425" cy="646112"/>
          </a:xfrm>
          <a:prstGeom prst="rect">
            <a:avLst/>
          </a:prstGeom>
          <a:noFill/>
          <a:ln w="9525">
            <a:noFill/>
            <a:miter lim="800000"/>
            <a:headEnd/>
            <a:tailEnd/>
          </a:ln>
        </p:spPr>
        <p:txBody>
          <a:bodyPr>
            <a:spAutoFit/>
          </a:bodyPr>
          <a:lstStyle/>
          <a:p>
            <a:pPr algn="l" rtl="0"/>
            <a:r>
              <a:rPr lang="ru-RU"/>
              <a:t>Barry Boehm запропонував список десяти найпоширеніших ризиків програмного проекту</a:t>
            </a:r>
            <a:r>
              <a:rPr lang="uk-UA"/>
              <a:t>.</a:t>
            </a:r>
          </a:p>
        </p:txBody>
      </p:sp>
      <p:sp>
        <p:nvSpPr>
          <p:cNvPr id="61443" name="Прямоугольник 37"/>
          <p:cNvSpPr>
            <a:spLocks noChangeArrowheads="1"/>
          </p:cNvSpPr>
          <p:nvPr/>
        </p:nvSpPr>
        <p:spPr bwMode="auto">
          <a:xfrm>
            <a:off x="468313" y="2205038"/>
            <a:ext cx="8351837" cy="3856037"/>
          </a:xfrm>
          <a:prstGeom prst="rect">
            <a:avLst/>
          </a:prstGeom>
          <a:noFill/>
          <a:ln w="9525">
            <a:noFill/>
            <a:miter lim="800000"/>
            <a:headEnd/>
            <a:tailEnd/>
          </a:ln>
        </p:spPr>
        <p:txBody>
          <a:bodyPr>
            <a:spAutoFit/>
          </a:bodyPr>
          <a:lstStyle/>
          <a:p>
            <a:pPr algn="l" rtl="0">
              <a:lnSpc>
                <a:spcPct val="114000"/>
              </a:lnSpc>
            </a:pPr>
            <a:r>
              <a:rPr lang="ru-RU"/>
              <a:t>1. Дефіцит спеціалістів.</a:t>
            </a:r>
          </a:p>
          <a:p>
            <a:pPr algn="l" rtl="0">
              <a:lnSpc>
                <a:spcPct val="114000"/>
              </a:lnSpc>
            </a:pPr>
            <a:r>
              <a:rPr lang="ru-RU"/>
              <a:t>2. Нереалістичні терміни та бюджет.</a:t>
            </a:r>
          </a:p>
          <a:p>
            <a:pPr algn="l" rtl="0">
              <a:lnSpc>
                <a:spcPct val="114000"/>
              </a:lnSpc>
            </a:pPr>
            <a:r>
              <a:rPr lang="ru-RU"/>
              <a:t>3. Реалізація невідповідної функціональності.</a:t>
            </a:r>
          </a:p>
          <a:p>
            <a:pPr algn="l" rtl="0">
              <a:lnSpc>
                <a:spcPct val="114000"/>
              </a:lnSpc>
            </a:pPr>
            <a:r>
              <a:rPr lang="ru-RU"/>
              <a:t>4. Розробка неправильного інтерфейсу.</a:t>
            </a:r>
          </a:p>
          <a:p>
            <a:pPr algn="l" rtl="0">
              <a:lnSpc>
                <a:spcPct val="114000"/>
              </a:lnSpc>
            </a:pPr>
            <a:r>
              <a:rPr lang="ru-RU"/>
              <a:t>5. Непотрібна оптимізація та відточування деталей.</a:t>
            </a:r>
          </a:p>
          <a:p>
            <a:pPr algn="l" rtl="0">
              <a:lnSpc>
                <a:spcPct val="114000"/>
              </a:lnSpc>
            </a:pPr>
            <a:r>
              <a:rPr lang="ru-RU"/>
              <a:t>6. Безперервний потік змін.</a:t>
            </a:r>
          </a:p>
          <a:p>
            <a:pPr algn="l" rtl="0">
              <a:lnSpc>
                <a:spcPct val="114000"/>
              </a:lnSpc>
            </a:pPr>
            <a:r>
              <a:rPr lang="ru-RU"/>
              <a:t>7. Нестача інформації про зовнішні компоненти, що визначають оточення системи або залучені в інтеграцію.</a:t>
            </a:r>
          </a:p>
          <a:p>
            <a:pPr algn="l" rtl="0">
              <a:lnSpc>
                <a:spcPct val="114000"/>
              </a:lnSpc>
            </a:pPr>
            <a:r>
              <a:rPr lang="ru-RU"/>
              <a:t>8. Недоліки у роботах, що виконуються зовнішніми (стосовно проекту) ресурсами.</a:t>
            </a:r>
          </a:p>
          <a:p>
            <a:pPr algn="l" rtl="0">
              <a:lnSpc>
                <a:spcPct val="114000"/>
              </a:lnSpc>
            </a:pPr>
            <a:r>
              <a:rPr lang="ru-RU"/>
              <a:t>9. Недостатня продуктивність одержуваної системи.</a:t>
            </a:r>
          </a:p>
          <a:p>
            <a:pPr algn="l" rtl="0">
              <a:lnSpc>
                <a:spcPct val="114000"/>
              </a:lnSpc>
            </a:pPr>
            <a:r>
              <a:rPr lang="ru-RU"/>
              <a:t>10. «Розриви» у кваліфікації спеціалістів різних галузей знань.</a:t>
            </a:r>
          </a:p>
        </p:txBody>
      </p:sp>
      <p:sp>
        <p:nvSpPr>
          <p:cNvPr id="61444" name="Номер слайда 4"/>
          <p:cNvSpPr>
            <a:spLocks noGrp="1"/>
          </p:cNvSpPr>
          <p:nvPr>
            <p:ph type="sldNum" sz="quarter" idx="12"/>
          </p:nvPr>
        </p:nvSpPr>
        <p:spPr/>
        <p:txBody>
          <a:bodyPr/>
          <a:lstStyle/>
          <a:p>
            <a:pPr algn="l" rtl="0" fontAlgn="base">
              <a:spcBef>
                <a:spcPct val="0"/>
              </a:spcBef>
              <a:spcAft>
                <a:spcPct val="0"/>
              </a:spcAft>
              <a:defRPr/>
            </a:pPr>
            <a:fld id="{C5E4DBB4-20A4-4FC9-B67E-69FABEF2FB10}" type="slidenum">
              <a:rPr lang="en-US"/>
              <a:pPr algn="l" rtl="0" fontAlgn="base">
                <a:spcBef>
                  <a:spcPct val="0"/>
                </a:spcBef>
                <a:spcAft>
                  <a:spcPct val="0"/>
                </a:spcAft>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63" y="387350"/>
            <a:ext cx="8382000" cy="600075"/>
          </a:xfrm>
        </p:spPr>
        <p:txBody>
          <a:bodyPr/>
          <a:lstStyle/>
          <a:p>
            <a:pPr algn="l" rtl="0" eaLnBrk="1" hangingPunct="1">
              <a:defRPr/>
            </a:pPr>
            <a:r>
              <a:rPr lang="ru-RU" sz="2400" dirty="0">
                <a:effectLst>
                  <a:outerShdw blurRad="38100" dist="38100" dir="2700000" algn="tl">
                    <a:srgbClr val="000000">
                      <a:alpha val="43137"/>
                    </a:srgbClr>
                  </a:outerShdw>
                </a:effectLst>
              </a:rPr>
              <a:t>Відомі класифікації ризиків проектів із розробки програмного забезпечення</a:t>
            </a:r>
          </a:p>
        </p:txBody>
      </p:sp>
      <p:sp>
        <p:nvSpPr>
          <p:cNvPr id="62466" name="Прямоугольник 3"/>
          <p:cNvSpPr>
            <a:spLocks noChangeArrowheads="1"/>
          </p:cNvSpPr>
          <p:nvPr/>
        </p:nvSpPr>
        <p:spPr bwMode="auto">
          <a:xfrm>
            <a:off x="395288" y="1268413"/>
            <a:ext cx="8208962" cy="831850"/>
          </a:xfrm>
          <a:prstGeom prst="rect">
            <a:avLst/>
          </a:prstGeom>
          <a:noFill/>
          <a:ln w="9525">
            <a:noFill/>
            <a:miter lim="800000"/>
            <a:headEnd/>
            <a:tailEnd/>
          </a:ln>
        </p:spPr>
        <p:txBody>
          <a:bodyPr>
            <a:spAutoFit/>
          </a:bodyPr>
          <a:lstStyle/>
          <a:p>
            <a:pPr algn="l" rtl="0"/>
            <a:r>
              <a:rPr lang="ru-RU" sz="1600"/>
              <a:t>SEI Software Risk Taxonomy поділяє ризики розробки програмного забезпечення на три класи (Продукт, Середовище розробки, Проектні обмеження), кожен з яких містить відповідні категорії та фактори.</a:t>
            </a:r>
          </a:p>
        </p:txBody>
      </p:sp>
      <p:graphicFrame>
        <p:nvGraphicFramePr>
          <p:cNvPr id="5" name="Таблица 4"/>
          <p:cNvGraphicFramePr>
            <a:graphicFrameLocks noGrp="1"/>
          </p:cNvGraphicFramePr>
          <p:nvPr>
            <p:extLst>
              <p:ext uri="{D42A27DB-BD31-4B8C-83A1-F6EECF244321}">
                <p14:modId xmlns:p14="http://schemas.microsoft.com/office/powerpoint/2010/main" val="3495440738"/>
              </p:ext>
            </p:extLst>
          </p:nvPr>
        </p:nvGraphicFramePr>
        <p:xfrm>
          <a:off x="500063" y="2357438"/>
          <a:ext cx="8136906" cy="3414057"/>
        </p:xfrm>
        <a:graphic>
          <a:graphicData uri="http://schemas.openxmlformats.org/drawingml/2006/table">
            <a:tbl>
              <a:tblPr firstRow="1" bandRow="1">
                <a:tableStyleId>{5C22544A-7EE6-4342-B048-85BDC9FD1C3A}</a:tableStyleId>
              </a:tblPr>
              <a:tblGrid>
                <a:gridCol w="2712302">
                  <a:extLst>
                    <a:ext uri="{9D8B030D-6E8A-4147-A177-3AD203B41FA5}">
                      <a16:colId xmlns:a16="http://schemas.microsoft.com/office/drawing/2014/main" val="20000"/>
                    </a:ext>
                  </a:extLst>
                </a:gridCol>
                <a:gridCol w="2712302">
                  <a:extLst>
                    <a:ext uri="{9D8B030D-6E8A-4147-A177-3AD203B41FA5}">
                      <a16:colId xmlns:a16="http://schemas.microsoft.com/office/drawing/2014/main" val="20001"/>
                    </a:ext>
                  </a:extLst>
                </a:gridCol>
                <a:gridCol w="2712302">
                  <a:extLst>
                    <a:ext uri="{9D8B030D-6E8A-4147-A177-3AD203B41FA5}">
                      <a16:colId xmlns:a16="http://schemas.microsoft.com/office/drawing/2014/main" val="20002"/>
                    </a:ext>
                  </a:extLst>
                </a:gridCol>
              </a:tblGrid>
              <a:tr h="632521">
                <a:tc>
                  <a:txBody>
                    <a:bodyPr/>
                    <a:lstStyle/>
                    <a:p>
                      <a:pPr algn="l" rtl="0"/>
                      <a:r>
                        <a:rPr lang="ru-RU" sz="1600" noProof="0" dirty="0">
                          <a:solidFill>
                            <a:schemeClr val="tx1"/>
                          </a:solidFill>
                        </a:rPr>
                        <a:t>А. Продукт</a:t>
                      </a:r>
                    </a:p>
                  </a:txBody>
                  <a:tcPr/>
                </a:tc>
                <a:tc>
                  <a:txBody>
                    <a:bodyPr/>
                    <a:lstStyle/>
                    <a:p>
                      <a:pPr algn="l" rtl="0"/>
                      <a:r>
                        <a:rPr lang="ru-RU" sz="1600" noProof="0" dirty="0">
                          <a:solidFill>
                            <a:schemeClr val="tx1"/>
                          </a:solidFill>
                        </a:rPr>
                        <a:t>В. Середа </a:t>
                      </a:r>
                      <a:r>
                        <a:rPr lang="ru-RU" sz="1600" baseline="0" noProof="0" dirty="0" err="1">
                          <a:solidFill>
                            <a:schemeClr val="tx1"/>
                          </a:solidFill>
                        </a:rPr>
                        <a:t>розробки</a:t>
                      </a:r>
                      <a:endParaRPr lang="ru-RU" sz="1600" noProof="0" dirty="0">
                        <a:solidFill>
                          <a:schemeClr val="tx1"/>
                        </a:solidFill>
                      </a:endParaRPr>
                    </a:p>
                  </a:txBody>
                  <a:tcPr/>
                </a:tc>
                <a:tc>
                  <a:txBody>
                    <a:bodyPr/>
                    <a:lstStyle/>
                    <a:p>
                      <a:pPr algn="l" rtl="0"/>
                      <a:r>
                        <a:rPr lang="ru-RU" sz="1600" noProof="0">
                          <a:solidFill>
                            <a:schemeClr val="tx1"/>
                          </a:solidFill>
                        </a:rPr>
                        <a:t>С. Проектні</a:t>
                      </a:r>
                      <a:r>
                        <a:rPr lang="ru-RU" sz="1600" baseline="0" noProof="0">
                          <a:solidFill>
                            <a:schemeClr val="tx1"/>
                          </a:solidFill>
                        </a:rPr>
                        <a:t> </a:t>
                      </a:r>
                      <a:r>
                        <a:rPr lang="ru-RU" sz="1600" noProof="0">
                          <a:solidFill>
                            <a:schemeClr val="tx1"/>
                          </a:solidFill>
                        </a:rPr>
                        <a:t>обмеження</a:t>
                      </a:r>
                    </a:p>
                  </a:txBody>
                  <a:tcPr/>
                </a:tc>
                <a:extLst>
                  <a:ext uri="{0D108BD9-81ED-4DB2-BD59-A6C34878D82A}">
                    <a16:rowId xmlns:a16="http://schemas.microsoft.com/office/drawing/2014/main" val="10000"/>
                  </a:ext>
                </a:extLst>
              </a:tr>
              <a:tr h="459068">
                <a:tc>
                  <a:txBody>
                    <a:bodyPr/>
                    <a:lstStyle/>
                    <a:p>
                      <a:pPr marL="342900" indent="-342900" algn="l" rtl="0">
                        <a:buAutoNum type="arabicPeriod"/>
                      </a:pPr>
                      <a:r>
                        <a:rPr lang="ru-RU" sz="1400" noProof="0" dirty="0">
                          <a:solidFill>
                            <a:schemeClr val="tx1"/>
                          </a:solidFill>
                        </a:rPr>
                        <a:t>Умови</a:t>
                      </a:r>
                    </a:p>
                  </a:txBody>
                  <a:tcPr/>
                </a:tc>
                <a:tc>
                  <a:txBody>
                    <a:bodyPr/>
                    <a:lstStyle/>
                    <a:p>
                      <a:pPr algn="l" rtl="0"/>
                      <a:r>
                        <a:rPr lang="ru-RU" sz="1400" noProof="0" dirty="0">
                          <a:solidFill>
                            <a:schemeClr val="tx1"/>
                          </a:solidFill>
                        </a:rPr>
                        <a:t>1. Процес розробки</a:t>
                      </a:r>
                    </a:p>
                  </a:txBody>
                  <a:tcPr/>
                </a:tc>
                <a:tc>
                  <a:txBody>
                    <a:bodyPr/>
                    <a:lstStyle/>
                    <a:p>
                      <a:pPr marL="228600" indent="-228600" algn="l" rtl="0">
                        <a:buNone/>
                      </a:pPr>
                      <a:r>
                        <a:rPr lang="ru-RU" sz="1400" noProof="0" dirty="0">
                          <a:solidFill>
                            <a:schemeClr val="tx1"/>
                          </a:solidFill>
                        </a:rPr>
                        <a:t>1. Ресурси</a:t>
                      </a:r>
                    </a:p>
                  </a:txBody>
                  <a:tcPr/>
                </a:tc>
                <a:extLst>
                  <a:ext uri="{0D108BD9-81ED-4DB2-BD59-A6C34878D82A}">
                    <a16:rowId xmlns:a16="http://schemas.microsoft.com/office/drawing/2014/main" val="10001"/>
                  </a:ext>
                </a:extLst>
              </a:tr>
              <a:tr h="459068">
                <a:tc>
                  <a:txBody>
                    <a:bodyPr/>
                    <a:lstStyle/>
                    <a:p>
                      <a:pPr algn="l" rtl="0"/>
                      <a:r>
                        <a:rPr lang="ru-RU" sz="1400" noProof="0" dirty="0">
                          <a:solidFill>
                            <a:schemeClr val="tx1"/>
                          </a:solidFill>
                        </a:rPr>
                        <a:t>2. Проект</a:t>
                      </a:r>
                    </a:p>
                  </a:txBody>
                  <a:tcPr/>
                </a:tc>
                <a:tc>
                  <a:txBody>
                    <a:bodyPr/>
                    <a:lstStyle/>
                    <a:p>
                      <a:pPr algn="l" rtl="0"/>
                      <a:r>
                        <a:rPr lang="ru-RU" sz="1400" noProof="0" dirty="0">
                          <a:solidFill>
                            <a:schemeClr val="tx1"/>
                          </a:solidFill>
                        </a:rPr>
                        <a:t>2. Система розробки</a:t>
                      </a:r>
                    </a:p>
                  </a:txBody>
                  <a:tcPr/>
                </a:tc>
                <a:tc>
                  <a:txBody>
                    <a:bodyPr/>
                    <a:lstStyle/>
                    <a:p>
                      <a:pPr algn="l" rtl="0"/>
                      <a:r>
                        <a:rPr lang="ru-RU" sz="1400" noProof="0">
                          <a:solidFill>
                            <a:schemeClr val="tx1"/>
                          </a:solidFill>
                        </a:rPr>
                        <a:t>2. Договір</a:t>
                      </a:r>
                    </a:p>
                  </a:txBody>
                  <a:tcPr/>
                </a:tc>
                <a:extLst>
                  <a:ext uri="{0D108BD9-81ED-4DB2-BD59-A6C34878D82A}">
                    <a16:rowId xmlns:a16="http://schemas.microsoft.com/office/drawing/2014/main" val="10002"/>
                  </a:ext>
                </a:extLst>
              </a:tr>
              <a:tr h="6932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400" noProof="0" dirty="0">
                          <a:solidFill>
                            <a:schemeClr val="tx1"/>
                          </a:solidFill>
                        </a:rPr>
                        <a:t>3. Кодування</a:t>
                      </a:r>
                      <a:r>
                        <a:rPr lang="ru-RU" sz="1400" baseline="0" noProof="0" dirty="0">
                          <a:solidFill>
                            <a:schemeClr val="tx1"/>
                          </a:solidFill>
                        </a:rPr>
                        <a:t>і</a:t>
                      </a:r>
                      <a:r>
                        <a:rPr lang="ru-RU" sz="1400" noProof="0" dirty="0">
                          <a:solidFill>
                            <a:schemeClr val="tx1"/>
                          </a:solidFill>
                        </a:rPr>
                        <a:t>тестування елементів</a:t>
                      </a:r>
                    </a:p>
                  </a:txBody>
                  <a:tcPr/>
                </a:tc>
                <a:tc>
                  <a:txBody>
                    <a:bodyPr/>
                    <a:lstStyle/>
                    <a:p>
                      <a:pPr algn="l" rtl="0"/>
                      <a:r>
                        <a:rPr lang="ru-RU" sz="1400" noProof="0" dirty="0">
                          <a:solidFill>
                            <a:schemeClr val="tx1"/>
                          </a:solidFill>
                        </a:rPr>
                        <a:t>3. Процеси управління</a:t>
                      </a:r>
                    </a:p>
                  </a:txBody>
                  <a:tcPr/>
                </a:tc>
                <a:tc>
                  <a:txBody>
                    <a:bodyPr/>
                    <a:lstStyle/>
                    <a:p>
                      <a:pPr algn="l" rtl="0"/>
                      <a:r>
                        <a:rPr lang="ru-RU" sz="1400" noProof="0" dirty="0">
                          <a:solidFill>
                            <a:schemeClr val="tx1"/>
                          </a:solidFill>
                        </a:rPr>
                        <a:t>3. Взаємодія</a:t>
                      </a:r>
                      <a:r>
                        <a:rPr lang="ru-RU" sz="1400" baseline="0" noProof="0" dirty="0">
                          <a:solidFill>
                            <a:schemeClr val="tx1"/>
                          </a:solidFill>
                        </a:rPr>
                        <a:t>з</a:t>
                      </a:r>
                      <a:r>
                        <a:rPr lang="ru-RU" sz="1400" noProof="0" dirty="0">
                          <a:solidFill>
                            <a:schemeClr val="tx1"/>
                          </a:solidFill>
                        </a:rPr>
                        <a:t>зовнішньої</a:t>
                      </a:r>
                      <a:r>
                        <a:rPr lang="ru-RU" sz="1400" baseline="0" noProof="0" dirty="0">
                          <a:solidFill>
                            <a:schemeClr val="tx1"/>
                          </a:solidFill>
                        </a:rPr>
                        <a:t>середовищем</a:t>
                      </a:r>
                      <a:endParaRPr lang="ru-RU" sz="1400" noProof="0" dirty="0">
                        <a:solidFill>
                          <a:schemeClr val="tx1"/>
                        </a:solidFill>
                      </a:endParaRPr>
                    </a:p>
                  </a:txBody>
                  <a:tcPr/>
                </a:tc>
                <a:extLst>
                  <a:ext uri="{0D108BD9-81ED-4DB2-BD59-A6C34878D82A}">
                    <a16:rowId xmlns:a16="http://schemas.microsoft.com/office/drawing/2014/main" val="10003"/>
                  </a:ext>
                </a:extLst>
              </a:tr>
              <a:tr h="565940">
                <a:tc>
                  <a:txBody>
                    <a:bodyPr/>
                    <a:lstStyle/>
                    <a:p>
                      <a:pPr algn="l" rtl="0"/>
                      <a:r>
                        <a:rPr lang="ru-RU" sz="1400" noProof="0" dirty="0">
                          <a:solidFill>
                            <a:schemeClr val="tx1"/>
                          </a:solidFill>
                        </a:rPr>
                        <a:t>4. Інтеграція та</a:t>
                      </a:r>
                      <a:r>
                        <a:rPr lang="ru-RU" sz="1400" baseline="0" noProof="0" dirty="0">
                          <a:solidFill>
                            <a:schemeClr val="tx1"/>
                          </a:solidFill>
                        </a:rPr>
                        <a:t> </a:t>
                      </a:r>
                      <a:r>
                        <a:rPr lang="ru-RU" sz="1400" noProof="0" dirty="0">
                          <a:solidFill>
                            <a:schemeClr val="tx1"/>
                          </a:solidFill>
                        </a:rPr>
                        <a:t>системне тестування</a:t>
                      </a:r>
                    </a:p>
                  </a:txBody>
                  <a:tcPr/>
                </a:tc>
                <a:tc>
                  <a:txBody>
                    <a:bodyPr/>
                    <a:lstStyle/>
                    <a:p>
                      <a:pPr algn="l" rtl="0"/>
                      <a:r>
                        <a:rPr lang="ru-RU" sz="1400" noProof="0" dirty="0">
                          <a:solidFill>
                            <a:schemeClr val="tx1"/>
                          </a:solidFill>
                        </a:rPr>
                        <a:t>4. Методи</a:t>
                      </a:r>
                      <a:r>
                        <a:rPr lang="ru-RU" sz="1400" baseline="0" noProof="0" dirty="0">
                          <a:solidFill>
                            <a:schemeClr val="tx1"/>
                          </a:solidFill>
                        </a:rPr>
                        <a:t> </a:t>
                      </a:r>
                      <a:r>
                        <a:rPr lang="ru-RU" sz="1400" noProof="0" dirty="0">
                          <a:solidFill>
                            <a:schemeClr val="tx1"/>
                          </a:solidFill>
                        </a:rPr>
                        <a:t>управління</a:t>
                      </a:r>
                    </a:p>
                  </a:txBody>
                  <a:tcPr/>
                </a:tc>
                <a:tc>
                  <a:txBody>
                    <a:bodyPr/>
                    <a:lstStyle/>
                    <a:p>
                      <a:pPr algn="l" rtl="0"/>
                      <a:endParaRPr lang="ru-RU" sz="1400" noProof="0">
                        <a:solidFill>
                          <a:schemeClr val="tx1"/>
                        </a:solidFill>
                      </a:endParaRPr>
                    </a:p>
                  </a:txBody>
                  <a:tcPr/>
                </a:tc>
                <a:extLst>
                  <a:ext uri="{0D108BD9-81ED-4DB2-BD59-A6C34878D82A}">
                    <a16:rowId xmlns:a16="http://schemas.microsoft.com/office/drawing/2014/main" val="10004"/>
                  </a:ext>
                </a:extLst>
              </a:tr>
              <a:tr h="565940">
                <a:tc>
                  <a:txBody>
                    <a:bodyPr/>
                    <a:lstStyle/>
                    <a:p>
                      <a:pPr algn="l" rtl="0"/>
                      <a:r>
                        <a:rPr lang="ru-RU" sz="1400" noProof="0" dirty="0">
                          <a:solidFill>
                            <a:schemeClr val="tx1"/>
                          </a:solidFill>
                        </a:rPr>
                        <a:t>5. Аспекти розробки</a:t>
                      </a:r>
                      <a:r>
                        <a:rPr lang="ru-RU" sz="1400" baseline="0" noProof="0" dirty="0">
                          <a:solidFill>
                            <a:schemeClr val="tx1"/>
                          </a:solidFill>
                        </a:rPr>
                        <a:t>та застосування</a:t>
                      </a:r>
                      <a:endParaRPr lang="ru-RU" sz="1400" noProof="0" dirty="0">
                        <a:solidFill>
                          <a:schemeClr val="tx1"/>
                        </a:solidFill>
                      </a:endParaRPr>
                    </a:p>
                  </a:txBody>
                  <a:tcPr/>
                </a:tc>
                <a:tc>
                  <a:txBody>
                    <a:bodyPr/>
                    <a:lstStyle/>
                    <a:p>
                      <a:pPr algn="l" rtl="0"/>
                      <a:r>
                        <a:rPr lang="ru-RU" sz="1400" noProof="0" dirty="0">
                          <a:solidFill>
                            <a:schemeClr val="tx1"/>
                          </a:solidFill>
                        </a:rPr>
                        <a:t>5. Умови роботи</a:t>
                      </a:r>
                    </a:p>
                  </a:txBody>
                  <a:tcPr/>
                </a:tc>
                <a:tc>
                  <a:txBody>
                    <a:bodyPr/>
                    <a:lstStyle/>
                    <a:p>
                      <a:pPr algn="l" rtl="0"/>
                      <a:endParaRPr lang="ru-RU" sz="1400" noProof="0" dirty="0">
                        <a:solidFill>
                          <a:schemeClr val="tx1"/>
                        </a:solidFill>
                      </a:endParaRPr>
                    </a:p>
                  </a:txBody>
                  <a:tcPr/>
                </a:tc>
                <a:extLst>
                  <a:ext uri="{0D108BD9-81ED-4DB2-BD59-A6C34878D82A}">
                    <a16:rowId xmlns:a16="http://schemas.microsoft.com/office/drawing/2014/main" val="10005"/>
                  </a:ext>
                </a:extLst>
              </a:tr>
            </a:tbl>
          </a:graphicData>
        </a:graphic>
      </p:graphicFrame>
      <p:sp>
        <p:nvSpPr>
          <p:cNvPr id="62497" name="Номер слайда 5"/>
          <p:cNvSpPr>
            <a:spLocks noGrp="1"/>
          </p:cNvSpPr>
          <p:nvPr>
            <p:ph type="sldNum" sz="quarter" idx="12"/>
          </p:nvPr>
        </p:nvSpPr>
        <p:spPr/>
        <p:txBody>
          <a:bodyPr/>
          <a:lstStyle/>
          <a:p>
            <a:pPr algn="l" rtl="0" fontAlgn="base">
              <a:spcBef>
                <a:spcPct val="0"/>
              </a:spcBef>
              <a:spcAft>
                <a:spcPct val="0"/>
              </a:spcAft>
              <a:defRPr/>
            </a:pPr>
            <a:fld id="{9F436317-0E98-4C0B-A9AD-E93CAA12514A}" type="slidenum">
              <a:rPr lang="en-US"/>
              <a:pPr algn="l" rtl="0" fontAlgn="base">
                <a:spcBef>
                  <a:spcPct val="0"/>
                </a:spcBef>
                <a:spcAft>
                  <a:spcPct val="0"/>
                </a:spcAft>
                <a:defRPr/>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330200"/>
            <a:ext cx="9144000" cy="671513"/>
          </a:xfrm>
        </p:spPr>
        <p:txBody>
          <a:bodyPr/>
          <a:lstStyle/>
          <a:p>
            <a:pPr algn="l" rtl="0" eaLnBrk="1" hangingPunct="1">
              <a:defRPr/>
            </a:pPr>
            <a:r>
              <a:rPr lang="ru-RU" sz="2400" dirty="0">
                <a:effectLst>
                  <a:outerShdw blurRad="38100" dist="38100" dir="2700000" algn="tl">
                    <a:srgbClr val="000000">
                      <a:alpha val="43137"/>
                    </a:srgbClr>
                  </a:outerShdw>
                </a:effectLst>
              </a:rPr>
              <a:t>Відомі класифікації ризиків проектів</a:t>
            </a:r>
            <a:br>
              <a:rPr lang="ru-RU" sz="2400" dirty="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з розробки програмного забезпечення</a:t>
            </a:r>
            <a:r>
              <a:rPr lang="uk-UA" sz="2400" dirty="0" err="1">
                <a:effectLst>
                  <a:outerShdw blurRad="38100" dist="38100" dir="2700000" algn="tl">
                    <a:srgbClr val="000000">
                      <a:alpha val="43137"/>
                    </a:srgbClr>
                  </a:outerShdw>
                </a:effectLst>
              </a:rPr>
              <a:t>спекання</a:t>
            </a:r>
            <a:endParaRPr lang="ru-RU" sz="2400" dirty="0">
              <a:effectLst>
                <a:outerShdw blurRad="38100" dist="38100" dir="2700000" algn="tl">
                  <a:srgbClr val="000000">
                    <a:alpha val="43137"/>
                  </a:srgbClr>
                </a:outerShdw>
              </a:effectLst>
            </a:endParaRPr>
          </a:p>
        </p:txBody>
      </p:sp>
      <p:graphicFrame>
        <p:nvGraphicFramePr>
          <p:cNvPr id="4" name="Таблица 3"/>
          <p:cNvGraphicFramePr>
            <a:graphicFrameLocks noGrp="1"/>
          </p:cNvGraphicFramePr>
          <p:nvPr/>
        </p:nvGraphicFramePr>
        <p:xfrm>
          <a:off x="395288" y="1577975"/>
          <a:ext cx="8352928" cy="5163191"/>
        </p:xfrm>
        <a:graphic>
          <a:graphicData uri="http://schemas.openxmlformats.org/drawingml/2006/table">
            <a:tbl>
              <a:tblPr/>
              <a:tblGrid>
                <a:gridCol w="4141660">
                  <a:extLst>
                    <a:ext uri="{9D8B030D-6E8A-4147-A177-3AD203B41FA5}">
                      <a16:colId xmlns:a16="http://schemas.microsoft.com/office/drawing/2014/main" val="20000"/>
                    </a:ext>
                  </a:extLst>
                </a:gridCol>
                <a:gridCol w="4211268">
                  <a:extLst>
                    <a:ext uri="{9D8B030D-6E8A-4147-A177-3AD203B41FA5}">
                      <a16:colId xmlns:a16="http://schemas.microsoft.com/office/drawing/2014/main" val="20001"/>
                    </a:ext>
                  </a:extLst>
                </a:gridCol>
              </a:tblGrid>
              <a:tr h="227013">
                <a:tc>
                  <a:txBody>
                    <a:body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ru-RU" sz="1400" b="1" i="0" u="none" strike="noStrike" cap="none" normalizeH="0" baseline="0" dirty="0">
                          <a:ln>
                            <a:noFill/>
                          </a:ln>
                          <a:solidFill>
                            <a:srgbClr val="000000"/>
                          </a:solidFill>
                          <a:effectLst/>
                          <a:latin typeface="Arial" charset="0"/>
                        </a:rPr>
                        <a:t>Люди</a:t>
                      </a:r>
                      <a:endParaRPr kumimoji="0" lang="ru-RU" sz="1400" b="1"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6D0E2"/>
                    </a:solidFill>
                  </a:tcPr>
                </a:tc>
                <a:tc>
                  <a:txBody>
                    <a:body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ru-RU" sz="1400" b="1" i="0" u="none" strike="noStrike" cap="none" normalizeH="0" baseline="0" dirty="0">
                          <a:ln>
                            <a:noFill/>
                          </a:ln>
                          <a:solidFill>
                            <a:srgbClr val="000000"/>
                          </a:solidFill>
                          <a:effectLst/>
                          <a:latin typeface="Arial" charset="0"/>
                        </a:rPr>
                        <a:t>Технології</a:t>
                      </a:r>
                      <a:endParaRPr kumimoji="0" lang="ru-RU" sz="1400" b="1"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6D0E2"/>
                    </a:solidFill>
                  </a:tcPr>
                </a:tc>
                <a:extLst>
                  <a:ext uri="{0D108BD9-81ED-4DB2-BD59-A6C34878D82A}">
                    <a16:rowId xmlns:a16="http://schemas.microsoft.com/office/drawing/2014/main" val="10000"/>
                  </a:ext>
                </a:extLst>
              </a:tr>
              <a:tr h="223838">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Замовники (customers)</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Безпека</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1"/>
                  </a:ext>
                </a:extLst>
              </a:tr>
              <a:tr h="301625">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Кінцеві користувачі (end users)</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dirty="0">
                          <a:ln>
                            <a:noFill/>
                          </a:ln>
                          <a:solidFill>
                            <a:srgbClr val="000000"/>
                          </a:solidFill>
                          <a:effectLst/>
                          <a:latin typeface="Arial" charset="0"/>
                        </a:rPr>
                        <a:t>Середа розробки та тестування</a:t>
                      </a: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2"/>
                  </a:ext>
                </a:extLst>
              </a:tr>
              <a:tr h="269875">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Спонсори</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Інструментарій</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3"/>
                  </a:ext>
                </a:extLst>
              </a:tr>
              <a:tr h="355600">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Зацікавлені сторони</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cs typeface="Times New Roman" pitchFamily="18" charset="0"/>
                        </a:rPr>
                        <a:t>Застосування</a:t>
                      </a: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4"/>
                  </a:ext>
                </a:extLst>
              </a:tr>
              <a:tr h="261938">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Персонал</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cs typeface="Times New Roman" pitchFamily="18" charset="0"/>
                        </a:rPr>
                        <a:t>Супровід</a:t>
                      </a: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5"/>
                  </a:ext>
                </a:extLst>
              </a:tr>
              <a:tr h="269875">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Організація</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dirty="0">
                          <a:ln>
                            <a:noFill/>
                          </a:ln>
                          <a:solidFill>
                            <a:srgbClr val="000000"/>
                          </a:solidFill>
                          <a:effectLst/>
                          <a:latin typeface="Arial" charset="0"/>
                        </a:rPr>
                        <a:t>Операційне середовище</a:t>
                      </a: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6"/>
                  </a:ext>
                </a:extLst>
              </a:tr>
              <a:tr h="269875">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Професійна кваліфікація</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Доступність</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7"/>
                  </a:ext>
                </a:extLst>
              </a:tr>
              <a:tr h="269875">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Політика</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ru-RU" sz="1400" b="1" i="0" u="none" strike="noStrike" cap="none" normalizeH="0" baseline="0">
                          <a:ln>
                            <a:noFill/>
                          </a:ln>
                          <a:solidFill>
                            <a:srgbClr val="000000"/>
                          </a:solidFill>
                          <a:effectLst/>
                          <a:latin typeface="Arial" charset="0"/>
                          <a:cs typeface="Times New Roman" pitchFamily="18" charset="0"/>
                        </a:rPr>
                        <a:t>Зовнішні умови</a:t>
                      </a: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8"/>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Мораль</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Законодавство</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09"/>
                  </a:ext>
                </a:extLst>
              </a:tr>
              <a:tr h="277813">
                <a:tc>
                  <a:txBody>
                    <a:body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ru-RU" sz="1400" b="1" i="0" u="none" strike="noStrike" cap="none" normalizeH="0" baseline="0">
                          <a:ln>
                            <a:noFill/>
                          </a:ln>
                          <a:solidFill>
                            <a:srgbClr val="000000"/>
                          </a:solidFill>
                          <a:effectLst/>
                          <a:latin typeface="Arial" charset="0"/>
                        </a:rPr>
                        <a:t>Процеси</a:t>
                      </a:r>
                      <a:endParaRPr kumimoji="0" lang="ru-RU" sz="1400" b="1"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Індустріальні стандарти</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0"/>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Ціль та задачі</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Конкуренція</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1"/>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Прийняття рішень</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dirty="0">
                          <a:ln>
                            <a:noFill/>
                          </a:ln>
                          <a:solidFill>
                            <a:srgbClr val="000000"/>
                          </a:solidFill>
                          <a:effectLst/>
                          <a:latin typeface="Arial" charset="0"/>
                        </a:rPr>
                        <a:t>Економічні умови</a:t>
                      </a: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2"/>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dirty="0">
                          <a:ln>
                            <a:noFill/>
                          </a:ln>
                          <a:solidFill>
                            <a:srgbClr val="000000"/>
                          </a:solidFill>
                          <a:effectLst/>
                          <a:latin typeface="Arial" charset="0"/>
                        </a:rPr>
                        <a:t>Характеристики проекту</a:t>
                      </a: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Технологія</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3"/>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Бюджет, витрати, терміни</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Бізнес-умови</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4"/>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Умови (requirements)</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ctr" defTabSz="914400" rtl="0" eaLnBrk="1" fontAlgn="base" latinLnBrk="0" hangingPunct="1">
                        <a:lnSpc>
                          <a:spcPct val="100000"/>
                        </a:lnSpc>
                        <a:spcBef>
                          <a:spcPct val="0"/>
                        </a:spcBef>
                        <a:spcAft>
                          <a:spcPts val="600"/>
                        </a:spcAft>
                        <a:buClrTx/>
                        <a:buSzTx/>
                        <a:buFontTx/>
                        <a:buNone/>
                        <a:tabLst/>
                      </a:pP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5"/>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Проектування (design)</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6"/>
                  </a:ext>
                </a:extLst>
              </a:tr>
              <a:tr h="27781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dirty="0">
                          <a:ln>
                            <a:noFill/>
                          </a:ln>
                          <a:solidFill>
                            <a:srgbClr val="000000"/>
                          </a:solidFill>
                          <a:effectLst/>
                          <a:latin typeface="Arial" charset="0"/>
                        </a:rPr>
                        <a:t>Реалізація (</a:t>
                      </a:r>
                      <a:r>
                        <a:rPr kumimoji="0" lang="ru-RU" sz="1400" b="0" i="0" u="none" strike="noStrike" cap="none" normalizeH="0" baseline="0" dirty="0" err="1">
                          <a:ln>
                            <a:noFill/>
                          </a:ln>
                          <a:solidFill>
                            <a:srgbClr val="000000"/>
                          </a:solidFill>
                          <a:effectLst/>
                          <a:latin typeface="Arial" charset="0"/>
                        </a:rPr>
                        <a:t>building</a:t>
                      </a:r>
                      <a:r>
                        <a:rPr kumimoji="0" lang="ru-RU" sz="1400" b="0" i="0" u="none" strike="noStrike" cap="none" normalizeH="0" baseline="0" dirty="0">
                          <a:ln>
                            <a:noFill/>
                          </a:ln>
                          <a:solidFill>
                            <a:srgbClr val="000000"/>
                          </a:solidFill>
                          <a:effectLst/>
                          <a:latin typeface="Arial" charset="0"/>
                        </a:rPr>
                        <a:t>)</a:t>
                      </a: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7"/>
                  </a:ext>
                </a:extLst>
              </a:tr>
              <a:tr h="204723">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ru-RU" sz="1400" b="0" i="0" u="none" strike="noStrike" cap="none" normalizeH="0" baseline="0">
                          <a:ln>
                            <a:noFill/>
                          </a:ln>
                          <a:solidFill>
                            <a:srgbClr val="000000"/>
                          </a:solidFill>
                          <a:effectLst/>
                          <a:latin typeface="Arial" charset="0"/>
                        </a:rPr>
                        <a:t>Тестування (testing)</a:t>
                      </a:r>
                      <a:endParaRPr kumimoji="0" lang="ru-RU" sz="1400" b="0" i="0" u="none" strike="noStrike" cap="none" normalizeH="0" baseline="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endParaRPr kumimoji="0" lang="ru-RU" sz="1400" b="0" i="0" u="none" strike="noStrike" cap="none" normalizeH="0" baseline="0" dirty="0">
                        <a:ln>
                          <a:noFill/>
                        </a:ln>
                        <a:solidFill>
                          <a:srgbClr val="000000"/>
                        </a:solidFill>
                        <a:effectLst/>
                        <a:latin typeface="Arial" charset="0"/>
                        <a:cs typeface="Times New Roman" pitchFamily="18" charset="0"/>
                      </a:endParaRPr>
                    </a:p>
                  </a:txBody>
                  <a:tcPr marL="32316" marR="32316"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gradFill rotWithShape="1">
                      <a:gsLst>
                        <a:gs pos="0">
                          <a:srgbClr val="BEE3EC"/>
                        </a:gs>
                        <a:gs pos="50000">
                          <a:srgbClr val="D6EDF2"/>
                        </a:gs>
                        <a:gs pos="100000">
                          <a:srgbClr val="EAF5F8"/>
                        </a:gs>
                      </a:gsLst>
                      <a:lin ang="8100000" scaled="1"/>
                    </a:gradFill>
                  </a:tcPr>
                </a:tc>
                <a:extLst>
                  <a:ext uri="{0D108BD9-81ED-4DB2-BD59-A6C34878D82A}">
                    <a16:rowId xmlns:a16="http://schemas.microsoft.com/office/drawing/2014/main" val="10018"/>
                  </a:ext>
                </a:extLst>
              </a:tr>
            </a:tbl>
          </a:graphicData>
        </a:graphic>
      </p:graphicFrame>
      <p:sp>
        <p:nvSpPr>
          <p:cNvPr id="63552" name="Прямоугольник 4"/>
          <p:cNvSpPr>
            <a:spLocks noChangeArrowheads="1"/>
          </p:cNvSpPr>
          <p:nvPr/>
        </p:nvSpPr>
        <p:spPr bwMode="auto">
          <a:xfrm>
            <a:off x="0" y="987425"/>
            <a:ext cx="9144000" cy="584200"/>
          </a:xfrm>
          <a:prstGeom prst="rect">
            <a:avLst/>
          </a:prstGeom>
          <a:noFill/>
          <a:ln w="9525">
            <a:noFill/>
            <a:miter lim="800000"/>
            <a:headEnd/>
            <a:tailEnd/>
          </a:ln>
        </p:spPr>
        <p:txBody>
          <a:bodyPr>
            <a:spAutoFit/>
          </a:bodyPr>
          <a:lstStyle/>
          <a:p>
            <a:pPr algn="l" rtl="0"/>
            <a:r>
              <a:rPr lang="ru-RU" sz="1600"/>
              <a:t>Класифікація ризиків у рамках MSF поділяє джерела ризиків на чотири класи (Люди, Процеси, Технології, Зовнішні умови), що містять відповідні елементи</a:t>
            </a:r>
          </a:p>
        </p:txBody>
      </p:sp>
      <p:sp>
        <p:nvSpPr>
          <p:cNvPr id="63553" name="Номер слайда 5"/>
          <p:cNvSpPr>
            <a:spLocks noGrp="1"/>
          </p:cNvSpPr>
          <p:nvPr>
            <p:ph type="sldNum" sz="quarter" idx="12"/>
          </p:nvPr>
        </p:nvSpPr>
        <p:spPr>
          <a:xfrm>
            <a:off x="6891338" y="6381750"/>
            <a:ext cx="2133600" cy="320675"/>
          </a:xfrm>
        </p:spPr>
        <p:txBody>
          <a:bodyPr/>
          <a:lstStyle/>
          <a:p>
            <a:pPr algn="l" rtl="0" fontAlgn="base">
              <a:spcBef>
                <a:spcPct val="0"/>
              </a:spcBef>
              <a:spcAft>
                <a:spcPct val="0"/>
              </a:spcAft>
              <a:defRPr/>
            </a:pPr>
            <a:fld id="{DB65DF42-B40D-4662-AAF8-F2A4F4B61AC1}" type="slidenum">
              <a:rPr lang="en-US"/>
              <a:pPr algn="l" rtl="0" fontAlgn="base">
                <a:spcBef>
                  <a:spcPct val="0"/>
                </a:spcBef>
                <a:spcAft>
                  <a:spcPct val="0"/>
                </a:spcAft>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28625" y="428625"/>
            <a:ext cx="8382000" cy="457200"/>
          </a:xfrm>
        </p:spPr>
        <p:txBody>
          <a:bodyPr/>
          <a:lstStyle/>
          <a:p>
            <a:pPr algn="l" rtl="0" eaLnBrk="1" hangingPunct="1">
              <a:defRPr/>
            </a:pPr>
            <a:r>
              <a:rPr lang="ru-RU" sz="2500" dirty="0">
                <a:effectLst>
                  <a:outerShdw blurRad="38100" dist="38100" dir="2700000" algn="tl">
                    <a:srgbClr val="000000">
                      <a:alpha val="43137"/>
                    </a:srgbClr>
                  </a:outerShdw>
                </a:effectLst>
              </a:rPr>
              <a:t>Відомі класифікації ризиків проектів</a:t>
            </a:r>
            <a:br>
              <a:rPr lang="ru-RU" sz="2500" dirty="0">
                <a:effectLst>
                  <a:outerShdw blurRad="38100" dist="38100" dir="2700000" algn="tl">
                    <a:srgbClr val="000000">
                      <a:alpha val="43137"/>
                    </a:srgbClr>
                  </a:outerShdw>
                </a:effectLst>
              </a:rPr>
            </a:br>
            <a:r>
              <a:rPr lang="ru-RU" sz="2500" dirty="0">
                <a:effectLst>
                  <a:outerShdw blurRad="38100" dist="38100" dir="2700000" algn="tl">
                    <a:srgbClr val="000000">
                      <a:alpha val="43137"/>
                    </a:srgbClr>
                  </a:outerShdw>
                </a:effectLst>
              </a:rPr>
              <a:t>з розробки програмного забезпечення</a:t>
            </a:r>
            <a:endParaRPr lang="ru-RU" sz="2500" dirty="0"/>
          </a:p>
        </p:txBody>
      </p:sp>
      <p:sp>
        <p:nvSpPr>
          <p:cNvPr id="64514" name="Прямоугольник 3"/>
          <p:cNvSpPr>
            <a:spLocks noChangeArrowheads="1"/>
          </p:cNvSpPr>
          <p:nvPr/>
        </p:nvSpPr>
        <p:spPr bwMode="auto">
          <a:xfrm>
            <a:off x="539750" y="1125538"/>
            <a:ext cx="8208963" cy="922337"/>
          </a:xfrm>
          <a:prstGeom prst="rect">
            <a:avLst/>
          </a:prstGeom>
          <a:noFill/>
          <a:ln w="9525">
            <a:noFill/>
            <a:miter lim="800000"/>
            <a:headEnd/>
            <a:tailEnd/>
          </a:ln>
        </p:spPr>
        <p:txBody>
          <a:bodyPr>
            <a:spAutoFit/>
          </a:bodyPr>
          <a:lstStyle/>
          <a:p>
            <a:pPr algn="l" rtl="0"/>
            <a:r>
              <a:rPr lang="ru-RU"/>
              <a:t>У роботі авторів Шафер Д., Фатрел Р., Шафер Л. ризики програмних проектів пропонується ділити на дванадцять категорій, кожна з яких містить фактори ризику та критерії їхнього оцінювання.</a:t>
            </a:r>
          </a:p>
        </p:txBody>
      </p:sp>
      <p:sp>
        <p:nvSpPr>
          <p:cNvPr id="64515" name="Прямоугольник 8"/>
          <p:cNvSpPr>
            <a:spLocks noChangeArrowheads="1"/>
          </p:cNvSpPr>
          <p:nvPr/>
        </p:nvSpPr>
        <p:spPr bwMode="auto">
          <a:xfrm>
            <a:off x="827088" y="2205038"/>
            <a:ext cx="6697662" cy="4132262"/>
          </a:xfrm>
          <a:prstGeom prst="rect">
            <a:avLst/>
          </a:prstGeom>
          <a:noFill/>
          <a:ln w="9525">
            <a:noFill/>
            <a:miter lim="800000"/>
            <a:headEnd/>
            <a:tailEnd/>
          </a:ln>
        </p:spPr>
        <p:txBody>
          <a:bodyPr>
            <a:spAutoFit/>
          </a:bodyPr>
          <a:lstStyle/>
          <a:p>
            <a:pPr marL="342900" indent="-342900" algn="l" rtl="0"/>
            <a:r>
              <a:rPr lang="ru-RU" b="1"/>
              <a:t>Список категорій</a:t>
            </a:r>
            <a:endParaRPr lang="ru-RU"/>
          </a:p>
          <a:p>
            <a:pPr marL="342900" indent="-342900" algn="l" rtl="0">
              <a:lnSpc>
                <a:spcPct val="114000"/>
              </a:lnSpc>
              <a:buFont typeface="Arial" charset="0"/>
              <a:buAutoNum type="arabicPeriod"/>
            </a:pPr>
            <a:r>
              <a:rPr lang="ru-RU"/>
              <a:t>Завдання та цільові фактори</a:t>
            </a:r>
          </a:p>
          <a:p>
            <a:pPr marL="342900" indent="-342900" algn="l" rtl="0">
              <a:lnSpc>
                <a:spcPct val="114000"/>
              </a:lnSpc>
              <a:buFont typeface="Arial" charset="0"/>
              <a:buAutoNum type="arabicPeriod"/>
            </a:pPr>
            <a:r>
              <a:rPr lang="ru-RU"/>
              <a:t>Чинники, пов'язані з управлінням організацією.</a:t>
            </a:r>
          </a:p>
          <a:p>
            <a:pPr marL="342900" indent="-342900" algn="l" rtl="0">
              <a:lnSpc>
                <a:spcPct val="114000"/>
              </a:lnSpc>
              <a:buFont typeface="Arial" charset="0"/>
              <a:buAutoNum type="arabicPeriod"/>
            </a:pPr>
            <a:r>
              <a:rPr lang="ru-RU"/>
              <a:t>Чинники, пов'язані із замовником.</a:t>
            </a:r>
          </a:p>
          <a:p>
            <a:pPr marL="342900" indent="-342900" algn="l" rtl="0">
              <a:lnSpc>
                <a:spcPct val="114000"/>
              </a:lnSpc>
              <a:buFont typeface="Arial" charset="0"/>
              <a:buAutoNum type="arabicPeriod"/>
            </a:pPr>
            <a:r>
              <a:rPr lang="ru-RU"/>
              <a:t>Чинники бюджет/витрати.</a:t>
            </a:r>
          </a:p>
          <a:p>
            <a:pPr marL="342900" indent="-342900" algn="l" rtl="0">
              <a:lnSpc>
                <a:spcPct val="114000"/>
              </a:lnSpc>
              <a:buFont typeface="Arial" charset="0"/>
              <a:buAutoNum type="arabicPeriod"/>
            </a:pPr>
            <a:r>
              <a:rPr lang="ru-RU"/>
              <a:t>Чинники, пов'язані з графіком.</a:t>
            </a:r>
          </a:p>
          <a:p>
            <a:pPr marL="342900" indent="-342900" algn="l" rtl="0">
              <a:lnSpc>
                <a:spcPct val="114000"/>
              </a:lnSpc>
              <a:buFont typeface="Arial" charset="0"/>
              <a:buAutoNum type="arabicPeriod"/>
            </a:pPr>
            <a:r>
              <a:rPr lang="ru-RU"/>
              <a:t>Склад проекту.</a:t>
            </a:r>
          </a:p>
          <a:p>
            <a:pPr marL="342900" indent="-342900" algn="l" rtl="0">
              <a:lnSpc>
                <a:spcPct val="114000"/>
              </a:lnSpc>
              <a:buFont typeface="Arial" charset="0"/>
              <a:buAutoNum type="arabicPeriod"/>
            </a:pPr>
            <a:r>
              <a:rPr lang="ru-RU"/>
              <a:t>Чинники, що впливають виконання проекту.</a:t>
            </a:r>
          </a:p>
          <a:p>
            <a:pPr marL="342900" indent="-342900" algn="l" rtl="0">
              <a:lnSpc>
                <a:spcPct val="114000"/>
              </a:lnSpc>
              <a:buFont typeface="Arial" charset="0"/>
              <a:buAutoNum type="arabicPeriod"/>
            </a:pPr>
            <a:r>
              <a:rPr lang="ru-RU"/>
              <a:t>Чинники управління проектом.</a:t>
            </a:r>
          </a:p>
          <a:p>
            <a:pPr marL="342900" indent="-342900" algn="l" rtl="0">
              <a:lnSpc>
                <a:spcPct val="114000"/>
              </a:lnSpc>
              <a:buFont typeface="Arial" charset="0"/>
              <a:buAutoNum type="arabicPeriod"/>
            </a:pPr>
            <a:r>
              <a:rPr lang="ru-RU"/>
              <a:t>Чинники, що впливають процес розробки.</a:t>
            </a:r>
          </a:p>
          <a:p>
            <a:pPr marL="342900" indent="-342900" algn="l" rtl="0">
              <a:lnSpc>
                <a:spcPct val="114000"/>
              </a:lnSpc>
              <a:buFont typeface="Arial" charset="0"/>
              <a:buAutoNum type="arabicPeriod"/>
            </a:pPr>
            <a:r>
              <a:rPr lang="ru-RU"/>
              <a:t>Чинники середовища розробки.</a:t>
            </a:r>
          </a:p>
          <a:p>
            <a:pPr marL="342900" indent="-342900" algn="l" rtl="0">
              <a:lnSpc>
                <a:spcPct val="114000"/>
              </a:lnSpc>
              <a:buFont typeface="Arial" charset="0"/>
              <a:buAutoNum type="arabicPeriod"/>
            </a:pPr>
            <a:r>
              <a:rPr lang="ru-RU"/>
              <a:t>Чинники, пов'язані з персоналом.</a:t>
            </a:r>
          </a:p>
          <a:p>
            <a:pPr marL="342900" indent="-342900" algn="l" rtl="0">
              <a:lnSpc>
                <a:spcPct val="114000"/>
              </a:lnSpc>
              <a:buFont typeface="Arial" charset="0"/>
              <a:buAutoNum type="arabicPeriod"/>
            </a:pPr>
            <a:r>
              <a:rPr lang="ru-RU"/>
              <a:t>Чинники підтримки.</a:t>
            </a:r>
          </a:p>
        </p:txBody>
      </p:sp>
      <p:sp>
        <p:nvSpPr>
          <p:cNvPr id="64516" name="Номер слайда 4"/>
          <p:cNvSpPr>
            <a:spLocks noGrp="1"/>
          </p:cNvSpPr>
          <p:nvPr>
            <p:ph type="sldNum" sz="quarter" idx="12"/>
          </p:nvPr>
        </p:nvSpPr>
        <p:spPr/>
        <p:txBody>
          <a:bodyPr/>
          <a:lstStyle/>
          <a:p>
            <a:pPr algn="l" rtl="0" fontAlgn="base">
              <a:spcBef>
                <a:spcPct val="0"/>
              </a:spcBef>
              <a:spcAft>
                <a:spcPct val="0"/>
              </a:spcAft>
              <a:defRPr/>
            </a:pPr>
            <a:fld id="{BCD04640-1DD4-4AAC-8B0C-C519CDD04E26}" type="slidenum">
              <a:rPr lang="en-US"/>
              <a:pPr algn="l" rtl="0" fontAlgn="base">
                <a:spcBef>
                  <a:spcPct val="0"/>
                </a:spcBef>
                <a:spcAft>
                  <a:spcPct val="0"/>
                </a:spcAft>
                <a:defRPr/>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428625"/>
            <a:ext cx="9144000" cy="457200"/>
          </a:xfrm>
        </p:spPr>
        <p:txBody>
          <a:bodyPr/>
          <a:lstStyle/>
          <a:p>
            <a:pPr algn="l" rtl="0" eaLnBrk="1" hangingPunct="1">
              <a:defRPr/>
            </a:pPr>
            <a:r>
              <a:rPr lang="ru-RU" sz="2400" dirty="0">
                <a:effectLst>
                  <a:outerShdw blurRad="38100" dist="38100" dir="2700000" algn="tl">
                    <a:srgbClr val="000000">
                      <a:alpha val="43137"/>
                    </a:srgbClr>
                  </a:outerShdw>
                </a:effectLst>
              </a:rPr>
              <a:t>Побудова еталонної моделі класифікації</a:t>
            </a:r>
            <a:br>
              <a:rPr lang="ru-RU" sz="2400" dirty="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ризиків програмного проекту</a:t>
            </a:r>
          </a:p>
        </p:txBody>
      </p:sp>
      <p:sp>
        <p:nvSpPr>
          <p:cNvPr id="81922" name="Прямоугольник 3"/>
          <p:cNvSpPr>
            <a:spLocks noChangeArrowheads="1"/>
          </p:cNvSpPr>
          <p:nvPr/>
        </p:nvSpPr>
        <p:spPr bwMode="auto">
          <a:xfrm>
            <a:off x="428625" y="1714500"/>
            <a:ext cx="8031163" cy="3786188"/>
          </a:xfrm>
          <a:prstGeom prst="rect">
            <a:avLst/>
          </a:prstGeom>
          <a:noFill/>
          <a:ln w="9525">
            <a:noFill/>
            <a:miter lim="800000"/>
            <a:headEnd/>
            <a:tailEnd/>
          </a:ln>
        </p:spPr>
        <p:txBody>
          <a:bodyPr>
            <a:spAutoFit/>
          </a:bodyPr>
          <a:lstStyle/>
          <a:p>
            <a:pPr algn="l" rtl="0">
              <a:spcAft>
                <a:spcPts val="1800"/>
              </a:spcAft>
            </a:pPr>
            <a:r>
              <a:rPr lang="ru-RU" b="1" dirty="0" err="1"/>
              <a:t>Чинник</a:t>
            </a:r>
            <a:r>
              <a:rPr lang="ru-RU" b="1" dirty="0"/>
              <a:t> </a:t>
            </a:r>
            <a:r>
              <a:rPr lang="ru-RU" b="1" dirty="0" err="1"/>
              <a:t>ризику</a:t>
            </a:r>
            <a:r>
              <a:rPr lang="ru-RU" b="1" dirty="0"/>
              <a:t> - </a:t>
            </a:r>
            <a:r>
              <a:rPr lang="ru-RU" dirty="0" err="1"/>
              <a:t>джерело</a:t>
            </a:r>
            <a:r>
              <a:rPr lang="ru-RU" dirty="0"/>
              <a:t> </a:t>
            </a:r>
            <a:r>
              <a:rPr lang="ru-RU" dirty="0" err="1"/>
              <a:t>подій</a:t>
            </a:r>
            <a:r>
              <a:rPr lang="ru-RU" dirty="0"/>
              <a:t>, </a:t>
            </a:r>
            <a:r>
              <a:rPr lang="ru-RU" dirty="0" err="1"/>
              <a:t>визначальних</a:t>
            </a:r>
            <a:r>
              <a:rPr lang="ru-RU" dirty="0"/>
              <a:t> </a:t>
            </a:r>
            <a:r>
              <a:rPr lang="ru-RU" dirty="0" err="1"/>
              <a:t>відхилення</a:t>
            </a:r>
            <a:r>
              <a:rPr lang="ru-RU" dirty="0"/>
              <a:t> фактичного стану </a:t>
            </a:r>
            <a:r>
              <a:rPr lang="ru-RU" dirty="0" err="1"/>
              <a:t>програмного</a:t>
            </a:r>
            <a:r>
              <a:rPr lang="ru-RU" dirty="0"/>
              <a:t> проекту </a:t>
            </a:r>
            <a:r>
              <a:rPr lang="ru-RU" dirty="0" err="1"/>
              <a:t>від</a:t>
            </a:r>
            <a:r>
              <a:rPr lang="ru-RU" dirty="0"/>
              <a:t> </a:t>
            </a:r>
            <a:r>
              <a:rPr lang="ru-RU" dirty="0" err="1"/>
              <a:t>запланованого</a:t>
            </a:r>
            <a:r>
              <a:rPr lang="ru-RU" dirty="0"/>
              <a:t>.</a:t>
            </a:r>
          </a:p>
          <a:p>
            <a:pPr algn="l" rtl="0">
              <a:spcAft>
                <a:spcPts val="1800"/>
              </a:spcAft>
            </a:pPr>
            <a:r>
              <a:rPr lang="ru-RU" b="1" dirty="0" err="1"/>
              <a:t>Складовий</a:t>
            </a:r>
            <a:r>
              <a:rPr lang="ru-RU" b="1" dirty="0"/>
              <a:t> фактор -</a:t>
            </a:r>
            <a:r>
              <a:rPr lang="ru-RU" dirty="0" err="1"/>
              <a:t>узагальнений</a:t>
            </a:r>
            <a:r>
              <a:rPr lang="ru-RU" dirty="0"/>
              <a:t> фактор </a:t>
            </a:r>
            <a:r>
              <a:rPr lang="ru-RU" dirty="0" err="1"/>
              <a:t>ризику</a:t>
            </a:r>
            <a:r>
              <a:rPr lang="ru-RU" dirty="0"/>
              <a:t>, </a:t>
            </a:r>
            <a:r>
              <a:rPr lang="ru-RU" dirty="0" err="1"/>
              <a:t>що</a:t>
            </a:r>
            <a:r>
              <a:rPr lang="ru-RU" dirty="0"/>
              <a:t> </a:t>
            </a:r>
            <a:r>
              <a:rPr lang="ru-RU" dirty="0" err="1"/>
              <a:t>належить</a:t>
            </a:r>
            <a:r>
              <a:rPr lang="ru-RU" dirty="0"/>
              <a:t> до </a:t>
            </a:r>
            <a:r>
              <a:rPr lang="ru-RU" dirty="0" err="1"/>
              <a:t>обраної</a:t>
            </a:r>
            <a:r>
              <a:rPr lang="ru-RU" dirty="0"/>
              <a:t> </a:t>
            </a:r>
            <a:r>
              <a:rPr lang="ru-RU" dirty="0" err="1"/>
              <a:t>класифікації</a:t>
            </a:r>
            <a:r>
              <a:rPr lang="ru-RU" dirty="0"/>
              <a:t> та </a:t>
            </a:r>
            <a:r>
              <a:rPr lang="ru-RU" dirty="0" err="1"/>
              <a:t>містить</a:t>
            </a:r>
            <a:r>
              <a:rPr lang="ru-RU" dirty="0"/>
              <a:t> </a:t>
            </a:r>
            <a:r>
              <a:rPr lang="ru-RU" dirty="0" err="1"/>
              <a:t>кінцеву</a:t>
            </a:r>
            <a:r>
              <a:rPr lang="ru-RU" dirty="0"/>
              <a:t> </a:t>
            </a:r>
            <a:r>
              <a:rPr lang="ru-RU" dirty="0" err="1"/>
              <a:t>множину</a:t>
            </a:r>
            <a:r>
              <a:rPr lang="ru-RU" dirty="0"/>
              <a:t> n (n</a:t>
            </a:r>
            <a:r>
              <a:rPr lang="ru-RU" dirty="0">
                <a:latin typeface="Symbol" pitchFamily="18" charset="2"/>
              </a:rPr>
              <a:t></a:t>
            </a:r>
            <a:r>
              <a:rPr lang="ru-RU" dirty="0"/>
              <a:t>1) </a:t>
            </a:r>
            <a:r>
              <a:rPr lang="ru-RU" dirty="0" err="1"/>
              <a:t>одинарних</a:t>
            </a:r>
            <a:r>
              <a:rPr lang="ru-RU" dirty="0"/>
              <a:t> </a:t>
            </a:r>
            <a:r>
              <a:rPr lang="ru-RU" dirty="0" err="1"/>
              <a:t>факторів</a:t>
            </a:r>
            <a:r>
              <a:rPr lang="ru-RU" dirty="0"/>
              <a:t> </a:t>
            </a:r>
            <a:r>
              <a:rPr lang="ru-RU" dirty="0" err="1"/>
              <a:t>ризику</a:t>
            </a:r>
            <a:r>
              <a:rPr lang="ru-RU" dirty="0"/>
              <a:t>, </a:t>
            </a:r>
            <a:r>
              <a:rPr lang="ru-RU" dirty="0" err="1"/>
              <a:t>описаних</a:t>
            </a:r>
            <a:r>
              <a:rPr lang="ru-RU" dirty="0"/>
              <a:t> у </a:t>
            </a:r>
            <a:r>
              <a:rPr lang="ru-RU" dirty="0" err="1"/>
              <a:t>еталонній</a:t>
            </a:r>
            <a:r>
              <a:rPr lang="ru-RU" dirty="0"/>
              <a:t> </a:t>
            </a:r>
            <a:r>
              <a:rPr lang="ru-RU" dirty="0" err="1"/>
              <a:t>моделі</a:t>
            </a:r>
            <a:r>
              <a:rPr lang="ru-RU" dirty="0"/>
              <a:t>.</a:t>
            </a:r>
          </a:p>
          <a:p>
            <a:pPr algn="l" rtl="0">
              <a:spcAft>
                <a:spcPts val="1800"/>
              </a:spcAft>
            </a:pPr>
            <a:r>
              <a:rPr lang="ru-RU" b="1" dirty="0" err="1"/>
              <a:t>Критерій</a:t>
            </a:r>
            <a:r>
              <a:rPr lang="ru-RU" b="1" dirty="0"/>
              <a:t>  </a:t>
            </a:r>
            <a:r>
              <a:rPr lang="ru-RU" dirty="0"/>
              <a:t>- </a:t>
            </a:r>
            <a:r>
              <a:rPr lang="ru-RU" dirty="0" err="1"/>
              <a:t>ознака</a:t>
            </a:r>
            <a:r>
              <a:rPr lang="ru-RU" dirty="0"/>
              <a:t>, на </a:t>
            </a:r>
            <a:r>
              <a:rPr lang="ru-RU" dirty="0" err="1"/>
              <a:t>основі</a:t>
            </a:r>
            <a:r>
              <a:rPr lang="ru-RU" dirty="0"/>
              <a:t> </a:t>
            </a:r>
            <a:r>
              <a:rPr lang="ru-RU" dirty="0" err="1"/>
              <a:t>якої</a:t>
            </a:r>
            <a:r>
              <a:rPr lang="ru-RU" dirty="0"/>
              <a:t> </a:t>
            </a:r>
            <a:r>
              <a:rPr lang="ru-RU" dirty="0" err="1"/>
              <a:t>виконується</a:t>
            </a:r>
            <a:r>
              <a:rPr lang="ru-RU" dirty="0"/>
              <a:t> </a:t>
            </a:r>
            <a:r>
              <a:rPr lang="ru-RU" dirty="0" err="1"/>
              <a:t>оцінка</a:t>
            </a:r>
            <a:r>
              <a:rPr lang="ru-RU" dirty="0"/>
              <a:t> </a:t>
            </a:r>
            <a:r>
              <a:rPr lang="ru-RU" dirty="0" err="1"/>
              <a:t>відповідного</a:t>
            </a:r>
            <a:r>
              <a:rPr lang="ru-RU" dirty="0"/>
              <a:t> фактора </a:t>
            </a:r>
            <a:r>
              <a:rPr lang="ru-RU" dirty="0" err="1"/>
              <a:t>ризику</a:t>
            </a:r>
            <a:r>
              <a:rPr lang="ru-RU" dirty="0"/>
              <a:t> у </a:t>
            </a:r>
            <a:r>
              <a:rPr lang="ru-RU" dirty="0" err="1"/>
              <a:t>заданому</a:t>
            </a:r>
            <a:r>
              <a:rPr lang="ru-RU" dirty="0"/>
              <a:t> </a:t>
            </a:r>
            <a:r>
              <a:rPr lang="ru-RU" dirty="0" err="1"/>
              <a:t>діапазоні</a:t>
            </a:r>
            <a:r>
              <a:rPr lang="ru-RU" dirty="0"/>
              <a:t>.</a:t>
            </a:r>
          </a:p>
          <a:p>
            <a:pPr algn="l" rtl="0">
              <a:spcAft>
                <a:spcPts val="1800"/>
              </a:spcAft>
            </a:pPr>
            <a:r>
              <a:rPr lang="ru-RU" b="1" dirty="0" err="1"/>
              <a:t>Категорія</a:t>
            </a:r>
            <a:r>
              <a:rPr lang="ru-RU" b="1" dirty="0"/>
              <a:t> - </a:t>
            </a:r>
            <a:r>
              <a:rPr lang="ru-RU" dirty="0" err="1"/>
              <a:t>загальне</a:t>
            </a:r>
            <a:r>
              <a:rPr lang="ru-RU" dirty="0"/>
              <a:t> </a:t>
            </a:r>
            <a:r>
              <a:rPr lang="ru-RU" dirty="0" err="1"/>
              <a:t>поняття</a:t>
            </a:r>
            <a:r>
              <a:rPr lang="ru-RU" dirty="0"/>
              <a:t>, </a:t>
            </a:r>
            <a:r>
              <a:rPr lang="ru-RU" dirty="0" err="1"/>
              <a:t>що</a:t>
            </a:r>
            <a:r>
              <a:rPr lang="ru-RU" dirty="0"/>
              <a:t> </a:t>
            </a:r>
            <a:r>
              <a:rPr lang="ru-RU" dirty="0" err="1"/>
              <a:t>визначає</a:t>
            </a:r>
            <a:r>
              <a:rPr lang="ru-RU" dirty="0"/>
              <a:t> </a:t>
            </a:r>
            <a:r>
              <a:rPr lang="ru-RU" dirty="0" err="1"/>
              <a:t>сукупність</a:t>
            </a:r>
            <a:r>
              <a:rPr lang="ru-RU" dirty="0"/>
              <a:t> </a:t>
            </a:r>
            <a:r>
              <a:rPr lang="ru-RU" dirty="0" err="1"/>
              <a:t>складових</a:t>
            </a:r>
            <a:r>
              <a:rPr lang="ru-RU" dirty="0"/>
              <a:t> та </a:t>
            </a:r>
            <a:r>
              <a:rPr lang="ru-RU" dirty="0" err="1"/>
              <a:t>одинарних</a:t>
            </a:r>
            <a:r>
              <a:rPr lang="ru-RU" dirty="0"/>
              <a:t> </a:t>
            </a:r>
            <a:r>
              <a:rPr lang="ru-RU" dirty="0" err="1"/>
              <a:t>факторів</a:t>
            </a:r>
            <a:r>
              <a:rPr lang="ru-RU" dirty="0"/>
              <a:t>, </a:t>
            </a:r>
            <a:r>
              <a:rPr lang="ru-RU" dirty="0" err="1"/>
              <a:t>які</a:t>
            </a:r>
            <a:r>
              <a:rPr lang="ru-RU" dirty="0"/>
              <a:t> </a:t>
            </a:r>
            <a:r>
              <a:rPr lang="ru-RU" dirty="0" err="1"/>
              <a:t>мають</a:t>
            </a:r>
            <a:r>
              <a:rPr lang="ru-RU" dirty="0"/>
              <a:t> </a:t>
            </a:r>
            <a:r>
              <a:rPr lang="ru-RU" dirty="0" err="1"/>
              <a:t>загальні</a:t>
            </a:r>
            <a:r>
              <a:rPr lang="ru-RU" dirty="0"/>
              <a:t> </a:t>
            </a:r>
            <a:r>
              <a:rPr lang="ru-RU" dirty="0" err="1"/>
              <a:t>ознаки</a:t>
            </a:r>
            <a:r>
              <a:rPr lang="ru-RU" dirty="0"/>
              <a:t>.</a:t>
            </a:r>
          </a:p>
          <a:p>
            <a:pPr algn="l" rtl="0">
              <a:spcAft>
                <a:spcPts val="1800"/>
              </a:spcAft>
            </a:pPr>
            <a:r>
              <a:rPr lang="ru-RU" b="1" dirty="0" err="1"/>
              <a:t>Клас</a:t>
            </a:r>
            <a:r>
              <a:rPr lang="ru-RU" b="1" dirty="0"/>
              <a:t> </a:t>
            </a:r>
            <a:r>
              <a:rPr lang="ru-RU" dirty="0"/>
              <a:t>- </a:t>
            </a:r>
            <a:r>
              <a:rPr lang="ru-RU" dirty="0" err="1"/>
              <a:t>Сукупність</a:t>
            </a:r>
            <a:r>
              <a:rPr lang="ru-RU" dirty="0"/>
              <a:t> </a:t>
            </a:r>
            <a:r>
              <a:rPr lang="ru-RU" dirty="0" err="1"/>
              <a:t>виділених</a:t>
            </a:r>
            <a:r>
              <a:rPr lang="ru-RU" dirty="0"/>
              <a:t> за </a:t>
            </a:r>
            <a:r>
              <a:rPr lang="ru-RU" dirty="0" err="1"/>
              <a:t>загальними</a:t>
            </a:r>
            <a:r>
              <a:rPr lang="ru-RU" dirty="0"/>
              <a:t> </a:t>
            </a:r>
            <a:r>
              <a:rPr lang="ru-RU" dirty="0" err="1"/>
              <a:t>ознаками</a:t>
            </a:r>
            <a:r>
              <a:rPr lang="ru-RU" dirty="0"/>
              <a:t> </a:t>
            </a:r>
            <a:r>
              <a:rPr lang="ru-RU" dirty="0" err="1"/>
              <a:t>категорій</a:t>
            </a:r>
            <a:r>
              <a:rPr lang="ru-RU" dirty="0"/>
              <a:t>.</a:t>
            </a:r>
          </a:p>
        </p:txBody>
      </p:sp>
      <p:sp>
        <p:nvSpPr>
          <p:cNvPr id="81923" name="Номер слайда 4"/>
          <p:cNvSpPr>
            <a:spLocks noGrp="1"/>
          </p:cNvSpPr>
          <p:nvPr>
            <p:ph type="sldNum" sz="quarter" idx="12"/>
          </p:nvPr>
        </p:nvSpPr>
        <p:spPr/>
        <p:txBody>
          <a:bodyPr/>
          <a:lstStyle/>
          <a:p>
            <a:pPr algn="l" rtl="0" fontAlgn="base">
              <a:spcBef>
                <a:spcPct val="0"/>
              </a:spcBef>
              <a:spcAft>
                <a:spcPct val="0"/>
              </a:spcAft>
              <a:defRPr/>
            </a:pPr>
            <a:fld id="{4EE0CFFE-3991-4E61-BA86-B801FCAFA99B}" type="slidenum">
              <a:rPr lang="en-US"/>
              <a:pPr algn="l" rtl="0" fontAlgn="base">
                <a:spcBef>
                  <a:spcPct val="0"/>
                </a:spcBef>
                <a:spcAft>
                  <a:spcPct val="0"/>
                </a:spcAft>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44463"/>
            <a:ext cx="9144000" cy="1071562"/>
          </a:xfrm>
        </p:spPr>
        <p:txBody>
          <a:bodyPr/>
          <a:lstStyle/>
          <a:p>
            <a:pPr algn="l" rtl="0" eaLnBrk="1" hangingPunct="1">
              <a:defRPr/>
            </a:pPr>
            <a:r>
              <a:rPr lang="ru-RU" sz="2400" dirty="0">
                <a:effectLst>
                  <a:outerShdw blurRad="38100" dist="38100" dir="2700000" algn="tl">
                    <a:srgbClr val="000000">
                      <a:alpha val="43137"/>
                    </a:srgbClr>
                  </a:outerShdw>
                </a:effectLst>
              </a:rPr>
              <a:t>Опис класифікації ризиків, запропонованої</a:t>
            </a:r>
            <a:r>
              <a:rPr lang="ru-RU" sz="2400" dirty="0" err="1">
                <a:effectLst>
                  <a:outerShdw blurRad="38100" dist="38100" dir="2700000" algn="tl">
                    <a:srgbClr val="000000">
                      <a:alpha val="43137"/>
                    </a:srgbClr>
                  </a:outerShdw>
                </a:effectLst>
              </a:rPr>
              <a:t>Barry</a:t>
            </a:r>
            <a:r>
              <a:rPr lang="ru-RU" sz="2400" dirty="0">
                <a:effectLst>
                  <a:outerShdw blurRad="38100" dist="38100" dir="2700000" algn="tl">
                    <a:srgbClr val="000000">
                      <a:alpha val="43137"/>
                    </a:srgbClr>
                  </a:outerShdw>
                </a:effectLst>
              </a:rPr>
              <a:t> </a:t>
            </a:r>
            <a:r>
              <a:rPr lang="ru-RU" sz="2400" dirty="0" err="1">
                <a:effectLst>
                  <a:outerShdw blurRad="38100" dist="38100" dir="2700000" algn="tl">
                    <a:srgbClr val="000000">
                      <a:alpha val="43137"/>
                    </a:srgbClr>
                  </a:outerShdw>
                </a:effectLst>
              </a:rPr>
              <a:t>Boehm</a:t>
            </a:r>
            <a:r>
              <a:rPr lang="ru-RU" sz="2400" dirty="0">
                <a:effectLst>
                  <a:outerShdw blurRad="38100" dist="38100" dir="2700000" algn="tl">
                    <a:srgbClr val="000000">
                      <a:alpha val="43137"/>
                    </a:srgbClr>
                  </a:outerShdw>
                </a:effectLst>
              </a:rPr>
              <a:t>на основі синтезованої еталонної моделі</a:t>
            </a:r>
          </a:p>
        </p:txBody>
      </p:sp>
      <p:graphicFrame>
        <p:nvGraphicFramePr>
          <p:cNvPr id="91139" name="Object 3"/>
          <p:cNvGraphicFramePr>
            <a:graphicFrameLocks noChangeAspect="1"/>
          </p:cNvGraphicFramePr>
          <p:nvPr/>
        </p:nvGraphicFramePr>
        <p:xfrm>
          <a:off x="468313" y="2684463"/>
          <a:ext cx="227012" cy="327025"/>
        </p:xfrm>
        <a:graphic>
          <a:graphicData uri="http://schemas.openxmlformats.org/presentationml/2006/ole">
            <mc:AlternateContent xmlns:mc="http://schemas.openxmlformats.org/markup-compatibility/2006">
              <mc:Choice xmlns:v="urn:schemas-microsoft-com:vml" Requires="v">
                <p:oleObj name="Формула" r:id="rId2" imgW="152268" imgH="215713" progId="Equation.3">
                  <p:embed/>
                </p:oleObj>
              </mc:Choice>
              <mc:Fallback>
                <p:oleObj name="Формула" r:id="rId2" imgW="152268" imgH="215713" progId="Equation.3">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684463"/>
                        <a:ext cx="227012"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38" name="Object 2"/>
          <p:cNvGraphicFramePr>
            <a:graphicFrameLocks noChangeAspect="1"/>
          </p:cNvGraphicFramePr>
          <p:nvPr/>
        </p:nvGraphicFramePr>
        <p:xfrm>
          <a:off x="468313" y="3390900"/>
          <a:ext cx="355600" cy="327025"/>
        </p:xfrm>
        <a:graphic>
          <a:graphicData uri="http://schemas.openxmlformats.org/presentationml/2006/ole">
            <mc:AlternateContent xmlns:mc="http://schemas.openxmlformats.org/markup-compatibility/2006">
              <mc:Choice xmlns:v="urn:schemas-microsoft-com:vml" Requires="v">
                <p:oleObj name="Формула" r:id="rId4" imgW="241091" imgH="215713" progId="Equation.3">
                  <p:embed/>
                </p:oleObj>
              </mc:Choice>
              <mc:Fallback>
                <p:oleObj name="Формула" r:id="rId4" imgW="241091" imgH="215713"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3390900"/>
                        <a:ext cx="355600"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37" name="Object 1"/>
          <p:cNvGraphicFramePr>
            <a:graphicFrameLocks noChangeAspect="1"/>
          </p:cNvGraphicFramePr>
          <p:nvPr/>
        </p:nvGraphicFramePr>
        <p:xfrm>
          <a:off x="468313" y="4038600"/>
          <a:ext cx="341312" cy="341313"/>
        </p:xfrm>
        <a:graphic>
          <a:graphicData uri="http://schemas.openxmlformats.org/presentationml/2006/ole">
            <mc:AlternateContent xmlns:mc="http://schemas.openxmlformats.org/markup-compatibility/2006">
              <mc:Choice xmlns:v="urn:schemas-microsoft-com:vml" Requires="v">
                <p:oleObj name="Формула" r:id="rId6" imgW="228600" imgH="228600" progId="Equation.3">
                  <p:embed/>
                </p:oleObj>
              </mc:Choice>
              <mc:Fallback>
                <p:oleObj name="Формула" r:id="rId6" imgW="228600" imgH="228600" progId="Equation.3">
                  <p:embed/>
                  <p:pic>
                    <p:nvPicPr>
                      <p:cNvPr id="0" name="Picture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313" y="4038600"/>
                        <a:ext cx="341312"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41" name="Rectangle 4"/>
          <p:cNvSpPr>
            <a:spLocks noChangeArrowheads="1"/>
          </p:cNvSpPr>
          <p:nvPr/>
        </p:nvSpPr>
        <p:spPr bwMode="auto">
          <a:xfrm>
            <a:off x="395288" y="1217613"/>
            <a:ext cx="8208962" cy="1570037"/>
          </a:xfrm>
          <a:prstGeom prst="rect">
            <a:avLst/>
          </a:prstGeom>
          <a:noFill/>
          <a:ln w="9525">
            <a:noFill/>
            <a:miter lim="800000"/>
            <a:headEnd/>
            <a:tailEnd/>
          </a:ln>
        </p:spPr>
        <p:txBody>
          <a:bodyPr anchor="ctr">
            <a:spAutoFit/>
          </a:bodyPr>
          <a:lstStyle/>
          <a:p>
            <a:pPr indent="355600" algn="l" rtl="0"/>
            <a:r>
              <a:rPr lang="ru-RU" sz="1600" dirty="0" err="1">
                <a:cs typeface="Times New Roman" pitchFamily="18" charset="0"/>
              </a:rPr>
              <a:t>Виділено</a:t>
            </a:r>
            <a:r>
              <a:rPr lang="ru-RU" sz="1600" dirty="0">
                <a:cs typeface="Times New Roman" pitchFamily="18" charset="0"/>
              </a:rPr>
              <a:t> та </a:t>
            </a:r>
            <a:r>
              <a:rPr lang="ru-RU" sz="1600" dirty="0" err="1">
                <a:cs typeface="Times New Roman" pitchFamily="18" charset="0"/>
              </a:rPr>
              <a:t>описані</a:t>
            </a:r>
            <a:r>
              <a:rPr lang="ru-RU" sz="1600" dirty="0">
                <a:cs typeface="Times New Roman" pitchFamily="18" charset="0"/>
              </a:rPr>
              <a:t> </a:t>
            </a:r>
            <a:r>
              <a:rPr lang="ru-RU" sz="1600" dirty="0" err="1">
                <a:cs typeface="Times New Roman" pitchFamily="18" charset="0"/>
              </a:rPr>
              <a:t>одинарні</a:t>
            </a:r>
            <a:r>
              <a:rPr lang="ru-RU" sz="1600" dirty="0">
                <a:cs typeface="Times New Roman" pitchFamily="18" charset="0"/>
              </a:rPr>
              <a:t> та </a:t>
            </a:r>
            <a:r>
              <a:rPr lang="ru-RU" sz="1600" dirty="0" err="1">
                <a:cs typeface="Times New Roman" pitchFamily="18" charset="0"/>
              </a:rPr>
              <a:t>складові</a:t>
            </a:r>
            <a:r>
              <a:rPr lang="ru-RU" sz="1600" dirty="0">
                <a:cs typeface="Times New Roman" pitchFamily="18" charset="0"/>
              </a:rPr>
              <a:t> </a:t>
            </a:r>
            <a:r>
              <a:rPr lang="ru-RU" sz="1600" dirty="0" err="1">
                <a:cs typeface="Times New Roman" pitchFamily="18" charset="0"/>
              </a:rPr>
              <a:t>фактори</a:t>
            </a:r>
            <a:r>
              <a:rPr lang="ru-RU" sz="1600" dirty="0">
                <a:cs typeface="Times New Roman" pitchFamily="18" charset="0"/>
              </a:rPr>
              <a:t>.</a:t>
            </a:r>
            <a:endParaRPr lang="ru-RU" sz="1600" dirty="0">
              <a:cs typeface="Arial" charset="0"/>
            </a:endParaRPr>
          </a:p>
          <a:p>
            <a:pPr indent="355600" algn="l" rtl="0" eaLnBrk="0" hangingPunct="0"/>
            <a:r>
              <a:rPr lang="ru-RU" altLang="ko-KR" sz="1600" dirty="0">
                <a:ea typeface="Batang"/>
                <a:cs typeface="Times New Roman" pitchFamily="18" charset="0"/>
              </a:rPr>
              <a:t>До </a:t>
            </a:r>
            <a:r>
              <a:rPr lang="ru-RU" altLang="ko-KR" sz="1600" b="1" dirty="0" err="1">
                <a:ea typeface="Batang"/>
                <a:cs typeface="Times New Roman" pitchFamily="18" charset="0"/>
              </a:rPr>
              <a:t>одинарних</a:t>
            </a:r>
            <a:r>
              <a:rPr lang="ru-RU" altLang="ko-KR" sz="1600" b="1" dirty="0">
                <a:ea typeface="Batang"/>
                <a:cs typeface="Times New Roman" pitchFamily="18" charset="0"/>
              </a:rPr>
              <a:t> </a:t>
            </a:r>
            <a:r>
              <a:rPr lang="ru-RU" altLang="ko-KR" sz="1600" dirty="0" err="1">
                <a:ea typeface="Batang"/>
                <a:cs typeface="Times New Roman" pitchFamily="18" charset="0"/>
              </a:rPr>
              <a:t>ризиків</a:t>
            </a:r>
            <a:r>
              <a:rPr lang="ru-RU" altLang="ko-KR" sz="1600" dirty="0">
                <a:ea typeface="Batang"/>
                <a:cs typeface="Times New Roman" pitchFamily="18" charset="0"/>
              </a:rPr>
              <a:t> </a:t>
            </a:r>
            <a:r>
              <a:rPr lang="ru-RU" altLang="ko-KR" sz="1600" dirty="0" err="1">
                <a:ea typeface="Batang"/>
                <a:cs typeface="Times New Roman" pitchFamily="18" charset="0"/>
              </a:rPr>
              <a:t>відносяться</a:t>
            </a:r>
            <a:r>
              <a:rPr lang="ru-RU" altLang="ko-KR" sz="1600" dirty="0">
                <a:ea typeface="Batang"/>
                <a:cs typeface="Times New Roman" pitchFamily="18" charset="0"/>
              </a:rPr>
              <a:t>: (5) </a:t>
            </a:r>
            <a:r>
              <a:rPr lang="ru-RU" altLang="ko-KR" sz="1600" dirty="0" err="1">
                <a:ea typeface="Batang"/>
                <a:cs typeface="Times New Roman" pitchFamily="18" charset="0"/>
              </a:rPr>
              <a:t>Непотрібна</a:t>
            </a:r>
            <a:r>
              <a:rPr lang="ru-RU" altLang="ko-KR" sz="1600" dirty="0">
                <a:ea typeface="Batang"/>
                <a:cs typeface="Times New Roman" pitchFamily="18" charset="0"/>
              </a:rPr>
              <a:t> </a:t>
            </a:r>
            <a:r>
              <a:rPr lang="ru-RU" altLang="ko-KR" sz="1600" dirty="0" err="1">
                <a:ea typeface="Batang"/>
                <a:cs typeface="Times New Roman" pitchFamily="18" charset="0"/>
              </a:rPr>
              <a:t>оптимізація</a:t>
            </a:r>
            <a:r>
              <a:rPr lang="ru-RU" altLang="ko-KR" sz="1600" dirty="0">
                <a:ea typeface="Batang"/>
                <a:cs typeface="Times New Roman" pitchFamily="18" charset="0"/>
              </a:rPr>
              <a:t> та </a:t>
            </a:r>
            <a:r>
              <a:rPr lang="ru-RU" altLang="ko-KR" sz="1600" dirty="0" err="1">
                <a:ea typeface="Batang"/>
                <a:cs typeface="Times New Roman" pitchFamily="18" charset="0"/>
              </a:rPr>
              <a:t>відточування</a:t>
            </a:r>
            <a:r>
              <a:rPr lang="ru-RU" altLang="ko-KR" sz="1600" dirty="0">
                <a:ea typeface="Batang"/>
                <a:cs typeface="Times New Roman" pitchFamily="18" charset="0"/>
              </a:rPr>
              <a:t> деталей; (6) </a:t>
            </a:r>
            <a:r>
              <a:rPr lang="ru-RU" altLang="ko-KR" sz="1600" dirty="0" err="1">
                <a:ea typeface="Batang"/>
                <a:cs typeface="Times New Roman" pitchFamily="18" charset="0"/>
              </a:rPr>
              <a:t>Безперервний</a:t>
            </a:r>
            <a:r>
              <a:rPr lang="ru-RU" altLang="ko-KR" sz="1600" dirty="0">
                <a:ea typeface="Batang"/>
                <a:cs typeface="Times New Roman" pitchFamily="18" charset="0"/>
              </a:rPr>
              <a:t> </a:t>
            </a:r>
            <a:r>
              <a:rPr lang="ru-RU" altLang="ko-KR" sz="1600" dirty="0" err="1">
                <a:ea typeface="Batang"/>
                <a:cs typeface="Times New Roman" pitchFamily="18" charset="0"/>
              </a:rPr>
              <a:t>потік</a:t>
            </a:r>
            <a:r>
              <a:rPr lang="ru-RU" altLang="ko-KR" sz="1600" dirty="0">
                <a:ea typeface="Batang"/>
                <a:cs typeface="Times New Roman" pitchFamily="18" charset="0"/>
              </a:rPr>
              <a:t> </a:t>
            </a:r>
            <a:r>
              <a:rPr lang="ru-RU" altLang="ko-KR" sz="1600" dirty="0" err="1">
                <a:ea typeface="Batang"/>
                <a:cs typeface="Times New Roman" pitchFamily="18" charset="0"/>
              </a:rPr>
              <a:t>змін</a:t>
            </a:r>
            <a:r>
              <a:rPr lang="ru-RU" altLang="ko-KR" sz="1600" dirty="0">
                <a:ea typeface="Batang"/>
                <a:cs typeface="Times New Roman" pitchFamily="18" charset="0"/>
              </a:rPr>
              <a:t>; (10) "</a:t>
            </a:r>
            <a:r>
              <a:rPr lang="ru-RU" altLang="ko-KR" sz="1600" dirty="0" err="1">
                <a:ea typeface="Batang"/>
                <a:cs typeface="Times New Roman" pitchFamily="18" charset="0"/>
              </a:rPr>
              <a:t>Розрив</a:t>
            </a:r>
            <a:r>
              <a:rPr lang="ru-RU" altLang="ko-KR" sz="1600" dirty="0">
                <a:ea typeface="Batang"/>
                <a:cs typeface="Times New Roman" pitchFamily="18" charset="0"/>
              </a:rPr>
              <a:t>" у </a:t>
            </a:r>
            <a:r>
              <a:rPr lang="ru-RU" altLang="ko-KR" sz="1600" dirty="0" err="1">
                <a:ea typeface="Batang"/>
                <a:cs typeface="Times New Roman" pitchFamily="18" charset="0"/>
              </a:rPr>
              <a:t>кваліфікації</a:t>
            </a:r>
            <a:r>
              <a:rPr lang="ru-RU" altLang="ko-KR" sz="1600" dirty="0">
                <a:ea typeface="Batang"/>
                <a:cs typeface="Times New Roman" pitchFamily="18" charset="0"/>
              </a:rPr>
              <a:t> </a:t>
            </a:r>
            <a:r>
              <a:rPr lang="ru-RU" altLang="ko-KR" sz="1600" dirty="0" err="1">
                <a:ea typeface="Batang"/>
                <a:cs typeface="Times New Roman" pitchFamily="18" charset="0"/>
              </a:rPr>
              <a:t>фахівців</a:t>
            </a:r>
            <a:r>
              <a:rPr lang="ru-RU" altLang="ko-KR" sz="1600" dirty="0">
                <a:ea typeface="Batang"/>
                <a:cs typeface="Times New Roman" pitchFamily="18" charset="0"/>
              </a:rPr>
              <a:t> </a:t>
            </a:r>
            <a:r>
              <a:rPr lang="ru-RU" altLang="ko-KR" sz="1600" dirty="0" err="1">
                <a:ea typeface="Batang"/>
                <a:cs typeface="Times New Roman" pitchFamily="18" charset="0"/>
              </a:rPr>
              <a:t>різних</a:t>
            </a:r>
            <a:r>
              <a:rPr lang="ru-RU" altLang="ko-KR" sz="1600" dirty="0">
                <a:ea typeface="Batang"/>
                <a:cs typeface="Times New Roman" pitchFamily="18" charset="0"/>
              </a:rPr>
              <a:t> </a:t>
            </a:r>
            <a:r>
              <a:rPr lang="ru-RU" altLang="ko-KR" sz="1600" dirty="0" err="1">
                <a:ea typeface="Batang"/>
                <a:cs typeface="Times New Roman" pitchFamily="18" charset="0"/>
              </a:rPr>
              <a:t>галузей</a:t>
            </a:r>
            <a:r>
              <a:rPr lang="ru-RU" altLang="ko-KR" sz="1600" dirty="0">
                <a:ea typeface="Batang"/>
                <a:cs typeface="Times New Roman" pitchFamily="18" charset="0"/>
              </a:rPr>
              <a:t> </a:t>
            </a:r>
            <a:r>
              <a:rPr lang="ru-RU" altLang="ko-KR" sz="1600" dirty="0" err="1">
                <a:ea typeface="Batang"/>
                <a:cs typeface="Times New Roman" pitchFamily="18" charset="0"/>
              </a:rPr>
              <a:t>знань</a:t>
            </a:r>
            <a:r>
              <a:rPr lang="ru-RU" altLang="ko-KR" sz="1600" dirty="0">
                <a:ea typeface="Batang"/>
                <a:cs typeface="Times New Roman" pitchFamily="18" charset="0"/>
              </a:rPr>
              <a:t>. </a:t>
            </a:r>
            <a:r>
              <a:rPr lang="ru-RU" altLang="ko-KR" sz="1600" dirty="0" err="1">
                <a:ea typeface="Batang"/>
                <a:cs typeface="Times New Roman" pitchFamily="18" charset="0"/>
              </a:rPr>
              <a:t>Їх</a:t>
            </a:r>
            <a:r>
              <a:rPr lang="ru-RU" altLang="ko-KR" sz="1600" dirty="0">
                <a:ea typeface="Batang"/>
                <a:cs typeface="Times New Roman" pitchFamily="18" charset="0"/>
              </a:rPr>
              <a:t> </a:t>
            </a:r>
            <a:r>
              <a:rPr lang="ru-RU" altLang="ko-KR" sz="1600" dirty="0" err="1">
                <a:ea typeface="Batang"/>
                <a:cs typeface="Times New Roman" pitchFamily="18" charset="0"/>
              </a:rPr>
              <a:t>опис</a:t>
            </a:r>
            <a:r>
              <a:rPr lang="ru-RU" altLang="ko-KR" sz="1600" dirty="0">
                <a:ea typeface="Batang"/>
                <a:cs typeface="Times New Roman" pitchFamily="18" charset="0"/>
              </a:rPr>
              <a:t> показано на </a:t>
            </a:r>
            <a:r>
              <a:rPr lang="ru-RU" altLang="ko-KR" sz="1600" dirty="0" err="1">
                <a:ea typeface="Batang"/>
                <a:cs typeface="Times New Roman" pitchFamily="18" charset="0"/>
              </a:rPr>
              <a:t>прикладі</a:t>
            </a:r>
            <a:r>
              <a:rPr lang="ru-RU" altLang="ko-KR" sz="1600" dirty="0">
                <a:ea typeface="Batang"/>
                <a:cs typeface="Times New Roman" pitchFamily="18" charset="0"/>
              </a:rPr>
              <a:t> (5) та (6).</a:t>
            </a:r>
          </a:p>
          <a:p>
            <a:pPr indent="355600" algn="l" rtl="0" eaLnBrk="0" hangingPunct="0"/>
            <a:endParaRPr lang="ru-RU" altLang="ko-KR" sz="1600" dirty="0">
              <a:ea typeface="Batang"/>
              <a:cs typeface="Times New Roman" pitchFamily="18" charset="0"/>
            </a:endParaRPr>
          </a:p>
          <a:p>
            <a:pPr indent="355600" algn="l" rtl="0" eaLnBrk="0" hangingPunct="0"/>
            <a:r>
              <a:rPr lang="ru-RU" altLang="ko-KR" sz="1600" dirty="0" err="1">
                <a:ea typeface="Batang"/>
                <a:cs typeface="Times New Roman" pitchFamily="18" charset="0"/>
              </a:rPr>
              <a:t>Наприклад</a:t>
            </a:r>
            <a:r>
              <a:rPr lang="ru-RU" altLang="ko-KR" sz="1600" dirty="0">
                <a:ea typeface="Batang"/>
                <a:cs typeface="Times New Roman" pitchFamily="18" charset="0"/>
              </a:rPr>
              <a:t>, </a:t>
            </a:r>
            <a:r>
              <a:rPr lang="ru-RU" altLang="ko-KR" sz="1600" dirty="0" err="1">
                <a:ea typeface="Batang"/>
                <a:cs typeface="Times New Roman" pitchFamily="18" charset="0"/>
              </a:rPr>
              <a:t>Безперервний</a:t>
            </a:r>
            <a:r>
              <a:rPr lang="ru-RU" altLang="ko-KR" sz="1600" dirty="0">
                <a:ea typeface="Batang"/>
                <a:cs typeface="Times New Roman" pitchFamily="18" charset="0"/>
              </a:rPr>
              <a:t> </a:t>
            </a:r>
            <a:r>
              <a:rPr lang="ru-RU" altLang="ko-KR" sz="1600" dirty="0" err="1">
                <a:ea typeface="Batang"/>
                <a:cs typeface="Times New Roman" pitchFamily="18" charset="0"/>
              </a:rPr>
              <a:t>потік</a:t>
            </a:r>
            <a:r>
              <a:rPr lang="ru-RU" altLang="ko-KR" sz="1600" dirty="0">
                <a:ea typeface="Batang"/>
                <a:cs typeface="Times New Roman" pitchFamily="18" charset="0"/>
              </a:rPr>
              <a:t> </a:t>
            </a:r>
            <a:r>
              <a:rPr lang="ru-RU" altLang="ko-KR" sz="1600" dirty="0" err="1">
                <a:ea typeface="Batang"/>
                <a:cs typeface="Times New Roman" pitchFamily="18" charset="0"/>
              </a:rPr>
              <a:t>змін</a:t>
            </a:r>
            <a:r>
              <a:rPr lang="ru-RU" altLang="ko-KR" sz="1600" dirty="0">
                <a:ea typeface="Batang"/>
                <a:cs typeface="Times New Roman" pitchFamily="18" charset="0"/>
              </a:rPr>
              <a:t> представимо у </a:t>
            </a:r>
            <a:r>
              <a:rPr lang="ru-RU" altLang="ko-KR" sz="1600" dirty="0" err="1">
                <a:ea typeface="Batang"/>
                <a:cs typeface="Times New Roman" pitchFamily="18" charset="0"/>
              </a:rPr>
              <a:t>вигляді</a:t>
            </a:r>
            <a:r>
              <a:rPr lang="ru-RU" altLang="ko-KR" sz="1600" dirty="0">
                <a:ea typeface="Batang"/>
                <a:cs typeface="Times New Roman" pitchFamily="18" charset="0"/>
              </a:rPr>
              <a:t> фактора</a:t>
            </a:r>
            <a:endParaRPr lang="ru-RU" altLang="ko-KR" sz="1600" dirty="0">
              <a:cs typeface="Arial" charset="0"/>
            </a:endParaRPr>
          </a:p>
        </p:txBody>
      </p:sp>
      <p:sp>
        <p:nvSpPr>
          <p:cNvPr id="91142" name="Rectangle 5"/>
          <p:cNvSpPr>
            <a:spLocks noChangeArrowheads="1"/>
          </p:cNvSpPr>
          <p:nvPr/>
        </p:nvSpPr>
        <p:spPr bwMode="auto">
          <a:xfrm>
            <a:off x="468313" y="2719388"/>
            <a:ext cx="8496300" cy="584200"/>
          </a:xfrm>
          <a:prstGeom prst="rect">
            <a:avLst/>
          </a:prstGeom>
          <a:noFill/>
          <a:ln w="9525">
            <a:noFill/>
            <a:miter lim="800000"/>
            <a:headEnd/>
            <a:tailEnd/>
          </a:ln>
        </p:spPr>
        <p:txBody>
          <a:bodyPr anchor="ctr">
            <a:spAutoFit/>
          </a:bodyPr>
          <a:lstStyle/>
          <a:p>
            <a:pPr indent="355600" algn="l" rtl="0"/>
            <a:r>
              <a:rPr lang="uk-UA" altLang="ko-KR" sz="1600">
                <a:ea typeface="Batang"/>
                <a:cs typeface="Times New Roman" pitchFamily="18" charset="0"/>
              </a:rPr>
              <a:t> </a:t>
            </a:r>
            <a:r>
              <a:rPr lang="ru-RU" altLang="ko-KR" sz="1600">
                <a:ea typeface="Batang"/>
                <a:cs typeface="Times New Roman" pitchFamily="18" charset="0"/>
              </a:rPr>
              <a:t>- стабільність вимог; непотрібну оптимізацію та відточування деталей, - у вигляді фактора</a:t>
            </a:r>
            <a:endParaRPr lang="ru-RU" altLang="ko-KR" sz="1600">
              <a:ea typeface="Batang"/>
              <a:cs typeface="Arial" charset="0"/>
            </a:endParaRPr>
          </a:p>
        </p:txBody>
      </p:sp>
      <p:sp>
        <p:nvSpPr>
          <p:cNvPr id="91143" name="Rectangle 6"/>
          <p:cNvSpPr>
            <a:spLocks noChangeArrowheads="1"/>
          </p:cNvSpPr>
          <p:nvPr/>
        </p:nvSpPr>
        <p:spPr bwMode="auto">
          <a:xfrm>
            <a:off x="468313" y="3390900"/>
            <a:ext cx="7991475" cy="584200"/>
          </a:xfrm>
          <a:prstGeom prst="rect">
            <a:avLst/>
          </a:prstGeom>
          <a:noFill/>
          <a:ln w="9525">
            <a:noFill/>
            <a:miter lim="800000"/>
            <a:headEnd/>
            <a:tailEnd/>
          </a:ln>
        </p:spPr>
        <p:txBody>
          <a:bodyPr anchor="ctr">
            <a:spAutoFit/>
          </a:bodyPr>
          <a:lstStyle/>
          <a:p>
            <a:pPr indent="355600" algn="l" rtl="0"/>
            <a:r>
              <a:rPr lang="ru-RU" altLang="ko-KR" sz="1600" dirty="0">
                <a:ea typeface="Batang"/>
                <a:cs typeface="Times New Roman" pitchFamily="18" charset="0"/>
              </a:rPr>
              <a:t>- </a:t>
            </a:r>
            <a:r>
              <a:rPr lang="ru-RU" altLang="ko-KR" sz="1600" dirty="0" err="1">
                <a:ea typeface="Batang"/>
                <a:cs typeface="Times New Roman" pitchFamily="18" charset="0"/>
              </a:rPr>
              <a:t>оптимізація</a:t>
            </a:r>
            <a:r>
              <a:rPr lang="ru-RU" altLang="ko-KR" sz="1600" dirty="0">
                <a:ea typeface="Batang"/>
                <a:cs typeface="Times New Roman" pitchFamily="18" charset="0"/>
              </a:rPr>
              <a:t>, а «</a:t>
            </a:r>
            <a:r>
              <a:rPr lang="ru-RU" altLang="ko-KR" sz="1600" dirty="0" err="1">
                <a:ea typeface="Batang"/>
                <a:cs typeface="Times New Roman" pitchFamily="18" charset="0"/>
              </a:rPr>
              <a:t>розриви</a:t>
            </a:r>
            <a:r>
              <a:rPr lang="ru-RU" altLang="ko-KR" sz="1600" dirty="0">
                <a:ea typeface="Batang"/>
                <a:cs typeface="Times New Roman" pitchFamily="18" charset="0"/>
              </a:rPr>
              <a:t>» у </a:t>
            </a:r>
            <a:r>
              <a:rPr lang="ru-RU" altLang="ko-KR" sz="1600" dirty="0" err="1">
                <a:ea typeface="Batang"/>
                <a:cs typeface="Times New Roman" pitchFamily="18" charset="0"/>
              </a:rPr>
              <a:t>кваліфікації</a:t>
            </a:r>
            <a:r>
              <a:rPr lang="ru-RU" altLang="ko-KR" sz="1600" dirty="0">
                <a:ea typeface="Batang"/>
                <a:cs typeface="Times New Roman" pitchFamily="18" charset="0"/>
              </a:rPr>
              <a:t> </a:t>
            </a:r>
            <a:r>
              <a:rPr lang="ru-RU" altLang="ko-KR" sz="1600" dirty="0" err="1">
                <a:ea typeface="Batang"/>
                <a:cs typeface="Times New Roman" pitchFamily="18" charset="0"/>
              </a:rPr>
              <a:t>фахівців</a:t>
            </a:r>
            <a:r>
              <a:rPr lang="ru-RU" altLang="ko-KR" sz="1600" dirty="0">
                <a:ea typeface="Batang"/>
                <a:cs typeface="Times New Roman" pitchFamily="18" charset="0"/>
              </a:rPr>
              <a:t> </a:t>
            </a:r>
            <a:r>
              <a:rPr lang="ru-RU" altLang="ko-KR" sz="1600" dirty="0" err="1">
                <a:ea typeface="Batang"/>
                <a:cs typeface="Times New Roman" pitchFamily="18" charset="0"/>
              </a:rPr>
              <a:t>різних</a:t>
            </a:r>
            <a:r>
              <a:rPr lang="ru-RU" altLang="ko-KR" sz="1600" dirty="0">
                <a:ea typeface="Batang"/>
                <a:cs typeface="Times New Roman" pitchFamily="18" charset="0"/>
              </a:rPr>
              <a:t> </a:t>
            </a:r>
            <a:r>
              <a:rPr lang="ru-RU" altLang="ko-KR" sz="1600" dirty="0" err="1">
                <a:ea typeface="Batang"/>
                <a:cs typeface="Times New Roman" pitchFamily="18" charset="0"/>
              </a:rPr>
              <a:t>галузей</a:t>
            </a:r>
            <a:r>
              <a:rPr lang="ru-RU" altLang="ko-KR" sz="1600" dirty="0">
                <a:ea typeface="Batang"/>
                <a:cs typeface="Times New Roman" pitchFamily="18" charset="0"/>
              </a:rPr>
              <a:t> </a:t>
            </a:r>
            <a:r>
              <a:rPr lang="ru-RU" altLang="ko-KR" sz="1600" dirty="0" err="1">
                <a:ea typeface="Batang"/>
                <a:cs typeface="Times New Roman" pitchFamily="18" charset="0"/>
              </a:rPr>
              <a:t>знань</a:t>
            </a:r>
            <a:r>
              <a:rPr lang="ru-RU" altLang="ko-KR" sz="1600" dirty="0">
                <a:ea typeface="Batang"/>
                <a:cs typeface="Times New Roman" pitchFamily="18" charset="0"/>
              </a:rPr>
              <a:t> – у </a:t>
            </a:r>
            <a:r>
              <a:rPr lang="ru-RU" altLang="ko-KR" sz="1600" dirty="0" err="1">
                <a:ea typeface="Batang"/>
                <a:cs typeface="Times New Roman" pitchFamily="18" charset="0"/>
              </a:rPr>
              <a:t>вигляді</a:t>
            </a:r>
            <a:r>
              <a:rPr lang="ru-RU" altLang="ko-KR" sz="1600" dirty="0">
                <a:ea typeface="Batang"/>
                <a:cs typeface="Times New Roman" pitchFamily="18" charset="0"/>
              </a:rPr>
              <a:t> фактора</a:t>
            </a:r>
            <a:endParaRPr lang="ru-RU" altLang="ko-KR" sz="1600" dirty="0">
              <a:ea typeface="Batang"/>
              <a:cs typeface="Arial" charset="0"/>
            </a:endParaRPr>
          </a:p>
        </p:txBody>
      </p:sp>
      <p:sp>
        <p:nvSpPr>
          <p:cNvPr id="91144" name="Rectangle 7"/>
          <p:cNvSpPr>
            <a:spLocks noChangeArrowheads="1"/>
          </p:cNvSpPr>
          <p:nvPr/>
        </p:nvSpPr>
        <p:spPr bwMode="auto">
          <a:xfrm>
            <a:off x="539750" y="4016375"/>
            <a:ext cx="7920038" cy="339725"/>
          </a:xfrm>
          <a:prstGeom prst="rect">
            <a:avLst/>
          </a:prstGeom>
          <a:noFill/>
          <a:ln w="9525">
            <a:noFill/>
            <a:miter lim="800000"/>
            <a:headEnd/>
            <a:tailEnd/>
          </a:ln>
        </p:spPr>
        <p:txBody>
          <a:bodyPr anchor="ctr">
            <a:spAutoFit/>
          </a:bodyPr>
          <a:lstStyle/>
          <a:p>
            <a:pPr indent="355600" algn="l" rtl="0"/>
            <a:r>
              <a:rPr lang="uk-UA" altLang="ko-KR" sz="1600">
                <a:ea typeface="Batang"/>
                <a:cs typeface="Times New Roman" pitchFamily="18" charset="0"/>
              </a:rPr>
              <a:t>-</a:t>
            </a:r>
            <a:r>
              <a:rPr lang="ru-RU" altLang="ko-KR" sz="1600">
                <a:ea typeface="Batang"/>
                <a:cs typeface="Times New Roman" pitchFamily="18" charset="0"/>
              </a:rPr>
              <a:t>Підбір команди</a:t>
            </a:r>
            <a:r>
              <a:rPr lang="uk-UA" altLang="ko-KR" sz="1600">
                <a:ea typeface="Batang"/>
                <a:cs typeface="Times New Roman" pitchFamily="18" charset="0"/>
              </a:rPr>
              <a:t>.</a:t>
            </a:r>
            <a:endParaRPr lang="uk-UA" altLang="ko-KR" sz="1600">
              <a:ea typeface="Batang"/>
              <a:cs typeface="Arial" charset="0"/>
            </a:endParaRPr>
          </a:p>
        </p:txBody>
      </p:sp>
      <p:sp>
        <p:nvSpPr>
          <p:cNvPr id="91145" name="Прямоугольник 10"/>
          <p:cNvSpPr>
            <a:spLocks noChangeArrowheads="1"/>
          </p:cNvSpPr>
          <p:nvPr/>
        </p:nvSpPr>
        <p:spPr bwMode="auto">
          <a:xfrm>
            <a:off x="468313" y="4437063"/>
            <a:ext cx="8135937" cy="1816100"/>
          </a:xfrm>
          <a:prstGeom prst="rect">
            <a:avLst/>
          </a:prstGeom>
          <a:noFill/>
          <a:ln w="9525">
            <a:noFill/>
            <a:miter lim="800000"/>
            <a:headEnd/>
            <a:tailEnd/>
          </a:ln>
        </p:spPr>
        <p:txBody>
          <a:bodyPr>
            <a:spAutoFit/>
          </a:bodyPr>
          <a:lstStyle/>
          <a:p>
            <a:pPr indent="457200" algn="l" rtl="0"/>
            <a:r>
              <a:rPr lang="ru-RU" sz="1600" dirty="0" err="1"/>
              <a:t>Останні</a:t>
            </a:r>
            <a:r>
              <a:rPr lang="ru-RU" sz="1600" dirty="0"/>
              <a:t> </a:t>
            </a:r>
            <a:r>
              <a:rPr lang="ru-RU" sz="1600" dirty="0" err="1"/>
              <a:t>сім</a:t>
            </a:r>
            <a:r>
              <a:rPr lang="ru-RU" sz="1600" dirty="0"/>
              <a:t> </a:t>
            </a:r>
            <a:r>
              <a:rPr lang="ru-RU" sz="1600" dirty="0" err="1"/>
              <a:t>ризиків</a:t>
            </a:r>
            <a:r>
              <a:rPr lang="ru-RU" sz="1600" dirty="0"/>
              <a:t> належать до </a:t>
            </a:r>
            <a:r>
              <a:rPr lang="ru-RU" sz="1600" dirty="0" err="1"/>
              <a:t>складових</a:t>
            </a:r>
            <a:r>
              <a:rPr lang="ru-RU" sz="1600" dirty="0"/>
              <a:t>. </a:t>
            </a:r>
            <a:r>
              <a:rPr lang="ru-RU" sz="1600" dirty="0" err="1"/>
              <a:t>Це</a:t>
            </a:r>
            <a:r>
              <a:rPr lang="ru-RU" sz="1600" dirty="0"/>
              <a:t> : (1) </a:t>
            </a:r>
            <a:r>
              <a:rPr lang="ru-RU" sz="1600" dirty="0" err="1"/>
              <a:t>дефіцит</a:t>
            </a:r>
            <a:r>
              <a:rPr lang="ru-RU" sz="1600" dirty="0"/>
              <a:t> </a:t>
            </a:r>
            <a:r>
              <a:rPr lang="ru-RU" sz="1600" dirty="0" err="1"/>
              <a:t>фахівців</a:t>
            </a:r>
            <a:r>
              <a:rPr lang="ru-RU" sz="1600" dirty="0"/>
              <a:t>, (2) </a:t>
            </a:r>
            <a:r>
              <a:rPr lang="ru-RU" sz="1600" dirty="0" err="1"/>
              <a:t>нереалістичні</a:t>
            </a:r>
            <a:r>
              <a:rPr lang="ru-RU" sz="1600" dirty="0"/>
              <a:t> </a:t>
            </a:r>
            <a:r>
              <a:rPr lang="ru-RU" sz="1600" dirty="0" err="1"/>
              <a:t>терміни</a:t>
            </a:r>
            <a:r>
              <a:rPr lang="ru-RU" sz="1600" dirty="0"/>
              <a:t> та бюджет, (3) </a:t>
            </a:r>
            <a:r>
              <a:rPr lang="ru-RU" sz="1600" dirty="0" err="1"/>
              <a:t>реалізація</a:t>
            </a:r>
            <a:r>
              <a:rPr lang="ru-RU" sz="1600" dirty="0"/>
              <a:t> </a:t>
            </a:r>
            <a:r>
              <a:rPr lang="ru-RU" sz="1600" dirty="0" err="1"/>
              <a:t>невідповідної</a:t>
            </a:r>
            <a:r>
              <a:rPr lang="ru-RU" sz="1600" dirty="0"/>
              <a:t> </a:t>
            </a:r>
            <a:r>
              <a:rPr lang="ru-RU" sz="1600" dirty="0" err="1"/>
              <a:t>функціональності</a:t>
            </a:r>
            <a:r>
              <a:rPr lang="ru-RU" sz="1600" dirty="0"/>
              <a:t>, (4) </a:t>
            </a:r>
            <a:r>
              <a:rPr lang="ru-RU" sz="1600" dirty="0" err="1"/>
              <a:t>розробка</a:t>
            </a:r>
            <a:r>
              <a:rPr lang="ru-RU" sz="1600" dirty="0"/>
              <a:t> неправильного </a:t>
            </a:r>
            <a:r>
              <a:rPr lang="ru-RU" sz="1600" dirty="0" err="1"/>
              <a:t>інтерфейсу</a:t>
            </a:r>
            <a:r>
              <a:rPr lang="ru-RU" sz="1600" dirty="0"/>
              <a:t> </a:t>
            </a:r>
            <a:r>
              <a:rPr lang="ru-RU" sz="1600" dirty="0" err="1"/>
              <a:t>користувача</a:t>
            </a:r>
            <a:r>
              <a:rPr lang="ru-RU" sz="1600" dirty="0"/>
              <a:t>, (7) брак </a:t>
            </a:r>
            <a:r>
              <a:rPr lang="ru-RU" sz="1600" dirty="0" err="1"/>
              <a:t>інформації</a:t>
            </a:r>
            <a:r>
              <a:rPr lang="ru-RU" sz="1600" dirty="0"/>
              <a:t> про </a:t>
            </a:r>
            <a:r>
              <a:rPr lang="ru-RU" sz="1600" dirty="0" err="1"/>
              <a:t>зовнішні</a:t>
            </a:r>
            <a:r>
              <a:rPr lang="ru-RU" sz="1600" dirty="0"/>
              <a:t> </a:t>
            </a:r>
            <a:r>
              <a:rPr lang="ru-RU" sz="1600" dirty="0" err="1"/>
              <a:t>компоненти</a:t>
            </a:r>
            <a:r>
              <a:rPr lang="ru-RU" sz="1600" dirty="0"/>
              <a:t>, </a:t>
            </a:r>
            <a:r>
              <a:rPr lang="ru-RU" sz="1600" dirty="0" err="1"/>
              <a:t>що</a:t>
            </a:r>
            <a:r>
              <a:rPr lang="ru-RU" sz="1600" dirty="0"/>
              <a:t> </a:t>
            </a:r>
            <a:r>
              <a:rPr lang="ru-RU" sz="1600" dirty="0" err="1"/>
              <a:t>визначають</a:t>
            </a:r>
            <a:r>
              <a:rPr lang="ru-RU" sz="1600" dirty="0"/>
              <a:t> </a:t>
            </a:r>
            <a:r>
              <a:rPr lang="ru-RU" sz="1600" dirty="0" err="1"/>
              <a:t>оточення</a:t>
            </a:r>
            <a:r>
              <a:rPr lang="ru-RU" sz="1600" dirty="0"/>
              <a:t> </a:t>
            </a:r>
            <a:r>
              <a:rPr lang="ru-RU" sz="1600" dirty="0" err="1"/>
              <a:t>системи</a:t>
            </a:r>
            <a:r>
              <a:rPr lang="ru-RU" sz="1600" dirty="0"/>
              <a:t> </a:t>
            </a:r>
            <a:r>
              <a:rPr lang="ru-RU" sz="1600" dirty="0" err="1"/>
              <a:t>або</a:t>
            </a:r>
            <a:r>
              <a:rPr lang="ru-RU" sz="1600" dirty="0"/>
              <a:t> </a:t>
            </a:r>
            <a:r>
              <a:rPr lang="ru-RU" sz="1600" dirty="0" err="1"/>
              <a:t>залучених</a:t>
            </a:r>
            <a:r>
              <a:rPr lang="ru-RU" sz="1600" dirty="0"/>
              <a:t> до </a:t>
            </a:r>
            <a:r>
              <a:rPr lang="ru-RU" sz="1600" dirty="0" err="1"/>
              <a:t>інтеграції</a:t>
            </a:r>
            <a:r>
              <a:rPr lang="ru-RU" sz="1600" dirty="0"/>
              <a:t>, (8) ) </a:t>
            </a:r>
            <a:r>
              <a:rPr lang="ru-RU" sz="1600" dirty="0" err="1"/>
              <a:t>недоліки</a:t>
            </a:r>
            <a:r>
              <a:rPr lang="ru-RU" sz="1600" dirty="0"/>
              <a:t> у роботах, </a:t>
            </a:r>
            <a:r>
              <a:rPr lang="ru-RU" sz="1600" dirty="0" err="1"/>
              <a:t>виконуваних</a:t>
            </a:r>
            <a:r>
              <a:rPr lang="ru-RU" sz="1600" dirty="0"/>
              <a:t> </a:t>
            </a:r>
            <a:r>
              <a:rPr lang="ru-RU" sz="1600" dirty="0" err="1"/>
              <a:t>зовнішніми</a:t>
            </a:r>
            <a:r>
              <a:rPr lang="ru-RU" sz="1600" dirty="0"/>
              <a:t> (</a:t>
            </a:r>
            <a:r>
              <a:rPr lang="ru-RU" sz="1600" dirty="0" err="1"/>
              <a:t>стосовно</a:t>
            </a:r>
            <a:r>
              <a:rPr lang="ru-RU" sz="1600" dirty="0"/>
              <a:t> проекту) ресурсами, (9) </a:t>
            </a:r>
            <a:r>
              <a:rPr lang="ru-RU" sz="1600" dirty="0" err="1"/>
              <a:t>недостатня</a:t>
            </a:r>
            <a:r>
              <a:rPr lang="ru-RU" sz="1600" dirty="0"/>
              <a:t> </a:t>
            </a:r>
            <a:r>
              <a:rPr lang="ru-RU" sz="1600" dirty="0" err="1"/>
              <a:t>продуктивність</a:t>
            </a:r>
            <a:r>
              <a:rPr lang="ru-RU" sz="1600" dirty="0"/>
              <a:t> </a:t>
            </a:r>
            <a:r>
              <a:rPr lang="ru-RU" sz="1600" dirty="0" err="1"/>
              <a:t>отриманої</a:t>
            </a:r>
            <a:r>
              <a:rPr lang="ru-RU" sz="1600" dirty="0"/>
              <a:t> </a:t>
            </a:r>
            <a:r>
              <a:rPr lang="ru-RU" sz="1600" dirty="0" err="1"/>
              <a:t>системи</a:t>
            </a:r>
            <a:r>
              <a:rPr lang="ru-RU" sz="1600" dirty="0"/>
              <a:t>.</a:t>
            </a:r>
          </a:p>
        </p:txBody>
      </p:sp>
      <p:sp>
        <p:nvSpPr>
          <p:cNvPr id="91146" name="Номер слайда 11"/>
          <p:cNvSpPr>
            <a:spLocks noGrp="1"/>
          </p:cNvSpPr>
          <p:nvPr>
            <p:ph type="sldNum" sz="quarter" idx="12"/>
          </p:nvPr>
        </p:nvSpPr>
        <p:spPr/>
        <p:txBody>
          <a:bodyPr/>
          <a:lstStyle/>
          <a:p>
            <a:pPr algn="l" rtl="0" fontAlgn="base">
              <a:spcBef>
                <a:spcPct val="0"/>
              </a:spcBef>
              <a:spcAft>
                <a:spcPct val="0"/>
              </a:spcAft>
              <a:defRPr/>
            </a:pPr>
            <a:fld id="{305EC4D4-0BD9-4D13-9A28-79422686D62B}" type="slidenum">
              <a:rPr lang="en-US"/>
              <a:pPr algn="l" rtl="0" fontAlgn="base">
                <a:spcBef>
                  <a:spcPct val="0"/>
                </a:spcBef>
                <a:spcAft>
                  <a:spcPct val="0"/>
                </a:spcAft>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85750" y="428625"/>
            <a:ext cx="8382000" cy="457200"/>
          </a:xfrm>
        </p:spPr>
        <p:txBody>
          <a:bodyPr/>
          <a:lstStyle/>
          <a:p>
            <a:pPr algn="l" rtl="0" eaLnBrk="1" hangingPunct="1">
              <a:defRPr/>
            </a:pPr>
            <a:r>
              <a:rPr lang="ru-RU" sz="2400" dirty="0">
                <a:effectLst>
                  <a:outerShdw blurRad="38100" dist="38100" dir="2700000" algn="tl">
                    <a:srgbClr val="000000">
                      <a:alpha val="43137"/>
                    </a:srgbClr>
                  </a:outerShdw>
                </a:effectLst>
              </a:rPr>
              <a:t>Реалізація розглянутих класифікацій</a:t>
            </a:r>
            <a:br>
              <a:rPr lang="ru-RU" sz="2400" dirty="0">
                <a:effectLst>
                  <a:outerShdw blurRad="38100" dist="38100" dir="2700000" algn="tl">
                    <a:srgbClr val="000000">
                      <a:alpha val="43137"/>
                    </a:srgbClr>
                  </a:outerShdw>
                </a:effectLst>
              </a:rPr>
            </a:br>
            <a:r>
              <a:rPr lang="ru-RU" sz="2400" dirty="0">
                <a:effectLst>
                  <a:outerShdw blurRad="38100" dist="38100" dir="2700000" algn="tl">
                    <a:srgbClr val="000000">
                      <a:alpha val="43137"/>
                    </a:srgbClr>
                  </a:outerShdw>
                </a:effectLst>
              </a:rPr>
              <a:t>на основі еталонної моделі</a:t>
            </a:r>
            <a:r>
              <a:rPr lang="uk-UA" sz="2400" dirty="0">
                <a:effectLst>
                  <a:outerShdw blurRad="38100" dist="38100" dir="2700000" algn="tl">
                    <a:srgbClr val="000000">
                      <a:alpha val="43137"/>
                    </a:srgbClr>
                  </a:outerShdw>
                </a:effectLst>
              </a:rPr>
              <a:t> </a:t>
            </a:r>
            <a:endParaRPr lang="ru-RU" sz="2400" dirty="0">
              <a:effectLst>
                <a:outerShdw blurRad="38100" dist="38100" dir="2700000" algn="tl">
                  <a:srgbClr val="000000">
                    <a:alpha val="43137"/>
                  </a:srgbClr>
                </a:outerShdw>
              </a:effectLst>
            </a:endParaRPr>
          </a:p>
        </p:txBody>
      </p:sp>
      <p:sp>
        <p:nvSpPr>
          <p:cNvPr id="101381" name="Прямоугольник 8"/>
          <p:cNvSpPr>
            <a:spLocks noChangeArrowheads="1"/>
          </p:cNvSpPr>
          <p:nvPr/>
        </p:nvSpPr>
        <p:spPr bwMode="auto">
          <a:xfrm>
            <a:off x="611188" y="1125538"/>
            <a:ext cx="7921625" cy="830262"/>
          </a:xfrm>
          <a:prstGeom prst="rect">
            <a:avLst/>
          </a:prstGeom>
          <a:noFill/>
          <a:ln w="9525">
            <a:noFill/>
            <a:miter lim="800000"/>
            <a:headEnd/>
            <a:tailEnd/>
          </a:ln>
        </p:spPr>
        <p:txBody>
          <a:bodyPr>
            <a:spAutoFit/>
          </a:bodyPr>
          <a:lstStyle/>
          <a:p>
            <a:pPr indent="457200" algn="l" rtl="0"/>
            <a:r>
              <a:rPr lang="ru-RU" sz="1600"/>
              <a:t>Ця класифікація містить десять ризиків програмних проектів без поділу на класи та категорії. Тому опишемо загальний клас x</a:t>
            </a:r>
            <a:r>
              <a:rPr lang="ru-RU" sz="1600" baseline="-25000"/>
              <a:t>1</a:t>
            </a:r>
            <a:r>
              <a:rPr lang="ru-RU" sz="1600"/>
              <a:t>та категорію y</a:t>
            </a:r>
            <a:r>
              <a:rPr lang="ru-RU" sz="1600" baseline="-25000"/>
              <a:t>1</a:t>
            </a:r>
            <a:r>
              <a:rPr lang="ru-RU" sz="1600"/>
              <a:t>. R</a:t>
            </a:r>
            <a:r>
              <a:rPr lang="ru-RU" sz="1600" baseline="-25000"/>
              <a:t>1</a:t>
            </a:r>
            <a:r>
              <a:rPr lang="ru-RU" sz="1600"/>
              <a:t>яка міститиме пару</a:t>
            </a:r>
          </a:p>
        </p:txBody>
      </p:sp>
      <p:sp>
        <p:nvSpPr>
          <p:cNvPr id="101382"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lgn="l" rtl="0"/>
            <a:endParaRPr lang="ru-RU"/>
          </a:p>
        </p:txBody>
      </p:sp>
      <p:graphicFrame>
        <p:nvGraphicFramePr>
          <p:cNvPr id="101377" name="Object 1"/>
          <p:cNvGraphicFramePr>
            <a:graphicFrameLocks noChangeAspect="1"/>
          </p:cNvGraphicFramePr>
          <p:nvPr/>
        </p:nvGraphicFramePr>
        <p:xfrm>
          <a:off x="4356100" y="1624013"/>
          <a:ext cx="641350" cy="292100"/>
        </p:xfrm>
        <a:graphic>
          <a:graphicData uri="http://schemas.openxmlformats.org/presentationml/2006/ole">
            <mc:AlternateContent xmlns:mc="http://schemas.openxmlformats.org/markup-compatibility/2006">
              <mc:Choice xmlns:v="urn:schemas-microsoft-com:vml" Requires="v">
                <p:oleObj name="Формула" r:id="rId2" imgW="520474" imgH="241195" progId="Equation.3">
                  <p:embed/>
                </p:oleObj>
              </mc:Choice>
              <mc:Fallback>
                <p:oleObj name="Формула" r:id="rId2" imgW="520474" imgH="241195"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1624013"/>
                        <a:ext cx="64135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383" name="Rectangle 2"/>
          <p:cNvSpPr>
            <a:spLocks noChangeArrowheads="1"/>
          </p:cNvSpPr>
          <p:nvPr/>
        </p:nvSpPr>
        <p:spPr bwMode="auto">
          <a:xfrm>
            <a:off x="684213" y="1906588"/>
            <a:ext cx="7991475" cy="903287"/>
          </a:xfrm>
          <a:prstGeom prst="rect">
            <a:avLst/>
          </a:prstGeom>
          <a:noFill/>
          <a:ln w="9525">
            <a:noFill/>
            <a:miter lim="800000"/>
            <a:headEnd/>
            <a:tailEnd/>
          </a:ln>
        </p:spPr>
        <p:txBody>
          <a:bodyPr anchor="ctr">
            <a:spAutoFit/>
          </a:bodyPr>
          <a:lstStyle/>
          <a:p>
            <a:pPr indent="355600" algn="l" rtl="0">
              <a:lnSpc>
                <a:spcPct val="110000"/>
              </a:lnSpc>
            </a:pPr>
            <a:r>
              <a:rPr lang="ru-RU" altLang="ko-KR" sz="1600" dirty="0" err="1">
                <a:ea typeface="Batang"/>
                <a:cs typeface="Times New Roman" pitchFamily="18" charset="0"/>
              </a:rPr>
              <a:t>Складові</a:t>
            </a:r>
            <a:r>
              <a:rPr lang="ru-RU" altLang="ko-KR" sz="1600" dirty="0">
                <a:ea typeface="Batang"/>
                <a:cs typeface="Times New Roman" pitchFamily="18" charset="0"/>
              </a:rPr>
              <a:t> </a:t>
            </a:r>
            <a:r>
              <a:rPr lang="ru-RU" altLang="ko-KR" sz="1600" dirty="0" err="1">
                <a:ea typeface="Batang"/>
                <a:cs typeface="Times New Roman" pitchFamily="18" charset="0"/>
              </a:rPr>
              <a:t>фактори</a:t>
            </a:r>
            <a:r>
              <a:rPr lang="ru-RU" altLang="ko-KR" sz="1600" dirty="0">
                <a:ea typeface="Batang"/>
                <a:cs typeface="Times New Roman" pitchFamily="18" charset="0"/>
              </a:rPr>
              <a:t> </a:t>
            </a:r>
            <a:r>
              <a:rPr lang="ru-RU" altLang="ko-KR" sz="1600" dirty="0" err="1">
                <a:ea typeface="Batang"/>
                <a:cs typeface="Times New Roman" pitchFamily="18" charset="0"/>
              </a:rPr>
              <a:t>описані</a:t>
            </a:r>
            <a:r>
              <a:rPr lang="ru-RU" altLang="ko-KR" sz="1600" dirty="0">
                <a:ea typeface="Batang"/>
                <a:cs typeface="Times New Roman" pitchFamily="18" charset="0"/>
              </a:rPr>
              <a:t> у </a:t>
            </a:r>
            <a:r>
              <a:rPr lang="ru-RU" altLang="ko-KR" sz="1600" dirty="0" err="1">
                <a:ea typeface="Batang"/>
                <a:cs typeface="Times New Roman" pitchFamily="18" charset="0"/>
              </a:rPr>
              <a:t>термінах</a:t>
            </a:r>
            <a:r>
              <a:rPr lang="ru-RU" altLang="ko-KR" sz="1600" dirty="0">
                <a:ea typeface="Batang"/>
                <a:cs typeface="Times New Roman" pitchFamily="18" charset="0"/>
              </a:rPr>
              <a:t> </a:t>
            </a:r>
            <a:r>
              <a:rPr lang="ru-RU" altLang="ko-KR" sz="1600" dirty="0" err="1">
                <a:ea typeface="Batang"/>
                <a:cs typeface="Times New Roman" pitchFamily="18" charset="0"/>
              </a:rPr>
              <a:t>еталонної</a:t>
            </a:r>
            <a:r>
              <a:rPr lang="ru-RU" altLang="ko-KR" sz="1600" dirty="0">
                <a:ea typeface="Batang"/>
                <a:cs typeface="Times New Roman" pitchFamily="18" charset="0"/>
              </a:rPr>
              <a:t> </a:t>
            </a:r>
            <a:r>
              <a:rPr lang="ru-RU" altLang="ko-KR" sz="1600" dirty="0" err="1">
                <a:ea typeface="Batang"/>
                <a:cs typeface="Times New Roman" pitchFamily="18" charset="0"/>
              </a:rPr>
              <a:t>моделі</a:t>
            </a:r>
            <a:r>
              <a:rPr lang="ru-RU" altLang="ko-KR" sz="1600" dirty="0">
                <a:ea typeface="Batang"/>
                <a:cs typeface="Times New Roman" pitchFamily="18" charset="0"/>
              </a:rPr>
              <a:t> через </a:t>
            </a:r>
            <a:r>
              <a:rPr lang="ru-RU" altLang="ko-KR" sz="1600" dirty="0" err="1">
                <a:ea typeface="Batang"/>
                <a:cs typeface="Times New Roman" pitchFamily="18" charset="0"/>
              </a:rPr>
              <a:t>визначення</a:t>
            </a:r>
            <a:r>
              <a:rPr lang="ru-RU" altLang="ko-KR" sz="1600" dirty="0">
                <a:ea typeface="Batang"/>
                <a:cs typeface="Times New Roman" pitchFamily="18" charset="0"/>
              </a:rPr>
              <a:t> </a:t>
            </a:r>
            <a:r>
              <a:rPr lang="ru-RU" altLang="ko-KR" sz="1600" dirty="0" err="1">
                <a:ea typeface="Batang"/>
                <a:cs typeface="Times New Roman" pitchFamily="18" charset="0"/>
              </a:rPr>
              <a:t>відношення</a:t>
            </a:r>
            <a:r>
              <a:rPr lang="ru-RU" altLang="ko-KR" sz="1600" dirty="0">
                <a:ea typeface="Batang"/>
                <a:cs typeface="Times New Roman" pitchFamily="18" charset="0"/>
              </a:rPr>
              <a:t> R</a:t>
            </a:r>
            <a:r>
              <a:rPr lang="ru-RU" altLang="ko-KR" sz="1600" baseline="-30000" dirty="0">
                <a:ea typeface="Batang"/>
                <a:cs typeface="Times New Roman" pitchFamily="18" charset="0"/>
              </a:rPr>
              <a:t>4.</a:t>
            </a:r>
            <a:r>
              <a:rPr lang="ru-RU" altLang="ko-KR" sz="1600" dirty="0">
                <a:ea typeface="Batang"/>
                <a:cs typeface="Times New Roman" pitchFamily="18" charset="0"/>
              </a:rPr>
              <a:t>Наприклад, </a:t>
            </a:r>
            <a:r>
              <a:rPr lang="ru-RU" altLang="ko-KR" sz="1600" dirty="0" err="1">
                <a:ea typeface="Batang"/>
                <a:cs typeface="Times New Roman" pitchFamily="18" charset="0"/>
              </a:rPr>
              <a:t>визначення</a:t>
            </a:r>
            <a:r>
              <a:rPr lang="ru-RU" altLang="ko-KR" sz="1600" dirty="0">
                <a:ea typeface="Batang"/>
                <a:cs typeface="Times New Roman" pitchFamily="18" charset="0"/>
              </a:rPr>
              <a:t> </a:t>
            </a:r>
            <a:r>
              <a:rPr lang="ru-RU" altLang="ko-KR" sz="1600" dirty="0" err="1">
                <a:ea typeface="Batang"/>
                <a:cs typeface="Times New Roman" pitchFamily="18" charset="0"/>
              </a:rPr>
              <a:t>складеного</a:t>
            </a:r>
            <a:r>
              <a:rPr lang="ru-RU" altLang="ko-KR" sz="1600" dirty="0">
                <a:ea typeface="Batang"/>
                <a:cs typeface="Times New Roman" pitchFamily="18" charset="0"/>
              </a:rPr>
              <a:t> </a:t>
            </a:r>
            <a:r>
              <a:rPr lang="ru-RU" altLang="ko-KR" sz="1600" dirty="0" err="1">
                <a:ea typeface="Batang"/>
                <a:cs typeface="Times New Roman" pitchFamily="18" charset="0"/>
              </a:rPr>
              <a:t>чинника</a:t>
            </a:r>
            <a:r>
              <a:rPr lang="ru-RU" altLang="ko-KR" sz="1600" dirty="0">
                <a:ea typeface="Batang"/>
                <a:cs typeface="Times New Roman" pitchFamily="18" charset="0"/>
              </a:rPr>
              <a:t> S</a:t>
            </a:r>
            <a:r>
              <a:rPr lang="ru-RU" altLang="ko-KR" sz="1600" baseline="-30000" dirty="0">
                <a:ea typeface="Batang"/>
                <a:cs typeface="Times New Roman" pitchFamily="18" charset="0"/>
              </a:rPr>
              <a:t>2</a:t>
            </a:r>
            <a:r>
              <a:rPr lang="ru-RU" altLang="ko-KR" sz="1600" dirty="0">
                <a:ea typeface="Batang"/>
                <a:cs typeface="Times New Roman" pitchFamily="18" charset="0"/>
              </a:rPr>
              <a:t>- </a:t>
            </a:r>
            <a:r>
              <a:rPr lang="ru-RU" altLang="ko-KR" sz="1600" dirty="0" err="1">
                <a:ea typeface="Batang"/>
                <a:cs typeface="Times New Roman" pitchFamily="18" charset="0"/>
              </a:rPr>
              <a:t>Нереалістичні</a:t>
            </a:r>
            <a:r>
              <a:rPr lang="ru-RU" altLang="ko-KR" sz="1600" dirty="0">
                <a:ea typeface="Batang"/>
                <a:cs typeface="Times New Roman" pitchFamily="18" charset="0"/>
              </a:rPr>
              <a:t> </a:t>
            </a:r>
            <a:r>
              <a:rPr lang="ru-RU" altLang="ko-KR" sz="1600" dirty="0" err="1">
                <a:ea typeface="Batang"/>
                <a:cs typeface="Times New Roman" pitchFamily="18" charset="0"/>
              </a:rPr>
              <a:t>терміни</a:t>
            </a:r>
            <a:r>
              <a:rPr lang="ru-RU" altLang="ko-KR" sz="1600" dirty="0">
                <a:ea typeface="Batang"/>
                <a:cs typeface="Times New Roman" pitchFamily="18" charset="0"/>
              </a:rPr>
              <a:t> та бюджет пари</a:t>
            </a:r>
            <a:endParaRPr lang="ru-RU" altLang="ko-KR" sz="1600" dirty="0">
              <a:ea typeface="Batang"/>
              <a:cs typeface="Arial" charset="0"/>
            </a:endParaRPr>
          </a:p>
        </p:txBody>
      </p:sp>
      <p:graphicFrame>
        <p:nvGraphicFramePr>
          <p:cNvPr id="101379" name="Object 3"/>
          <p:cNvGraphicFramePr>
            <a:graphicFrameLocks noChangeAspect="1"/>
          </p:cNvGraphicFramePr>
          <p:nvPr>
            <p:extLst>
              <p:ext uri="{D42A27DB-BD31-4B8C-83A1-F6EECF244321}">
                <p14:modId xmlns:p14="http://schemas.microsoft.com/office/powerpoint/2010/main" val="1108167876"/>
              </p:ext>
            </p:extLst>
          </p:nvPr>
        </p:nvGraphicFramePr>
        <p:xfrm>
          <a:off x="3966995" y="2487612"/>
          <a:ext cx="1666875" cy="341312"/>
        </p:xfrm>
        <a:graphic>
          <a:graphicData uri="http://schemas.openxmlformats.org/presentationml/2006/ole">
            <mc:AlternateContent xmlns:mc="http://schemas.openxmlformats.org/markup-compatibility/2006">
              <mc:Choice xmlns:v="urn:schemas-microsoft-com:vml" Requires="v">
                <p:oleObj name="Формула" r:id="rId4" imgW="1117600" imgH="228600" progId="Equation.3">
                  <p:embed/>
                </p:oleObj>
              </mc:Choice>
              <mc:Fallback>
                <p:oleObj name="Формула" r:id="rId4" imgW="1117600" imgH="228600"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6995" y="2487612"/>
                        <a:ext cx="1666875"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384" name="Rectangle 3"/>
          <p:cNvSpPr>
            <a:spLocks noChangeArrowheads="1"/>
          </p:cNvSpPr>
          <p:nvPr/>
        </p:nvSpPr>
        <p:spPr bwMode="auto">
          <a:xfrm>
            <a:off x="6227763" y="2465388"/>
            <a:ext cx="2305050" cy="338137"/>
          </a:xfrm>
          <a:prstGeom prst="rect">
            <a:avLst/>
          </a:prstGeom>
          <a:noFill/>
          <a:ln w="9525">
            <a:noFill/>
            <a:miter lim="800000"/>
            <a:headEnd/>
            <a:tailEnd/>
          </a:ln>
        </p:spPr>
        <p:txBody>
          <a:bodyPr anchor="ctr">
            <a:spAutoFit/>
          </a:bodyPr>
          <a:lstStyle/>
          <a:p>
            <a:pPr algn="l" rtl="0"/>
            <a:r>
              <a:rPr lang="uk-UA" sz="1600">
                <a:cs typeface="Times New Roman" pitchFamily="18" charset="0"/>
              </a:rPr>
              <a:t> </a:t>
            </a:r>
            <a:r>
              <a:rPr lang="ru-RU" sz="1600">
                <a:cs typeface="Times New Roman" pitchFamily="18" charset="0"/>
              </a:rPr>
              <a:t>повинні</a:t>
            </a:r>
            <a:endParaRPr lang="ru-RU" sz="1600">
              <a:cs typeface="Arial" charset="0"/>
            </a:endParaRPr>
          </a:p>
        </p:txBody>
      </p:sp>
      <p:sp>
        <p:nvSpPr>
          <p:cNvPr id="101385" name="Прямоугольник 9"/>
          <p:cNvSpPr>
            <a:spLocks noChangeArrowheads="1"/>
          </p:cNvSpPr>
          <p:nvPr/>
        </p:nvSpPr>
        <p:spPr bwMode="auto">
          <a:xfrm>
            <a:off x="1214438" y="2714625"/>
            <a:ext cx="3098800" cy="338138"/>
          </a:xfrm>
          <a:prstGeom prst="rect">
            <a:avLst/>
          </a:prstGeom>
          <a:noFill/>
          <a:ln w="9525">
            <a:noFill/>
            <a:miter lim="800000"/>
            <a:headEnd/>
            <a:tailEnd/>
          </a:ln>
        </p:spPr>
        <p:txBody>
          <a:bodyPr wrap="none">
            <a:spAutoFit/>
          </a:bodyPr>
          <a:lstStyle/>
          <a:p>
            <a:pPr algn="l" rtl="0"/>
            <a:r>
              <a:rPr lang="ru-RU" sz="1600">
                <a:solidFill>
                  <a:srgbClr val="000000"/>
                </a:solidFill>
                <a:cs typeface="Times New Roman" pitchFamily="18" charset="0"/>
              </a:rPr>
              <a:t>належати відношенню R</a:t>
            </a:r>
            <a:r>
              <a:rPr lang="ru-RU" sz="1600" baseline="-30000">
                <a:solidFill>
                  <a:srgbClr val="000000"/>
                </a:solidFill>
                <a:cs typeface="Times New Roman" pitchFamily="18" charset="0"/>
              </a:rPr>
              <a:t>4</a:t>
            </a:r>
            <a:r>
              <a:rPr lang="ru-RU" sz="1600">
                <a:solidFill>
                  <a:srgbClr val="000000"/>
                </a:solidFill>
                <a:cs typeface="Times New Roman" pitchFamily="18" charset="0"/>
              </a:rPr>
              <a:t>.</a:t>
            </a:r>
            <a:endParaRPr lang="ru-RU" sz="1600">
              <a:solidFill>
                <a:srgbClr val="000000"/>
              </a:solidFill>
              <a:cs typeface="Arial" charset="0"/>
            </a:endParaRPr>
          </a:p>
        </p:txBody>
      </p:sp>
      <p:sp>
        <p:nvSpPr>
          <p:cNvPr id="101386" name="Rectangle 4"/>
          <p:cNvSpPr>
            <a:spLocks noChangeArrowheads="1"/>
          </p:cNvSpPr>
          <p:nvPr/>
        </p:nvSpPr>
        <p:spPr bwMode="auto">
          <a:xfrm>
            <a:off x="611188" y="2984500"/>
            <a:ext cx="7993062" cy="3613150"/>
          </a:xfrm>
          <a:prstGeom prst="rect">
            <a:avLst/>
          </a:prstGeom>
          <a:noFill/>
          <a:ln w="9525">
            <a:noFill/>
            <a:miter lim="800000"/>
            <a:headEnd/>
            <a:tailEnd/>
          </a:ln>
        </p:spPr>
        <p:txBody>
          <a:bodyPr anchor="ctr">
            <a:spAutoFit/>
          </a:bodyPr>
          <a:lstStyle/>
          <a:p>
            <a:pPr indent="355600" algn="l" rtl="0">
              <a:lnSpc>
                <a:spcPct val="110000"/>
              </a:lnSpc>
            </a:pPr>
            <a:r>
              <a:rPr lang="ru-RU" sz="1600">
                <a:cs typeface="Times New Roman" pitchFamily="18" charset="0"/>
              </a:rPr>
              <a:t>Інші елементи еталонної моделі класифікації описані через визначення відповідних відносин.</a:t>
            </a:r>
          </a:p>
          <a:p>
            <a:pPr indent="355600" algn="l" rtl="0">
              <a:lnSpc>
                <a:spcPct val="110000"/>
              </a:lnSpc>
            </a:pPr>
            <a:r>
              <a:rPr lang="ru-RU" sz="1600">
                <a:cs typeface="Times New Roman" pitchFamily="18" charset="0"/>
              </a:rPr>
              <a:t>Виконано формалізації складових факторів у вигляді відповідних лінгвістичних змінних.</a:t>
            </a:r>
          </a:p>
          <a:p>
            <a:pPr indent="355600" algn="l" rtl="0">
              <a:lnSpc>
                <a:spcPct val="110000"/>
              </a:lnSpc>
            </a:pPr>
            <a:r>
              <a:rPr lang="ru-RU" sz="1600">
                <a:cs typeface="Times New Roman" pitchFamily="18" charset="0"/>
              </a:rPr>
              <a:t>Побудовано та описано у вигляді таблиць нечіткі бази правил для логічного висновку рішень про значення кожного складового фактора обраної класифікації ризиків програмного проекту.</a:t>
            </a:r>
            <a:endParaRPr lang="ru-RU" sz="1600">
              <a:cs typeface="Arial" charset="0"/>
            </a:endParaRPr>
          </a:p>
          <a:p>
            <a:pPr indent="355600" algn="l" rtl="0" eaLnBrk="0" hangingPunct="0">
              <a:lnSpc>
                <a:spcPct val="110000"/>
              </a:lnSpc>
            </a:pPr>
            <a:r>
              <a:rPr lang="ru-RU" altLang="ko-KR" sz="1600">
                <a:ea typeface="Batang"/>
                <a:cs typeface="Times New Roman" pitchFamily="18" charset="0"/>
              </a:rPr>
              <a:t>Реалізація нечіткого висновку виконується з урахуванням використання механізму Mamdani. Це найпоширеніший метод логічного висновку в нечітких системах. У ньому використовується мінімаксна композиція нечітких множин.</a:t>
            </a:r>
          </a:p>
          <a:p>
            <a:pPr indent="355600" algn="l" rtl="0" eaLnBrk="0" hangingPunct="0">
              <a:lnSpc>
                <a:spcPct val="110000"/>
              </a:lnSpc>
            </a:pPr>
            <a:r>
              <a:rPr lang="ru-RU" altLang="ko-KR" sz="1600">
                <a:ea typeface="Batang"/>
                <a:cs typeface="Times New Roman" pitchFamily="18" charset="0"/>
              </a:rPr>
              <a:t>Дефазифікація виконується центроїдним методом.</a:t>
            </a:r>
            <a:endParaRPr lang="ru-RU" altLang="ko-KR" sz="1600">
              <a:cs typeface="Arial" charset="0"/>
            </a:endParaRPr>
          </a:p>
          <a:p>
            <a:pPr indent="355600" algn="l" rtl="0" eaLnBrk="0" hangingPunct="0">
              <a:lnSpc>
                <a:spcPct val="110000"/>
              </a:lnSpc>
            </a:pPr>
            <a:endParaRPr lang="uk-UA" altLang="ko-KR" sz="1600">
              <a:cs typeface="Arial" charset="0"/>
            </a:endParaRPr>
          </a:p>
        </p:txBody>
      </p:sp>
      <p:sp>
        <p:nvSpPr>
          <p:cNvPr id="101387" name="Номер слайда 11"/>
          <p:cNvSpPr>
            <a:spLocks noGrp="1"/>
          </p:cNvSpPr>
          <p:nvPr>
            <p:ph type="sldNum" sz="quarter" idx="12"/>
          </p:nvPr>
        </p:nvSpPr>
        <p:spPr/>
        <p:txBody>
          <a:bodyPr/>
          <a:lstStyle/>
          <a:p>
            <a:pPr algn="l" rtl="0" fontAlgn="base">
              <a:spcBef>
                <a:spcPct val="0"/>
              </a:spcBef>
              <a:spcAft>
                <a:spcPct val="0"/>
              </a:spcAft>
              <a:defRPr/>
            </a:pPr>
            <a:fld id="{65AB4EA4-BC16-4F0F-A25E-398AC1AC6586}" type="slidenum">
              <a:rPr lang="en-US"/>
              <a:pPr algn="l" rtl="0" fontAlgn="base">
                <a:spcBef>
                  <a:spcPct val="0"/>
                </a:spcBef>
                <a:spcAft>
                  <a:spcPct val="0"/>
                </a:spcAft>
                <a:defRPr/>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eaLnBrk="1" hangingPunct="1">
              <a:defRPr/>
            </a:pPr>
            <a:r>
              <a:rPr lang="ru-RU" sz="2800" dirty="0">
                <a:effectLst>
                  <a:outerShdw blurRad="38100" dist="38100" dir="2700000" algn="tl">
                    <a:srgbClr val="000000">
                      <a:alpha val="43137"/>
                    </a:srgbClr>
                  </a:outerShdw>
                </a:effectLst>
              </a:rPr>
              <a:t>Опис</a:t>
            </a:r>
            <a:r>
              <a:rPr lang="ru-RU" sz="2400" dirty="0">
                <a:effectLst>
                  <a:outerShdw blurRad="38100" dist="38100" dir="2700000" algn="tl">
                    <a:srgbClr val="000000">
                      <a:alpha val="43137"/>
                    </a:srgbClr>
                  </a:outerShdw>
                </a:effectLst>
              </a:rPr>
              <a:t> </a:t>
            </a:r>
            <a:r>
              <a:rPr lang="ru-RU" sz="2800" dirty="0">
                <a:effectLst>
                  <a:outerShdw blurRad="38100" dist="38100" dir="2700000" algn="tl">
                    <a:srgbClr val="000000">
                      <a:alpha val="43137"/>
                    </a:srgbClr>
                  </a:outerShdw>
                </a:effectLst>
              </a:rPr>
              <a:t>метазнань</a:t>
            </a:r>
          </a:p>
        </p:txBody>
      </p:sp>
      <p:sp>
        <p:nvSpPr>
          <p:cNvPr id="96265" name="Rectangle 1"/>
          <p:cNvSpPr>
            <a:spLocks noChangeArrowheads="1"/>
          </p:cNvSpPr>
          <p:nvPr/>
        </p:nvSpPr>
        <p:spPr bwMode="auto">
          <a:xfrm>
            <a:off x="468313" y="1139825"/>
            <a:ext cx="8135937" cy="1568450"/>
          </a:xfrm>
          <a:prstGeom prst="rect">
            <a:avLst/>
          </a:prstGeom>
          <a:noFill/>
          <a:ln w="9525">
            <a:noFill/>
            <a:miter lim="800000"/>
            <a:headEnd/>
            <a:tailEnd/>
          </a:ln>
        </p:spPr>
        <p:txBody>
          <a:bodyPr anchor="ctr">
            <a:spAutoFit/>
          </a:bodyPr>
          <a:lstStyle/>
          <a:p>
            <a:pPr indent="355600" algn="l" rtl="0"/>
            <a:r>
              <a:rPr lang="ru-RU" altLang="ko-KR" sz="1600" dirty="0">
                <a:ea typeface="Batang"/>
                <a:cs typeface="Arial" charset="0"/>
              </a:rPr>
              <a:t>Для </a:t>
            </a:r>
            <a:r>
              <a:rPr lang="ru-RU" altLang="ko-KR" sz="1600" dirty="0" err="1">
                <a:ea typeface="Batang"/>
                <a:cs typeface="Arial" charset="0"/>
              </a:rPr>
              <a:t>опису</a:t>
            </a:r>
            <a:r>
              <a:rPr lang="ru-RU" altLang="ko-KR" sz="1600" dirty="0">
                <a:ea typeface="Batang"/>
                <a:cs typeface="Arial" charset="0"/>
              </a:rPr>
              <a:t> </a:t>
            </a:r>
            <a:r>
              <a:rPr lang="ru-RU" altLang="ko-KR" sz="1600" b="1" dirty="0" err="1">
                <a:ea typeface="Batang"/>
                <a:cs typeface="Arial" charset="0"/>
              </a:rPr>
              <a:t>метазнань</a:t>
            </a:r>
            <a:r>
              <a:rPr lang="ru-RU" altLang="ko-KR" sz="1600" b="1" dirty="0">
                <a:ea typeface="Batang"/>
                <a:cs typeface="Arial" charset="0"/>
              </a:rPr>
              <a:t> </a:t>
            </a:r>
            <a:r>
              <a:rPr lang="ru-RU" altLang="ko-KR" sz="1600" dirty="0">
                <a:ea typeface="Batang"/>
                <a:cs typeface="Arial" charset="0"/>
              </a:rPr>
              <a:t>про </a:t>
            </a:r>
            <a:r>
              <a:rPr lang="ru-RU" altLang="ko-KR" sz="1600" dirty="0" err="1">
                <a:ea typeface="Batang"/>
                <a:cs typeface="Arial" charset="0"/>
              </a:rPr>
              <a:t>процес</a:t>
            </a:r>
            <a:r>
              <a:rPr lang="ru-RU" altLang="ko-KR" sz="1600" dirty="0">
                <a:ea typeface="Batang"/>
                <a:cs typeface="Arial" charset="0"/>
              </a:rPr>
              <a:t> </a:t>
            </a:r>
            <a:r>
              <a:rPr lang="ru-RU" altLang="ko-KR" sz="1600" dirty="0" err="1">
                <a:ea typeface="Batang"/>
                <a:cs typeface="Arial" charset="0"/>
              </a:rPr>
              <a:t>управління</a:t>
            </a:r>
            <a:r>
              <a:rPr lang="ru-RU" altLang="ko-KR" sz="1600" dirty="0">
                <a:ea typeface="Batang"/>
                <a:cs typeface="Arial" charset="0"/>
              </a:rPr>
              <a:t> </a:t>
            </a:r>
            <a:r>
              <a:rPr lang="ru-RU" altLang="ko-KR" sz="1600" dirty="0" err="1">
                <a:ea typeface="Batang"/>
                <a:cs typeface="Arial" charset="0"/>
              </a:rPr>
              <a:t>ризиками</a:t>
            </a:r>
            <a:r>
              <a:rPr lang="ru-RU" altLang="ko-KR" sz="1600" dirty="0">
                <a:ea typeface="Batang"/>
                <a:cs typeface="Arial" charset="0"/>
              </a:rPr>
              <a:t> </a:t>
            </a:r>
            <a:r>
              <a:rPr lang="ru-RU" altLang="ko-KR" sz="1600" dirty="0" err="1">
                <a:ea typeface="Batang"/>
                <a:cs typeface="Arial" charset="0"/>
              </a:rPr>
              <a:t>проектів</a:t>
            </a:r>
            <a:r>
              <a:rPr lang="ru-RU" altLang="ko-KR" sz="1600" dirty="0">
                <a:ea typeface="Batang"/>
                <a:cs typeface="Arial" charset="0"/>
              </a:rPr>
              <a:t> </a:t>
            </a:r>
            <a:r>
              <a:rPr lang="ru-RU" altLang="ko-KR" sz="1600" dirty="0" err="1">
                <a:ea typeface="Batang"/>
                <a:cs typeface="Arial" charset="0"/>
              </a:rPr>
              <a:t>програмних</a:t>
            </a:r>
            <a:r>
              <a:rPr lang="ru-RU" altLang="ko-KR" sz="1600" dirty="0">
                <a:ea typeface="Batang"/>
                <a:cs typeface="Arial" charset="0"/>
              </a:rPr>
              <a:t> </a:t>
            </a:r>
            <a:r>
              <a:rPr lang="ru-RU" altLang="ko-KR" sz="1600" dirty="0" err="1">
                <a:ea typeface="Batang"/>
                <a:cs typeface="Arial" charset="0"/>
              </a:rPr>
              <a:t>продуктів</a:t>
            </a:r>
            <a:r>
              <a:rPr lang="ru-RU" altLang="ko-KR" sz="1600" dirty="0">
                <a:ea typeface="Batang"/>
                <a:cs typeface="Arial" charset="0"/>
              </a:rPr>
              <a:t> </a:t>
            </a:r>
            <a:r>
              <a:rPr lang="ru-RU" altLang="ko-KR" sz="1600" dirty="0" err="1">
                <a:ea typeface="Batang"/>
                <a:cs typeface="Arial" charset="0"/>
              </a:rPr>
              <a:t>застосована</a:t>
            </a:r>
            <a:r>
              <a:rPr lang="ru-RU" altLang="ko-KR" sz="1600" dirty="0">
                <a:ea typeface="Batang"/>
                <a:cs typeface="Arial" charset="0"/>
              </a:rPr>
              <a:t> </a:t>
            </a:r>
            <a:r>
              <a:rPr lang="ru-RU" altLang="ko-KR" sz="1600" dirty="0" err="1">
                <a:ea typeface="Batang"/>
                <a:cs typeface="Arial" charset="0"/>
              </a:rPr>
              <a:t>логічна</a:t>
            </a:r>
            <a:r>
              <a:rPr lang="ru-RU" altLang="ko-KR" sz="1600" dirty="0">
                <a:ea typeface="Batang"/>
                <a:cs typeface="Arial" charset="0"/>
              </a:rPr>
              <a:t> модель </a:t>
            </a:r>
            <a:r>
              <a:rPr lang="ru-RU" altLang="ko-KR" sz="1600" dirty="0" err="1">
                <a:ea typeface="Batang"/>
                <a:cs typeface="Arial" charset="0"/>
              </a:rPr>
              <a:t>подання</a:t>
            </a:r>
            <a:r>
              <a:rPr lang="ru-RU" altLang="ko-KR" sz="1600" dirty="0">
                <a:ea typeface="Batang"/>
                <a:cs typeface="Arial" charset="0"/>
              </a:rPr>
              <a:t> </a:t>
            </a:r>
            <a:r>
              <a:rPr lang="ru-RU" altLang="ko-KR" sz="1600" dirty="0" err="1">
                <a:ea typeface="Batang"/>
                <a:cs typeface="Arial" charset="0"/>
              </a:rPr>
              <a:t>знань</a:t>
            </a:r>
            <a:r>
              <a:rPr lang="ru-RU" altLang="ko-KR" sz="1600" dirty="0">
                <a:ea typeface="Times New Roman" pitchFamily="18" charset="0"/>
                <a:cs typeface="Arial" charset="0"/>
              </a:rPr>
              <a:t>.</a:t>
            </a:r>
            <a:endParaRPr lang="ru-RU" altLang="ko-KR" sz="1600" dirty="0">
              <a:cs typeface="Arial" charset="0"/>
            </a:endParaRPr>
          </a:p>
          <a:p>
            <a:pPr indent="355600" algn="l" rtl="0" eaLnBrk="0" hangingPunct="0"/>
            <a:r>
              <a:rPr lang="ru-RU" altLang="ko-KR" sz="1600" dirty="0">
                <a:ea typeface="Batang"/>
                <a:cs typeface="Batang"/>
              </a:rPr>
              <a:t>Для </a:t>
            </a:r>
            <a:r>
              <a:rPr lang="ru-RU" altLang="ko-KR" sz="1600" dirty="0" err="1">
                <a:ea typeface="Batang"/>
                <a:cs typeface="Batang"/>
              </a:rPr>
              <a:t>відстеження</a:t>
            </a:r>
            <a:r>
              <a:rPr lang="ru-RU" altLang="ko-KR" sz="1600" dirty="0">
                <a:ea typeface="Batang"/>
                <a:cs typeface="Batang"/>
              </a:rPr>
              <a:t> </a:t>
            </a:r>
            <a:r>
              <a:rPr lang="ru-RU" altLang="ko-KR" sz="1600" dirty="0" err="1">
                <a:ea typeface="Batang"/>
                <a:cs typeface="Batang"/>
              </a:rPr>
              <a:t>залежностей</a:t>
            </a:r>
            <a:r>
              <a:rPr lang="ru-RU" altLang="ko-KR" sz="1600" dirty="0">
                <a:ea typeface="Batang"/>
                <a:cs typeface="Batang"/>
              </a:rPr>
              <a:t> </a:t>
            </a:r>
            <a:r>
              <a:rPr lang="ru-RU" altLang="ko-KR" sz="1600" dirty="0" err="1">
                <a:ea typeface="Batang"/>
                <a:cs typeface="Batang"/>
              </a:rPr>
              <a:t>між</a:t>
            </a:r>
            <a:r>
              <a:rPr lang="ru-RU" altLang="ko-KR" sz="1600" dirty="0">
                <a:ea typeface="Batang"/>
                <a:cs typeface="Batang"/>
              </a:rPr>
              <a:t> факторами </a:t>
            </a:r>
            <a:r>
              <a:rPr lang="ru-RU" altLang="ko-KR" sz="1600" dirty="0" err="1">
                <a:ea typeface="Batang"/>
                <a:cs typeface="Batang"/>
              </a:rPr>
              <a:t>ризику</a:t>
            </a:r>
            <a:r>
              <a:rPr lang="ru-RU" altLang="ko-KR" sz="1600" dirty="0">
                <a:ea typeface="Batang"/>
                <a:cs typeface="Batang"/>
              </a:rPr>
              <a:t> </a:t>
            </a:r>
            <a:r>
              <a:rPr lang="ru-RU" altLang="ko-KR" sz="1600" dirty="0" err="1">
                <a:ea typeface="Batang"/>
                <a:cs typeface="Batang"/>
              </a:rPr>
              <a:t>різних</a:t>
            </a:r>
            <a:r>
              <a:rPr lang="ru-RU" altLang="ko-KR" sz="1600" dirty="0">
                <a:ea typeface="Batang"/>
                <a:cs typeface="Batang"/>
              </a:rPr>
              <a:t> </a:t>
            </a:r>
            <a:r>
              <a:rPr lang="ru-RU" altLang="ko-KR" sz="1600" dirty="0" err="1">
                <a:ea typeface="Batang"/>
                <a:cs typeface="Batang"/>
              </a:rPr>
              <a:t>категорій</a:t>
            </a:r>
            <a:r>
              <a:rPr lang="ru-RU" altLang="ko-KR" sz="1600" dirty="0">
                <a:ea typeface="Batang"/>
                <a:cs typeface="Batang"/>
              </a:rPr>
              <a:t> у </a:t>
            </a:r>
            <a:r>
              <a:rPr lang="ru-RU" altLang="ko-KR" sz="1600" dirty="0" err="1">
                <a:ea typeface="Batang"/>
                <a:cs typeface="Batang"/>
              </a:rPr>
              <a:t>галузі</a:t>
            </a:r>
            <a:r>
              <a:rPr lang="ru-RU" altLang="ko-KR" sz="1600" dirty="0">
                <a:ea typeface="Batang"/>
                <a:cs typeface="Batang"/>
              </a:rPr>
              <a:t> </a:t>
            </a:r>
            <a:r>
              <a:rPr lang="ru-RU" altLang="ko-KR" sz="1600" dirty="0" err="1">
                <a:ea typeface="Batang"/>
                <a:cs typeface="Batang"/>
              </a:rPr>
              <a:t>обраної</a:t>
            </a:r>
            <a:r>
              <a:rPr lang="ru-RU" altLang="ko-KR" sz="1600" dirty="0">
                <a:ea typeface="Batang"/>
                <a:cs typeface="Batang"/>
              </a:rPr>
              <a:t> </a:t>
            </a:r>
            <a:r>
              <a:rPr lang="ru-RU" altLang="ko-KR" sz="1600" dirty="0" err="1">
                <a:ea typeface="Batang"/>
                <a:cs typeface="Batang"/>
              </a:rPr>
              <a:t>класифікації</a:t>
            </a:r>
            <a:r>
              <a:rPr lang="ru-RU" altLang="ko-KR" sz="1600" dirty="0">
                <a:ea typeface="Batang"/>
                <a:cs typeface="Batang"/>
              </a:rPr>
              <a:t> </a:t>
            </a:r>
            <a:r>
              <a:rPr lang="ru-RU" altLang="ko-KR" sz="1600" dirty="0" err="1">
                <a:ea typeface="Batang"/>
                <a:cs typeface="Batang"/>
              </a:rPr>
              <a:t>ризиків</a:t>
            </a:r>
            <a:r>
              <a:rPr lang="ru-RU" altLang="ko-KR" sz="1600" dirty="0">
                <a:ea typeface="Batang"/>
                <a:cs typeface="Batang"/>
              </a:rPr>
              <a:t> та </a:t>
            </a:r>
            <a:r>
              <a:rPr lang="ru-RU" altLang="ko-KR" sz="1600" dirty="0" err="1">
                <a:ea typeface="Batang"/>
                <a:cs typeface="Batang"/>
              </a:rPr>
              <a:t>ранжирування</a:t>
            </a:r>
            <a:r>
              <a:rPr lang="ru-RU" altLang="ko-KR" sz="1600" dirty="0">
                <a:ea typeface="Batang"/>
                <a:cs typeface="Batang"/>
              </a:rPr>
              <a:t> </a:t>
            </a:r>
            <a:r>
              <a:rPr lang="ru-RU" altLang="ko-KR" sz="1600" dirty="0" err="1">
                <a:ea typeface="Batang"/>
                <a:cs typeface="Batang"/>
              </a:rPr>
              <a:t>факторів</a:t>
            </a:r>
            <a:r>
              <a:rPr lang="ru-RU" altLang="ko-KR" sz="1600" dirty="0">
                <a:ea typeface="Batang"/>
                <a:cs typeface="Batang"/>
              </a:rPr>
              <a:t> </a:t>
            </a:r>
            <a:r>
              <a:rPr lang="ru-RU" altLang="ko-KR" sz="1600" dirty="0" err="1">
                <a:ea typeface="Batang"/>
                <a:cs typeface="Batang"/>
              </a:rPr>
              <a:t>ризику</a:t>
            </a:r>
            <a:r>
              <a:rPr lang="ru-RU" altLang="ko-KR" sz="1600" dirty="0">
                <a:ea typeface="Batang"/>
                <a:cs typeface="Batang"/>
              </a:rPr>
              <a:t> з </a:t>
            </a:r>
            <a:r>
              <a:rPr lang="ru-RU" altLang="ko-KR" sz="1600" dirty="0" err="1">
                <a:ea typeface="Batang"/>
                <a:cs typeface="Batang"/>
              </a:rPr>
              <a:t>урахуванням</a:t>
            </a:r>
            <a:r>
              <a:rPr lang="ru-RU" altLang="ko-KR" sz="1600" dirty="0">
                <a:ea typeface="Batang"/>
                <a:cs typeface="Batang"/>
              </a:rPr>
              <a:t> потокового </a:t>
            </a:r>
            <a:r>
              <a:rPr lang="ru-RU" altLang="ko-KR" sz="1600" dirty="0" err="1">
                <a:ea typeface="Batang"/>
                <a:cs typeface="Batang"/>
              </a:rPr>
              <a:t>етапу</a:t>
            </a:r>
            <a:r>
              <a:rPr lang="ru-RU" altLang="ko-KR" sz="1600" dirty="0">
                <a:ea typeface="Batang"/>
                <a:cs typeface="Batang"/>
              </a:rPr>
              <a:t> </a:t>
            </a:r>
            <a:r>
              <a:rPr lang="ru-RU" altLang="ko-KR" sz="1600" dirty="0" err="1">
                <a:ea typeface="Batang"/>
                <a:cs typeface="Batang"/>
              </a:rPr>
              <a:t>життєвого</a:t>
            </a:r>
            <a:r>
              <a:rPr lang="ru-RU" altLang="ko-KR" sz="1600" dirty="0">
                <a:ea typeface="Batang"/>
                <a:cs typeface="Batang"/>
              </a:rPr>
              <a:t> циклу </a:t>
            </a:r>
            <a:r>
              <a:rPr lang="ru-RU" altLang="ko-KR" sz="1600" dirty="0" err="1">
                <a:ea typeface="Batang"/>
                <a:cs typeface="Batang"/>
              </a:rPr>
              <a:t>програмного</a:t>
            </a:r>
            <a:r>
              <a:rPr lang="ru-RU" altLang="ko-KR" sz="1600" dirty="0">
                <a:ea typeface="Batang"/>
                <a:cs typeface="Batang"/>
              </a:rPr>
              <a:t> продукту </a:t>
            </a:r>
            <a:r>
              <a:rPr lang="ru-RU" altLang="ko-KR" sz="1600" dirty="0" err="1">
                <a:ea typeface="Batang"/>
                <a:cs typeface="Batang"/>
              </a:rPr>
              <a:t>використовуються</a:t>
            </a:r>
            <a:r>
              <a:rPr lang="ru-RU" altLang="ko-KR" sz="1600" dirty="0">
                <a:ea typeface="Batang"/>
                <a:cs typeface="Batang"/>
              </a:rPr>
              <a:t> </a:t>
            </a:r>
            <a:r>
              <a:rPr lang="ru-RU" altLang="ko-KR" sz="1600" dirty="0" err="1">
                <a:ea typeface="Batang"/>
                <a:cs typeface="Batang"/>
              </a:rPr>
              <a:t>наступні</a:t>
            </a:r>
            <a:r>
              <a:rPr lang="ru-RU" altLang="ko-KR" sz="1600" dirty="0">
                <a:ea typeface="Batang"/>
                <a:cs typeface="Batang"/>
              </a:rPr>
              <a:t> </a:t>
            </a:r>
            <a:r>
              <a:rPr lang="ru-RU" altLang="ko-KR" sz="1600" dirty="0" err="1">
                <a:ea typeface="Batang"/>
                <a:cs typeface="Batang"/>
              </a:rPr>
              <a:t>предикати</a:t>
            </a:r>
            <a:r>
              <a:rPr lang="ru-RU" altLang="ko-KR" sz="1600" dirty="0">
                <a:cs typeface="Times New Roman" pitchFamily="18" charset="0"/>
              </a:rPr>
              <a:t>:</a:t>
            </a:r>
            <a:endParaRPr lang="ru-RU" altLang="ko-KR" sz="1600" dirty="0">
              <a:cs typeface="Arial" charset="0"/>
            </a:endParaRPr>
          </a:p>
        </p:txBody>
      </p:sp>
      <p:sp>
        <p:nvSpPr>
          <p:cNvPr id="96266" name="Прямоугольник 4"/>
          <p:cNvSpPr>
            <a:spLocks noChangeArrowheads="1"/>
          </p:cNvSpPr>
          <p:nvPr/>
        </p:nvSpPr>
        <p:spPr bwMode="auto">
          <a:xfrm>
            <a:off x="1403648" y="2781300"/>
            <a:ext cx="7056140" cy="904863"/>
          </a:xfrm>
          <a:prstGeom prst="rect">
            <a:avLst/>
          </a:prstGeom>
          <a:noFill/>
          <a:ln w="9525">
            <a:noFill/>
            <a:miter lim="800000"/>
            <a:headEnd/>
            <a:tailEnd/>
          </a:ln>
        </p:spPr>
        <p:txBody>
          <a:bodyPr wrap="square">
            <a:spAutoFit/>
          </a:bodyPr>
          <a:lstStyle/>
          <a:p>
            <a:pPr algn="l" rtl="0">
              <a:lnSpc>
                <a:spcPct val="110000"/>
              </a:lnSpc>
            </a:pPr>
            <a:r>
              <a:rPr lang="en-US" sz="1600" dirty="0"/>
              <a:t>Q(x, y) -</a:t>
            </a:r>
            <a:r>
              <a:rPr lang="uk-UA" sz="1600" dirty="0"/>
              <a:t> </a:t>
            </a:r>
            <a:r>
              <a:rPr lang="ru-RU" sz="1600" dirty="0" err="1"/>
              <a:t>прояв</a:t>
            </a:r>
            <a:r>
              <a:rPr lang="ru-RU" sz="1600" dirty="0"/>
              <a:t> </a:t>
            </a:r>
            <a:r>
              <a:rPr lang="ru-RU" sz="1600" dirty="0" err="1"/>
              <a:t>ризиків</a:t>
            </a:r>
            <a:r>
              <a:rPr lang="ru-RU" sz="1600" dirty="0"/>
              <a:t> </a:t>
            </a:r>
            <a:r>
              <a:rPr lang="ru-RU" sz="1600" dirty="0" err="1"/>
              <a:t>категорії</a:t>
            </a:r>
            <a:r>
              <a:rPr lang="en-US" sz="1600" dirty="0"/>
              <a:t>x</a:t>
            </a:r>
            <a:r>
              <a:rPr lang="ru-RU" sz="1600" dirty="0" err="1"/>
              <a:t>призведе</a:t>
            </a:r>
            <a:r>
              <a:rPr lang="ru-RU" sz="1600" dirty="0"/>
              <a:t> до </a:t>
            </a:r>
            <a:r>
              <a:rPr lang="ru-RU" sz="1600" dirty="0" err="1"/>
              <a:t>прояву</a:t>
            </a:r>
            <a:r>
              <a:rPr lang="ru-RU" sz="1600" dirty="0"/>
              <a:t> </a:t>
            </a:r>
            <a:r>
              <a:rPr lang="ru-RU" sz="1600" dirty="0" err="1"/>
              <a:t>ризиків</a:t>
            </a:r>
            <a:r>
              <a:rPr lang="ru-RU" sz="1600" dirty="0"/>
              <a:t> </a:t>
            </a:r>
            <a:r>
              <a:rPr lang="ru-RU" sz="1600" dirty="0" err="1"/>
              <a:t>категорії</a:t>
            </a:r>
            <a:r>
              <a:rPr lang="en-US" sz="1600" dirty="0"/>
              <a:t>y;</a:t>
            </a:r>
          </a:p>
          <a:p>
            <a:pPr algn="l" rtl="0">
              <a:lnSpc>
                <a:spcPct val="110000"/>
              </a:lnSpc>
            </a:pPr>
            <a:r>
              <a:rPr lang="en-US" sz="1600" dirty="0"/>
              <a:t>P(x) -</a:t>
            </a:r>
            <a:r>
              <a:rPr lang="uk-UA" sz="1600" dirty="0"/>
              <a:t> </a:t>
            </a:r>
            <a:r>
              <a:rPr lang="ru-RU" sz="1600" dirty="0" err="1"/>
              <a:t>необхідно</a:t>
            </a:r>
            <a:r>
              <a:rPr lang="ru-RU" sz="1600" dirty="0"/>
              <a:t> </a:t>
            </a:r>
            <a:r>
              <a:rPr lang="ru-RU" sz="1600" dirty="0" err="1"/>
              <a:t>виконати</a:t>
            </a:r>
            <a:r>
              <a:rPr lang="ru-RU" sz="1600" dirty="0"/>
              <a:t> </a:t>
            </a:r>
            <a:r>
              <a:rPr lang="ru-RU" sz="1600" dirty="0" err="1"/>
              <a:t>аналіз</a:t>
            </a:r>
            <a:r>
              <a:rPr lang="ru-RU" sz="1600" dirty="0"/>
              <a:t> </a:t>
            </a:r>
            <a:r>
              <a:rPr lang="ru-RU" sz="1600" dirty="0" err="1"/>
              <a:t>ризиків</a:t>
            </a:r>
            <a:r>
              <a:rPr lang="ru-RU" sz="1600" dirty="0"/>
              <a:t> </a:t>
            </a:r>
            <a:r>
              <a:rPr lang="ru-RU" sz="1600" dirty="0" err="1"/>
              <a:t>категорії</a:t>
            </a:r>
            <a:r>
              <a:rPr lang="en-US" sz="1600" dirty="0"/>
              <a:t>x;</a:t>
            </a:r>
          </a:p>
          <a:p>
            <a:pPr algn="l" rtl="0">
              <a:lnSpc>
                <a:spcPct val="110000"/>
              </a:lnSpc>
            </a:pPr>
            <a:r>
              <a:rPr lang="en-US" sz="1600" dirty="0"/>
              <a:t>R(x) -</a:t>
            </a:r>
            <a:r>
              <a:rPr lang="uk-UA" sz="1600" dirty="0"/>
              <a:t> </a:t>
            </a:r>
            <a:r>
              <a:rPr lang="ru-RU" sz="1600" dirty="0" err="1"/>
              <a:t>виявилися</a:t>
            </a:r>
            <a:r>
              <a:rPr lang="ru-RU" sz="1600" dirty="0"/>
              <a:t> </a:t>
            </a:r>
            <a:r>
              <a:rPr lang="ru-RU" sz="1600" dirty="0" err="1"/>
              <a:t>ризики</a:t>
            </a:r>
            <a:r>
              <a:rPr lang="ru-RU" sz="1600" dirty="0"/>
              <a:t> </a:t>
            </a:r>
            <a:r>
              <a:rPr lang="ru-RU" sz="1600" dirty="0" err="1"/>
              <a:t>категорії</a:t>
            </a:r>
            <a:r>
              <a:rPr lang="en-US" sz="1600" dirty="0"/>
              <a:t>x;</a:t>
            </a:r>
          </a:p>
        </p:txBody>
      </p:sp>
      <p:sp>
        <p:nvSpPr>
          <p:cNvPr id="96267" name="Rectangle 3"/>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algn="l" rtl="0"/>
            <a:endParaRPr lang="ru-RU"/>
          </a:p>
        </p:txBody>
      </p:sp>
      <p:graphicFrame>
        <p:nvGraphicFramePr>
          <p:cNvPr id="96258" name="Object 2"/>
          <p:cNvGraphicFramePr>
            <a:graphicFrameLocks noChangeAspect="1"/>
          </p:cNvGraphicFramePr>
          <p:nvPr/>
        </p:nvGraphicFramePr>
        <p:xfrm>
          <a:off x="2484438" y="3860800"/>
          <a:ext cx="3930650" cy="323850"/>
        </p:xfrm>
        <a:graphic>
          <a:graphicData uri="http://schemas.openxmlformats.org/presentationml/2006/ole">
            <mc:AlternateContent xmlns:mc="http://schemas.openxmlformats.org/markup-compatibility/2006">
              <mc:Choice xmlns:v="urn:schemas-microsoft-com:vml" Requires="v">
                <p:oleObj name="Формула" r:id="rId2" imgW="2654300" imgH="215900" progId="Equation.3">
                  <p:embed/>
                </p:oleObj>
              </mc:Choice>
              <mc:Fallback>
                <p:oleObj name="Формула" r:id="rId2" imgW="2654300" imgH="215900" progId="Equation.3">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3860800"/>
                        <a:ext cx="39306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68" name="Rectangle 4"/>
          <p:cNvSpPr>
            <a:spLocks noChangeArrowheads="1"/>
          </p:cNvSpPr>
          <p:nvPr/>
        </p:nvSpPr>
        <p:spPr bwMode="auto">
          <a:xfrm>
            <a:off x="0" y="676275"/>
            <a:ext cx="9144000" cy="0"/>
          </a:xfrm>
          <a:prstGeom prst="rect">
            <a:avLst/>
          </a:prstGeom>
          <a:noFill/>
          <a:ln w="9525">
            <a:noFill/>
            <a:miter lim="800000"/>
            <a:headEnd/>
            <a:tailEnd/>
          </a:ln>
        </p:spPr>
        <p:txBody>
          <a:bodyPr wrap="none" anchor="ctr">
            <a:spAutoFit/>
          </a:bodyPr>
          <a:lstStyle/>
          <a:p>
            <a:pPr algn="l" rtl="0"/>
            <a:endParaRPr lang="ru-RU"/>
          </a:p>
        </p:txBody>
      </p:sp>
      <p:sp>
        <p:nvSpPr>
          <p:cNvPr id="96269" name="TextBox 9"/>
          <p:cNvSpPr txBox="1">
            <a:spLocks noChangeArrowheads="1"/>
          </p:cNvSpPr>
          <p:nvPr/>
        </p:nvSpPr>
        <p:spPr bwMode="auto">
          <a:xfrm>
            <a:off x="7956550" y="3860800"/>
            <a:ext cx="466725" cy="369888"/>
          </a:xfrm>
          <a:prstGeom prst="rect">
            <a:avLst/>
          </a:prstGeom>
          <a:noFill/>
          <a:ln w="9525">
            <a:noFill/>
            <a:miter lim="800000"/>
            <a:headEnd/>
            <a:tailEnd/>
          </a:ln>
        </p:spPr>
        <p:txBody>
          <a:bodyPr wrap="none">
            <a:spAutoFit/>
          </a:bodyPr>
          <a:lstStyle/>
          <a:p>
            <a:pPr algn="l" rtl="0"/>
            <a:r>
              <a:rPr lang="uk-UA"/>
              <a:t>(3)</a:t>
            </a:r>
            <a:endParaRPr lang="ru-RU"/>
          </a:p>
        </p:txBody>
      </p:sp>
      <p:sp>
        <p:nvSpPr>
          <p:cNvPr id="96270" name="Rectangle 6"/>
          <p:cNvSpPr>
            <a:spLocks noChangeArrowheads="1"/>
          </p:cNvSpPr>
          <p:nvPr/>
        </p:nvSpPr>
        <p:spPr bwMode="auto">
          <a:xfrm>
            <a:off x="500063" y="4357688"/>
            <a:ext cx="8064500" cy="584200"/>
          </a:xfrm>
          <a:prstGeom prst="rect">
            <a:avLst/>
          </a:prstGeom>
          <a:noFill/>
          <a:ln w="9525">
            <a:noFill/>
            <a:miter lim="800000"/>
            <a:headEnd/>
            <a:tailEnd/>
          </a:ln>
        </p:spPr>
        <p:txBody>
          <a:bodyPr anchor="ctr">
            <a:spAutoFit/>
          </a:bodyPr>
          <a:lstStyle/>
          <a:p>
            <a:pPr algn="l" rtl="0"/>
            <a:r>
              <a:rPr lang="ru-RU" sz="1600" dirty="0">
                <a:cs typeface="Times New Roman" pitchFamily="18" charset="0"/>
              </a:rPr>
              <a:t>де </a:t>
            </a:r>
            <a:r>
              <a:rPr lang="ru-RU" sz="1600" i="1" dirty="0">
                <a:cs typeface="Times New Roman" pitchFamily="18" charset="0"/>
              </a:rPr>
              <a:t>K </a:t>
            </a:r>
            <a:r>
              <a:rPr lang="ru-RU" sz="1600" dirty="0">
                <a:cs typeface="Times New Roman" pitchFamily="18" charset="0"/>
              </a:rPr>
              <a:t>- </a:t>
            </a:r>
            <a:r>
              <a:rPr lang="ru-RU" sz="1600" dirty="0" err="1">
                <a:cs typeface="Times New Roman" pitchFamily="18" charset="0"/>
              </a:rPr>
              <a:t>множина</a:t>
            </a:r>
            <a:r>
              <a:rPr lang="ru-RU" altLang="ko-KR" sz="1600" dirty="0">
                <a:ea typeface="Batang"/>
                <a:cs typeface="Arial" charset="0"/>
              </a:rPr>
              <a:t> </a:t>
            </a:r>
            <a:r>
              <a:rPr lang="ru-RU" altLang="ko-KR" sz="1600" dirty="0" err="1">
                <a:ea typeface="Batang"/>
                <a:cs typeface="Arial" charset="0"/>
              </a:rPr>
              <a:t>категорій</a:t>
            </a:r>
            <a:r>
              <a:rPr lang="ru-RU" altLang="ko-KR" sz="1600" dirty="0">
                <a:ea typeface="Batang"/>
                <a:cs typeface="Arial" charset="0"/>
              </a:rPr>
              <a:t> </a:t>
            </a:r>
            <a:r>
              <a:rPr lang="ru-RU" altLang="ko-KR" sz="1600" dirty="0" err="1">
                <a:ea typeface="Batang"/>
                <a:cs typeface="Arial" charset="0"/>
              </a:rPr>
              <a:t>ризиків</a:t>
            </a:r>
            <a:r>
              <a:rPr lang="ru-RU" altLang="ko-KR" sz="1600" dirty="0">
                <a:ea typeface="Batang"/>
                <a:cs typeface="Arial" charset="0"/>
              </a:rPr>
              <a:t> </a:t>
            </a:r>
            <a:r>
              <a:rPr lang="ru-RU" altLang="ko-KR" sz="1600" dirty="0" err="1">
                <a:ea typeface="Batang"/>
                <a:cs typeface="Arial" charset="0"/>
              </a:rPr>
              <a:t>програмних</a:t>
            </a:r>
            <a:r>
              <a:rPr lang="ru-RU" altLang="ko-KR" sz="1600" dirty="0">
                <a:ea typeface="Batang"/>
                <a:cs typeface="Arial" charset="0"/>
              </a:rPr>
              <a:t> </a:t>
            </a:r>
            <a:r>
              <a:rPr lang="ru-RU" altLang="ko-KR" sz="1600" dirty="0" err="1">
                <a:ea typeface="Batang"/>
                <a:cs typeface="Arial" charset="0"/>
              </a:rPr>
              <a:t>проектів</a:t>
            </a:r>
            <a:r>
              <a:rPr lang="ru-RU" altLang="ko-KR" sz="1600" dirty="0">
                <a:cs typeface="Times New Roman" pitchFamily="18" charset="0"/>
              </a:rPr>
              <a:t>;</a:t>
            </a:r>
            <a:endParaRPr lang="ru-RU" altLang="ko-KR" sz="1600" dirty="0">
              <a:cs typeface="Arial" charset="0"/>
            </a:endParaRPr>
          </a:p>
          <a:p>
            <a:pPr algn="l" rtl="0" eaLnBrk="0" hangingPunct="0"/>
            <a:r>
              <a:rPr lang="ru-RU" altLang="ko-KR" sz="1600" dirty="0">
                <a:ea typeface="굴림"/>
                <a:cs typeface="굴림"/>
              </a:rPr>
              <a:t>H</a:t>
            </a:r>
            <a:r>
              <a:rPr lang="ru-RU" altLang="ko-KR" sz="1600" dirty="0">
                <a:cs typeface="Times New Roman" pitchFamily="18" charset="0"/>
              </a:rPr>
              <a:t>(</a:t>
            </a:r>
            <a:r>
              <a:rPr lang="ru-RU" altLang="ko-KR" sz="1600" dirty="0" err="1">
                <a:ea typeface="굴림"/>
                <a:cs typeface="굴림"/>
              </a:rPr>
              <a:t>x</a:t>
            </a:r>
            <a:r>
              <a:rPr lang="ru-RU" altLang="ko-KR" sz="1600" dirty="0" err="1">
                <a:cs typeface="Times New Roman" pitchFamily="18" charset="0"/>
              </a:rPr>
              <a:t>,</a:t>
            </a:r>
            <a:r>
              <a:rPr lang="ru-RU" altLang="ko-KR" sz="1600" dirty="0" err="1">
                <a:ea typeface="굴림"/>
                <a:cs typeface="굴림"/>
              </a:rPr>
              <a:t>y</a:t>
            </a:r>
            <a:r>
              <a:rPr lang="ru-RU" altLang="ko-KR" sz="1600" dirty="0">
                <a:cs typeface="Times New Roman" pitchFamily="18" charset="0"/>
              </a:rPr>
              <a:t>) - на </a:t>
            </a:r>
            <a:r>
              <a:rPr lang="ru-RU" altLang="ko-KR" sz="1600" dirty="0" err="1">
                <a:cs typeface="Times New Roman" pitchFamily="18" charset="0"/>
              </a:rPr>
              <a:t>етапі</a:t>
            </a:r>
            <a:r>
              <a:rPr lang="ru-RU" altLang="ko-KR" sz="1600" i="1" dirty="0" err="1">
                <a:cs typeface="Times New Roman" pitchFamily="18" charset="0"/>
              </a:rPr>
              <a:t>x</a:t>
            </a:r>
            <a:r>
              <a:rPr lang="ru-RU" altLang="ko-KR" sz="1600" dirty="0">
                <a:cs typeface="Times New Roman" pitchFamily="18" charset="0"/>
              </a:rPr>
              <a:t> </a:t>
            </a:r>
            <a:r>
              <a:rPr lang="ru-RU" altLang="ko-KR" sz="1600" dirty="0" err="1">
                <a:ea typeface="Batang"/>
                <a:cs typeface="Batang"/>
              </a:rPr>
              <a:t>найбільш</a:t>
            </a:r>
            <a:r>
              <a:rPr lang="ru-RU" altLang="ko-KR" sz="1600" dirty="0">
                <a:ea typeface="Batang"/>
                <a:cs typeface="Batang"/>
              </a:rPr>
              <a:t> </a:t>
            </a:r>
            <a:r>
              <a:rPr lang="ru-RU" altLang="ko-KR" sz="1600" dirty="0" err="1">
                <a:ea typeface="Batang"/>
                <a:cs typeface="Batang"/>
              </a:rPr>
              <a:t>значними</a:t>
            </a:r>
            <a:r>
              <a:rPr lang="ru-RU" altLang="ko-KR" sz="1600" dirty="0">
                <a:ea typeface="Batang"/>
                <a:cs typeface="Batang"/>
              </a:rPr>
              <a:t> є </a:t>
            </a:r>
            <a:r>
              <a:rPr lang="ru-RU" altLang="ko-KR" sz="1600" dirty="0" err="1">
                <a:ea typeface="Batang"/>
                <a:cs typeface="Batang"/>
              </a:rPr>
              <a:t>ризики</a:t>
            </a:r>
            <a:r>
              <a:rPr lang="ru-RU" altLang="ko-KR" sz="1600" dirty="0">
                <a:ea typeface="Batang"/>
                <a:cs typeface="Batang"/>
              </a:rPr>
              <a:t> </a:t>
            </a:r>
            <a:r>
              <a:rPr lang="ru-RU" altLang="ko-KR" sz="1600" dirty="0" err="1">
                <a:ea typeface="Batang"/>
                <a:cs typeface="Batang"/>
              </a:rPr>
              <a:t>категорії</a:t>
            </a:r>
            <a:r>
              <a:rPr lang="ru-RU" altLang="ko-KR" sz="1600" dirty="0">
                <a:cs typeface="Times New Roman" pitchFamily="18" charset="0"/>
              </a:rPr>
              <a:t> </a:t>
            </a:r>
            <a:r>
              <a:rPr lang="ru-RU" altLang="ko-KR" sz="1600" i="1" dirty="0">
                <a:cs typeface="Times New Roman" pitchFamily="18" charset="0"/>
              </a:rPr>
              <a:t>y</a:t>
            </a:r>
            <a:r>
              <a:rPr lang="ru-RU" altLang="ko-KR" sz="1600" dirty="0">
                <a:cs typeface="Times New Roman" pitchFamily="18" charset="0"/>
              </a:rPr>
              <a:t>;</a:t>
            </a:r>
            <a:endParaRPr lang="ru-RU" altLang="ko-KR" sz="1600" dirty="0">
              <a:cs typeface="Arial" charset="0"/>
            </a:endParaRPr>
          </a:p>
        </p:txBody>
      </p:sp>
      <p:sp>
        <p:nvSpPr>
          <p:cNvPr id="96271"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lgn="l" rtl="0"/>
            <a:endParaRPr lang="ru-RU"/>
          </a:p>
        </p:txBody>
      </p:sp>
      <p:graphicFrame>
        <p:nvGraphicFramePr>
          <p:cNvPr id="96263" name="Object 7"/>
          <p:cNvGraphicFramePr>
            <a:graphicFrameLocks noChangeAspect="1"/>
          </p:cNvGraphicFramePr>
          <p:nvPr/>
        </p:nvGraphicFramePr>
        <p:xfrm>
          <a:off x="2540000" y="5229225"/>
          <a:ext cx="4070350" cy="323850"/>
        </p:xfrm>
        <a:graphic>
          <a:graphicData uri="http://schemas.openxmlformats.org/presentationml/2006/ole">
            <mc:AlternateContent xmlns:mc="http://schemas.openxmlformats.org/markup-compatibility/2006">
              <mc:Choice xmlns:v="urn:schemas-microsoft-com:vml" Requires="v">
                <p:oleObj name="Формула" r:id="rId4" imgW="2755900" imgH="215900" progId="Equation.3">
                  <p:embed/>
                </p:oleObj>
              </mc:Choice>
              <mc:Fallback>
                <p:oleObj name="Формула" r:id="rId4" imgW="2755900" imgH="2159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0000" y="5229225"/>
                        <a:ext cx="40703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72" name="Rectangle 9"/>
          <p:cNvSpPr>
            <a:spLocks noChangeArrowheads="1"/>
          </p:cNvSpPr>
          <p:nvPr/>
        </p:nvSpPr>
        <p:spPr bwMode="auto">
          <a:xfrm>
            <a:off x="0" y="219075"/>
            <a:ext cx="9144000" cy="0"/>
          </a:xfrm>
          <a:prstGeom prst="rect">
            <a:avLst/>
          </a:prstGeom>
          <a:noFill/>
          <a:ln w="9525">
            <a:noFill/>
            <a:miter lim="800000"/>
            <a:headEnd/>
            <a:tailEnd/>
          </a:ln>
        </p:spPr>
        <p:txBody>
          <a:bodyPr wrap="none" anchor="ctr">
            <a:spAutoFit/>
          </a:bodyPr>
          <a:lstStyle/>
          <a:p>
            <a:pPr algn="l" rtl="0"/>
            <a:endParaRPr lang="ru-RU"/>
          </a:p>
        </p:txBody>
      </p:sp>
      <p:sp>
        <p:nvSpPr>
          <p:cNvPr id="96273" name="TextBox 14"/>
          <p:cNvSpPr txBox="1">
            <a:spLocks noChangeArrowheads="1"/>
          </p:cNvSpPr>
          <p:nvPr/>
        </p:nvSpPr>
        <p:spPr bwMode="auto">
          <a:xfrm>
            <a:off x="7956550" y="5214938"/>
            <a:ext cx="466725" cy="369887"/>
          </a:xfrm>
          <a:prstGeom prst="rect">
            <a:avLst/>
          </a:prstGeom>
          <a:noFill/>
          <a:ln w="9525">
            <a:noFill/>
            <a:miter lim="800000"/>
            <a:headEnd/>
            <a:tailEnd/>
          </a:ln>
        </p:spPr>
        <p:txBody>
          <a:bodyPr wrap="none">
            <a:spAutoFit/>
          </a:bodyPr>
          <a:lstStyle/>
          <a:p>
            <a:pPr algn="l" rtl="0"/>
            <a:r>
              <a:rPr lang="uk-UA"/>
              <a:t>(4)</a:t>
            </a:r>
            <a:endParaRPr lang="ru-RU"/>
          </a:p>
        </p:txBody>
      </p:sp>
      <p:sp>
        <p:nvSpPr>
          <p:cNvPr id="96274" name="Rectangle 10"/>
          <p:cNvSpPr>
            <a:spLocks noChangeArrowheads="1"/>
          </p:cNvSpPr>
          <p:nvPr/>
        </p:nvSpPr>
        <p:spPr bwMode="auto">
          <a:xfrm>
            <a:off x="539750" y="5864225"/>
            <a:ext cx="8208963" cy="338138"/>
          </a:xfrm>
          <a:prstGeom prst="rect">
            <a:avLst/>
          </a:prstGeom>
          <a:noFill/>
          <a:ln w="9525">
            <a:noFill/>
            <a:miter lim="800000"/>
            <a:headEnd/>
            <a:tailEnd/>
          </a:ln>
        </p:spPr>
        <p:txBody>
          <a:bodyPr anchor="ctr">
            <a:spAutoFit/>
          </a:bodyPr>
          <a:lstStyle/>
          <a:p>
            <a:pPr algn="l" rtl="0"/>
            <a:r>
              <a:rPr lang="ru-RU" sz="1600" dirty="0">
                <a:cs typeface="Times New Roman" pitchFamily="18" charset="0"/>
              </a:rPr>
              <a:t>де </a:t>
            </a:r>
            <a:r>
              <a:rPr lang="ru-RU" sz="1600" i="1" dirty="0">
                <a:cs typeface="Times New Roman" pitchFamily="18" charset="0"/>
              </a:rPr>
              <a:t>E</a:t>
            </a:r>
            <a:r>
              <a:rPr lang="ru-RU" sz="1600" dirty="0">
                <a:cs typeface="Times New Roman" pitchFamily="18" charset="0"/>
              </a:rPr>
              <a:t>- </a:t>
            </a:r>
            <a:r>
              <a:rPr lang="ru-RU" sz="1600" dirty="0" err="1">
                <a:cs typeface="Times New Roman" pitchFamily="18" charset="0"/>
              </a:rPr>
              <a:t>Багато</a:t>
            </a:r>
            <a:r>
              <a:rPr lang="ru-RU" sz="1600" dirty="0">
                <a:cs typeface="Times New Roman" pitchFamily="18" charset="0"/>
              </a:rPr>
              <a:t> </a:t>
            </a:r>
            <a:r>
              <a:rPr lang="ru-RU" sz="1600" dirty="0" err="1">
                <a:cs typeface="Times New Roman" pitchFamily="18" charset="0"/>
              </a:rPr>
              <a:t>етапів</a:t>
            </a:r>
            <a:r>
              <a:rPr lang="ru-RU" sz="1600" dirty="0">
                <a:cs typeface="Times New Roman" pitchFamily="18" charset="0"/>
              </a:rPr>
              <a:t> </a:t>
            </a:r>
            <a:r>
              <a:rPr lang="ru-RU" sz="1600" dirty="0" err="1">
                <a:cs typeface="Times New Roman" pitchFamily="18" charset="0"/>
              </a:rPr>
              <a:t>життєвого</a:t>
            </a:r>
            <a:r>
              <a:rPr lang="ru-RU" sz="1600" dirty="0">
                <a:cs typeface="Times New Roman" pitchFamily="18" charset="0"/>
              </a:rPr>
              <a:t> циклу </a:t>
            </a:r>
            <a:r>
              <a:rPr lang="ru-RU" sz="1600" dirty="0" err="1">
                <a:cs typeface="Times New Roman" pitchFamily="18" charset="0"/>
              </a:rPr>
              <a:t>програмного</a:t>
            </a:r>
            <a:r>
              <a:rPr lang="ru-RU" sz="1600" dirty="0">
                <a:cs typeface="Times New Roman" pitchFamily="18" charset="0"/>
              </a:rPr>
              <a:t> продукту.</a:t>
            </a:r>
            <a:endParaRPr lang="ru-RU" sz="1600" dirty="0">
              <a:cs typeface="Arial" charset="0"/>
            </a:endParaRPr>
          </a:p>
        </p:txBody>
      </p:sp>
      <p:sp>
        <p:nvSpPr>
          <p:cNvPr id="96275" name="Номер слайда 15"/>
          <p:cNvSpPr>
            <a:spLocks noGrp="1"/>
          </p:cNvSpPr>
          <p:nvPr>
            <p:ph type="sldNum" sz="quarter" idx="12"/>
          </p:nvPr>
        </p:nvSpPr>
        <p:spPr/>
        <p:txBody>
          <a:bodyPr/>
          <a:lstStyle/>
          <a:p>
            <a:pPr algn="l" rtl="0" fontAlgn="base">
              <a:spcBef>
                <a:spcPct val="0"/>
              </a:spcBef>
              <a:spcAft>
                <a:spcPct val="0"/>
              </a:spcAft>
              <a:defRPr/>
            </a:pPr>
            <a:fld id="{E96B895D-6CE7-4D71-94B4-7EAF267884E4}" type="slidenum">
              <a:rPr lang="en-US"/>
              <a:pPr algn="l" rtl="0" fontAlgn="base">
                <a:spcBef>
                  <a:spcPct val="0"/>
                </a:spcBef>
                <a:spcAft>
                  <a:spcPct val="0"/>
                </a:spcAft>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eaLnBrk="1" hangingPunct="1">
              <a:defRPr/>
            </a:pPr>
            <a:r>
              <a:rPr lang="uk-UA" sz="2800" dirty="0">
                <a:effectLst>
                  <a:outerShdw blurRad="38100" dist="38100" dir="2700000" algn="tl">
                    <a:srgbClr val="000000">
                      <a:alpha val="43137"/>
                    </a:srgbClr>
                  </a:outerShdw>
                </a:effectLst>
              </a:rPr>
              <a:t>Модель</a:t>
            </a:r>
            <a:r>
              <a:rPr lang="ru-RU" sz="2800" dirty="0">
                <a:effectLst>
                  <a:outerShdw blurRad="38100" dist="38100" dir="2700000" algn="tl">
                    <a:srgbClr val="000000">
                      <a:alpha val="43137"/>
                    </a:srgbClr>
                  </a:outerShdw>
                </a:effectLst>
              </a:rPr>
              <a:t>сценарію ризиків</a:t>
            </a:r>
          </a:p>
        </p:txBody>
      </p:sp>
      <p:sp>
        <p:nvSpPr>
          <p:cNvPr id="109577" name="Содержимое 2"/>
          <p:cNvSpPr>
            <a:spLocks noGrp="1"/>
          </p:cNvSpPr>
          <p:nvPr>
            <p:ph idx="1"/>
          </p:nvPr>
        </p:nvSpPr>
        <p:spPr>
          <a:xfrm>
            <a:off x="250825" y="1196975"/>
            <a:ext cx="8713788" cy="5105400"/>
          </a:xfrm>
        </p:spPr>
        <p:txBody>
          <a:bodyPr/>
          <a:lstStyle/>
          <a:p>
            <a:pPr algn="l" rtl="0" eaLnBrk="1" hangingPunct="1">
              <a:lnSpc>
                <a:spcPct val="114000"/>
              </a:lnSpc>
              <a:spcBef>
                <a:spcPts val="600"/>
              </a:spcBef>
              <a:buFont typeface="Wingdings" pitchFamily="2" charset="2"/>
              <a:buNone/>
            </a:pPr>
            <a:r>
              <a:rPr lang="ru-RU" sz="1600" b="1" dirty="0" err="1"/>
              <a:t>Подія</a:t>
            </a:r>
            <a:r>
              <a:rPr lang="ru-RU" sz="1600" b="1" dirty="0"/>
              <a:t> </a:t>
            </a:r>
            <a:r>
              <a:rPr lang="ru-RU" sz="1600" b="1" dirty="0">
                <a:sym typeface="Symbol" pitchFamily="18" charset="2"/>
              </a:rPr>
              <a:t></a:t>
            </a:r>
            <a:r>
              <a:rPr lang="ru-RU" sz="1600" b="1" dirty="0"/>
              <a:t> </a:t>
            </a:r>
            <a:r>
              <a:rPr lang="ru-RU" sz="1600" dirty="0" err="1"/>
              <a:t>це</a:t>
            </a:r>
            <a:r>
              <a:rPr lang="ru-RU" sz="1600" dirty="0"/>
              <a:t> </a:t>
            </a:r>
            <a:r>
              <a:rPr lang="ru-RU" sz="1600" dirty="0" err="1"/>
              <a:t>зміна</a:t>
            </a:r>
            <a:r>
              <a:rPr lang="ru-RU" sz="1600" dirty="0"/>
              <a:t> у </a:t>
            </a:r>
            <a:r>
              <a:rPr lang="ru-RU" sz="1600" dirty="0" err="1"/>
              <a:t>зовнішньому</a:t>
            </a:r>
            <a:r>
              <a:rPr lang="ru-RU" sz="1600" dirty="0"/>
              <a:t> </a:t>
            </a:r>
            <a:r>
              <a:rPr lang="ru-RU" sz="1600" dirty="0" err="1"/>
              <a:t>або</a:t>
            </a:r>
            <a:r>
              <a:rPr lang="ru-RU" sz="1600" dirty="0"/>
              <a:t> </a:t>
            </a:r>
            <a:r>
              <a:rPr lang="ru-RU" sz="1600" dirty="0" err="1"/>
              <a:t>внутрішньому</a:t>
            </a:r>
            <a:r>
              <a:rPr lang="ru-RU" sz="1600" dirty="0"/>
              <a:t> </a:t>
            </a:r>
            <a:r>
              <a:rPr lang="ru-RU" sz="1600" dirty="0" err="1"/>
              <a:t>середовищі</a:t>
            </a:r>
            <a:r>
              <a:rPr lang="ru-RU" sz="1600" dirty="0"/>
              <a:t> проекту, яка </a:t>
            </a:r>
            <a:r>
              <a:rPr lang="ru-RU" sz="1600" dirty="0" err="1"/>
              <a:t>має</a:t>
            </a:r>
            <a:r>
              <a:rPr lang="ru-RU" sz="1600" dirty="0"/>
              <a:t> </a:t>
            </a:r>
            <a:r>
              <a:rPr lang="ru-RU" sz="1600" dirty="0" err="1"/>
              <a:t>наступні</a:t>
            </a:r>
            <a:r>
              <a:rPr lang="ru-RU" sz="1600" dirty="0"/>
              <a:t> </a:t>
            </a:r>
            <a:r>
              <a:rPr lang="ru-RU" sz="1600" dirty="0" err="1"/>
              <a:t>властивості</a:t>
            </a:r>
            <a:r>
              <a:rPr lang="ru-RU" sz="1600" dirty="0"/>
              <a:t>:</a:t>
            </a:r>
          </a:p>
          <a:p>
            <a:pPr marL="0" indent="0" algn="l" rtl="0" eaLnBrk="1" hangingPunct="1">
              <a:lnSpc>
                <a:spcPct val="114000"/>
              </a:lnSpc>
              <a:spcBef>
                <a:spcPts val="600"/>
              </a:spcBef>
              <a:buNone/>
            </a:pPr>
            <a:r>
              <a:rPr lang="ru-RU" sz="1600" dirty="0"/>
              <a:t>а) з </a:t>
            </a:r>
            <a:r>
              <a:rPr lang="ru-RU" sz="1600" dirty="0" err="1"/>
              <a:t>достовірністю</a:t>
            </a:r>
            <a:r>
              <a:rPr lang="ru-RU" sz="1600" dirty="0"/>
              <a:t> </a:t>
            </a:r>
            <a:r>
              <a:rPr lang="ru-RU" sz="1600" dirty="0" err="1"/>
              <a:t>відомо</a:t>
            </a:r>
            <a:r>
              <a:rPr lang="ru-RU" sz="1600" dirty="0"/>
              <a:t>, </a:t>
            </a:r>
            <a:r>
              <a:rPr lang="ru-RU" sz="1600" dirty="0" err="1"/>
              <a:t>що</a:t>
            </a:r>
            <a:r>
              <a:rPr lang="ru-RU" sz="1600" dirty="0"/>
              <a:t> вона </a:t>
            </a:r>
            <a:r>
              <a:rPr lang="ru-RU" sz="1600" dirty="0" err="1"/>
              <a:t>впливає</a:t>
            </a:r>
            <a:r>
              <a:rPr lang="ru-RU" sz="1600" dirty="0"/>
              <a:t> на </a:t>
            </a:r>
            <a:r>
              <a:rPr lang="ru-RU" sz="1600" dirty="0" err="1"/>
              <a:t>роботи</a:t>
            </a:r>
            <a:r>
              <a:rPr lang="ru-RU" sz="1600" dirty="0"/>
              <a:t> проекту,</a:t>
            </a:r>
          </a:p>
          <a:p>
            <a:pPr marL="0" indent="0" algn="l" rtl="0" eaLnBrk="1" hangingPunct="1">
              <a:lnSpc>
                <a:spcPct val="114000"/>
              </a:lnSpc>
              <a:spcBef>
                <a:spcPts val="600"/>
              </a:spcBef>
              <a:buNone/>
            </a:pPr>
            <a:r>
              <a:rPr lang="ru-RU" sz="1600" dirty="0"/>
              <a:t>б) факт </a:t>
            </a:r>
            <a:r>
              <a:rPr lang="ru-RU" sz="1600" dirty="0" err="1"/>
              <a:t>його</a:t>
            </a:r>
            <a:r>
              <a:rPr lang="ru-RU" sz="1600" dirty="0"/>
              <a:t> </a:t>
            </a:r>
            <a:r>
              <a:rPr lang="ru-RU" sz="1600" dirty="0" err="1"/>
              <a:t>появи</a:t>
            </a:r>
            <a:r>
              <a:rPr lang="ru-RU" sz="1600" dirty="0"/>
              <a:t> </a:t>
            </a:r>
            <a:r>
              <a:rPr lang="ru-RU" sz="1600" dirty="0" err="1"/>
              <a:t>має</a:t>
            </a:r>
            <a:r>
              <a:rPr lang="ru-RU" sz="1600" dirty="0"/>
              <a:t> </a:t>
            </a:r>
            <a:r>
              <a:rPr lang="ru-RU" sz="1600" dirty="0" err="1"/>
              <a:t>розпізнаватись</a:t>
            </a:r>
            <a:r>
              <a:rPr lang="ru-RU" sz="1600" dirty="0"/>
              <a:t> </a:t>
            </a:r>
            <a:r>
              <a:rPr lang="ru-RU" sz="1600" dirty="0" err="1"/>
              <a:t>учасниками</a:t>
            </a:r>
            <a:r>
              <a:rPr lang="ru-RU" sz="1600" dirty="0"/>
              <a:t> проекту.</a:t>
            </a:r>
          </a:p>
          <a:p>
            <a:pPr algn="l" rtl="0" eaLnBrk="1" hangingPunct="1">
              <a:lnSpc>
                <a:spcPct val="114000"/>
              </a:lnSpc>
              <a:spcBef>
                <a:spcPts val="600"/>
              </a:spcBef>
              <a:buFont typeface="Wingdings" pitchFamily="2" charset="2"/>
              <a:buNone/>
            </a:pPr>
            <a:r>
              <a:rPr lang="ru-RU" sz="1600" dirty="0" err="1"/>
              <a:t>Передбачається</a:t>
            </a:r>
            <a:r>
              <a:rPr lang="ru-RU" sz="1600" dirty="0"/>
              <a:t>, </a:t>
            </a:r>
            <a:r>
              <a:rPr lang="ru-RU" sz="1600" dirty="0" err="1"/>
              <a:t>що</a:t>
            </a:r>
            <a:r>
              <a:rPr lang="ru-RU" sz="1600" dirty="0"/>
              <a:t> </a:t>
            </a:r>
            <a:r>
              <a:rPr lang="ru-RU" sz="1600" dirty="0" err="1"/>
              <a:t>події</a:t>
            </a:r>
            <a:r>
              <a:rPr lang="ru-RU" sz="1600" dirty="0"/>
              <a:t> </a:t>
            </a:r>
            <a:r>
              <a:rPr lang="ru-RU" sz="1600" i="1" dirty="0" err="1"/>
              <a:t>вимірні,</a:t>
            </a:r>
            <a:r>
              <a:rPr lang="ru-RU" sz="1600" dirty="0" err="1"/>
              <a:t>тобто</a:t>
            </a:r>
            <a:r>
              <a:rPr lang="ru-RU" sz="1600" dirty="0"/>
              <a:t> є </a:t>
            </a:r>
            <a:r>
              <a:rPr lang="ru-RU" sz="1600" dirty="0" err="1"/>
              <a:t>можливість</a:t>
            </a:r>
            <a:r>
              <a:rPr lang="ru-RU" sz="1600" dirty="0"/>
              <a:t> </a:t>
            </a:r>
            <a:r>
              <a:rPr lang="ru-RU" sz="1600" dirty="0" err="1"/>
              <a:t>їх</a:t>
            </a:r>
            <a:r>
              <a:rPr lang="ru-RU" sz="1600" dirty="0"/>
              <a:t> </a:t>
            </a:r>
            <a:r>
              <a:rPr lang="ru-RU" sz="1600" dirty="0" err="1"/>
              <a:t>розпізнавання</a:t>
            </a:r>
            <a:r>
              <a:rPr lang="ru-RU" sz="1600" dirty="0"/>
              <a:t> та </a:t>
            </a:r>
            <a:r>
              <a:rPr lang="ru-RU" sz="1600" dirty="0" err="1"/>
              <a:t>іменування</a:t>
            </a:r>
            <a:r>
              <a:rPr lang="ru-RU" sz="1600" dirty="0"/>
              <a:t> </a:t>
            </a:r>
            <a:r>
              <a:rPr lang="ru-RU" sz="1600" dirty="0" err="1"/>
              <a:t>учасниками</a:t>
            </a:r>
            <a:r>
              <a:rPr lang="ru-RU" sz="1600" dirty="0"/>
              <a:t> проекту.</a:t>
            </a:r>
          </a:p>
          <a:p>
            <a:pPr algn="l" rtl="0" eaLnBrk="1" hangingPunct="1">
              <a:lnSpc>
                <a:spcPct val="114000"/>
              </a:lnSpc>
              <a:spcBef>
                <a:spcPts val="600"/>
              </a:spcBef>
              <a:buFont typeface="Wingdings" pitchFamily="2" charset="2"/>
              <a:buNone/>
            </a:pPr>
            <a:r>
              <a:rPr lang="ru-RU" sz="1600" dirty="0"/>
              <a:t>З </a:t>
            </a:r>
            <a:r>
              <a:rPr lang="ru-RU" sz="1600" dirty="0" err="1"/>
              <a:t>найпростіших</a:t>
            </a:r>
            <a:r>
              <a:rPr lang="ru-RU" sz="1600" dirty="0"/>
              <a:t> </a:t>
            </a:r>
            <a:r>
              <a:rPr lang="ru-RU" sz="1600" dirty="0" err="1"/>
              <a:t>подій</a:t>
            </a:r>
            <a:r>
              <a:rPr lang="ru-RU" sz="1600" dirty="0"/>
              <a:t> </a:t>
            </a:r>
            <a:r>
              <a:rPr lang="ru-RU" sz="1600" dirty="0" err="1"/>
              <a:t>можна</a:t>
            </a:r>
            <a:r>
              <a:rPr lang="ru-RU" sz="1600" dirty="0"/>
              <a:t> </a:t>
            </a:r>
            <a:r>
              <a:rPr lang="ru-RU" sz="1600" dirty="0" err="1"/>
              <a:t>конструювати</a:t>
            </a:r>
            <a:r>
              <a:rPr lang="ru-RU" sz="1600" dirty="0"/>
              <a:t> </a:t>
            </a:r>
            <a:r>
              <a:rPr lang="ru-RU" sz="1600" dirty="0" err="1"/>
              <a:t>логічні</a:t>
            </a:r>
            <a:r>
              <a:rPr lang="ru-RU" sz="1600" dirty="0"/>
              <a:t> </a:t>
            </a:r>
            <a:r>
              <a:rPr lang="ru-RU" sz="1600" dirty="0" err="1"/>
              <a:t>комбінації</a:t>
            </a:r>
            <a:r>
              <a:rPr lang="ru-RU" sz="1600" dirty="0"/>
              <a:t> </a:t>
            </a:r>
            <a:r>
              <a:rPr lang="ru-RU" sz="1600" dirty="0" err="1"/>
              <a:t>подій</a:t>
            </a:r>
            <a:r>
              <a:rPr lang="ru-RU" sz="1600" dirty="0"/>
              <a:t> (</a:t>
            </a:r>
            <a:r>
              <a:rPr lang="ru-RU" sz="1600" dirty="0" err="1"/>
              <a:t>складні</a:t>
            </a:r>
            <a:r>
              <a:rPr lang="ru-RU" sz="1600" dirty="0"/>
              <a:t> </a:t>
            </a:r>
            <a:r>
              <a:rPr lang="ru-RU" sz="1600" dirty="0" err="1"/>
              <a:t>події</a:t>
            </a:r>
            <a:r>
              <a:rPr lang="ru-RU" sz="1600" dirty="0"/>
              <a:t>). </a:t>
            </a:r>
            <a:r>
              <a:rPr lang="ru-RU" sz="1600" dirty="0" err="1"/>
              <a:t>Наприклад</a:t>
            </a:r>
            <a:r>
              <a:rPr lang="ru-RU" sz="1600" dirty="0"/>
              <a:t>, на </a:t>
            </a:r>
            <a:r>
              <a:rPr lang="ru-RU" sz="1600" dirty="0" err="1"/>
              <a:t>множині</a:t>
            </a:r>
            <a:r>
              <a:rPr lang="ru-RU" sz="1600" dirty="0"/>
              <a:t> про</a:t>
            </a:r>
            <a:r>
              <a:rPr lang="uk-UA" sz="1600" dirty="0"/>
              <a:t>с</a:t>
            </a:r>
            <a:r>
              <a:rPr lang="ru-RU" sz="1600" dirty="0"/>
              <a:t>тих </a:t>
            </a:r>
            <a:r>
              <a:rPr lang="ru-RU" sz="1600" dirty="0" err="1"/>
              <a:t>подій</a:t>
            </a:r>
            <a:r>
              <a:rPr lang="ru-RU" sz="1600" dirty="0"/>
              <a:t> {E1, E2, E3} </a:t>
            </a:r>
            <a:r>
              <a:rPr lang="uk-UA" sz="1600" dirty="0"/>
              <a:t>можна поставити </a:t>
            </a:r>
            <a:r>
              <a:rPr lang="ru-RU" sz="1600" dirty="0" err="1"/>
              <a:t>складну</a:t>
            </a:r>
            <a:r>
              <a:rPr lang="ru-RU" sz="1600" dirty="0"/>
              <a:t> </a:t>
            </a:r>
            <a:r>
              <a:rPr lang="ru-RU" sz="1600" dirty="0" err="1"/>
              <a:t>подію</a:t>
            </a:r>
            <a:r>
              <a:rPr lang="ru-RU" sz="1600" dirty="0"/>
              <a:t>, </a:t>
            </a:r>
            <a:r>
              <a:rPr lang="uk-UA" sz="1600" dirty="0"/>
              <a:t>яка </a:t>
            </a:r>
            <a:r>
              <a:rPr lang="ru-RU" sz="1600" dirty="0" err="1"/>
              <a:t>означає</a:t>
            </a:r>
            <a:r>
              <a:rPr lang="ru-RU" sz="1600" dirty="0"/>
              <a:t>, </a:t>
            </a:r>
            <a:r>
              <a:rPr lang="ru-RU" sz="1600" dirty="0" err="1"/>
              <a:t>що</a:t>
            </a:r>
            <a:r>
              <a:rPr lang="ru-RU" sz="1600" dirty="0"/>
              <a:t> </a:t>
            </a:r>
            <a:r>
              <a:rPr lang="ru-RU" sz="1600" dirty="0" err="1"/>
              <a:t>відбулися</a:t>
            </a:r>
            <a:r>
              <a:rPr lang="ru-RU" sz="1600" dirty="0"/>
              <a:t> </a:t>
            </a:r>
            <a:r>
              <a:rPr lang="ru-RU" sz="1600" dirty="0" err="1"/>
              <a:t>одночасно</a:t>
            </a:r>
            <a:r>
              <a:rPr lang="ru-RU" sz="1600" dirty="0"/>
              <a:t> </a:t>
            </a:r>
            <a:r>
              <a:rPr lang="ru-RU" sz="1600" dirty="0" err="1"/>
              <a:t>події</a:t>
            </a:r>
            <a:r>
              <a:rPr lang="ru-RU" sz="1600" dirty="0"/>
              <a:t> </a:t>
            </a:r>
            <a:r>
              <a:rPr lang="ru-RU" sz="1600" i="1" dirty="0"/>
              <a:t>E1 та E2</a:t>
            </a:r>
            <a:r>
              <a:rPr lang="ru-RU" sz="1600" dirty="0"/>
              <a:t>, </a:t>
            </a:r>
            <a:r>
              <a:rPr lang="ru-RU" sz="1600" i="1" dirty="0" err="1"/>
              <a:t>або</a:t>
            </a:r>
            <a:r>
              <a:rPr lang="ru-RU" sz="1600" i="1" dirty="0"/>
              <a:t> </a:t>
            </a:r>
            <a:r>
              <a:rPr lang="ru-RU" sz="1600" dirty="0" err="1"/>
              <a:t>тільки</a:t>
            </a:r>
            <a:r>
              <a:rPr lang="ru-RU" sz="1600" dirty="0"/>
              <a:t> </a:t>
            </a:r>
            <a:r>
              <a:rPr lang="ru-RU" sz="1600" i="1" dirty="0"/>
              <a:t>E3</a:t>
            </a:r>
            <a:r>
              <a:rPr lang="ru-RU" sz="1600" dirty="0"/>
              <a:t>.</a:t>
            </a:r>
          </a:p>
          <a:p>
            <a:pPr algn="l" rtl="0" eaLnBrk="1" hangingPunct="1">
              <a:lnSpc>
                <a:spcPct val="114000"/>
              </a:lnSpc>
              <a:spcBef>
                <a:spcPts val="600"/>
              </a:spcBef>
              <a:buFont typeface="Wingdings" pitchFamily="2" charset="2"/>
              <a:buNone/>
            </a:pPr>
            <a:endParaRPr lang="ru-RU" sz="1600" dirty="0"/>
          </a:p>
          <a:p>
            <a:pPr algn="l" rtl="0" eaLnBrk="1" hangingPunct="1">
              <a:lnSpc>
                <a:spcPct val="114000"/>
              </a:lnSpc>
              <a:spcBef>
                <a:spcPts val="600"/>
              </a:spcBef>
              <a:buFont typeface="Wingdings" pitchFamily="2" charset="2"/>
              <a:buNone/>
            </a:pPr>
            <a:r>
              <a:rPr lang="ru-RU" sz="1600" b="1" dirty="0" err="1"/>
              <a:t>Сценарій</a:t>
            </a:r>
            <a:r>
              <a:rPr lang="ru-RU" sz="1600" dirty="0"/>
              <a:t> </a:t>
            </a:r>
            <a:r>
              <a:rPr lang="ru-RU" sz="1600" dirty="0">
                <a:sym typeface="Symbol" pitchFamily="18" charset="2"/>
              </a:rPr>
              <a:t></a:t>
            </a:r>
            <a:r>
              <a:rPr lang="ru-RU" sz="1600" dirty="0" err="1"/>
              <a:t>це</a:t>
            </a:r>
            <a:r>
              <a:rPr lang="ru-RU" sz="1600" dirty="0"/>
              <a:t> </a:t>
            </a:r>
            <a:r>
              <a:rPr lang="ru-RU" sz="1600" dirty="0" err="1"/>
              <a:t>тимчасова</a:t>
            </a:r>
            <a:r>
              <a:rPr lang="ru-RU" sz="1600" dirty="0"/>
              <a:t> </a:t>
            </a:r>
            <a:r>
              <a:rPr lang="ru-RU" sz="1600" dirty="0" err="1"/>
              <a:t>послідовність</a:t>
            </a:r>
            <a:r>
              <a:rPr lang="ru-RU" sz="1600" dirty="0"/>
              <a:t> (</a:t>
            </a:r>
            <a:r>
              <a:rPr lang="ru-RU" sz="1600" dirty="0" err="1"/>
              <a:t>ланцюжок</a:t>
            </a:r>
            <a:r>
              <a:rPr lang="ru-RU" sz="1600" dirty="0"/>
              <a:t>) </a:t>
            </a:r>
            <a:r>
              <a:rPr lang="ru-RU" sz="1600" dirty="0" err="1"/>
              <a:t>подій</a:t>
            </a:r>
            <a:r>
              <a:rPr lang="ru-RU" sz="1600" dirty="0"/>
              <a:t>.</a:t>
            </a:r>
          </a:p>
          <a:p>
            <a:pPr algn="l" rtl="0" eaLnBrk="1" hangingPunct="1">
              <a:lnSpc>
                <a:spcPct val="114000"/>
              </a:lnSpc>
              <a:spcBef>
                <a:spcPts val="600"/>
              </a:spcBef>
              <a:buFont typeface="Wingdings" pitchFamily="2" charset="2"/>
              <a:buNone/>
            </a:pPr>
            <a:endParaRPr lang="uk-UA" sz="1600" b="1" dirty="0"/>
          </a:p>
          <a:p>
            <a:pPr algn="l" rtl="0" eaLnBrk="1" hangingPunct="1">
              <a:lnSpc>
                <a:spcPct val="114000"/>
              </a:lnSpc>
              <a:spcBef>
                <a:spcPts val="600"/>
              </a:spcBef>
              <a:buFont typeface="Wingdings" pitchFamily="2" charset="2"/>
              <a:buNone/>
            </a:pPr>
            <a:r>
              <a:rPr lang="uk-UA" sz="1600" b="1" dirty="0"/>
              <a:t>Простір сценаріїв</a:t>
            </a:r>
            <a:r>
              <a:rPr lang="uk-UA" sz="1600" dirty="0"/>
              <a:t> </a:t>
            </a:r>
            <a:r>
              <a:rPr lang="uk-UA" sz="1600" dirty="0">
                <a:sym typeface="Symbol" pitchFamily="18" charset="2"/>
              </a:rPr>
              <a:t></a:t>
            </a:r>
            <a:r>
              <a:rPr lang="uk-UA" sz="1600" dirty="0"/>
              <a:t>це множина</a:t>
            </a:r>
            <a:r>
              <a:rPr lang="ru-RU" sz="1600" dirty="0"/>
              <a:t> Ω </a:t>
            </a:r>
            <a:r>
              <a:rPr lang="ru-RU" sz="1600" dirty="0" err="1"/>
              <a:t>всіх</a:t>
            </a:r>
            <a:r>
              <a:rPr lang="ru-RU" sz="1600" dirty="0"/>
              <a:t> </a:t>
            </a:r>
            <a:r>
              <a:rPr lang="ru-RU" sz="1600" dirty="0" err="1"/>
              <a:t>можливих</a:t>
            </a:r>
            <a:r>
              <a:rPr lang="ru-RU" sz="1600" dirty="0"/>
              <a:t> </a:t>
            </a:r>
            <a:r>
              <a:rPr lang="ru-RU" sz="1600" dirty="0" err="1"/>
              <a:t>сценаріїв</a:t>
            </a:r>
            <a:r>
              <a:rPr lang="ru-RU" sz="1600" dirty="0"/>
              <a:t> для </a:t>
            </a:r>
            <a:r>
              <a:rPr lang="ru-RU" sz="1600" dirty="0" err="1"/>
              <a:t>деякого</a:t>
            </a:r>
            <a:r>
              <a:rPr lang="ru-RU" sz="1600" dirty="0"/>
              <a:t> проекту.</a:t>
            </a:r>
          </a:p>
          <a:p>
            <a:pPr algn="l" rtl="0" eaLnBrk="1" hangingPunct="1">
              <a:lnSpc>
                <a:spcPct val="114000"/>
              </a:lnSpc>
              <a:buFont typeface="Wingdings" pitchFamily="2" charset="2"/>
              <a:buNone/>
            </a:pPr>
            <a:endParaRPr lang="ru-RU" sz="1600" b="1" i="1" dirty="0"/>
          </a:p>
        </p:txBody>
      </p:sp>
      <p:sp>
        <p:nvSpPr>
          <p:cNvPr id="4" name="Номер слайда 3"/>
          <p:cNvSpPr>
            <a:spLocks noGrp="1"/>
          </p:cNvSpPr>
          <p:nvPr>
            <p:ph type="sldNum" sz="quarter" idx="12"/>
          </p:nvPr>
        </p:nvSpPr>
        <p:spPr/>
        <p:txBody>
          <a:bodyPr/>
          <a:lstStyle/>
          <a:p>
            <a:pPr algn="l" rtl="0">
              <a:defRPr/>
            </a:pPr>
            <a:fld id="{8CE75881-01F8-4B57-B12E-8ED87A2FE778}" type="slidenum">
              <a:rPr lang="en-US" smtClean="0"/>
              <a:pPr algn="l" rtl="0">
                <a:defRPr/>
              </a:pPr>
              <a:t>30</a:t>
            </a:fld>
            <a:endParaRPr lang="en-US" dirty="0"/>
          </a:p>
        </p:txBody>
      </p:sp>
      <p:sp>
        <p:nvSpPr>
          <p:cNvPr id="10957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lgn="l" rtl="0"/>
            <a:endParaRPr lang="ru-RU"/>
          </a:p>
        </p:txBody>
      </p:sp>
      <p:graphicFrame>
        <p:nvGraphicFramePr>
          <p:cNvPr id="109569" name="Object 1"/>
          <p:cNvGraphicFramePr>
            <a:graphicFrameLocks noChangeAspect="1"/>
          </p:cNvGraphicFramePr>
          <p:nvPr>
            <p:extLst>
              <p:ext uri="{D42A27DB-BD31-4B8C-83A1-F6EECF244321}">
                <p14:modId xmlns:p14="http://schemas.microsoft.com/office/powerpoint/2010/main" val="408547441"/>
              </p:ext>
            </p:extLst>
          </p:nvPr>
        </p:nvGraphicFramePr>
        <p:xfrm>
          <a:off x="3203848" y="4149080"/>
          <a:ext cx="1804988" cy="287337"/>
        </p:xfrm>
        <a:graphic>
          <a:graphicData uri="http://schemas.openxmlformats.org/presentationml/2006/ole">
            <mc:AlternateContent xmlns:mc="http://schemas.openxmlformats.org/markup-compatibility/2006">
              <mc:Choice xmlns:v="urn:schemas-microsoft-com:vml" Requires="v">
                <p:oleObj name="Формула" r:id="rId2" imgW="1497950" imgH="241195" progId="Equation.3">
                  <p:embed/>
                </p:oleObj>
              </mc:Choice>
              <mc:Fallback>
                <p:oleObj name="Формула" r:id="rId2" imgW="1497950" imgH="241195" progId="Equation.3">
                  <p:embed/>
                  <p:pic>
                    <p:nvPicPr>
                      <p:cNvPr id="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4149080"/>
                        <a:ext cx="1804988"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580"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pPr algn="l" rtl="0"/>
            <a:endParaRPr lang="ru-RU"/>
          </a:p>
        </p:txBody>
      </p:sp>
      <p:graphicFrame>
        <p:nvGraphicFramePr>
          <p:cNvPr id="109575" name="Object 7"/>
          <p:cNvGraphicFramePr>
            <a:graphicFrameLocks noChangeAspect="1"/>
          </p:cNvGraphicFramePr>
          <p:nvPr>
            <p:extLst>
              <p:ext uri="{D42A27DB-BD31-4B8C-83A1-F6EECF244321}">
                <p14:modId xmlns:p14="http://schemas.microsoft.com/office/powerpoint/2010/main" val="549425331"/>
              </p:ext>
            </p:extLst>
          </p:nvPr>
        </p:nvGraphicFramePr>
        <p:xfrm>
          <a:off x="3237185" y="4718992"/>
          <a:ext cx="1738313" cy="360363"/>
        </p:xfrm>
        <a:graphic>
          <a:graphicData uri="http://schemas.openxmlformats.org/presentationml/2006/ole">
            <mc:AlternateContent xmlns:mc="http://schemas.openxmlformats.org/markup-compatibility/2006">
              <mc:Choice xmlns:v="urn:schemas-microsoft-com:vml" Requires="v">
                <p:oleObj name="Формула" r:id="rId4" imgW="1333500" imgH="279400" progId="Equation.3">
                  <p:embed/>
                </p:oleObj>
              </mc:Choice>
              <mc:Fallback>
                <p:oleObj name="Формула" r:id="rId4" imgW="1333500" imgH="2794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7185" y="4718992"/>
                        <a:ext cx="1738313"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theme/theme1.xml><?xml version="1.0" encoding="utf-8"?>
<a:theme xmlns:a="http://schemas.openxmlformats.org/drawingml/2006/main" name="Тема4">
  <a:themeElements>
    <a:clrScheme name="170Gp_natural_light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fontScheme name="170Gp_natural_light">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70Gp_natural_light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70Gp_natural_light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170Gp_natural_light 3">
        <a:dk1>
          <a:srgbClr val="000000"/>
        </a:dk1>
        <a:lt1>
          <a:srgbClr val="FFFFFF"/>
        </a:lt1>
        <a:dk2>
          <a:srgbClr val="333399"/>
        </a:dk2>
        <a:lt2>
          <a:srgbClr val="C0C0C0"/>
        </a:lt2>
        <a:accent1>
          <a:srgbClr val="8FABD5"/>
        </a:accent1>
        <a:accent2>
          <a:srgbClr val="F1900F"/>
        </a:accent2>
        <a:accent3>
          <a:srgbClr val="FFFFFF"/>
        </a:accent3>
        <a:accent4>
          <a:srgbClr val="000000"/>
        </a:accent4>
        <a:accent5>
          <a:srgbClr val="C6D2E7"/>
        </a:accent5>
        <a:accent6>
          <a:srgbClr val="DA820C"/>
        </a:accent6>
        <a:hlink>
          <a:srgbClr val="AE0404"/>
        </a:hlink>
        <a:folHlink>
          <a:srgbClr val="0066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Тема4</Template>
  <TotalTime>10195</TotalTime>
  <Words>2886</Words>
  <Application>Microsoft Office PowerPoint</Application>
  <PresentationFormat>Экран (4:3)</PresentationFormat>
  <Paragraphs>259</Paragraphs>
  <Slides>30</Slides>
  <Notes>0</Notes>
  <HiddenSlides>0</HiddenSlides>
  <MMClips>0</MMClips>
  <ScaleCrop>false</ScaleCrop>
  <HeadingPairs>
    <vt:vector size="8" baseType="variant">
      <vt:variant>
        <vt:lpstr>Использованные шрифты</vt:lpstr>
      </vt:variant>
      <vt:variant>
        <vt:i4>4</vt:i4>
      </vt:variant>
      <vt:variant>
        <vt:lpstr>Тема</vt:lpstr>
      </vt:variant>
      <vt:variant>
        <vt:i4>1</vt:i4>
      </vt:variant>
      <vt:variant>
        <vt:lpstr>Внедренные серверы OLE</vt:lpstr>
      </vt:variant>
      <vt:variant>
        <vt:i4>2</vt:i4>
      </vt:variant>
      <vt:variant>
        <vt:lpstr>Заголовки слайдов</vt:lpstr>
      </vt:variant>
      <vt:variant>
        <vt:i4>30</vt:i4>
      </vt:variant>
    </vt:vector>
  </HeadingPairs>
  <TitlesOfParts>
    <vt:vector size="37" baseType="lpstr">
      <vt:lpstr>Arial</vt:lpstr>
      <vt:lpstr>Calibri</vt:lpstr>
      <vt:lpstr>Symbol</vt:lpstr>
      <vt:lpstr>Wingdings</vt:lpstr>
      <vt:lpstr>Тема4</vt:lpstr>
      <vt:lpstr>Visio</vt:lpstr>
      <vt:lpstr>Формула</vt:lpstr>
      <vt:lpstr>УПРАВЛІННЯ РИЗИКАМИ У ПРОГРАМНИХ ​​ПРОЄКТАХ</vt:lpstr>
      <vt:lpstr>Результати дослідженьStandish Group:CHAOSreports</vt:lpstr>
      <vt:lpstr>Управління ризиками програмних проектів</vt:lpstr>
      <vt:lpstr>Особливості програмних проектів</vt:lpstr>
      <vt:lpstr>Презентация PowerPoint</vt:lpstr>
      <vt:lpstr>Процес управління ризиками, описаний у PMBOK®, містить такі процеси: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Відомі класифікації ризиків проектів із розробки програмного забезпечення</vt:lpstr>
      <vt:lpstr>Відомі класифікації ризиків проектів із розробки програмного забезпечення</vt:lpstr>
      <vt:lpstr>Відомі класифікації ризиків проектів з розробки програмного забезпеченняспекання</vt:lpstr>
      <vt:lpstr>Відомі класифікації ризиків проектів з розробки програмного забезпечення</vt:lpstr>
      <vt:lpstr>Побудова еталонної моделі класифікації ризиків програмного проекту</vt:lpstr>
      <vt:lpstr>Опис класифікації ризиків, запропонованоїBarry Boehmна основі синтезованої еталонної моделі</vt:lpstr>
      <vt:lpstr>Реалізація розглянутих класифікацій на основі еталонної моделі </vt:lpstr>
      <vt:lpstr>Опис метазнань</vt:lpstr>
      <vt:lpstr>Модельсценарію ризиків</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user</dc:creator>
  <cp:lastModifiedBy>380971674174</cp:lastModifiedBy>
  <cp:revision>605</cp:revision>
  <dcterms:created xsi:type="dcterms:W3CDTF">2011-09-04T05:57:48Z</dcterms:created>
  <dcterms:modified xsi:type="dcterms:W3CDTF">2023-03-13T21:50:34Z</dcterms:modified>
</cp:coreProperties>
</file>