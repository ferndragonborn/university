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73" r:id="rId4"/>
    <p:sldId id="274" r:id="rId5"/>
    <p:sldId id="275" r:id="rId6"/>
    <p:sldId id="276" r:id="rId7"/>
    <p:sldId id="277" r:id="rId8"/>
    <p:sldId id="278" r:id="rId9"/>
    <p:sldId id="279" r:id="rId10"/>
    <p:sldId id="280" r:id="rId11"/>
    <p:sldId id="262" r:id="rId12"/>
    <p:sldId id="281" r:id="rId13"/>
    <p:sldId id="258" r:id="rId14"/>
    <p:sldId id="282" r:id="rId15"/>
    <p:sldId id="283" r:id="rId16"/>
    <p:sldId id="260" r:id="rId17"/>
    <p:sldId id="261" r:id="rId18"/>
    <p:sldId id="259" r:id="rId19"/>
    <p:sldId id="263" r:id="rId20"/>
    <p:sldId id="264" r:id="rId21"/>
    <p:sldId id="265" r:id="rId22"/>
    <p:sldId id="266" r:id="rId23"/>
    <p:sldId id="267" r:id="rId24"/>
    <p:sldId id="268" r:id="rId25"/>
    <p:sldId id="272" r:id="rId26"/>
    <p:sldId id="269" r:id="rId27"/>
    <p:sldId id="270" r:id="rId28"/>
    <p:sldId id="271" r:id="rId29"/>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3" name="Прямоугольник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Прямоугольник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Прямоугольник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Прямоугольник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Прямоугольник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Скругленный прямоугольник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Скругленный прямоугольник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Прямоугольник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Прямоугольник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Прямоугольник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Прямоугольник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Заголовок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ru-RU"/>
              <a:t>Образец заголовка</a:t>
            </a:r>
            <a:endParaRPr kumimoji="0" lang="en-US"/>
          </a:p>
        </p:txBody>
      </p:sp>
      <p:sp>
        <p:nvSpPr>
          <p:cNvPr id="9" name="Подзаголовок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ru-RU"/>
              <a:t>Образец подзаголовка</a:t>
            </a:r>
            <a:endParaRPr kumimoji="0" lang="en-US"/>
          </a:p>
        </p:txBody>
      </p:sp>
      <p:sp>
        <p:nvSpPr>
          <p:cNvPr id="28" name="Дата 27"/>
          <p:cNvSpPr>
            <a:spLocks noGrp="1"/>
          </p:cNvSpPr>
          <p:nvPr>
            <p:ph type="dt" sz="half" idx="10"/>
          </p:nvPr>
        </p:nvSpPr>
        <p:spPr>
          <a:xfrm>
            <a:off x="6705600" y="4206240"/>
            <a:ext cx="960120" cy="457200"/>
          </a:xfrm>
        </p:spPr>
        <p:txBody>
          <a:bodyPr/>
          <a:lstStyle/>
          <a:p>
            <a:fld id="{4502687D-AB7F-4E91-A46F-D176F8BE4AE4}" type="datetimeFigureOut">
              <a:rPr lang="ru-RU" smtClean="0"/>
              <a:pPr/>
              <a:t>27.03.2023</a:t>
            </a:fld>
            <a:endParaRPr lang="ru-RU"/>
          </a:p>
        </p:txBody>
      </p:sp>
      <p:sp>
        <p:nvSpPr>
          <p:cNvPr id="17" name="Нижний колонтитул 16"/>
          <p:cNvSpPr>
            <a:spLocks noGrp="1"/>
          </p:cNvSpPr>
          <p:nvPr>
            <p:ph type="ftr" sz="quarter" idx="11"/>
          </p:nvPr>
        </p:nvSpPr>
        <p:spPr>
          <a:xfrm>
            <a:off x="5410200" y="4205288"/>
            <a:ext cx="1295400" cy="457200"/>
          </a:xfrm>
        </p:spPr>
        <p:txBody>
          <a:bodyPr/>
          <a:lstStyle/>
          <a:p>
            <a:endParaRPr lang="ru-RU"/>
          </a:p>
        </p:txBody>
      </p:sp>
      <p:sp>
        <p:nvSpPr>
          <p:cNvPr id="29" name="Номер слайда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7BF344B4-1088-453C-8D23-BAA473CE6899}"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Содержимое 2"/>
          <p:cNvSpPr>
            <a:spLocks noGrp="1"/>
          </p:cNvSpPr>
          <p:nvPr>
            <p:ph idx="1"/>
          </p:nvPr>
        </p:nvSpPr>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ru-RU"/>
              <a:t>Образец заголовка</a:t>
            </a:r>
            <a:endParaRPr kumimoji="0" lang="en-US"/>
          </a:p>
        </p:txBody>
      </p:sp>
      <p:sp>
        <p:nvSpPr>
          <p:cNvPr id="3" name="Текст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ru-RU"/>
              <a:t>Образец текста</a:t>
            </a:r>
          </a:p>
        </p:txBody>
      </p:sp>
      <p:sp>
        <p:nvSpPr>
          <p:cNvPr id="4" name="Дата 3"/>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Содержимое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Содержимое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1000" y="1143000"/>
            <a:ext cx="8382000" cy="1069848"/>
          </a:xfrm>
        </p:spPr>
        <p:txBody>
          <a:bodyPr anchor="ctr"/>
          <a:lstStyle>
            <a:lvl1pPr>
              <a:defRPr sz="4000" b="0" i="0" cap="none" baseline="0"/>
            </a:lvl1pPr>
          </a:lstStyle>
          <a:p>
            <a:r>
              <a:rPr kumimoji="0" lang="ru-RU"/>
              <a:t>Образец заголовка</a:t>
            </a:r>
            <a:endParaRPr kumimoji="0" lang="en-US"/>
          </a:p>
        </p:txBody>
      </p:sp>
      <p:sp>
        <p:nvSpPr>
          <p:cNvPr id="3" name="Текст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4" name="Текст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ru-RU"/>
              <a:t>Образец текста</a:t>
            </a:r>
          </a:p>
        </p:txBody>
      </p:sp>
      <p:sp>
        <p:nvSpPr>
          <p:cNvPr id="5" name="Содержимое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Содержимое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26" name="Дата 25"/>
          <p:cNvSpPr>
            <a:spLocks noGrp="1"/>
          </p:cNvSpPr>
          <p:nvPr>
            <p:ph type="dt" sz="half" idx="10"/>
          </p:nvPr>
        </p:nvSpPr>
        <p:spPr/>
        <p:txBody>
          <a:bodyPr rtlCol="0"/>
          <a:lstStyle/>
          <a:p>
            <a:fld id="{4502687D-AB7F-4E91-A46F-D176F8BE4AE4}" type="datetimeFigureOut">
              <a:rPr lang="ru-RU" smtClean="0"/>
              <a:pPr/>
              <a:t>27.03.2023</a:t>
            </a:fld>
            <a:endParaRPr lang="ru-RU"/>
          </a:p>
        </p:txBody>
      </p:sp>
      <p:sp>
        <p:nvSpPr>
          <p:cNvPr id="27" name="Номер слайда 26"/>
          <p:cNvSpPr>
            <a:spLocks noGrp="1"/>
          </p:cNvSpPr>
          <p:nvPr>
            <p:ph type="sldNum" sz="quarter" idx="11"/>
          </p:nvPr>
        </p:nvSpPr>
        <p:spPr/>
        <p:txBody>
          <a:bodyPr rtlCol="0"/>
          <a:lstStyle/>
          <a:p>
            <a:fld id="{7BF344B4-1088-453C-8D23-BAA473CE6899}" type="slidenum">
              <a:rPr lang="ru-RU" smtClean="0"/>
              <a:pPr/>
              <a:t>‹#›</a:t>
            </a:fld>
            <a:endParaRPr lang="ru-RU"/>
          </a:p>
        </p:txBody>
      </p:sp>
      <p:sp>
        <p:nvSpPr>
          <p:cNvPr id="28" name="Нижний колонтитул 27"/>
          <p:cNvSpPr>
            <a:spLocks noGrp="1"/>
          </p:cNvSpPr>
          <p:nvPr>
            <p:ph type="ftr" sz="quarter" idx="12"/>
          </p:nvPr>
        </p:nvSpPr>
        <p:spPr/>
        <p:txBody>
          <a:bodyPr rtlCol="0"/>
          <a:lstStyle/>
          <a:p>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ru-RU"/>
              <a:t>Образец заголовка</a:t>
            </a:r>
            <a:endParaRPr kumimoji="0" lang="en-US"/>
          </a:p>
        </p:txBody>
      </p:sp>
      <p:sp>
        <p:nvSpPr>
          <p:cNvPr id="3" name="Дата 2"/>
          <p:cNvSpPr>
            <a:spLocks noGrp="1"/>
          </p:cNvSpPr>
          <p:nvPr>
            <p:ph type="dt" sz="half" idx="10"/>
          </p:nvPr>
        </p:nvSpPr>
        <p:spPr>
          <a:xfrm>
            <a:off x="6583680" y="612648"/>
            <a:ext cx="957264" cy="457200"/>
          </a:xfrm>
        </p:spPr>
        <p:txBody>
          <a:bodyPr/>
          <a:lstStyle/>
          <a:p>
            <a:fld id="{4502687D-AB7F-4E91-A46F-D176F8BE4AE4}" type="datetimeFigureOut">
              <a:rPr lang="ru-RU" smtClean="0"/>
              <a:pPr/>
              <a:t>27.03.2023</a:t>
            </a:fld>
            <a:endParaRPr lang="ru-RU"/>
          </a:p>
        </p:txBody>
      </p:sp>
      <p:sp>
        <p:nvSpPr>
          <p:cNvPr id="4" name="Нижний колонтитул 3"/>
          <p:cNvSpPr>
            <a:spLocks noGrp="1"/>
          </p:cNvSpPr>
          <p:nvPr>
            <p:ph type="ftr" sz="quarter" idx="11"/>
          </p:nvPr>
        </p:nvSpPr>
        <p:spPr>
          <a:xfrm>
            <a:off x="5257800" y="612648"/>
            <a:ext cx="1325880" cy="457200"/>
          </a:xfrm>
        </p:spPr>
        <p:txBody>
          <a:bodyPr/>
          <a:lstStyle/>
          <a:p>
            <a:endParaRPr lang="ru-RU"/>
          </a:p>
        </p:txBody>
      </p:sp>
      <p:sp>
        <p:nvSpPr>
          <p:cNvPr id="5" name="Номер слайда 4"/>
          <p:cNvSpPr>
            <a:spLocks noGrp="1"/>
          </p:cNvSpPr>
          <p:nvPr>
            <p:ph type="sldNum" sz="quarter" idx="12"/>
          </p:nvPr>
        </p:nvSpPr>
        <p:spPr>
          <a:xfrm>
            <a:off x="8174736" y="2272"/>
            <a:ext cx="762000" cy="365760"/>
          </a:xfrm>
        </p:spPr>
        <p:txBody>
          <a:bodyPr/>
          <a:lstStyle/>
          <a:p>
            <a:fld id="{7BF344B4-1088-453C-8D23-BAA473CE6899}"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53496" y="1101970"/>
            <a:ext cx="3383280" cy="877824"/>
          </a:xfrm>
        </p:spPr>
        <p:txBody>
          <a:bodyPr anchor="b"/>
          <a:lstStyle>
            <a:lvl1pPr algn="l">
              <a:buNone/>
              <a:defRPr sz="1800" b="1"/>
            </a:lvl1pPr>
          </a:lstStyle>
          <a:p>
            <a:r>
              <a:rPr kumimoji="0" lang="ru-RU"/>
              <a:t>Образец заголовка</a:t>
            </a:r>
            <a:endParaRPr kumimoji="0" lang="en-US"/>
          </a:p>
        </p:txBody>
      </p:sp>
      <p:sp>
        <p:nvSpPr>
          <p:cNvPr id="3" name="Текст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ru-RU"/>
              <a:t>Образец текста</a:t>
            </a:r>
          </a:p>
        </p:txBody>
      </p:sp>
      <p:sp>
        <p:nvSpPr>
          <p:cNvPr id="4" name="Содержимое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ru-RU"/>
              <a:t>Образец заголовка</a:t>
            </a:r>
            <a:endParaRPr kumimoji="0" lang="en-US"/>
          </a:p>
        </p:txBody>
      </p:sp>
      <p:sp>
        <p:nvSpPr>
          <p:cNvPr id="3" name="Рисунок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ru-RU"/>
              <a:t>Вставка рисунка</a:t>
            </a:r>
            <a:endParaRPr kumimoji="0" lang="en-US" dirty="0"/>
          </a:p>
        </p:txBody>
      </p:sp>
      <p:sp>
        <p:nvSpPr>
          <p:cNvPr id="4" name="Текст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ru-RU"/>
              <a:t>Образец текста</a:t>
            </a:r>
          </a:p>
        </p:txBody>
      </p:sp>
      <p:sp>
        <p:nvSpPr>
          <p:cNvPr id="5" name="Дата 4"/>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781800" y="1143000"/>
            <a:ext cx="1905000" cy="5486400"/>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457200" y="1143000"/>
            <a:ext cx="6248400" cy="5486400"/>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4502687D-AB7F-4E91-A46F-D176F8BE4AE4}" type="datetimeFigureOut">
              <a:rPr lang="ru-RU" smtClean="0"/>
              <a:pPr/>
              <a:t>27.03.2023</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F344B4-1088-453C-8D23-BAA473CE6899}"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Прямоугольник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Прямоугольник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Прямоугольник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Прямоугольник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Прямоугольник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Скругленный прямоугольник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Скругленный прямоугольник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Прямоугольник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Прямоугольник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Прямоугольник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Прямоугольник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Прямоугольник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Прямоугольник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Заголовок 21"/>
          <p:cNvSpPr>
            <a:spLocks noGrp="1"/>
          </p:cNvSpPr>
          <p:nvPr>
            <p:ph type="title"/>
          </p:nvPr>
        </p:nvSpPr>
        <p:spPr>
          <a:xfrm>
            <a:off x="457200" y="1143000"/>
            <a:ext cx="8229600" cy="1066800"/>
          </a:xfrm>
          <a:prstGeom prst="rect">
            <a:avLst/>
          </a:prstGeom>
        </p:spPr>
        <p:txBody>
          <a:bodyPr vert="horz" anchor="ctr">
            <a:normAutofit/>
          </a:bodyPr>
          <a:lstStyle/>
          <a:p>
            <a:r>
              <a:rPr kumimoji="0" lang="ru-RU"/>
              <a:t>Образец заголовка</a:t>
            </a:r>
            <a:endParaRPr kumimoji="0" lang="en-US"/>
          </a:p>
        </p:txBody>
      </p:sp>
      <p:sp>
        <p:nvSpPr>
          <p:cNvPr id="13" name="Текст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14" name="Дата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4502687D-AB7F-4E91-A46F-D176F8BE4AE4}" type="datetimeFigureOut">
              <a:rPr lang="ru-RU" smtClean="0"/>
              <a:pPr/>
              <a:t>27.03.2023</a:t>
            </a:fld>
            <a:endParaRPr lang="ru-RU"/>
          </a:p>
        </p:txBody>
      </p:sp>
      <p:sp>
        <p:nvSpPr>
          <p:cNvPr id="3" name="Нижний колонтитул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ru-RU"/>
          </a:p>
        </p:txBody>
      </p:sp>
      <p:sp>
        <p:nvSpPr>
          <p:cNvPr id="23" name="Номер слайда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7BF344B4-1088-453C-8D23-BAA473CE6899}"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onlinedoctranslator.com/en/?utm_source=onlinedoctranslator&amp;utm_medium=pptx&amp;utm_campaign=attribu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pPr algn="l" rtl="0"/>
            <a:r>
              <a:rPr lang="ru-RU" dirty="0"/>
              <a:t>Презентація</a:t>
            </a:r>
            <a:br>
              <a:rPr lang="ru-RU" dirty="0"/>
            </a:br>
            <a:r>
              <a:rPr lang="ru-RU" dirty="0"/>
              <a:t>на тему:</a:t>
            </a:r>
            <a:br>
              <a:rPr lang="ru-RU" dirty="0"/>
            </a:br>
            <a:r>
              <a:rPr lang="ru-RU" dirty="0"/>
              <a:t>«Конфігурація критичного ПЗ.</a:t>
            </a:r>
            <a:br>
              <a:rPr lang="ru-RU" dirty="0"/>
            </a:br>
            <a:r>
              <a:rPr lang="ru-RU" dirty="0"/>
              <a:t>Повторне використання"</a:t>
            </a:r>
          </a:p>
        </p:txBody>
      </p:sp>
      <p:sp>
        <p:nvSpPr>
          <p:cNvPr id="3" name="Подзаголовок 2"/>
          <p:cNvSpPr>
            <a:spLocks noGrp="1"/>
          </p:cNvSpPr>
          <p:nvPr>
            <p:ph type="subTitle" idx="1"/>
          </p:nvPr>
        </p:nvSpPr>
        <p:spPr>
          <a:xfrm>
            <a:off x="2339752" y="5949280"/>
            <a:ext cx="6400800" cy="600472"/>
          </a:xfrm>
        </p:spPr>
        <p:txBody>
          <a:bodyPr/>
          <a:lstStyle/>
          <a:p>
            <a:pPr algn="l" rtl="0"/>
            <a:r>
              <a:rPr lang="ru-RU" dirty="0" err="1"/>
              <a:t>Мандрікова</a:t>
            </a:r>
            <a:r>
              <a:rPr lang="ru-RU" dirty="0"/>
              <a:t>Людмила Василівна</a:t>
            </a:r>
          </a:p>
        </p:txBody>
      </p:sp>
      <p:sp>
        <p:nvSpPr>
          <p:cNvPr id="100010001" name="ODT_ATTR_LBL_SHAPE">
            <a:extLst>
              <a:ext uri="{FF2B5EF4-FFF2-40B4-BE49-F238E27FC236}">
                <a16:creationId xmlns:a16="http://schemas.microsoft.com/office/drawing/2014/main" id="{ADCB8724-23CD-4EE8-B5B5-3CB2DDF8932E}"/>
              </a:ext>
            </a:extLst>
          </p:cNvPr>
          <p:cNvSpPr txBox="1"/>
          <p:nvPr/>
        </p:nvSpPr>
        <p:spPr>
          <a:xfrm>
            <a:off x="0" y="0"/>
            <a:ext cx="5000000" cy="276999"/>
          </a:xfrm>
          <a:prstGeom prst="rect">
            <a:avLst/>
          </a:prstGeom>
          <a:solidFill>
            <a:srgbClr val="FAFAFA"/>
          </a:solidFill>
        </p:spPr>
        <p:txBody>
          <a:bodyPr wrap="none" lIns="288000">
            <a:spAutoFit/>
          </a:bodyPr>
          <a:lstStyle/>
          <a:p>
            <a:pPr rtl="0"/>
            <a:r>
              <a:rPr lang="en-US" sz="1000" dirty="0">
                <a:solidFill>
                  <a:srgbClr val="0F2B46"/>
                </a:solidFill>
                <a:effectLst/>
                <a:latin typeface="Roboto" panose="02000000000000000000" pitchFamily="2" charset="0"/>
              </a:rPr>
              <a:t>Translated from Russian to Ukrainian - </a:t>
            </a:r>
            <a:r>
              <a:rPr lang="en-US" sz="1000" u="sng" dirty="0">
                <a:solidFill>
                  <a:srgbClr val="0F2B46"/>
                </a:solidFill>
                <a:effectLst/>
                <a:latin typeface="Roboto" panose="02000000000000000000" pitchFamily="2" charset="0"/>
                <a:hlinkClick r:id="rId2" tooltip="Doc Translator - www.onlinedoctranslator.com"/>
              </a:rPr>
              <a:t>www.onlinedoctranslator.com</a:t>
            </a:r>
            <a:endParaRPr lang="en-US" sz="1000" dirty="0"/>
          </a:p>
        </p:txBody>
      </p:sp>
      <p:pic>
        <p:nvPicPr>
          <p:cNvPr id="1000100002" name="ODT_ATTR_LBL_LOGO">
            <a:extLst>
              <a:ext uri="{FF2B5EF4-FFF2-40B4-BE49-F238E27FC236}">
                <a16:creationId xmlns:a16="http://schemas.microsoft.com/office/drawing/2014/main" id="{B066AC4A-9A1C-4C10-800A-DAF9F2764385}"/>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36000"/>
            <a:ext cx="316230" cy="1797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КРИТИЧНЕ ПО</a:t>
            </a:r>
          </a:p>
        </p:txBody>
      </p:sp>
      <p:sp>
        <p:nvSpPr>
          <p:cNvPr id="3" name="Содержимое 2"/>
          <p:cNvSpPr>
            <a:spLocks noGrp="1"/>
          </p:cNvSpPr>
          <p:nvPr>
            <p:ph idx="1"/>
          </p:nvPr>
        </p:nvSpPr>
        <p:spPr/>
        <p:txBody>
          <a:bodyPr>
            <a:normAutofit/>
          </a:bodyPr>
          <a:lstStyle/>
          <a:p>
            <a:pPr algn="l" rtl="0">
              <a:buNone/>
            </a:pPr>
            <a:r>
              <a:rPr lang="ru-RU" dirty="0"/>
              <a:t>ПЗ — програма або багато програм, які використовуються для керування комп'ютером.</a:t>
            </a:r>
          </a:p>
          <a:p>
            <a:pPr algn="l" rtl="0">
              <a:buNone/>
            </a:pPr>
            <a:r>
              <a:rPr lang="ru-RU" dirty="0"/>
              <a:t>Критичне ПЗ – системи (критичного призначення), вихід з ладу яких завдасть колосальної шкоди навколишньому середовищу та людству. Відомо чимало випадків виходу з ладу критичного ПЗ, і однією з причин є невідповідність стандартам.</a:t>
            </a:r>
          </a:p>
          <a:p>
            <a:pPr algn="l" rtl="0">
              <a:buNone/>
            </a:pP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49CD96-5B7E-41D4-87CA-7F5C2D992E1D}"/>
              </a:ext>
            </a:extLst>
          </p:cNvPr>
          <p:cNvSpPr>
            <a:spLocks noGrp="1"/>
          </p:cNvSpPr>
          <p:nvPr>
            <p:ph type="title"/>
          </p:nvPr>
        </p:nvSpPr>
        <p:spPr/>
        <p:txBody>
          <a:bodyPr/>
          <a:lstStyle/>
          <a:p>
            <a:pPr algn="ctr" rtl="0"/>
            <a:r>
              <a:rPr lang="ru-RU" dirty="0"/>
              <a:t>КРИТИЧНІ СИСТЕМИ</a:t>
            </a:r>
            <a:endParaRPr lang="ru-UA" dirty="0"/>
          </a:p>
        </p:txBody>
      </p:sp>
      <p:sp>
        <p:nvSpPr>
          <p:cNvPr id="3" name="Объект 2">
            <a:extLst>
              <a:ext uri="{FF2B5EF4-FFF2-40B4-BE49-F238E27FC236}">
                <a16:creationId xmlns:a16="http://schemas.microsoft.com/office/drawing/2014/main" id="{66224EFA-F33F-419F-82AA-10FDDBF5B68F}"/>
              </a:ext>
            </a:extLst>
          </p:cNvPr>
          <p:cNvSpPr>
            <a:spLocks noGrp="1"/>
          </p:cNvSpPr>
          <p:nvPr>
            <p:ph idx="1"/>
          </p:nvPr>
        </p:nvSpPr>
        <p:spPr/>
        <p:txBody>
          <a:bodyPr>
            <a:normAutofit fontScale="85000" lnSpcReduction="20000"/>
          </a:bodyPr>
          <a:lstStyle/>
          <a:p>
            <a:pPr algn="l" rtl="0"/>
            <a:r>
              <a:rPr lang="ru-RU" dirty="0"/>
              <a:t>Зазвичай відмова систем, керованих з допомогою ПО, викликає незручності, але вони призводять до тривалих наслідків. Однак є системи, відмови яких можуть призводити до значних економічних втрат, фізичних ушкоджень або загрожувати людському життю. Такі системи зазвичай називають критичними. Функціональна надійність – необхідна вимога до критичних систем, і всі її складові (працездатність, безвідмовність, безпека та захищеність) є дуже важливими. Не менш важливий для критичних систем та високий рівень надійності.</a:t>
            </a:r>
            <a:endParaRPr lang="ru-UA" dirty="0"/>
          </a:p>
        </p:txBody>
      </p:sp>
    </p:spTree>
    <p:extLst>
      <p:ext uri="{BB962C8B-B14F-4D97-AF65-F5344CB8AC3E}">
        <p14:creationId xmlns:p14="http://schemas.microsoft.com/office/powerpoint/2010/main" val="2346239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4EB5EC-0153-466F-94E6-9527B54839AA}"/>
              </a:ext>
            </a:extLst>
          </p:cNvPr>
          <p:cNvSpPr>
            <a:spLocks noGrp="1"/>
          </p:cNvSpPr>
          <p:nvPr>
            <p:ph type="title"/>
          </p:nvPr>
        </p:nvSpPr>
        <p:spPr/>
        <p:txBody>
          <a:bodyPr/>
          <a:lstStyle/>
          <a:p>
            <a:pPr algn="ctr" rtl="0"/>
            <a:r>
              <a:rPr lang="ru-RU" dirty="0"/>
              <a:t>КРИТИЧНІ СИСТЕМИ</a:t>
            </a:r>
            <a:endParaRPr lang="ru-UA" dirty="0"/>
          </a:p>
        </p:txBody>
      </p:sp>
      <p:sp>
        <p:nvSpPr>
          <p:cNvPr id="3" name="Объект 2">
            <a:extLst>
              <a:ext uri="{FF2B5EF4-FFF2-40B4-BE49-F238E27FC236}">
                <a16:creationId xmlns:a16="http://schemas.microsoft.com/office/drawing/2014/main" id="{0DCF5F14-A788-4242-9D1D-7B6D6469D52E}"/>
              </a:ext>
            </a:extLst>
          </p:cNvPr>
          <p:cNvSpPr>
            <a:spLocks noGrp="1"/>
          </p:cNvSpPr>
          <p:nvPr>
            <p:ph idx="1"/>
          </p:nvPr>
        </p:nvSpPr>
        <p:spPr/>
        <p:txBody>
          <a:bodyPr>
            <a:normAutofit fontScale="70000" lnSpcReduction="20000"/>
          </a:bodyPr>
          <a:lstStyle/>
          <a:p>
            <a:pPr algn="l" rtl="0"/>
            <a:r>
              <a:rPr lang="ru-RU" dirty="0"/>
              <a:t>Ціна помилки критичної системи часто дуже велика. Вона включає прямі витрати, пов'язані із внесенням змін до системи або її заміною, непрямі витрати, наприклад судові, та витрати, пов'язані із втратами у бізнесі. З високої можливої ​​ціни відмови системи випливає, що якість методів розробки і процес створення ПЗ зазвичай більш важливі, ніж вартість застосування цих методів.</a:t>
            </a:r>
          </a:p>
          <a:p>
            <a:pPr algn="l" rtl="0"/>
            <a:endParaRPr lang="ru-RU" dirty="0"/>
          </a:p>
          <a:p>
            <a:pPr algn="l" rtl="0"/>
            <a:r>
              <a:rPr lang="ru-RU" dirty="0"/>
              <a:t>Тому під час створення критичних систем зазвичай використовуються випробувані методи розробки, а чи не нові, ще мали великого практичного застосування. Тільки порівняно недавно такі відносно нові методи, як, наприклад, об'єктно-орієнтовані, стали використовуватися розробки критичних систем, водночас досі розробки багатьох критичних систем досі застосовуються функционально-ориентированные методи.</a:t>
            </a:r>
            <a:endParaRPr lang="ru-UA" dirty="0"/>
          </a:p>
        </p:txBody>
      </p:sp>
    </p:spTree>
    <p:extLst>
      <p:ext uri="{BB962C8B-B14F-4D97-AF65-F5344CB8AC3E}">
        <p14:creationId xmlns:p14="http://schemas.microsoft.com/office/powerpoint/2010/main" val="124136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160BC0-2CAD-4B35-8EEF-8B4EAF733E9F}"/>
              </a:ext>
            </a:extLst>
          </p:cNvPr>
          <p:cNvSpPr>
            <a:spLocks noGrp="1"/>
          </p:cNvSpPr>
          <p:nvPr>
            <p:ph type="title"/>
          </p:nvPr>
        </p:nvSpPr>
        <p:spPr/>
        <p:txBody>
          <a:bodyPr/>
          <a:lstStyle/>
          <a:p>
            <a:pPr algn="ctr" rtl="0"/>
            <a:r>
              <a:rPr lang="ru-RU" dirty="0"/>
              <a:t>Критичні системи</a:t>
            </a:r>
            <a:endParaRPr lang="ru-UA" dirty="0"/>
          </a:p>
        </p:txBody>
      </p:sp>
      <p:sp>
        <p:nvSpPr>
          <p:cNvPr id="3" name="Объект 2">
            <a:extLst>
              <a:ext uri="{FF2B5EF4-FFF2-40B4-BE49-F238E27FC236}">
                <a16:creationId xmlns:a16="http://schemas.microsoft.com/office/drawing/2014/main" id="{0696B9D3-1BA9-41BA-94EE-560E45369C84}"/>
              </a:ext>
            </a:extLst>
          </p:cNvPr>
          <p:cNvSpPr>
            <a:spLocks noGrp="1"/>
          </p:cNvSpPr>
          <p:nvPr>
            <p:ph idx="1"/>
          </p:nvPr>
        </p:nvSpPr>
        <p:spPr/>
        <p:txBody>
          <a:bodyPr>
            <a:normAutofit fontScale="92500" lnSpcReduction="20000"/>
          </a:bodyPr>
          <a:lstStyle/>
          <a:p>
            <a:pPr algn="l" rtl="0"/>
            <a:r>
              <a:rPr lang="ru-RU" dirty="0"/>
              <a:t>З іншого боку, методи розробки, які зазвичай нерентабельні, можуть використовуватися для розробки критичних систем, наприклад метод формальних специфікацій і формалізованої перевірки програм на відповідність таким специфікаціям. Однією з причин використання цих методів є зменшення кількості тестування. Для критичних систем вартість перевірки та атестації зазвичай дуже висока і може становити понад 50% від загальної вартості системи.</a:t>
            </a:r>
          </a:p>
          <a:p>
            <a:pPr algn="l" rtl="0"/>
            <a:endParaRPr lang="ru-RU" dirty="0"/>
          </a:p>
          <a:p>
            <a:pPr algn="l" rtl="0"/>
            <a:endParaRPr lang="ru-UA" dirty="0"/>
          </a:p>
        </p:txBody>
      </p:sp>
    </p:spTree>
    <p:extLst>
      <p:ext uri="{BB962C8B-B14F-4D97-AF65-F5344CB8AC3E}">
        <p14:creationId xmlns:p14="http://schemas.microsoft.com/office/powerpoint/2010/main" val="4051815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09EF14C-7225-47B5-811B-B428C2FD05D5}"/>
              </a:ext>
            </a:extLst>
          </p:cNvPr>
          <p:cNvSpPr>
            <a:spLocks noGrp="1"/>
          </p:cNvSpPr>
          <p:nvPr>
            <p:ph type="title"/>
          </p:nvPr>
        </p:nvSpPr>
        <p:spPr/>
        <p:txBody>
          <a:bodyPr/>
          <a:lstStyle/>
          <a:p>
            <a:pPr algn="ctr" rtl="0"/>
            <a:r>
              <a:rPr lang="ru-RU" dirty="0"/>
              <a:t>КРИТИЧНІ СИСТЕМИ</a:t>
            </a:r>
            <a:endParaRPr lang="ru-UA" dirty="0"/>
          </a:p>
        </p:txBody>
      </p:sp>
      <p:sp>
        <p:nvSpPr>
          <p:cNvPr id="3" name="Объект 2">
            <a:extLst>
              <a:ext uri="{FF2B5EF4-FFF2-40B4-BE49-F238E27FC236}">
                <a16:creationId xmlns:a16="http://schemas.microsoft.com/office/drawing/2014/main" id="{1D774500-6B0E-472E-9CB7-756D3180AE62}"/>
              </a:ext>
            </a:extLst>
          </p:cNvPr>
          <p:cNvSpPr>
            <a:spLocks noGrp="1"/>
          </p:cNvSpPr>
          <p:nvPr>
            <p:ph idx="1"/>
          </p:nvPr>
        </p:nvSpPr>
        <p:spPr/>
        <p:txBody>
          <a:bodyPr>
            <a:normAutofit fontScale="47500" lnSpcReduction="20000"/>
          </a:bodyPr>
          <a:lstStyle/>
          <a:p>
            <a:pPr algn="l" rtl="0"/>
            <a:r>
              <a:rPr lang="ru-RU" sz="3300" dirty="0"/>
              <a:t>Розглядаючи надійність критичних систем, можна виділити три типи системних "компонентів", схильних до відмови.</a:t>
            </a:r>
          </a:p>
          <a:p>
            <a:pPr algn="l" rtl="0"/>
            <a:endParaRPr lang="ru-RU" sz="3300" dirty="0"/>
          </a:p>
          <a:p>
            <a:pPr marL="109728" indent="0" algn="l" rtl="0">
              <a:buNone/>
            </a:pPr>
            <a:endParaRPr lang="ru-RU" dirty="0"/>
          </a:p>
          <a:p>
            <a:pPr algn="l" rtl="0"/>
            <a:r>
              <a:rPr lang="ru-RU" sz="3300" dirty="0"/>
              <a:t>1. Апаратні засоби системи, що відмовляють або через помилки конструювання, або через помилки виготовлення, або через повне зношування.</a:t>
            </a:r>
          </a:p>
          <a:p>
            <a:pPr algn="l" rtl="0"/>
            <a:endParaRPr lang="ru-RU" sz="3300" dirty="0"/>
          </a:p>
          <a:p>
            <a:pPr algn="l" rtl="0"/>
            <a:r>
              <a:rPr lang="ru-RU" sz="3300" dirty="0"/>
              <a:t>2. Програмне забезпечення системи, яке може відмовляти через помилки або в технічних вимогах до системи, або в архітектурі системи, або в програмному коді.</a:t>
            </a:r>
          </a:p>
          <a:p>
            <a:pPr algn="l" rtl="0"/>
            <a:endParaRPr lang="ru-RU" sz="3300" dirty="0"/>
          </a:p>
          <a:p>
            <a:pPr algn="l" rtl="0"/>
            <a:r>
              <a:rPr lang="ru-RU" sz="3300" dirty="0"/>
              <a:t>3. Людський чинник, який своїми діями порушує правильну роботу системи.</a:t>
            </a:r>
          </a:p>
          <a:p>
            <a:pPr marL="109728" indent="0" algn="l" rtl="0">
              <a:buNone/>
            </a:pPr>
            <a:endParaRPr lang="ru-RU" sz="3300" dirty="0"/>
          </a:p>
          <a:p>
            <a:pPr algn="l" rtl="0"/>
            <a:endParaRPr lang="ru-RU" sz="3300" dirty="0"/>
          </a:p>
          <a:p>
            <a:pPr algn="l" rtl="0"/>
            <a:r>
              <a:rPr lang="ru-RU" sz="3300" dirty="0"/>
              <a:t>Таким чином, якщо мета полягає в тому, щоб підвищити надійність системи, необхідно розглядати всі ці аспекти</a:t>
            </a:r>
            <a:r>
              <a:rPr lang="ru-RU" sz="3300" dirty="0" err="1"/>
              <a:t>взаємозв'язок</a:t>
            </a:r>
            <a:endParaRPr lang="ru-UA" sz="3300" dirty="0"/>
          </a:p>
        </p:txBody>
      </p:sp>
    </p:spTree>
    <p:extLst>
      <p:ext uri="{BB962C8B-B14F-4D97-AF65-F5344CB8AC3E}">
        <p14:creationId xmlns:p14="http://schemas.microsoft.com/office/powerpoint/2010/main" val="139304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663C30-FB0F-40C7-84CE-A34FDC423609}"/>
              </a:ext>
            </a:extLst>
          </p:cNvPr>
          <p:cNvSpPr>
            <a:spLocks noGrp="1"/>
          </p:cNvSpPr>
          <p:nvPr>
            <p:ph type="title"/>
          </p:nvPr>
        </p:nvSpPr>
        <p:spPr/>
        <p:txBody>
          <a:bodyPr/>
          <a:lstStyle/>
          <a:p>
            <a:pPr algn="ctr" rtl="0"/>
            <a:r>
              <a:rPr lang="ru-RU" dirty="0"/>
              <a:t>Безвідмовність</a:t>
            </a:r>
            <a:endParaRPr lang="ru-UA" dirty="0"/>
          </a:p>
        </p:txBody>
      </p:sp>
      <p:sp>
        <p:nvSpPr>
          <p:cNvPr id="3" name="Объект 2">
            <a:extLst>
              <a:ext uri="{FF2B5EF4-FFF2-40B4-BE49-F238E27FC236}">
                <a16:creationId xmlns:a16="http://schemas.microsoft.com/office/drawing/2014/main" id="{189509DC-D6A2-43EC-AE78-B5E0F13470E3}"/>
              </a:ext>
            </a:extLst>
          </p:cNvPr>
          <p:cNvSpPr>
            <a:spLocks noGrp="1"/>
          </p:cNvSpPr>
          <p:nvPr>
            <p:ph idx="1"/>
          </p:nvPr>
        </p:nvSpPr>
        <p:spPr>
          <a:xfrm>
            <a:off x="457200" y="2249424"/>
            <a:ext cx="8229600" cy="4491944"/>
          </a:xfrm>
        </p:spPr>
        <p:txBody>
          <a:bodyPr>
            <a:normAutofit fontScale="62500" lnSpcReduction="20000"/>
          </a:bodyPr>
          <a:lstStyle/>
          <a:p>
            <a:pPr algn="l" rtl="0"/>
            <a:r>
              <a:rPr lang="ru-RU" dirty="0"/>
              <a:t>Безпека системи – це властивість, що відбиває здатність системи функціонувати, не загрожуючи людям чи довкіллю. Там, де безпека є необхідним атрибутом системи, говорять про систему критичної щодо забезпечення безпеки. Прикладами можуть служити контролюючі та керуючі системи в авіації, системи керування процесами на хімічних та фармацевтичних заводах та системи керування автомобілями.</a:t>
            </a:r>
          </a:p>
          <a:p>
            <a:pPr algn="l" rtl="0"/>
            <a:endParaRPr lang="ru-RU" dirty="0"/>
          </a:p>
          <a:p>
            <a:pPr algn="l" rtl="0"/>
            <a:r>
              <a:rPr lang="ru-RU" dirty="0"/>
              <a:t>Управління систем, критичних щодо забезпечення безпеки, набагато простіше організувати за допомогою апаратних засобів, ніж програмне забезпечення. Однак зараз будуються системи такої складності, що управління не може здійснюватись лише апаратними засобами. Через необхідність керувати великою кількістю сенсорів та виконавчих механізмів зі складними законами управління потрібно керуюче програмне забезпечення. Як приклад можна навести системи управління військовими літаками. Вони вимагають постійного програмного керування літаком, що гарантує безпеку польоту.</a:t>
            </a:r>
            <a:endParaRPr lang="ru-UA" dirty="0"/>
          </a:p>
        </p:txBody>
      </p:sp>
    </p:spTree>
    <p:extLst>
      <p:ext uri="{BB962C8B-B14F-4D97-AF65-F5344CB8AC3E}">
        <p14:creationId xmlns:p14="http://schemas.microsoft.com/office/powerpoint/2010/main" val="2772084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DD6F43-7828-4D44-9875-183C6F518D70}"/>
              </a:ext>
            </a:extLst>
          </p:cNvPr>
          <p:cNvSpPr>
            <a:spLocks noGrp="1"/>
          </p:cNvSpPr>
          <p:nvPr>
            <p:ph type="title"/>
          </p:nvPr>
        </p:nvSpPr>
        <p:spPr/>
        <p:txBody>
          <a:bodyPr/>
          <a:lstStyle/>
          <a:p>
            <a:pPr algn="ctr" rtl="0"/>
            <a:r>
              <a:rPr lang="ru-RU" dirty="0"/>
              <a:t>Безвідмовність</a:t>
            </a:r>
            <a:endParaRPr lang="ru-UA" dirty="0"/>
          </a:p>
        </p:txBody>
      </p:sp>
      <p:sp>
        <p:nvSpPr>
          <p:cNvPr id="3" name="Объект 2">
            <a:extLst>
              <a:ext uri="{FF2B5EF4-FFF2-40B4-BE49-F238E27FC236}">
                <a16:creationId xmlns:a16="http://schemas.microsoft.com/office/drawing/2014/main" id="{C172D23A-69BD-4385-82D3-CC10E67ED953}"/>
              </a:ext>
            </a:extLst>
          </p:cNvPr>
          <p:cNvSpPr>
            <a:spLocks noGrp="1"/>
          </p:cNvSpPr>
          <p:nvPr>
            <p:ph idx="1"/>
          </p:nvPr>
        </p:nvSpPr>
        <p:spPr/>
        <p:txBody>
          <a:bodyPr>
            <a:noAutofit/>
          </a:bodyPr>
          <a:lstStyle/>
          <a:p>
            <a:pPr algn="l" rtl="0"/>
            <a:r>
              <a:rPr lang="ru-RU" sz="2000" dirty="0"/>
              <a:t>Програмне забезпечення систем поділяється на два класи.</a:t>
            </a:r>
          </a:p>
          <a:p>
            <a:pPr algn="l" rtl="0"/>
            <a:endParaRPr lang="ru-RU" sz="2000" dirty="0"/>
          </a:p>
          <a:p>
            <a:pPr algn="l" rtl="0"/>
            <a:r>
              <a:rPr lang="ru-RU" sz="2000" dirty="0"/>
              <a:t>1. Первинне програмне забезпечення, критичне за критерієм безпеки. Це ПЗ включається до системи у вигляді окремого блоку управління. Неправильна робота такого ПЗ може бути причиною відмови обладнання, внаслідок якого може виникнути загроза життю людини або шкоди навколишньому середовищу.</a:t>
            </a:r>
          </a:p>
          <a:p>
            <a:pPr algn="l" rtl="0"/>
            <a:endParaRPr lang="ru-RU" sz="2000" dirty="0"/>
          </a:p>
          <a:p>
            <a:pPr algn="l" rtl="0"/>
            <a:r>
              <a:rPr lang="ru-RU" sz="2000" dirty="0"/>
              <a:t>2. Вторинне програмне забезпечення, критичне за критерієм безпеки. Це ПЗ непрямим чином може призвести до непередбачених наслідків. Прикладами можуть бути автоматизовані системи в техніці, неправильна робота яких може призвести до помилок у роботі об'єкта та поставити під загрозу життя людей. Інший приклад такого ПЗ - медична база даних, що містить опис ліків, призначених пацієнтам. Помилки в цій системі можуть призвести до неправильного дозування препаратів.</a:t>
            </a:r>
          </a:p>
          <a:p>
            <a:pPr algn="l" rtl="0"/>
            <a:endParaRPr lang="ru-RU" sz="2000" dirty="0"/>
          </a:p>
          <a:p>
            <a:pPr algn="l" rtl="0"/>
            <a:r>
              <a:rPr lang="ru-RU" sz="2000" dirty="0"/>
              <a:t> </a:t>
            </a:r>
            <a:endParaRPr lang="ru-UA" sz="2000" dirty="0"/>
          </a:p>
        </p:txBody>
      </p:sp>
    </p:spTree>
    <p:extLst>
      <p:ext uri="{BB962C8B-B14F-4D97-AF65-F5344CB8AC3E}">
        <p14:creationId xmlns:p14="http://schemas.microsoft.com/office/powerpoint/2010/main" val="1623196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6B93CE-5E1C-4475-86CF-BA1BD87F5D58}"/>
              </a:ext>
            </a:extLst>
          </p:cNvPr>
          <p:cNvSpPr>
            <a:spLocks noGrp="1"/>
          </p:cNvSpPr>
          <p:nvPr>
            <p:ph type="title"/>
          </p:nvPr>
        </p:nvSpPr>
        <p:spPr/>
        <p:txBody>
          <a:bodyPr/>
          <a:lstStyle/>
          <a:p>
            <a:pPr algn="ctr" rtl="0"/>
            <a:r>
              <a:rPr lang="ru-RU" dirty="0"/>
              <a:t>Безвідмовність</a:t>
            </a:r>
            <a:endParaRPr lang="ru-UA" dirty="0"/>
          </a:p>
        </p:txBody>
      </p:sp>
      <p:sp>
        <p:nvSpPr>
          <p:cNvPr id="3" name="Объект 2">
            <a:extLst>
              <a:ext uri="{FF2B5EF4-FFF2-40B4-BE49-F238E27FC236}">
                <a16:creationId xmlns:a16="http://schemas.microsoft.com/office/drawing/2014/main" id="{90A4C5AE-80B2-400C-A424-C0972D29267E}"/>
              </a:ext>
            </a:extLst>
          </p:cNvPr>
          <p:cNvSpPr>
            <a:spLocks noGrp="1"/>
          </p:cNvSpPr>
          <p:nvPr>
            <p:ph idx="1"/>
          </p:nvPr>
        </p:nvSpPr>
        <p:spPr/>
        <p:txBody>
          <a:bodyPr>
            <a:normAutofit fontScale="70000" lnSpcReduction="20000"/>
          </a:bodyPr>
          <a:lstStyle/>
          <a:p>
            <a:pPr algn="l" rtl="0"/>
            <a:r>
              <a:rPr lang="ru-RU" dirty="0"/>
              <a:t>Безвідмовність та безпека системи – взаємопов'язані, але, очевидно, різні складові функціональної надійності. Звичайно, система, критична щодо забезпечення безпеки, має відповідати своєму призначенню та функціонувати без відмов. Для забезпечення безперервного функціонування навіть у разі помилок вона має захист від збоїв. Проте відмовостійкість не гарантує безпеки системи. Програмне забезпечення може лише один раз спрацювати неправильно, і це призведе до нещасних випадків.</a:t>
            </a:r>
          </a:p>
          <a:p>
            <a:pPr algn="l" rtl="0"/>
            <a:endParaRPr lang="ru-RU" dirty="0"/>
          </a:p>
          <a:p>
            <a:pPr algn="l" rtl="0"/>
            <a:r>
              <a:rPr lang="ru-RU" dirty="0"/>
              <a:t>Не можна бути повністю впевненим, що системне програмне забезпечення безпечне і відмовостійке. Безвідмовність не гарантує його безпеку з низки причин.</a:t>
            </a:r>
            <a:endParaRPr lang="ru-UA" dirty="0"/>
          </a:p>
        </p:txBody>
      </p:sp>
    </p:spTree>
    <p:extLst>
      <p:ext uri="{BB962C8B-B14F-4D97-AF65-F5344CB8AC3E}">
        <p14:creationId xmlns:p14="http://schemas.microsoft.com/office/powerpoint/2010/main" val="1085334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896015-A6EC-4DBA-A190-8A21CC126AC1}"/>
              </a:ext>
            </a:extLst>
          </p:cNvPr>
          <p:cNvSpPr>
            <a:spLocks noGrp="1"/>
          </p:cNvSpPr>
          <p:nvPr>
            <p:ph type="title"/>
          </p:nvPr>
        </p:nvSpPr>
        <p:spPr/>
        <p:txBody>
          <a:bodyPr/>
          <a:lstStyle/>
          <a:p>
            <a:pPr algn="l" rtl="0"/>
            <a:endParaRPr lang="ru-UA" dirty="0"/>
          </a:p>
        </p:txBody>
      </p:sp>
      <p:sp>
        <p:nvSpPr>
          <p:cNvPr id="3" name="Объект 2">
            <a:extLst>
              <a:ext uri="{FF2B5EF4-FFF2-40B4-BE49-F238E27FC236}">
                <a16:creationId xmlns:a16="http://schemas.microsoft.com/office/drawing/2014/main" id="{CC2E4F58-43E3-43F0-8EF7-AB5DD0EF4B64}"/>
              </a:ext>
            </a:extLst>
          </p:cNvPr>
          <p:cNvSpPr>
            <a:spLocks noGrp="1"/>
          </p:cNvSpPr>
          <p:nvPr>
            <p:ph idx="1"/>
          </p:nvPr>
        </p:nvSpPr>
        <p:spPr/>
        <p:txBody>
          <a:bodyPr>
            <a:noAutofit/>
          </a:bodyPr>
          <a:lstStyle/>
          <a:p>
            <a:pPr algn="l" rtl="0"/>
            <a:r>
              <a:rPr lang="ru-RU" sz="1400" dirty="0"/>
              <a:t>У системної специфікації може бути визначено поведінка системи у деяких критичних ситуаціях. Високий відсоток збоїв систем – результат скоріше неправильних чи неповних вимог, ніж помилок програмування.</a:t>
            </a:r>
          </a:p>
          <a:p>
            <a:pPr algn="l" rtl="0"/>
            <a:r>
              <a:rPr lang="ru-RU" sz="1400" dirty="0"/>
              <a:t>"...труднощі з формулюванням вимог до системи, що розробляється - основна причина помилок програмного забезпечення, пов'язаних з безпекою, які не можна виявити до складання та тестування системи".</a:t>
            </a:r>
          </a:p>
          <a:p>
            <a:pPr algn="l" rtl="0"/>
            <a:endParaRPr lang="ru-RU" sz="1400" dirty="0"/>
          </a:p>
          <a:p>
            <a:pPr algn="l" rtl="0"/>
            <a:r>
              <a:rPr lang="ru-RU" sz="1400" dirty="0"/>
              <a:t>Збої в роботі апаратних засобів можуть призвести до непередбачуваного поведінки системи, в результаті чого програмне забезпечення стикається з непередбаченою ситуацією. Коли системні компоненти близькі до стану відмови, вони можуть поводитися нестійко та генерувати сигнали, які можуть бути оброблені програмним забезпеченням непередбачуваним чином.</a:t>
            </a:r>
          </a:p>
          <a:p>
            <a:pPr algn="l" rtl="0"/>
            <a:endParaRPr lang="ru-RU" sz="1400" dirty="0"/>
          </a:p>
          <a:p>
            <a:pPr algn="l" rtl="0"/>
            <a:r>
              <a:rPr lang="ru-RU" sz="1400" dirty="0"/>
              <a:t>Оператори, що працюють із системою, можуть зробити помилки, які в особливих ситуаціях здатні призвести до збою системи. Анекдотичний приклад - механік дав команду системі, що управляє польотом літака, підняти шасі. Керуюча система виконала команду механіка, незважаючи на те, що літак був на землі!</a:t>
            </a:r>
          </a:p>
          <a:p>
            <a:pPr algn="l" rtl="0"/>
            <a:endParaRPr lang="ru-RU" sz="1400" dirty="0"/>
          </a:p>
          <a:p>
            <a:pPr algn="l" rtl="0"/>
            <a:r>
              <a:rPr lang="ru-RU" sz="1400" dirty="0"/>
              <a:t>При розробці систем, критичних щодо безпеки, використовується спеціальна термінологія, наведена:</a:t>
            </a:r>
          </a:p>
          <a:p>
            <a:pPr algn="l" rtl="0"/>
            <a:endParaRPr lang="ru-RU" sz="1400" dirty="0"/>
          </a:p>
          <a:p>
            <a:pPr algn="l" rtl="0"/>
            <a:r>
              <a:rPr lang="ru-RU" sz="1400" dirty="0"/>
              <a:t> </a:t>
            </a:r>
            <a:endParaRPr lang="ru-UA" sz="1400" dirty="0"/>
          </a:p>
        </p:txBody>
      </p:sp>
    </p:spTree>
    <p:extLst>
      <p:ext uri="{BB962C8B-B14F-4D97-AF65-F5344CB8AC3E}">
        <p14:creationId xmlns:p14="http://schemas.microsoft.com/office/powerpoint/2010/main" val="1647009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КРИТИЧНЕ ПО</a:t>
            </a:r>
          </a:p>
        </p:txBody>
      </p:sp>
      <p:sp>
        <p:nvSpPr>
          <p:cNvPr id="3" name="Содержимое 2"/>
          <p:cNvSpPr>
            <a:spLocks noGrp="1"/>
          </p:cNvSpPr>
          <p:nvPr>
            <p:ph idx="1"/>
          </p:nvPr>
        </p:nvSpPr>
        <p:spPr/>
        <p:txBody>
          <a:bodyPr>
            <a:normAutofit fontScale="70000" lnSpcReduction="20000"/>
          </a:bodyPr>
          <a:lstStyle/>
          <a:p>
            <a:pPr algn="l" rtl="0"/>
            <a:r>
              <a:rPr lang="ru-RU" dirty="0"/>
              <a:t>Критичне ПЗ:</a:t>
            </a:r>
          </a:p>
          <a:p>
            <a:pPr lvl="0" algn="l" rtl="0"/>
            <a:r>
              <a:rPr lang="ru-RU" dirty="0"/>
              <a:t>системи космічної навігації</a:t>
            </a:r>
            <a:r>
              <a:rPr lang="en-US" dirty="0"/>
              <a:t>;</a:t>
            </a:r>
            <a:endParaRPr lang="ru-RU" dirty="0"/>
          </a:p>
          <a:p>
            <a:pPr lvl="0" algn="l" rtl="0"/>
            <a:r>
              <a:rPr lang="ru-RU" dirty="0"/>
              <a:t>системи управління супутниками, ракетами-носіями,</a:t>
            </a:r>
            <a:r>
              <a:rPr lang="ru-RU" dirty="0" err="1"/>
              <a:t>марсоходами</a:t>
            </a:r>
            <a:r>
              <a:rPr lang="ru-RU" dirty="0"/>
              <a:t>, місяцеходами та іншими космічними апаратами;</a:t>
            </a:r>
          </a:p>
          <a:p>
            <a:pPr lvl="0" algn="l" rtl="0"/>
            <a:r>
              <a:rPr lang="ru-RU" dirty="0"/>
              <a:t>системи управління</a:t>
            </a:r>
            <a:r>
              <a:rPr lang="ru-RU" dirty="0" err="1"/>
              <a:t>безпілотниками</a:t>
            </a:r>
            <a:r>
              <a:rPr lang="en-US" dirty="0"/>
              <a:t>;</a:t>
            </a:r>
            <a:endParaRPr lang="ru-RU" dirty="0"/>
          </a:p>
          <a:p>
            <a:pPr lvl="0" algn="l" rtl="0"/>
            <a:r>
              <a:rPr lang="ru-RU" dirty="0"/>
              <a:t>системи наведення та</a:t>
            </a:r>
            <a:r>
              <a:rPr lang="ru-RU" dirty="0" err="1"/>
              <a:t>цільовказівки</a:t>
            </a:r>
            <a:r>
              <a:rPr lang="en-US" dirty="0"/>
              <a:t>;</a:t>
            </a:r>
            <a:endParaRPr lang="ru-RU" dirty="0"/>
          </a:p>
          <a:p>
            <a:pPr lvl="0" algn="l" rtl="0"/>
            <a:r>
              <a:rPr lang="ru-RU" dirty="0"/>
              <a:t>системи телекомунікацій та зв'язку</a:t>
            </a:r>
            <a:r>
              <a:rPr lang="en-US" dirty="0"/>
              <a:t>;</a:t>
            </a:r>
            <a:endParaRPr lang="ru-RU" dirty="0"/>
          </a:p>
          <a:p>
            <a:pPr lvl="0" algn="l" rtl="0"/>
            <a:r>
              <a:rPr lang="ru-RU" dirty="0"/>
              <a:t>системи управління обладнанням АЕС</a:t>
            </a:r>
            <a:r>
              <a:rPr lang="en-US" dirty="0"/>
              <a:t>;</a:t>
            </a:r>
            <a:endParaRPr lang="ru-RU" dirty="0"/>
          </a:p>
          <a:p>
            <a:pPr lvl="0" algn="l" rtl="0"/>
            <a:r>
              <a:rPr lang="ru-RU" dirty="0"/>
              <a:t>системи управління ракетами</a:t>
            </a:r>
            <a:r>
              <a:rPr lang="en-US" dirty="0"/>
              <a:t>;</a:t>
            </a:r>
            <a:endParaRPr lang="ru-RU" dirty="0"/>
          </a:p>
          <a:p>
            <a:pPr lvl="0" algn="l" rtl="0"/>
            <a:r>
              <a:rPr lang="ru-RU" dirty="0"/>
              <a:t>системи керування авіалайнерами</a:t>
            </a:r>
            <a:r>
              <a:rPr lang="en-US" dirty="0"/>
              <a:t>;</a:t>
            </a:r>
            <a:endParaRPr lang="ru-RU" dirty="0"/>
          </a:p>
          <a:p>
            <a:pPr lvl="0" algn="l" rtl="0"/>
            <a:r>
              <a:rPr lang="ru-RU" dirty="0"/>
              <a:t>системи управління винищувачами</a:t>
            </a:r>
            <a:r>
              <a:rPr lang="en-US" dirty="0"/>
              <a:t>;</a:t>
            </a:r>
            <a:endParaRPr lang="ru-RU" dirty="0"/>
          </a:p>
          <a:p>
            <a:pPr lvl="0" algn="l" rtl="0"/>
            <a:r>
              <a:rPr lang="ru-RU" dirty="0"/>
              <a:t>системи керування атомними підводними човнами;</a:t>
            </a:r>
          </a:p>
          <a:p>
            <a:pPr lvl="0" algn="l" rtl="0"/>
            <a:r>
              <a:rPr lang="ru-RU" dirty="0"/>
              <a:t>системи управління авіаносцями</a:t>
            </a:r>
            <a:r>
              <a:rPr lang="en-US" dirty="0"/>
              <a:t>;</a:t>
            </a:r>
            <a:endParaRPr lang="ru-RU" dirty="0"/>
          </a:p>
          <a:p>
            <a:pPr algn="l" rtl="0"/>
            <a:r>
              <a:rPr lang="ru-RU" dirty="0"/>
              <a:t>системи управління атомоходами</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B0F1FA-8D64-4A21-BC38-FABFE3F46F49}"/>
              </a:ext>
            </a:extLst>
          </p:cNvPr>
          <p:cNvSpPr>
            <a:spLocks noGrp="1"/>
          </p:cNvSpPr>
          <p:nvPr>
            <p:ph type="title"/>
          </p:nvPr>
        </p:nvSpPr>
        <p:spPr/>
        <p:txBody>
          <a:bodyPr/>
          <a:lstStyle/>
          <a:p>
            <a:pPr algn="l" rtl="0"/>
            <a:r>
              <a:rPr lang="ru-RU" dirty="0"/>
              <a:t>Термінологія безпеки</a:t>
            </a:r>
            <a:endParaRPr lang="ru-UA" dirty="0"/>
          </a:p>
        </p:txBody>
      </p:sp>
      <p:graphicFrame>
        <p:nvGraphicFramePr>
          <p:cNvPr id="4" name="Объект 3">
            <a:extLst>
              <a:ext uri="{FF2B5EF4-FFF2-40B4-BE49-F238E27FC236}">
                <a16:creationId xmlns:a16="http://schemas.microsoft.com/office/drawing/2014/main" id="{5AAB2172-2506-4B30-AE73-CEA9E32D61C2}"/>
              </a:ext>
            </a:extLst>
          </p:cNvPr>
          <p:cNvGraphicFramePr>
            <a:graphicFrameLocks noGrp="1"/>
          </p:cNvGraphicFramePr>
          <p:nvPr>
            <p:ph idx="1"/>
            <p:extLst>
              <p:ext uri="{D42A27DB-BD31-4B8C-83A1-F6EECF244321}">
                <p14:modId xmlns:p14="http://schemas.microsoft.com/office/powerpoint/2010/main" val="1275426240"/>
              </p:ext>
            </p:extLst>
          </p:nvPr>
        </p:nvGraphicFramePr>
        <p:xfrm>
          <a:off x="606388" y="2209800"/>
          <a:ext cx="7931224" cy="5887050"/>
        </p:xfrm>
        <a:graphic>
          <a:graphicData uri="http://schemas.openxmlformats.org/drawingml/2006/table">
            <a:tbl>
              <a:tblPr/>
              <a:tblGrid>
                <a:gridCol w="3965612">
                  <a:extLst>
                    <a:ext uri="{9D8B030D-6E8A-4147-A177-3AD203B41FA5}">
                      <a16:colId xmlns:a16="http://schemas.microsoft.com/office/drawing/2014/main" val="60609517"/>
                    </a:ext>
                  </a:extLst>
                </a:gridCol>
                <a:gridCol w="3965612">
                  <a:extLst>
                    <a:ext uri="{9D8B030D-6E8A-4147-A177-3AD203B41FA5}">
                      <a16:colId xmlns:a16="http://schemas.microsoft.com/office/drawing/2014/main" val="3908569441"/>
                    </a:ext>
                  </a:extLst>
                </a:gridCol>
              </a:tblGrid>
              <a:tr h="124442">
                <a:tc>
                  <a:txBody>
                    <a:bodyPr/>
                    <a:lstStyle/>
                    <a:p>
                      <a:pPr algn="l" rtl="0"/>
                      <a:r>
                        <a:rPr lang="ru-RU" sz="1200"/>
                        <a:t>Термін</a:t>
                      </a:r>
                    </a:p>
                  </a:txBody>
                  <a:tcPr marL="31110" marR="31110" marT="15555" marB="15555" anchor="ctr">
                    <a:lnL>
                      <a:noFill/>
                    </a:lnL>
                    <a:lnR>
                      <a:noFill/>
                    </a:lnR>
                    <a:lnT>
                      <a:noFill/>
                    </a:lnT>
                    <a:lnB>
                      <a:noFill/>
                    </a:lnB>
                  </a:tcPr>
                </a:tc>
                <a:tc>
                  <a:txBody>
                    <a:bodyPr/>
                    <a:lstStyle/>
                    <a:p>
                      <a:pPr algn="l" rtl="0"/>
                      <a:r>
                        <a:rPr lang="ru-RU" sz="1200"/>
                        <a:t>Опис</a:t>
                      </a:r>
                    </a:p>
                  </a:txBody>
                  <a:tcPr marL="31110" marR="31110" marT="15555" marB="15555" anchor="ctr">
                    <a:lnL>
                      <a:noFill/>
                    </a:lnL>
                    <a:lnR>
                      <a:noFill/>
                    </a:lnR>
                    <a:lnT>
                      <a:noFill/>
                    </a:lnT>
                    <a:lnB>
                      <a:noFill/>
                    </a:lnB>
                  </a:tcPr>
                </a:tc>
                <a:extLst>
                  <a:ext uri="{0D108BD9-81ED-4DB2-BD59-A6C34878D82A}">
                    <a16:rowId xmlns:a16="http://schemas.microsoft.com/office/drawing/2014/main" val="600368151"/>
                  </a:ext>
                </a:extLst>
              </a:tr>
              <a:tr h="871092">
                <a:tc>
                  <a:txBody>
                    <a:bodyPr/>
                    <a:lstStyle/>
                    <a:p>
                      <a:pPr algn="l" rtl="0"/>
                      <a:r>
                        <a:rPr lang="ru-RU" sz="1200" dirty="0"/>
                        <a:t>Аварія (або нещасний випадок)</a:t>
                      </a:r>
                    </a:p>
                  </a:txBody>
                  <a:tcPr marL="31110" marR="31110" marT="15555" marB="15555" anchor="ctr">
                    <a:lnL>
                      <a:noFill/>
                    </a:lnL>
                    <a:lnR>
                      <a:noFill/>
                    </a:lnR>
                    <a:lnT>
                      <a:noFill/>
                    </a:lnT>
                    <a:lnB>
                      <a:noFill/>
                    </a:lnB>
                  </a:tcPr>
                </a:tc>
                <a:tc>
                  <a:txBody>
                    <a:bodyPr/>
                    <a:lstStyle/>
                    <a:p>
                      <a:pPr algn="l" rtl="0"/>
                      <a:r>
                        <a:rPr lang="ru-RU" sz="1200" dirty="0"/>
                        <a:t>Незапланована подія чи послідовність подій, що призводять до людської смерті чи поранення; заподіяння шкоди власності або навколишньому середовищу. Приклад нещасного випадку – нанесення каліцтв оператору машиною, керованою комп'ютерною системою</a:t>
                      </a:r>
                    </a:p>
                  </a:txBody>
                  <a:tcPr marL="31110" marR="31110" marT="15555" marB="15555" anchor="ctr">
                    <a:lnL>
                      <a:noFill/>
                    </a:lnL>
                    <a:lnR>
                      <a:noFill/>
                    </a:lnR>
                    <a:lnT>
                      <a:noFill/>
                    </a:lnT>
                    <a:lnB>
                      <a:noFill/>
                    </a:lnB>
                  </a:tcPr>
                </a:tc>
                <a:extLst>
                  <a:ext uri="{0D108BD9-81ED-4DB2-BD59-A6C34878D82A}">
                    <a16:rowId xmlns:a16="http://schemas.microsoft.com/office/drawing/2014/main" val="1160675016"/>
                  </a:ext>
                </a:extLst>
              </a:tr>
              <a:tr h="497767">
                <a:tc>
                  <a:txBody>
                    <a:bodyPr/>
                    <a:lstStyle/>
                    <a:p>
                      <a:pPr algn="l" rtl="0"/>
                      <a:r>
                        <a:rPr lang="ru-RU" sz="1200" dirty="0"/>
                        <a:t>Небезпека (небезпечні ситуації)</a:t>
                      </a:r>
                    </a:p>
                  </a:txBody>
                  <a:tcPr marL="31110" marR="31110" marT="15555" marB="15555" anchor="ctr">
                    <a:lnL>
                      <a:noFill/>
                    </a:lnL>
                    <a:lnR>
                      <a:noFill/>
                    </a:lnR>
                    <a:lnT>
                      <a:noFill/>
                    </a:lnT>
                    <a:lnB>
                      <a:noFill/>
                    </a:lnB>
                  </a:tcPr>
                </a:tc>
                <a:tc>
                  <a:txBody>
                    <a:bodyPr/>
                    <a:lstStyle/>
                    <a:p>
                      <a:pPr algn="l" rtl="0"/>
                      <a:r>
                        <a:rPr lang="ru-RU" sz="1200"/>
                        <a:t>Ситуації, за яких можливі нещасні випадки та аварії. Приклад небезпеки – відмова сенсора, який визначає наявність перешкоди попереду машини</a:t>
                      </a:r>
                    </a:p>
                  </a:txBody>
                  <a:tcPr marL="31110" marR="31110" marT="15555" marB="15555" anchor="ctr">
                    <a:lnL>
                      <a:noFill/>
                    </a:lnL>
                    <a:lnR>
                      <a:noFill/>
                    </a:lnR>
                    <a:lnT>
                      <a:noFill/>
                    </a:lnT>
                    <a:lnB>
                      <a:noFill/>
                    </a:lnB>
                  </a:tcPr>
                </a:tc>
                <a:extLst>
                  <a:ext uri="{0D108BD9-81ED-4DB2-BD59-A6C34878D82A}">
                    <a16:rowId xmlns:a16="http://schemas.microsoft.com/office/drawing/2014/main" val="256791192"/>
                  </a:ext>
                </a:extLst>
              </a:tr>
              <a:tr h="497767">
                <a:tc>
                  <a:txBody>
                    <a:bodyPr/>
                    <a:lstStyle/>
                    <a:p>
                      <a:pPr algn="l" rtl="0"/>
                      <a:r>
                        <a:rPr lang="ru-RU" sz="1200"/>
                        <a:t>Пошкодження</a:t>
                      </a:r>
                    </a:p>
                  </a:txBody>
                  <a:tcPr marL="31110" marR="31110" marT="15555" marB="15555" anchor="ctr">
                    <a:lnL>
                      <a:noFill/>
                    </a:lnL>
                    <a:lnR>
                      <a:noFill/>
                    </a:lnR>
                    <a:lnT>
                      <a:noFill/>
                    </a:lnT>
                    <a:lnB>
                      <a:noFill/>
                    </a:lnB>
                  </a:tcPr>
                </a:tc>
                <a:tc>
                  <a:txBody>
                    <a:bodyPr/>
                    <a:lstStyle/>
                    <a:p>
                      <a:pPr algn="l" rtl="0"/>
                      <a:r>
                        <a:rPr lang="ru-RU" sz="1200"/>
                        <a:t>Оцінюються як збитки від небезпечних випадків. Ушкодження можуть бути як незначними, так і катастрофічними, що призводять до загибелі людей</a:t>
                      </a:r>
                    </a:p>
                  </a:txBody>
                  <a:tcPr marL="31110" marR="31110" marT="15555" marB="15555" anchor="ctr">
                    <a:lnL>
                      <a:noFill/>
                    </a:lnL>
                    <a:lnR>
                      <a:noFill/>
                    </a:lnR>
                    <a:lnT>
                      <a:noFill/>
                    </a:lnT>
                    <a:lnB>
                      <a:noFill/>
                    </a:lnB>
                  </a:tcPr>
                </a:tc>
                <a:extLst>
                  <a:ext uri="{0D108BD9-81ED-4DB2-BD59-A6C34878D82A}">
                    <a16:rowId xmlns:a16="http://schemas.microsoft.com/office/drawing/2014/main" val="2752268220"/>
                  </a:ext>
                </a:extLst>
              </a:tr>
              <a:tr h="591098">
                <a:tc>
                  <a:txBody>
                    <a:bodyPr/>
                    <a:lstStyle/>
                    <a:p>
                      <a:pPr algn="l" rtl="0"/>
                      <a:r>
                        <a:rPr lang="ru-RU" sz="1200"/>
                        <a:t>Серйозність небезпеки</a:t>
                      </a:r>
                    </a:p>
                  </a:txBody>
                  <a:tcPr marL="31110" marR="31110" marT="15555" marB="15555" anchor="ctr">
                    <a:lnL>
                      <a:noFill/>
                    </a:lnL>
                    <a:lnR>
                      <a:noFill/>
                    </a:lnR>
                    <a:lnT>
                      <a:noFill/>
                    </a:lnT>
                    <a:lnB>
                      <a:noFill/>
                    </a:lnB>
                  </a:tcPr>
                </a:tc>
                <a:tc>
                  <a:txBody>
                    <a:bodyPr/>
                    <a:lstStyle/>
                    <a:p>
                      <a:pPr algn="l" rtl="0"/>
                      <a:r>
                        <a:rPr lang="ru-RU" sz="1200" dirty="0"/>
                        <a:t>Оцінюється за найбільшими ушкодженнями внаслідок найнебезпечніших випадків. Серйозність небезпеки може ранжуватися від катастрофічної, що призводить до загибелі людей, до незначної</a:t>
                      </a:r>
                    </a:p>
                  </a:txBody>
                  <a:tcPr marL="31110" marR="31110" marT="15555" marB="15555" anchor="ctr">
                    <a:lnL>
                      <a:noFill/>
                    </a:lnL>
                    <a:lnR>
                      <a:noFill/>
                    </a:lnR>
                    <a:lnT>
                      <a:noFill/>
                    </a:lnT>
                    <a:lnB>
                      <a:noFill/>
                    </a:lnB>
                  </a:tcPr>
                </a:tc>
                <a:extLst>
                  <a:ext uri="{0D108BD9-81ED-4DB2-BD59-A6C34878D82A}">
                    <a16:rowId xmlns:a16="http://schemas.microsoft.com/office/drawing/2014/main" val="2942326283"/>
                  </a:ext>
                </a:extLst>
              </a:tr>
              <a:tr h="1057755">
                <a:tc>
                  <a:txBody>
                    <a:bodyPr/>
                    <a:lstStyle/>
                    <a:p>
                      <a:pPr algn="l" rtl="0"/>
                      <a:r>
                        <a:rPr lang="ru-RU" sz="1200"/>
                        <a:t>Ймовірність небезпеки</a:t>
                      </a:r>
                    </a:p>
                  </a:txBody>
                  <a:tcPr marL="31110" marR="31110" marT="15555" marB="15555" anchor="ctr">
                    <a:lnL>
                      <a:noFill/>
                    </a:lnL>
                    <a:lnR>
                      <a:noFill/>
                    </a:lnR>
                    <a:lnT>
                      <a:noFill/>
                    </a:lnT>
                    <a:lnB>
                      <a:noFill/>
                    </a:lnB>
                  </a:tcPr>
                </a:tc>
                <a:tc>
                  <a:txBody>
                    <a:bodyPr/>
                    <a:lstStyle/>
                    <a:p>
                      <a:pPr algn="l" rtl="0"/>
                      <a:r>
                        <a:rPr lang="ru-RU" sz="1200"/>
                        <a:t>Імовірність появи подій, що створюють небезпечні ситуації. Значення ймовірності визначається звичайним чином. Небезпечні події ранжуються від ймовірного (якщо, наприклад, ймовірність дорівнює 1/100, тобто на 100 "нормальних" подій відбудеться одна небезпечна) і до неможливої ​​(коли ні за яких умов не виникне небезпечної ситуації)</a:t>
                      </a:r>
                    </a:p>
                  </a:txBody>
                  <a:tcPr marL="31110" marR="31110" marT="15555" marB="15555" anchor="ctr">
                    <a:lnL>
                      <a:noFill/>
                    </a:lnL>
                    <a:lnR>
                      <a:noFill/>
                    </a:lnR>
                    <a:lnT>
                      <a:noFill/>
                    </a:lnT>
                    <a:lnB>
                      <a:noFill/>
                    </a:lnB>
                  </a:tcPr>
                </a:tc>
                <a:extLst>
                  <a:ext uri="{0D108BD9-81ED-4DB2-BD59-A6C34878D82A}">
                    <a16:rowId xmlns:a16="http://schemas.microsoft.com/office/drawing/2014/main" val="512641432"/>
                  </a:ext>
                </a:extLst>
              </a:tr>
              <a:tr h="684429">
                <a:tc>
                  <a:txBody>
                    <a:bodyPr/>
                    <a:lstStyle/>
                    <a:p>
                      <a:pPr algn="l" rtl="0"/>
                      <a:r>
                        <a:rPr lang="ru-RU" sz="1200"/>
                        <a:t>Ризик</a:t>
                      </a:r>
                    </a:p>
                  </a:txBody>
                  <a:tcPr marL="31110" marR="31110" marT="15555" marB="15555" anchor="ctr">
                    <a:lnL>
                      <a:noFill/>
                    </a:lnL>
                    <a:lnR>
                      <a:noFill/>
                    </a:lnR>
                    <a:lnT>
                      <a:noFill/>
                    </a:lnT>
                    <a:lnB>
                      <a:noFill/>
                    </a:lnB>
                  </a:tcPr>
                </a:tc>
                <a:tc>
                  <a:txBody>
                    <a:bodyPr/>
                    <a:lstStyle/>
                    <a:p>
                      <a:pPr algn="l" rtl="0"/>
                      <a:r>
                        <a:rPr lang="ru-RU" sz="1200" dirty="0"/>
                        <a:t>Вимірюється як ймовірність того, що система спричинить нещасний випадок. Для оцінки ризику визначаються ймовірність небезпеки, серйозність небезпеки та ймовірність того, що небезпечна ситуація призведе до аварії.</a:t>
                      </a:r>
                    </a:p>
                  </a:txBody>
                  <a:tcPr marL="31110" marR="31110" marT="15555" marB="15555" anchor="ctr">
                    <a:lnL>
                      <a:noFill/>
                    </a:lnL>
                    <a:lnR>
                      <a:noFill/>
                    </a:lnR>
                    <a:lnT>
                      <a:noFill/>
                    </a:lnT>
                    <a:lnB>
                      <a:noFill/>
                    </a:lnB>
                  </a:tcPr>
                </a:tc>
                <a:extLst>
                  <a:ext uri="{0D108BD9-81ED-4DB2-BD59-A6C34878D82A}">
                    <a16:rowId xmlns:a16="http://schemas.microsoft.com/office/drawing/2014/main" val="1862530054"/>
                  </a:ext>
                </a:extLst>
              </a:tr>
            </a:tbl>
          </a:graphicData>
        </a:graphic>
      </p:graphicFrame>
      <p:sp>
        <p:nvSpPr>
          <p:cNvPr id="5" name="Rectangle 1">
            <a:extLst>
              <a:ext uri="{FF2B5EF4-FFF2-40B4-BE49-F238E27FC236}">
                <a16:creationId xmlns:a16="http://schemas.microsoft.com/office/drawing/2014/main" id="{8D30AAA4-3A02-4650-BF82-61B94ECBA2DC}"/>
              </a:ext>
            </a:extLst>
          </p:cNvPr>
          <p:cNvSpPr>
            <a:spLocks noChangeArrowheads="1"/>
          </p:cNvSpPr>
          <p:nvPr/>
        </p:nvSpPr>
        <p:spPr bwMode="auto">
          <a:xfrm>
            <a:off x="0" y="-94565"/>
            <a:ext cx="1350818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200" b="1" i="0" u="none" strike="noStrike" cap="none" normalizeH="0" baseline="0">
                <a:ln>
                  <a:noFill/>
                </a:ln>
                <a:solidFill>
                  <a:srgbClr val="3D3D3D"/>
                </a:solidFill>
                <a:effectLst/>
                <a:latin typeface="Arial" panose="020B0604020202020204" pitchFamily="34" charset="0"/>
                <a:cs typeface="Arial" panose="020B0604020202020204" pitchFamily="34" charset="0"/>
              </a:rPr>
              <a:t>Таблиця 26.2. Термінологія безпеки</a:t>
            </a:r>
            <a:endParaRPr kumimoji="0" lang="ru-UA" altLang="ru-UA"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200" b="0" i="0" u="none" strike="noStrike" cap="none" normalizeH="0" baseline="0">
                <a:ln>
                  <a:noFill/>
                </a:ln>
                <a:solidFill>
                  <a:srgbClr val="3D3D3D"/>
                </a:solidFill>
                <a:effectLst/>
                <a:latin typeface="Arial" panose="020B0604020202020204" pitchFamily="34" charset="0"/>
                <a:cs typeface="Arial" panose="020B0604020202020204" pitchFamily="34" charset="0"/>
              </a:rPr>
              <a:t> </a:t>
            </a:r>
            <a:endParaRPr kumimoji="0" lang="ru-UA" altLang="ru-UA"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200" b="0" i="0" u="none" strike="noStrike" cap="none" normalizeH="0" baseline="0">
                <a:ln>
                  <a:noFill/>
                </a:ln>
                <a:solidFill>
                  <a:srgbClr val="3D3D3D"/>
                </a:solidFill>
                <a:effectLst/>
                <a:latin typeface="Arial" panose="020B0604020202020204" pitchFamily="34" charset="0"/>
                <a:cs typeface="Arial" panose="020B0604020202020204" pitchFamily="34" charset="0"/>
              </a:rPr>
              <a:t> </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213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b="1" dirty="0"/>
              <a:t>СТАНДАРТ ISO</a:t>
            </a:r>
            <a:endParaRPr lang="ru-RU" dirty="0"/>
          </a:p>
        </p:txBody>
      </p:sp>
      <p:sp>
        <p:nvSpPr>
          <p:cNvPr id="3" name="Содержимое 2"/>
          <p:cNvSpPr>
            <a:spLocks noGrp="1"/>
          </p:cNvSpPr>
          <p:nvPr>
            <p:ph idx="1"/>
          </p:nvPr>
        </p:nvSpPr>
        <p:spPr/>
        <p:txBody>
          <a:bodyPr/>
          <a:lstStyle/>
          <a:p>
            <a:pPr algn="l" rtl="0">
              <a:buNone/>
            </a:pPr>
            <a:r>
              <a:rPr lang="ru-RU" dirty="0"/>
              <a:t>Міжнародна організація зі стандартизації (</a:t>
            </a:r>
            <a:r>
              <a:rPr lang="en-US" dirty="0"/>
              <a:t>International</a:t>
            </a:r>
            <a:r>
              <a:rPr lang="en-US" dirty="0" err="1"/>
              <a:t>Standart</a:t>
            </a:r>
            <a:r>
              <a:rPr lang="en-US" dirty="0"/>
              <a:t> </a:t>
            </a:r>
            <a:r>
              <a:rPr lang="en-US" dirty="0" err="1"/>
              <a:t>Організація</a:t>
            </a:r>
            <a:r>
              <a:rPr lang="ru-RU" dirty="0"/>
              <a:t>) – це найбільший у світі розробник та видавець міжнародних стандартів. ІСО – це мережа національних організацій зі стандартизації (комітетів-членів) 163 країн</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355D9E-BF47-4043-8FB6-EC116BCED104}"/>
              </a:ext>
            </a:extLst>
          </p:cNvPr>
          <p:cNvSpPr>
            <a:spLocks noGrp="1"/>
          </p:cNvSpPr>
          <p:nvPr>
            <p:ph type="title"/>
          </p:nvPr>
        </p:nvSpPr>
        <p:spPr>
          <a:xfrm>
            <a:off x="457200" y="692696"/>
            <a:ext cx="8229600" cy="1224136"/>
          </a:xfrm>
        </p:spPr>
        <p:txBody>
          <a:bodyPr>
            <a:normAutofit/>
          </a:bodyPr>
          <a:lstStyle/>
          <a:p>
            <a:pPr algn="l" rtl="0"/>
            <a:r>
              <a:rPr lang="ru-RU" sz="1800" dirty="0"/>
              <a:t>Вважається, що система безпечна, якщо її експлуатація унеможливлює аварії (нещасні випадки) або їх наслідки незначні. Цього можна досягти трьома способами, що доповнюють один одного.</a:t>
            </a:r>
            <a:endParaRPr lang="ru-UA" sz="1800" dirty="0"/>
          </a:p>
        </p:txBody>
      </p:sp>
      <p:sp>
        <p:nvSpPr>
          <p:cNvPr id="3" name="Объект 2">
            <a:extLst>
              <a:ext uri="{FF2B5EF4-FFF2-40B4-BE49-F238E27FC236}">
                <a16:creationId xmlns:a16="http://schemas.microsoft.com/office/drawing/2014/main" id="{41149E1B-082F-48F9-86A3-12BAFC52D940}"/>
              </a:ext>
            </a:extLst>
          </p:cNvPr>
          <p:cNvSpPr>
            <a:spLocks noGrp="1"/>
          </p:cNvSpPr>
          <p:nvPr>
            <p:ph idx="1"/>
          </p:nvPr>
        </p:nvSpPr>
        <p:spPr>
          <a:xfrm>
            <a:off x="457200" y="1916832"/>
            <a:ext cx="8229600" cy="4657704"/>
          </a:xfrm>
        </p:spPr>
        <p:txBody>
          <a:bodyPr>
            <a:noAutofit/>
          </a:bodyPr>
          <a:lstStyle/>
          <a:p>
            <a:pPr algn="l" rtl="0"/>
            <a:r>
              <a:rPr lang="ru-RU" sz="1600" dirty="0"/>
              <a:t>1. Запобігання небезпеці. Система розробляється в такий спосіб, щоб уникнути небезпечних ситуацій. Наприклад, щоб під час експлуатації машини уникнути попадання рук оператора під лезо, у системі розкрою передбачається обов'язкове одночасне натискання двох окремих кнопок керування.</a:t>
            </a:r>
          </a:p>
          <a:p>
            <a:pPr algn="l" rtl="0"/>
            <a:endParaRPr lang="ru-RU" sz="1600" dirty="0"/>
          </a:p>
          <a:p>
            <a:pPr algn="l" rtl="0"/>
            <a:r>
              <a:rPr lang="ru-RU" sz="1600" dirty="0"/>
              <a:t>2. Виявлення та усунення небезпеки. Система розробляється таким чином, щоб можливі небезпечні ситуації були виявлені та усунені до того, як вони призведуть до аварії. Наприклад, система, що управляє хімічним підприємством, для запобігання вибуху від високого тиску повинна вчасно виявити надлишковий тиск та відкрити запобіжний клапан, щоб зменшити цей тиск.</a:t>
            </a:r>
          </a:p>
          <a:p>
            <a:pPr algn="l" rtl="0"/>
            <a:endParaRPr lang="ru-RU" sz="1600" dirty="0"/>
          </a:p>
          <a:p>
            <a:pPr algn="l" rtl="0"/>
            <a:r>
              <a:rPr lang="ru-RU" sz="1600" dirty="0"/>
              <a:t>3. Обмеження наслідків. Система може включати способи захисту, які мінімізують пошкодження, що виникають в результаті аварії. Наприклад, система управління двигунами літака зазвичай включається автоматична система вогнегасіння. У разі займання така система дозволяє запобігти пожежі та не ставить під загрозу життя пасажирів та екіпажу.</a:t>
            </a:r>
          </a:p>
          <a:p>
            <a:pPr algn="l" rtl="0"/>
            <a:endParaRPr lang="ru-RU" sz="1600" dirty="0"/>
          </a:p>
          <a:p>
            <a:pPr algn="l" rtl="0"/>
            <a:r>
              <a:rPr lang="ru-RU" sz="1600" dirty="0"/>
              <a:t> </a:t>
            </a:r>
            <a:endParaRPr lang="ru-UA" sz="1600" dirty="0"/>
          </a:p>
        </p:txBody>
      </p:sp>
    </p:spTree>
    <p:extLst>
      <p:ext uri="{BB962C8B-B14F-4D97-AF65-F5344CB8AC3E}">
        <p14:creationId xmlns:p14="http://schemas.microsoft.com/office/powerpoint/2010/main" val="3898376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59D84E-1638-493E-B96B-0AFB7A97447B}"/>
              </a:ext>
            </a:extLst>
          </p:cNvPr>
          <p:cNvSpPr>
            <a:spLocks noGrp="1"/>
          </p:cNvSpPr>
          <p:nvPr>
            <p:ph type="title"/>
          </p:nvPr>
        </p:nvSpPr>
        <p:spPr>
          <a:xfrm>
            <a:off x="457200" y="1143000"/>
            <a:ext cx="8229600" cy="557808"/>
          </a:xfrm>
        </p:spPr>
        <p:txBody>
          <a:bodyPr>
            <a:normAutofit fontScale="90000"/>
          </a:bodyPr>
          <a:lstStyle/>
          <a:p>
            <a:pPr algn="l" rtl="0"/>
            <a:endParaRPr lang="ru-UA" dirty="0"/>
          </a:p>
        </p:txBody>
      </p:sp>
      <p:sp>
        <p:nvSpPr>
          <p:cNvPr id="3" name="Объект 2">
            <a:extLst>
              <a:ext uri="{FF2B5EF4-FFF2-40B4-BE49-F238E27FC236}">
                <a16:creationId xmlns:a16="http://schemas.microsoft.com/office/drawing/2014/main" id="{63A5B9A7-A9BF-4DDF-BE18-018E0ED03714}"/>
              </a:ext>
            </a:extLst>
          </p:cNvPr>
          <p:cNvSpPr>
            <a:spLocks noGrp="1"/>
          </p:cNvSpPr>
          <p:nvPr>
            <p:ph idx="1"/>
          </p:nvPr>
        </p:nvSpPr>
        <p:spPr>
          <a:xfrm>
            <a:off x="457200" y="1772816"/>
            <a:ext cx="8229600" cy="4801720"/>
          </a:xfrm>
        </p:spPr>
        <p:txBody>
          <a:bodyPr>
            <a:normAutofit fontScale="25000" lnSpcReduction="20000"/>
          </a:bodyPr>
          <a:lstStyle/>
          <a:p>
            <a:pPr algn="l" rtl="0">
              <a:lnSpc>
                <a:spcPct val="170000"/>
              </a:lnSpc>
            </a:pPr>
            <a:r>
              <a:rPr lang="ru-RU" sz="5600" dirty="0"/>
              <a:t>Аварії та нещасні випадки зазвичай є результатом кількох подій, які відбуваються одночасно з непередбачуваними наслідками. Аналізуючи серйозні аварії, і майже всі вони сталися через комбінацію системних збоїв, а не внаслідок окремих збоїв. Непередбачена комбінація збоїв призводила до відмови системи. У тій же роботі стверджується, що неможливо запобігти всім комбінаціям збоїв системи і ці аварії – неминучий наслідок використання складних систем. Програмне забезпечення має тенденцію розростатися та ускладнюватись, а складність програмно-керованих систем збільшує ймовірність аварій та нещасних випадків.</a:t>
            </a:r>
          </a:p>
          <a:p>
            <a:pPr algn="l" rtl="0"/>
            <a:endParaRPr lang="ru-RU" sz="5600" dirty="0"/>
          </a:p>
          <a:p>
            <a:pPr algn="l" rtl="0">
              <a:lnSpc>
                <a:spcPct val="170000"/>
              </a:lnSpc>
            </a:pPr>
            <a:r>
              <a:rPr lang="ru-RU" sz="5600" dirty="0"/>
              <a:t>Це, звичайно, не означає, що програмне керування обов'язково збільшує ризик, пов'язаний із системою. Програмне керування та поточний контроль можуть підвищити безпеку систем. Крім того, програмно-керовані системи можуть контролювати ширший діапазон умов порівняно, наприклад, з електромеханічними системами. Вони також досить легко налаштовуються. Вони передбачають використання комп'ютерних засобів, яким властива висока надійність і відносно компактні. Програмно-керовані складні системи можуть блокувати небезпеку. Вони можуть підтримувати управління у шкідливих умовах, зменшуючи кількість необхідного обслуговуючого персоналу.</a:t>
            </a:r>
          </a:p>
          <a:p>
            <a:pPr algn="l" rtl="0"/>
            <a:endParaRPr lang="ru-RU" sz="5600" dirty="0"/>
          </a:p>
          <a:p>
            <a:pPr algn="l" rtl="0"/>
            <a:endParaRPr lang="ru-UA" dirty="0"/>
          </a:p>
        </p:txBody>
      </p:sp>
    </p:spTree>
    <p:extLst>
      <p:ext uri="{BB962C8B-B14F-4D97-AF65-F5344CB8AC3E}">
        <p14:creationId xmlns:p14="http://schemas.microsoft.com/office/powerpoint/2010/main" val="2084506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ANSI/IEEE СТАНДАРТ</a:t>
            </a:r>
          </a:p>
        </p:txBody>
      </p:sp>
      <p:sp>
        <p:nvSpPr>
          <p:cNvPr id="3" name="Содержимое 2"/>
          <p:cNvSpPr>
            <a:spLocks noGrp="1"/>
          </p:cNvSpPr>
          <p:nvPr>
            <p:ph idx="1"/>
          </p:nvPr>
        </p:nvSpPr>
        <p:spPr/>
        <p:txBody>
          <a:bodyPr>
            <a:normAutofit fontScale="85000" lnSpcReduction="20000"/>
          </a:bodyPr>
          <a:lstStyle/>
          <a:p>
            <a:pPr algn="l" rtl="0">
              <a:buNone/>
            </a:pPr>
            <a:r>
              <a:rPr lang="ru-RU" dirty="0"/>
              <a:t>Американський національний інститут стандартів (англ.</a:t>
            </a:r>
            <a:r>
              <a:rPr lang="ru-RU" dirty="0" err="1"/>
              <a:t>American</a:t>
            </a:r>
            <a:r>
              <a:rPr lang="ru-RU" dirty="0"/>
              <a:t> </a:t>
            </a:r>
            <a:r>
              <a:rPr lang="ru-RU" dirty="0" err="1"/>
              <a:t>national</a:t>
            </a:r>
            <a:r>
              <a:rPr lang="ru-RU" dirty="0"/>
              <a:t> </a:t>
            </a:r>
            <a:r>
              <a:rPr lang="ru-RU" dirty="0" err="1"/>
              <a:t>standards</a:t>
            </a:r>
            <a:r>
              <a:rPr lang="ru-RU" dirty="0"/>
              <a:t> </a:t>
            </a:r>
            <a:r>
              <a:rPr lang="ru-RU" dirty="0" err="1"/>
              <a:t>institute</a:t>
            </a:r>
            <a:r>
              <a:rPr lang="ru-RU" dirty="0"/>
              <a:t>, ANSI) - об'єднання американських промислових та ділових груп, що розробляє торгові та комунікаційні стандарти. Входить до організації ISO та IEC, представляючи там інтереси США.</a:t>
            </a:r>
          </a:p>
          <a:p>
            <a:pPr algn="l" rtl="0">
              <a:buNone/>
            </a:pPr>
            <a:r>
              <a:rPr lang="ru-RU" dirty="0"/>
              <a:t>Міжнародна електротехнічна комісія (</a:t>
            </a:r>
            <a:r>
              <a:rPr lang="ru-RU" b="1" dirty="0"/>
              <a:t>ПЕК</a:t>
            </a:r>
            <a:r>
              <a:rPr lang="ru-RU" dirty="0"/>
              <a:t>; англ.</a:t>
            </a:r>
            <a:r>
              <a:rPr lang="en-US" dirty="0"/>
              <a:t>International</a:t>
            </a:r>
            <a:r>
              <a:rPr lang="en-US" dirty="0" err="1"/>
              <a:t>Electrotechnical</a:t>
            </a:r>
            <a:r>
              <a:rPr lang="en-US" dirty="0"/>
              <a:t>Commission,</a:t>
            </a:r>
            <a:r>
              <a:rPr lang="en-US" b="1" dirty="0"/>
              <a:t>IEC</a:t>
            </a:r>
            <a:r>
              <a:rPr lang="en-US" dirty="0"/>
              <a:t>;</a:t>
            </a:r>
            <a:r>
              <a:rPr lang="ru-RU" dirty="0"/>
              <a:t>фр.</a:t>
            </a:r>
            <a:r>
              <a:rPr lang="en-US" dirty="0"/>
              <a:t>Commission</a:t>
            </a:r>
            <a:r>
              <a:rPr lang="en-US" dirty="0" err="1"/>
              <a:t>electrotechnique</a:t>
            </a:r>
            <a:r>
              <a:rPr lang="en-US" dirty="0"/>
              <a:t> </a:t>
            </a:r>
            <a:r>
              <a:rPr lang="en-US" dirty="0" err="1"/>
              <a:t>internationale</a:t>
            </a:r>
            <a:r>
              <a:rPr lang="en-US" dirty="0"/>
              <a:t>, CEI) -</a:t>
            </a:r>
            <a:r>
              <a:rPr lang="ru-RU" dirty="0"/>
              <a:t>міжнародна некомерційна організація зі стандартизації у галузі електричних, електронних та суміжних технологій.</a:t>
            </a:r>
          </a:p>
          <a:p>
            <a:pPr algn="l" rtl="0">
              <a:buNone/>
            </a:pPr>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en-US" dirty="0"/>
              <a:t>IEEE</a:t>
            </a:r>
            <a:endParaRPr lang="ru-RU" dirty="0"/>
          </a:p>
        </p:txBody>
      </p:sp>
      <p:sp>
        <p:nvSpPr>
          <p:cNvPr id="3" name="Содержимое 2"/>
          <p:cNvSpPr>
            <a:spLocks noGrp="1"/>
          </p:cNvSpPr>
          <p:nvPr>
            <p:ph idx="1"/>
          </p:nvPr>
        </p:nvSpPr>
        <p:spPr/>
        <p:txBody>
          <a:bodyPr>
            <a:normAutofit lnSpcReduction="10000"/>
          </a:bodyPr>
          <a:lstStyle/>
          <a:p>
            <a:pPr algn="l" rtl="0">
              <a:buNone/>
            </a:pPr>
            <a:r>
              <a:rPr lang="ru-RU" dirty="0"/>
              <a:t>Інститут інженерів електротехніки та електроніки - IEEE (англ.</a:t>
            </a:r>
            <a:r>
              <a:rPr lang="ru-RU" dirty="0" err="1"/>
              <a:t>Institute</a:t>
            </a:r>
            <a:r>
              <a:rPr lang="ru-RU" dirty="0"/>
              <a:t> </a:t>
            </a:r>
            <a:r>
              <a:rPr lang="ru-RU" dirty="0" err="1"/>
              <a:t>of</a:t>
            </a:r>
            <a:r>
              <a:rPr lang="ru-RU" dirty="0"/>
              <a:t> </a:t>
            </a:r>
            <a:r>
              <a:rPr lang="ru-RU" dirty="0" err="1"/>
              <a:t>Electrical</a:t>
            </a:r>
            <a:r>
              <a:rPr lang="ru-RU" dirty="0"/>
              <a:t> </a:t>
            </a:r>
            <a:r>
              <a:rPr lang="ru-RU" dirty="0" err="1"/>
              <a:t>and</a:t>
            </a:r>
            <a:r>
              <a:rPr lang="ru-RU" dirty="0"/>
              <a:t> </a:t>
            </a:r>
            <a:r>
              <a:rPr lang="ru-RU" dirty="0" err="1"/>
              <a:t>Electronics</a:t>
            </a:r>
            <a:r>
              <a:rPr lang="ru-RU" dirty="0"/>
              <a:t> </a:t>
            </a:r>
            <a:r>
              <a:rPr lang="ru-RU" dirty="0" err="1"/>
              <a:t>Engineers</a:t>
            </a:r>
            <a:r>
              <a:rPr lang="ru-RU" dirty="0"/>
              <a:t>) (I</a:t>
            </a:r>
            <a:r>
              <a:rPr lang="ru-RU" dirty="0" err="1"/>
              <a:t>triple</a:t>
            </a:r>
            <a:r>
              <a:rPr lang="ru-RU" dirty="0"/>
              <a:t>E - «Ай</a:t>
            </a:r>
            <a:r>
              <a:rPr lang="ru-RU" dirty="0" err="1"/>
              <a:t>трипл</a:t>
            </a:r>
            <a:r>
              <a:rPr lang="ru-RU" dirty="0"/>
              <a:t>і») — міжнародна некомерційна асоціація фахівців у галузі техніки, світовий лідер у галузі розробки стандартів з радіоелектроніки, електротехніки та апаратного забезпечення обчислювальних систем та мереж.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Навіщо потрібні стандарти?</a:t>
            </a:r>
          </a:p>
        </p:txBody>
      </p:sp>
      <p:sp>
        <p:nvSpPr>
          <p:cNvPr id="3" name="Содержимое 2"/>
          <p:cNvSpPr>
            <a:spLocks noGrp="1"/>
          </p:cNvSpPr>
          <p:nvPr>
            <p:ph idx="1"/>
          </p:nvPr>
        </p:nvSpPr>
        <p:spPr/>
        <p:txBody>
          <a:bodyPr>
            <a:normAutofit fontScale="77500" lnSpcReduction="20000"/>
          </a:bodyPr>
          <a:lstStyle/>
          <a:p>
            <a:pPr lvl="0" algn="l" rtl="0"/>
            <a:r>
              <a:rPr lang="ru-RU" dirty="0"/>
              <a:t>роблять розробку, виготовлення та постачання виробів та послуг більш ефективною, безпечною та чистою;</a:t>
            </a:r>
          </a:p>
          <a:p>
            <a:pPr lvl="0" algn="l" rtl="0"/>
            <a:r>
              <a:rPr lang="ru-RU" dirty="0"/>
              <a:t>сприяють торгівлі між країнами та роблять її більш справедливою</a:t>
            </a:r>
          </a:p>
          <a:p>
            <a:pPr lvl="0" algn="l" rtl="0"/>
            <a:r>
              <a:rPr lang="ru-RU" dirty="0"/>
              <a:t>забезпечують уряди технічною базою для законодавства у галузі охорони здоров'я, безпеки та екології, а також оцінки відповідності;</a:t>
            </a:r>
          </a:p>
          <a:p>
            <a:pPr lvl="0" algn="l" rtl="0"/>
            <a:r>
              <a:rPr lang="ru-RU" dirty="0"/>
              <a:t>діляться технологічними досягненнями та прийнятою практикою менеджменту;</a:t>
            </a:r>
          </a:p>
          <a:p>
            <a:pPr lvl="0" algn="l" rtl="0"/>
            <a:r>
              <a:rPr lang="ru-RU" dirty="0"/>
              <a:t>поширюють нововведення;</a:t>
            </a:r>
          </a:p>
          <a:p>
            <a:pPr lvl="0" algn="l" rtl="0"/>
            <a:r>
              <a:rPr lang="ru-RU" dirty="0"/>
              <a:t>дають гарантії споживачам та користувачам взагалі щодо виробів та послуг;</a:t>
            </a:r>
          </a:p>
          <a:p>
            <a:pPr algn="l" rtl="0"/>
            <a:r>
              <a:rPr lang="ru-RU" dirty="0"/>
              <a:t>роблять життя легшим, надаючи вирішення спільних проблем</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КОНФІГУРАЦІЯ</a:t>
            </a:r>
          </a:p>
        </p:txBody>
      </p:sp>
      <p:sp>
        <p:nvSpPr>
          <p:cNvPr id="3" name="Содержимое 2"/>
          <p:cNvSpPr>
            <a:spLocks noGrp="1"/>
          </p:cNvSpPr>
          <p:nvPr>
            <p:ph idx="1"/>
          </p:nvPr>
        </p:nvSpPr>
        <p:spPr/>
        <p:txBody>
          <a:bodyPr/>
          <a:lstStyle/>
          <a:p>
            <a:pPr algn="l" rtl="0">
              <a:buNone/>
            </a:pPr>
            <a:r>
              <a:rPr lang="ru-RU" dirty="0"/>
              <a:t>Конфігурація ПЗ — сукупність налаштувань програми, що задається користувачем, а також процес зміни цих налаштувань відповідно до потреб користувача.</a:t>
            </a:r>
          </a:p>
          <a:p>
            <a:pPr algn="l" rtl="0">
              <a:buNone/>
            </a:pPr>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rtl="0"/>
            <a:r>
              <a:rPr lang="ru-RU" dirty="0"/>
              <a:t>УПРАВЛІННЯ КОНФІГУРАЦІЄЮ</a:t>
            </a:r>
          </a:p>
        </p:txBody>
      </p:sp>
      <p:sp>
        <p:nvSpPr>
          <p:cNvPr id="3" name="Содержимое 2"/>
          <p:cNvSpPr>
            <a:spLocks noGrp="1"/>
          </p:cNvSpPr>
          <p:nvPr>
            <p:ph idx="1"/>
          </p:nvPr>
        </p:nvSpPr>
        <p:spPr/>
        <p:txBody>
          <a:bodyPr>
            <a:normAutofit/>
          </a:bodyPr>
          <a:lstStyle/>
          <a:p>
            <a:pPr algn="l" rtl="0">
              <a:buNone/>
            </a:pPr>
            <a:r>
              <a:rPr lang="ru-RU" dirty="0"/>
              <a:t>Відповідно до стандарту 1ЕЕЕ 828–1990 управління конфігурацією передбачає:</a:t>
            </a:r>
          </a:p>
          <a:p>
            <a:pPr algn="l" rtl="0">
              <a:buNone/>
            </a:pPr>
            <a:r>
              <a:rPr lang="ru-RU" dirty="0"/>
              <a:t>- Керівництво процесом;</a:t>
            </a:r>
          </a:p>
          <a:p>
            <a:pPr algn="l" rtl="0">
              <a:buNone/>
            </a:pPr>
            <a:r>
              <a:rPr lang="ru-RU" dirty="0"/>
              <a:t>- Безпосередню діяльність з управління конфігурацією, включаючи ідентифікацію конфігурації, контроль конфігурації, облік статусу компонентів та аудити управління конфігурацією (</a:t>
            </a:r>
            <a:r>
              <a:rPr lang="uk-UA" dirty="0"/>
              <a:t>показано на</a:t>
            </a:r>
            <a:r>
              <a:rPr lang="uk-UA" dirty="0" err="1"/>
              <a:t>малюнку</a:t>
            </a:r>
            <a:r>
              <a:rPr lang="ru-RU" dirty="0"/>
              <a:t>1).</a:t>
            </a:r>
          </a:p>
          <a:p>
            <a:pPr algn="l" rtl="0">
              <a:buNone/>
            </a:pPr>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endParaRPr lang="ru-RU"/>
          </a:p>
        </p:txBody>
      </p:sp>
      <p:pic>
        <p:nvPicPr>
          <p:cNvPr id="4" name="Содержимое 3"/>
          <p:cNvPicPr>
            <a:picLocks noGrp="1"/>
          </p:cNvPicPr>
          <p:nvPr>
            <p:ph idx="1"/>
          </p:nvPr>
        </p:nvPicPr>
        <p:blipFill>
          <a:blip r:embed="rId2" cstate="print"/>
          <a:srcRect/>
          <a:stretch>
            <a:fillRect/>
          </a:stretch>
        </p:blipFill>
        <p:spPr bwMode="auto">
          <a:xfrm>
            <a:off x="-252536" y="0"/>
            <a:ext cx="9649072" cy="7101408"/>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115616" y="620688"/>
            <a:ext cx="7571184" cy="5904656"/>
          </a:xfrm>
        </p:spPr>
        <p:txBody>
          <a:bodyPr>
            <a:normAutofit fontScale="77500" lnSpcReduction="20000"/>
          </a:bodyPr>
          <a:lstStyle/>
          <a:p>
            <a:pPr algn="l" rtl="0">
              <a:buNone/>
            </a:pPr>
            <a:r>
              <a:rPr lang="ru-RU" dirty="0"/>
              <a:t>Визначення компонентів конфігурації включає:</a:t>
            </a:r>
          </a:p>
          <a:p>
            <a:pPr algn="l" rtl="0">
              <a:buNone/>
            </a:pPr>
            <a:r>
              <a:rPr lang="uk-UA" dirty="0"/>
              <a:t> </a:t>
            </a:r>
            <a:r>
              <a:rPr lang="ru-RU" dirty="0"/>
              <a:t>-</a:t>
            </a:r>
            <a:r>
              <a:rPr lang="uk-UA" dirty="0"/>
              <a:t> </a:t>
            </a:r>
            <a:r>
              <a:rPr lang="ru-RU" dirty="0"/>
              <a:t>визначення моменту фіксації узгодженої конфігурації;</a:t>
            </a:r>
          </a:p>
          <a:p>
            <a:pPr algn="l" rtl="0">
              <a:buNone/>
            </a:pPr>
            <a:r>
              <a:rPr lang="ru-RU" dirty="0"/>
              <a:t>- Визначення контрольованих компонентів конфігурації;</a:t>
            </a:r>
          </a:p>
          <a:p>
            <a:pPr algn="l" rtl="0">
              <a:buNone/>
            </a:pPr>
            <a:r>
              <a:rPr lang="ru-RU" dirty="0"/>
              <a:t>– процедури зміни компонентів конфігурації, включаючи узгодження змін. </a:t>
            </a:r>
          </a:p>
          <a:p>
            <a:pPr algn="l" rtl="0">
              <a:buNone/>
            </a:pPr>
            <a:r>
              <a:rPr lang="ru-RU" dirty="0"/>
              <a:t>До контрольованих компонентів конфігурації належать:</a:t>
            </a:r>
          </a:p>
          <a:p>
            <a:pPr algn="l" rtl="0">
              <a:buNone/>
            </a:pPr>
            <a:r>
              <a:rPr lang="ru-RU" dirty="0"/>
              <a:t>– компоненти</a:t>
            </a:r>
            <a:r>
              <a:rPr lang="ru-RU"/>
              <a:t>технічної системи</a:t>
            </a:r>
            <a:r>
              <a:rPr lang="ru-RU" dirty="0"/>
              <a:t>, Що включають ПЗ;</a:t>
            </a:r>
          </a:p>
          <a:p>
            <a:pPr algn="l" rtl="0">
              <a:buNone/>
            </a:pPr>
            <a:r>
              <a:rPr lang="ru-RU" dirty="0"/>
              <a:t>- Програмовані компоненти;</a:t>
            </a:r>
          </a:p>
          <a:p>
            <a:pPr algn="l" rtl="0">
              <a:buNone/>
            </a:pPr>
            <a:r>
              <a:rPr lang="ru-RU" dirty="0"/>
              <a:t>- Програмні модулі;</a:t>
            </a:r>
          </a:p>
          <a:p>
            <a:pPr algn="l" rtl="0">
              <a:buNone/>
            </a:pPr>
            <a:r>
              <a:rPr lang="ru-RU" dirty="0"/>
              <a:t>– бібліотечні компоненти;</a:t>
            </a:r>
          </a:p>
          <a:p>
            <a:pPr algn="l" rtl="0">
              <a:buNone/>
            </a:pPr>
            <a:r>
              <a:rPr lang="ru-RU" dirty="0"/>
              <a:t>– алгоритми;</a:t>
            </a:r>
          </a:p>
          <a:p>
            <a:pPr algn="l" rtl="0">
              <a:buNone/>
            </a:pPr>
            <a:r>
              <a:rPr lang="ru-RU" dirty="0"/>
              <a:t>- Операційні системи;</a:t>
            </a:r>
          </a:p>
          <a:p>
            <a:pPr algn="l" rtl="0">
              <a:buNone/>
            </a:pPr>
            <a:r>
              <a:rPr lang="ru-RU" dirty="0"/>
              <a:t>– інструментальні засоби розробки та верифікації;</a:t>
            </a:r>
          </a:p>
          <a:p>
            <a:pPr algn="l" rtl="0">
              <a:buNone/>
            </a:pPr>
            <a:r>
              <a:rPr lang="ru-RU" dirty="0"/>
              <a:t>- Програмна документація.</a:t>
            </a:r>
          </a:p>
          <a:p>
            <a:pPr algn="l" rtl="0"/>
            <a:endParaRPr lang="ru-RU"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endParaRPr lang="ru-RU"/>
          </a:p>
        </p:txBody>
      </p:sp>
      <p:sp>
        <p:nvSpPr>
          <p:cNvPr id="3" name="Содержимое 2"/>
          <p:cNvSpPr>
            <a:spLocks noGrp="1"/>
          </p:cNvSpPr>
          <p:nvPr>
            <p:ph idx="1"/>
          </p:nvPr>
        </p:nvSpPr>
        <p:spPr/>
        <p:txBody>
          <a:bodyPr>
            <a:normAutofit fontScale="92500" lnSpcReduction="10000"/>
          </a:bodyPr>
          <a:lstStyle/>
          <a:p>
            <a:pPr algn="l" rtl="0"/>
            <a:r>
              <a:rPr lang="ru-RU" dirty="0"/>
              <a:t>Надання імен компонентам конфігурації включає:</a:t>
            </a:r>
          </a:p>
          <a:p>
            <a:pPr algn="l" rtl="0"/>
            <a:r>
              <a:rPr lang="ru-RU" dirty="0"/>
              <a:t>– систему ідентифікаторів компонентів та їх версій, що передбачає для кожного компонента унікальний ідентифікатор;</a:t>
            </a:r>
          </a:p>
          <a:p>
            <a:pPr algn="l" rtl="0"/>
            <a:r>
              <a:rPr lang="ru-RU" dirty="0"/>
              <a:t>– систему маркування компонентів та їх версій.</a:t>
            </a:r>
          </a:p>
          <a:p>
            <a:pPr algn="l" rtl="0"/>
            <a:r>
              <a:rPr lang="ru-RU" dirty="0"/>
              <a:t>Зберігання компонентів конфігурації включає:</a:t>
            </a:r>
          </a:p>
          <a:p>
            <a:pPr algn="l" rtl="0"/>
            <a:r>
              <a:rPr lang="ru-RU" dirty="0"/>
              <a:t>- Забезпечення захищеності;</a:t>
            </a:r>
          </a:p>
          <a:p>
            <a:pPr algn="l" rtl="0"/>
            <a:r>
              <a:rPr lang="ru-RU" dirty="0"/>
              <a:t>- Вилучення;</a:t>
            </a:r>
          </a:p>
          <a:p>
            <a:pPr algn="l" rtl="0"/>
            <a:r>
              <a:rPr lang="ru-RU" dirty="0"/>
              <a:t>- Відтворення</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endParaRPr lang="ru-RU" dirty="0"/>
          </a:p>
        </p:txBody>
      </p:sp>
      <p:sp>
        <p:nvSpPr>
          <p:cNvPr id="3" name="Содержимое 2"/>
          <p:cNvSpPr>
            <a:spLocks noGrp="1"/>
          </p:cNvSpPr>
          <p:nvPr>
            <p:ph idx="1"/>
          </p:nvPr>
        </p:nvSpPr>
        <p:spPr>
          <a:xfrm>
            <a:off x="457200" y="2060848"/>
            <a:ext cx="8229600" cy="4536504"/>
          </a:xfrm>
        </p:spPr>
        <p:txBody>
          <a:bodyPr>
            <a:normAutofit fontScale="70000" lnSpcReduction="20000"/>
          </a:bodyPr>
          <a:lstStyle/>
          <a:p>
            <a:pPr algn="l" rtl="0">
              <a:buNone/>
            </a:pPr>
            <a:r>
              <a:rPr lang="ru-RU" dirty="0"/>
              <a:t>Аудити управління конфігурацією визначають, якою мірою дійсні компоненти конфігурації відповідають необхідним фізичним та функціональним характеристикам.</a:t>
            </a:r>
          </a:p>
          <a:p>
            <a:pPr algn="l" rtl="0">
              <a:buNone/>
            </a:pPr>
            <a:r>
              <a:rPr lang="ru-RU" dirty="0"/>
              <a:t>Для кожного запланованого аудиту управління конфігурацією повинні бути визначені:</a:t>
            </a:r>
          </a:p>
          <a:p>
            <a:pPr algn="l" rtl="0">
              <a:buNone/>
            </a:pPr>
            <a:r>
              <a:rPr lang="ru-RU" dirty="0"/>
              <a:t>- Мета;</a:t>
            </a:r>
          </a:p>
          <a:p>
            <a:pPr algn="l" rtl="0">
              <a:buNone/>
            </a:pPr>
            <a:r>
              <a:rPr lang="ru-RU" dirty="0"/>
              <a:t>– компоненти конфігурації, що піддаються</a:t>
            </a:r>
          </a:p>
          <a:p>
            <a:pPr algn="l" rtl="0">
              <a:buNone/>
            </a:pPr>
            <a:r>
              <a:rPr lang="ru-RU" dirty="0"/>
              <a:t>аудиту;</a:t>
            </a:r>
          </a:p>
          <a:p>
            <a:pPr algn="l" rtl="0">
              <a:buNone/>
            </a:pPr>
            <a:r>
              <a:rPr lang="ru-RU" dirty="0"/>
              <a:t>- Розклад виконання завдань аудиту;</a:t>
            </a:r>
          </a:p>
          <a:p>
            <a:pPr algn="l" rtl="0">
              <a:buNone/>
            </a:pPr>
            <a:r>
              <a:rPr lang="ru-RU" dirty="0"/>
              <a:t>– процедури щодо аудиту;</a:t>
            </a:r>
          </a:p>
          <a:p>
            <a:pPr algn="l" rtl="0">
              <a:buNone/>
            </a:pPr>
            <a:r>
              <a:rPr lang="ru-RU" dirty="0"/>
              <a:t>– учасники аудиту;</a:t>
            </a:r>
          </a:p>
          <a:p>
            <a:pPr algn="l" rtl="0">
              <a:buNone/>
            </a:pPr>
            <a:r>
              <a:rPr lang="ru-RU" dirty="0"/>
              <a:t>- Необхідна документація;</a:t>
            </a:r>
          </a:p>
          <a:p>
            <a:pPr algn="l" rtl="0">
              <a:buNone/>
            </a:pPr>
            <a:r>
              <a:rPr lang="ru-RU" dirty="0"/>
              <a:t>– процедури фіксації та аналізу виявлених недоліків, а також реалізації коригуючих дій;</a:t>
            </a:r>
          </a:p>
          <a:p>
            <a:pPr algn="l" rtl="0">
              <a:buNone/>
            </a:pPr>
            <a:r>
              <a:rPr lang="ru-RU" dirty="0"/>
              <a:t>– критерії відповідності та специфічні дії, які слід виконати після погодження результатів аудиту.</a:t>
            </a:r>
          </a:p>
          <a:p>
            <a:pPr algn="l" rtl="0">
              <a:buNone/>
            </a:pPr>
            <a:endParaRPr lang="ru-R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КК</a:t>
            </a:r>
          </a:p>
        </p:txBody>
      </p:sp>
      <p:sp>
        <p:nvSpPr>
          <p:cNvPr id="3" name="Содержимое 2"/>
          <p:cNvSpPr>
            <a:spLocks noGrp="1"/>
          </p:cNvSpPr>
          <p:nvPr>
            <p:ph idx="1"/>
          </p:nvPr>
        </p:nvSpPr>
        <p:spPr/>
        <p:txBody>
          <a:bodyPr>
            <a:normAutofit fontScale="77500" lnSpcReduction="20000"/>
          </a:bodyPr>
          <a:lstStyle/>
          <a:p>
            <a:pPr algn="l" rtl="0">
              <a:buNone/>
            </a:pPr>
            <a:r>
              <a:rPr lang="ru-RU" dirty="0"/>
              <a:t>Управління конфігурацією – це процес (див. п.б.2 стандарту ISO 12207) застосування адміністративних та технічних процедур протягом усього життєвого циклу програмного засобу для:</a:t>
            </a:r>
          </a:p>
          <a:p>
            <a:pPr algn="l" rtl="0"/>
            <a:r>
              <a:rPr lang="ru-RU" dirty="0"/>
              <a:t>планування процедур управління конфігурацією ПС та її компонентів;</a:t>
            </a:r>
          </a:p>
          <a:p>
            <a:pPr algn="l" rtl="0"/>
            <a:r>
              <a:rPr lang="ru-RU" dirty="0"/>
              <a:t>ідентифікації, визначення та базування конфігурації компонентів елементів програмного засобу в інформаційній системі;</a:t>
            </a:r>
          </a:p>
          <a:p>
            <a:pPr algn="l" rtl="0"/>
            <a:r>
              <a:rPr lang="ru-RU" dirty="0"/>
              <a:t>управління конфігурацією, модифікацією та випуском версій програмних продуктів;</a:t>
            </a:r>
          </a:p>
          <a:p>
            <a:pPr algn="l" rtl="0"/>
            <a:r>
              <a:rPr lang="ru-RU" dirty="0"/>
              <a:t>фіксування конфігурації та повідомлення про стан версій програмних засобів та їх компонентів;</a:t>
            </a:r>
          </a:p>
          <a:p>
            <a:pPr algn="l" rtl="0"/>
            <a:r>
              <a:rPr lang="ru-RU" dirty="0"/>
              <a:t>управління та контролю зберігання обігу та постачання версій програмних засобів.</a:t>
            </a:r>
          </a:p>
          <a:p>
            <a:pPr algn="l" rtl="0">
              <a:buNone/>
            </a:pPr>
            <a:endParaRPr lang="ru-RU"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ПЛАН КУК</a:t>
            </a:r>
          </a:p>
        </p:txBody>
      </p:sp>
      <p:sp>
        <p:nvSpPr>
          <p:cNvPr id="3" name="Содержимое 2"/>
          <p:cNvSpPr>
            <a:spLocks noGrp="1"/>
          </p:cNvSpPr>
          <p:nvPr>
            <p:ph idx="1"/>
          </p:nvPr>
        </p:nvSpPr>
        <p:spPr/>
        <p:txBody>
          <a:bodyPr>
            <a:normAutofit fontScale="70000" lnSpcReduction="20000"/>
          </a:bodyPr>
          <a:lstStyle/>
          <a:p>
            <a:pPr algn="l" rtl="0">
              <a:buNone/>
            </a:pPr>
            <a:r>
              <a:rPr lang="ru-RU" dirty="0"/>
              <a:t>План управління конфігурацією ПС встановлює методи, що використовуються управління конфігурацією (КК) і супроводження програмних засобів та його компонент протягом усього життєвого циклу. Цей план має включати:</a:t>
            </a:r>
          </a:p>
          <a:p>
            <a:pPr lvl="0" algn="l" rtl="0"/>
            <a:r>
              <a:rPr lang="ru-RU" dirty="0"/>
              <a:t>опис КК середовища, яке потрібно використовувати, включаючи процедури, інструментальні засоби, методи, стандарти, організаційні угоди та інтерфейси;</a:t>
            </a:r>
          </a:p>
          <a:p>
            <a:pPr lvl="0" algn="l" rtl="0"/>
            <a:r>
              <a:rPr lang="ru-RU" dirty="0"/>
              <a:t>опис дій процесів КК у життєвому циклі ПС, які забезпечать виконання завдань:</a:t>
            </a:r>
          </a:p>
          <a:p>
            <a:pPr lvl="0" algn="l" rtl="0"/>
            <a:r>
              <a:rPr lang="ru-RU" dirty="0"/>
              <a:t>ідентифікацію конфігурації: елементи, які мають бути ідентифіковані; термін, коли їх буде ідентифіковано; методи ідентифікації для інформації про життєвий цикл ПС та зв'язок ідентифікації програмних засобів та системи;</a:t>
            </a:r>
          </a:p>
          <a:p>
            <a:pPr lvl="0" algn="l" rtl="0"/>
            <a:r>
              <a:rPr lang="ru-RU" dirty="0"/>
              <a:t>засоби встановлення базової версії; як базова версія встановлюватиметься; коли ця базова версія буде встановлена;</a:t>
            </a:r>
          </a:p>
          <a:p>
            <a:pPr algn="l" rtl="0">
              <a:buNone/>
            </a:pPr>
            <a:endParaRPr lang="ru-RU"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r>
              <a:rPr lang="ru-RU" dirty="0"/>
              <a:t>ПЛАН КУК</a:t>
            </a:r>
          </a:p>
        </p:txBody>
      </p:sp>
      <p:sp>
        <p:nvSpPr>
          <p:cNvPr id="3" name="Содержимое 2"/>
          <p:cNvSpPr>
            <a:spLocks noGrp="1"/>
          </p:cNvSpPr>
          <p:nvPr>
            <p:ph idx="1"/>
          </p:nvPr>
        </p:nvSpPr>
        <p:spPr>
          <a:xfrm>
            <a:off x="673224" y="2204864"/>
            <a:ext cx="8075240" cy="4392488"/>
          </a:xfrm>
        </p:spPr>
        <p:txBody>
          <a:bodyPr>
            <a:normAutofit fontScale="55000" lnSpcReduction="20000"/>
          </a:bodyPr>
          <a:lstStyle/>
          <a:p>
            <a:pPr lvl="0" algn="l" rtl="0"/>
            <a:r>
              <a:rPr lang="ru-RU" dirty="0"/>
              <a:t>засоби управління бібліотекою ПС та елементами конфігурації та</a:t>
            </a:r>
            <a:r>
              <a:rPr lang="ru-RU" dirty="0" err="1"/>
              <a:t>трасування</a:t>
            </a:r>
            <a:r>
              <a:rPr lang="ru-RU" dirty="0"/>
              <a:t>базової версії;</a:t>
            </a:r>
          </a:p>
          <a:p>
            <a:pPr lvl="0" algn="l" rtl="0"/>
            <a:r>
              <a:rPr lang="ru-RU" dirty="0"/>
              <a:t>зміст та ідентифікацію звітів про помилки для програмного продукту та процесів життєвого циклу; метод закриття звітів про помилки та взаємодію з контролем змін;</a:t>
            </a:r>
          </a:p>
          <a:p>
            <a:pPr lvl="0" algn="l" rtl="0"/>
            <a:r>
              <a:rPr lang="ru-RU" dirty="0"/>
              <a:t>метод обробки зворотного зв'язку всередині та поза процесами життєвого циклу ПС; методи оцінки та пріоритетності аналізу помилок та обробки цих рішень або реалізації зміни; зв'язок цих методів зі звітністю про помилки та дії з контролю за змінами;</a:t>
            </a:r>
          </a:p>
          <a:p>
            <a:pPr lvl="0" algn="l" rtl="0"/>
            <a:r>
              <a:rPr lang="ru-RU" dirty="0"/>
              <a:t>дані, які мають бути записані, щоб мати можливість здійснювати звітність про стан управління конфігурацією; визначення області, де ці дані зберігатимуться; як вони відтворюватимуться для звітності і кому це буде доступно;</a:t>
            </a:r>
          </a:p>
          <a:p>
            <a:pPr lvl="0" algn="l" rtl="0"/>
            <a:r>
              <a:rPr lang="ru-RU" dirty="0"/>
              <a:t>архів;</a:t>
            </a:r>
          </a:p>
          <a:p>
            <a:pPr lvl="0" algn="l" rtl="0"/>
            <a:r>
              <a:rPr lang="ru-RU" dirty="0"/>
              <a:t>вибірка та версії;</a:t>
            </a:r>
          </a:p>
          <a:p>
            <a:pPr lvl="0" algn="l" rtl="0"/>
            <a:r>
              <a:rPr lang="ru-RU" dirty="0"/>
              <a:t>засоби управління інтеграцією;</a:t>
            </a:r>
          </a:p>
          <a:p>
            <a:pPr lvl="0" algn="l" rtl="0"/>
            <a:r>
              <a:rPr lang="ru-RU" dirty="0"/>
              <a:t>метод формування версій та збереження даних;</a:t>
            </a:r>
          </a:p>
          <a:p>
            <a:pPr lvl="0" algn="l" rtl="0"/>
            <a:r>
              <a:rPr lang="ru-RU" dirty="0"/>
              <a:t>управління інструментальними засобами, що використовуються для розробки, формування, перевірки та завантаження ПС, які мають бути кваліфіковані;</a:t>
            </a:r>
          </a:p>
          <a:p>
            <a:pPr lvl="0" algn="l" rtl="0"/>
            <a:r>
              <a:rPr lang="ru-RU" dirty="0"/>
              <a:t>критерії переходу для початку та продовження процесу КК версіями.</a:t>
            </a:r>
          </a:p>
          <a:p>
            <a:pPr algn="l" rtl="0">
              <a:buNone/>
            </a:pPr>
            <a:endParaRPr lang="ru-R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l" rtl="0"/>
            <a:endParaRPr lang="ru-RU"/>
          </a:p>
        </p:txBody>
      </p:sp>
      <p:sp>
        <p:nvSpPr>
          <p:cNvPr id="3" name="Содержимое 2"/>
          <p:cNvSpPr>
            <a:spLocks noGrp="1"/>
          </p:cNvSpPr>
          <p:nvPr>
            <p:ph idx="1"/>
          </p:nvPr>
        </p:nvSpPr>
        <p:spPr/>
        <p:txBody>
          <a:bodyPr>
            <a:normAutofit fontScale="77500" lnSpcReduction="20000"/>
          </a:bodyPr>
          <a:lstStyle/>
          <a:p>
            <a:pPr algn="l" rtl="0">
              <a:buNone/>
            </a:pPr>
            <a:r>
              <a:rPr lang="ru-RU" dirty="0"/>
              <a:t>Структура ЖЦ ПЗ</a:t>
            </a:r>
            <a:r>
              <a:rPr lang="ru-RU" dirty="0" err="1"/>
              <a:t>по</a:t>
            </a:r>
            <a:r>
              <a:rPr lang="ru-RU" dirty="0"/>
              <a:t>стандарту ISO/IEC 12207 базується на трьох групах процесів:</a:t>
            </a:r>
          </a:p>
          <a:p>
            <a:pPr algn="l" rtl="0"/>
            <a:r>
              <a:rPr lang="ru-RU" dirty="0"/>
              <a:t>основні процеси ЖЦ ПЗ (придбання, постачання, розробка, експлуатація, супровід);</a:t>
            </a:r>
          </a:p>
          <a:p>
            <a:pPr algn="l" rtl="0"/>
            <a:r>
              <a:rPr lang="ru-RU" dirty="0"/>
              <a:t>допоміжні процеси, які забезпечують виконання основних процесів (документування, управління конфігурацією, забезпечення якості, верифікація, атестація, оцінка, аудит (перевірка фінансової та господарсько-економічної діяльності установи, підприємства, що проводиться незалежними фахівцями), вирішення проблем);</a:t>
            </a:r>
          </a:p>
          <a:p>
            <a:pPr algn="l" rtl="0"/>
            <a:r>
              <a:rPr lang="ru-RU" dirty="0"/>
              <a:t>організаційні процеси (управління проектами, створення інфраструктури проекту, визначення, оцінка та покращення самого ЖЦ, навчання).</a:t>
            </a:r>
          </a:p>
          <a:p>
            <a:pPr algn="l" rtl="0">
              <a:buNone/>
            </a:pPr>
            <a:endParaRPr lang="ru-RU"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Городская">
  <a:themeElements>
    <a:clrScheme name="Городская">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Городская">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Городская">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2978</TotalTime>
  <Words>2590</Words>
  <Application>Microsoft Office PowerPoint</Application>
  <PresentationFormat>Экран (4:3)</PresentationFormat>
  <Paragraphs>175</Paragraphs>
  <Slides>28</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28</vt:i4>
      </vt:variant>
    </vt:vector>
  </HeadingPairs>
  <TitlesOfParts>
    <vt:vector size="34" baseType="lpstr">
      <vt:lpstr>Arial</vt:lpstr>
      <vt:lpstr>Georgia</vt:lpstr>
      <vt:lpstr>Roboto</vt:lpstr>
      <vt:lpstr>Trebuchet MS</vt:lpstr>
      <vt:lpstr>Wingdings 2</vt:lpstr>
      <vt:lpstr>Городская</vt:lpstr>
      <vt:lpstr>Презентація на тему: «Конфігурація критичного ПЗ. Повторне використання"</vt:lpstr>
      <vt:lpstr>КРИТИЧНЕ ПО</vt:lpstr>
      <vt:lpstr>КРИТИЧНІ СИСТЕМИ</vt:lpstr>
      <vt:lpstr>КРИТИЧНІ СИСТЕМИ</vt:lpstr>
      <vt:lpstr>Критичні системи</vt:lpstr>
      <vt:lpstr>КРИТИЧНІ СИСТЕМИ</vt:lpstr>
      <vt:lpstr>Безвідмовність</vt:lpstr>
      <vt:lpstr>Безвідмовність</vt:lpstr>
      <vt:lpstr>Безвідмовність</vt:lpstr>
      <vt:lpstr>Презентация PowerPoint</vt:lpstr>
      <vt:lpstr>КРИТИЧНЕ ПО</vt:lpstr>
      <vt:lpstr>Термінологія безпеки</vt:lpstr>
      <vt:lpstr>СТАНДАРТ ISO</vt:lpstr>
      <vt:lpstr>Вважається, що система безпечна, якщо її експлуатація унеможливлює аварії (нещасні випадки) або їх наслідки незначні. Цього можна досягти трьома способами, що доповнюють один одного.</vt:lpstr>
      <vt:lpstr>Презентация PowerPoint</vt:lpstr>
      <vt:lpstr>ANSI/IEEE СТАНДАРТ</vt:lpstr>
      <vt:lpstr>IEEE</vt:lpstr>
      <vt:lpstr>Навіщо потрібні стандарти?</vt:lpstr>
      <vt:lpstr>КОНФІГУРАЦІЯ</vt:lpstr>
      <vt:lpstr>УПРАВЛІННЯ КОНФІГУРАЦІЄЮ</vt:lpstr>
      <vt:lpstr>Презентация PowerPoint</vt:lpstr>
      <vt:lpstr>Презентация PowerPoint</vt:lpstr>
      <vt:lpstr>Презентация PowerPoint</vt:lpstr>
      <vt:lpstr>Презентация PowerPoint</vt:lpstr>
      <vt:lpstr>КК</vt:lpstr>
      <vt:lpstr>ПЛАН КУК</vt:lpstr>
      <vt:lpstr>ПЛАН КУК</vt:lpstr>
      <vt:lpstr>Презентация PowerPoint</vt:lpstr>
    </vt:vector>
  </TitlesOfParts>
  <Company>Reanimator Extreme Edition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на тему: «Конфигурация критического ПО. Повторное использование»</dc:title>
  <dc:creator>User</dc:creator>
  <cp:lastModifiedBy>380971674174</cp:lastModifiedBy>
  <cp:revision>10</cp:revision>
  <dcterms:created xsi:type="dcterms:W3CDTF">2018-04-16T03:45:42Z</dcterms:created>
  <dcterms:modified xsi:type="dcterms:W3CDTF">2023-03-27T17:40:14Z</dcterms:modified>
</cp:coreProperties>
</file>