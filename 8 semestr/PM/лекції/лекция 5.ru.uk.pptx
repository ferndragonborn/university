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2"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2" d="100"/>
          <a:sy n="82" d="100"/>
        </p:scale>
        <p:origin x="1474" y="5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sp>
        <p:nvSpPr>
          <p:cNvPr id="7" name="Right Triangle 6"/>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p:cNvSpPr/>
          <p:nvPr/>
        </p:nvSpPr>
        <p:spPr>
          <a:xfrm>
            <a:off x="-2380" y="-925"/>
            <a:ext cx="9146380" cy="6858925"/>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2002901">
                <a:moveTo>
                  <a:pt x="0" y="2002901"/>
                </a:moveTo>
                <a:lnTo>
                  <a:pt x="2836585" y="0"/>
                </a:lnTo>
                <a:lnTo>
                  <a:pt x="3352800" y="270"/>
                </a:lnTo>
                <a:lnTo>
                  <a:pt x="3352800" y="2002901"/>
                </a:lnTo>
                <a:lnTo>
                  <a:pt x="0" y="2002901"/>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rot="19140000">
            <a:off x="817112" y="1730403"/>
            <a:ext cx="5648623" cy="1204306"/>
          </a:xfrm>
        </p:spPr>
        <p:txBody>
          <a:bodyPr bIns="9144" anchor="b"/>
          <a:lstStyle>
            <a:lvl1pPr>
              <a:defRPr sz="3200"/>
            </a:lvl1pPr>
          </a:lstStyle>
          <a:p>
            <a:r>
              <a:rPr lang="ru-RU"/>
              <a:t>Образец заголовка</a:t>
            </a:r>
            <a:endParaRPr lang="en-US" dirty="0"/>
          </a:p>
        </p:txBody>
      </p:sp>
      <p:sp>
        <p:nvSpPr>
          <p:cNvPr id="3" name="Subtitle 2"/>
          <p:cNvSpPr>
            <a:spLocks noGrp="1"/>
          </p:cNvSpPr>
          <p:nvPr>
            <p:ph type="subTitle" idx="1"/>
          </p:nvPr>
        </p:nvSpPr>
        <p:spPr>
          <a:xfrm rot="19140000">
            <a:off x="1212277" y="2470925"/>
            <a:ext cx="6511131" cy="329259"/>
          </a:xfrm>
        </p:spPr>
        <p:txBody>
          <a:bodyPr tIns="9144">
            <a:normAutofit/>
          </a:bodyPr>
          <a:lstStyle>
            <a:lvl1pPr marL="0" indent="0" algn="l">
              <a:buNone/>
              <a:defRPr kumimoji="0" lang="en-US" sz="1400" b="0" i="0" u="none" strike="noStrike" kern="1200" cap="all" spc="400" normalizeH="0" baseline="0" noProof="0" dirty="0" smtClean="0">
                <a:ln>
                  <a:noFill/>
                </a:ln>
                <a:solidFill>
                  <a:schemeClr val="tx1"/>
                </a:solidFill>
                <a:effectLst/>
                <a:uLnTx/>
                <a:uFillTx/>
                <a:latin typeface="+mn-lt"/>
                <a:ea typeface="+mj-ea"/>
                <a:cs typeface="Tunga" pitchFamily="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marL="0" marR="0" lvl="0" indent="0" algn="l" defTabSz="914400" rtl="0" eaLnBrk="1" fontAlgn="auto" latinLnBrk="0" hangingPunct="1">
              <a:lnSpc>
                <a:spcPct val="100000"/>
              </a:lnSpc>
              <a:spcBef>
                <a:spcPts val="0"/>
              </a:spcBef>
              <a:spcAft>
                <a:spcPts val="0"/>
              </a:spcAft>
              <a:buClr>
                <a:schemeClr val="accent1"/>
              </a:buClr>
              <a:buSzPct val="100000"/>
              <a:buFont typeface="Arial" pitchFamily="34" charset="0"/>
              <a:buNone/>
              <a:tabLst/>
              <a:defRPr/>
            </a:pPr>
            <a:r>
              <a:rPr lang="ru-RU"/>
              <a:t>Образец подзаголовка</a:t>
            </a:r>
            <a:endParaRPr lang="en-US" dirty="0"/>
          </a:p>
        </p:txBody>
      </p:sp>
      <p:sp>
        <p:nvSpPr>
          <p:cNvPr id="4" name="Date Placeholder 3"/>
          <p:cNvSpPr>
            <a:spLocks noGrp="1"/>
          </p:cNvSpPr>
          <p:nvPr>
            <p:ph type="dt" sz="half" idx="10"/>
          </p:nvPr>
        </p:nvSpPr>
        <p:spPr/>
        <p:txBody>
          <a:bodyPr/>
          <a:lstStyle/>
          <a:p>
            <a:fld id="{5988DF5A-BD20-4B74-A361-07C3B2C7470F}" type="datetimeFigureOut">
              <a:rPr lang="ru-RU" smtClean="0"/>
              <a:t>27.03.2023</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147262CC-B1DB-4EFF-A5A8-6AC0CC4C0C0D}" type="slidenum">
              <a:rPr lang="ru-RU" smtClean="0"/>
              <a:t>‹#›</a:t>
            </a:fld>
            <a:endParaRPr lang="ru-R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a:p>
        </p:txBody>
      </p:sp>
      <p:sp>
        <p:nvSpPr>
          <p:cNvPr id="3" name="Content Placeholder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5988DF5A-BD20-4B74-A361-07C3B2C7470F}" type="datetimeFigureOut">
              <a:rPr lang="ru-RU" smtClean="0"/>
              <a:t>27.03.2023</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147262CC-B1DB-4EFF-A5A8-6AC0CC4C0C0D}" type="slidenum">
              <a:rPr lang="ru-RU" smtClean="0"/>
              <a:t>‹#›</a:t>
            </a:fld>
            <a:endParaRPr lang="ru-R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Заголовок раздела">
    <p:spTree>
      <p:nvGrpSpPr>
        <p:cNvPr id="1" name=""/>
        <p:cNvGrpSpPr/>
        <p:nvPr/>
      </p:nvGrpSpPr>
      <p:grpSpPr>
        <a:xfrm>
          <a:off x="0" y="0"/>
          <a:ext cx="0" cy="0"/>
          <a:chOff x="0" y="0"/>
          <a:chExt cx="0" cy="0"/>
        </a:xfrm>
      </p:grpSpPr>
      <p:sp>
        <p:nvSpPr>
          <p:cNvPr id="8" name="Freeform 7"/>
          <p:cNvSpPr/>
          <p:nvPr/>
        </p:nvSpPr>
        <p:spPr>
          <a:xfrm>
            <a:off x="-2380" y="-925"/>
            <a:ext cx="9146380" cy="6858925"/>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2002901">
                <a:moveTo>
                  <a:pt x="0" y="2002901"/>
                </a:moveTo>
                <a:lnTo>
                  <a:pt x="2836585" y="0"/>
                </a:lnTo>
                <a:lnTo>
                  <a:pt x="3352800" y="270"/>
                </a:lnTo>
                <a:lnTo>
                  <a:pt x="3352800" y="2002901"/>
                </a:lnTo>
                <a:lnTo>
                  <a:pt x="0" y="2002901"/>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ight Triangle 6"/>
          <p:cNvSpPr/>
          <p:nvPr/>
        </p:nvSpPr>
        <p:spPr>
          <a:xfrm>
            <a:off x="0" y="2647950"/>
            <a:ext cx="3571875" cy="4210050"/>
          </a:xfrm>
          <a:prstGeom prst="rtTriangle">
            <a:avLst/>
          </a:pr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rot="19140000">
            <a:off x="819399" y="1726737"/>
            <a:ext cx="5650992" cy="1207509"/>
          </a:xfrm>
        </p:spPr>
        <p:txBody>
          <a:bodyPr bIns="9144" anchor="b"/>
          <a:lstStyle>
            <a:lvl1pPr algn="l">
              <a:defRPr kumimoji="0" lang="en-US" sz="3200" b="0" i="0" u="none" strike="noStrike" kern="1200" cap="all" spc="0" normalizeH="0" baseline="0" noProof="0" dirty="0" smtClean="0">
                <a:ln>
                  <a:noFill/>
                </a:ln>
                <a:solidFill>
                  <a:schemeClr val="tx1"/>
                </a:solidFill>
                <a:effectLst/>
                <a:uLnTx/>
                <a:uFillTx/>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ru-RU"/>
              <a:t>Образец заголовка</a:t>
            </a:r>
            <a:endParaRPr lang="en-US" dirty="0"/>
          </a:p>
        </p:txBody>
      </p:sp>
      <p:sp>
        <p:nvSpPr>
          <p:cNvPr id="3" name="Text Placeholder 2"/>
          <p:cNvSpPr>
            <a:spLocks noGrp="1"/>
          </p:cNvSpPr>
          <p:nvPr>
            <p:ph type="body" idx="1"/>
          </p:nvPr>
        </p:nvSpPr>
        <p:spPr>
          <a:xfrm rot="19140000">
            <a:off x="1216152" y="2468304"/>
            <a:ext cx="6510528" cy="329184"/>
          </a:xfrm>
        </p:spPr>
        <p:txBody>
          <a:bodyPr anchor="t">
            <a:normAutofit/>
          </a:bodyPr>
          <a:lstStyle>
            <a:lvl1pPr marL="0" indent="0">
              <a:buNone/>
              <a:defRPr kumimoji="0" lang="en-US" sz="1400" b="0" i="0" u="none" strike="noStrike" kern="1200" cap="all" spc="400" normalizeH="0" baseline="0" noProof="0" dirty="0" smtClean="0">
                <a:ln>
                  <a:noFill/>
                </a:ln>
                <a:solidFill>
                  <a:schemeClr val="tx1"/>
                </a:solidFill>
                <a:effectLst/>
                <a:uLnTx/>
                <a:uFillTx/>
                <a:latin typeface="+mn-lt"/>
                <a:ea typeface="+mj-ea"/>
                <a:cs typeface="Tunga" pitchFamily="2"/>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marR="0" lvl="0" indent="0" algn="l" defTabSz="914400" rtl="0" eaLnBrk="1" fontAlgn="auto" latinLnBrk="0" hangingPunct="1">
              <a:lnSpc>
                <a:spcPct val="100000"/>
              </a:lnSpc>
              <a:spcBef>
                <a:spcPts val="0"/>
              </a:spcBef>
              <a:spcAft>
                <a:spcPts val="0"/>
              </a:spcAft>
              <a:buClr>
                <a:schemeClr val="accent1"/>
              </a:buClr>
              <a:buSzPct val="100000"/>
              <a:buFont typeface="Arial" pitchFamily="34" charset="0"/>
              <a:buNone/>
              <a:tabLst/>
              <a:defRPr/>
            </a:pPr>
            <a:r>
              <a:rPr lang="ru-RU"/>
              <a:t>Образец текста</a:t>
            </a:r>
          </a:p>
        </p:txBody>
      </p:sp>
      <p:sp>
        <p:nvSpPr>
          <p:cNvPr id="4" name="Date Placeholder 3"/>
          <p:cNvSpPr>
            <a:spLocks noGrp="1"/>
          </p:cNvSpPr>
          <p:nvPr>
            <p:ph type="dt" sz="half" idx="10"/>
          </p:nvPr>
        </p:nvSpPr>
        <p:spPr/>
        <p:txBody>
          <a:bodyPr/>
          <a:lstStyle/>
          <a:p>
            <a:fld id="{5988DF5A-BD20-4B74-A361-07C3B2C7470F}" type="datetimeFigureOut">
              <a:rPr lang="ru-RU" smtClean="0"/>
              <a:t>27.03.2023</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147262CC-B1DB-4EFF-A5A8-6AC0CC4C0C0D}" type="slidenum">
              <a:rPr lang="ru-RU" smtClean="0"/>
              <a:t>‹#›</a:t>
            </a:fld>
            <a:endParaRPr lang="ru-R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22960" y="1097280"/>
            <a:ext cx="3200400" cy="371246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Content Placeholder 3"/>
          <p:cNvSpPr>
            <a:spLocks noGrp="1"/>
          </p:cNvSpPr>
          <p:nvPr>
            <p:ph sz="half" idx="2"/>
          </p:nvPr>
        </p:nvSpPr>
        <p:spPr>
          <a:xfrm>
            <a:off x="4700016" y="1097280"/>
            <a:ext cx="3200400" cy="371246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Date Placeholder 4"/>
          <p:cNvSpPr>
            <a:spLocks noGrp="1"/>
          </p:cNvSpPr>
          <p:nvPr>
            <p:ph type="dt" sz="half" idx="10"/>
          </p:nvPr>
        </p:nvSpPr>
        <p:spPr/>
        <p:txBody>
          <a:bodyPr/>
          <a:lstStyle/>
          <a:p>
            <a:fld id="{5988DF5A-BD20-4B74-A361-07C3B2C7470F}" type="datetimeFigureOut">
              <a:rPr lang="ru-RU" smtClean="0"/>
              <a:t>27.03.2023</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147262CC-B1DB-4EFF-A5A8-6AC0CC4C0C0D}" type="slidenum">
              <a:rPr lang="ru-RU" smtClean="0"/>
              <a:t>‹#›</a:t>
            </a:fld>
            <a:endParaRPr lang="ru-RU"/>
          </a:p>
        </p:txBody>
      </p:sp>
      <p:sp>
        <p:nvSpPr>
          <p:cNvPr id="8" name="Title 7"/>
          <p:cNvSpPr>
            <a:spLocks noGrp="1"/>
          </p:cNvSpPr>
          <p:nvPr>
            <p:ph type="title"/>
          </p:nvPr>
        </p:nvSpPr>
        <p:spPr/>
        <p:txBody>
          <a:bodyPr/>
          <a:lstStyle/>
          <a:p>
            <a:r>
              <a:rPr lang="ru-RU"/>
              <a:t>Образец заголовка</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ru-RU"/>
              <a:t>Образец заголовка</a:t>
            </a:r>
            <a:endParaRPr lang="en-US"/>
          </a:p>
        </p:txBody>
      </p:sp>
      <p:sp>
        <p:nvSpPr>
          <p:cNvPr id="3" name="Text Placeholder 2"/>
          <p:cNvSpPr>
            <a:spLocks noGrp="1"/>
          </p:cNvSpPr>
          <p:nvPr>
            <p:ph type="body" idx="1"/>
          </p:nvPr>
        </p:nvSpPr>
        <p:spPr>
          <a:xfrm>
            <a:off x="822960" y="1097280"/>
            <a:ext cx="3200400" cy="548640"/>
          </a:xfrm>
        </p:spPr>
        <p:txBody>
          <a:bodyPr anchor="b">
            <a:normAutofit/>
          </a:bodyPr>
          <a:lstStyle>
            <a:lvl1pPr marL="0" indent="0">
              <a:buNone/>
              <a:defRPr lang="en-US" sz="1400" b="0" kern="1200" cap="all" spc="400" baseline="0" dirty="0" smtClean="0">
                <a:solidFill>
                  <a:schemeClr val="tx1"/>
                </a:solidFill>
                <a:latin typeface="+mn-lt"/>
                <a:ea typeface="+mj-ea"/>
                <a:cs typeface="Tunga" pitchFamily="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00000"/>
              </a:lnSpc>
              <a:spcBef>
                <a:spcPts val="0"/>
              </a:spcBef>
              <a:spcAft>
                <a:spcPts val="0"/>
              </a:spcAft>
              <a:buClr>
                <a:schemeClr val="accent1"/>
              </a:buClr>
              <a:buFont typeface="Arial" pitchFamily="34" charset="0"/>
              <a:buNone/>
            </a:pPr>
            <a:r>
              <a:rPr lang="ru-RU"/>
              <a:t>Образец текста</a:t>
            </a:r>
          </a:p>
        </p:txBody>
      </p:sp>
      <p:sp>
        <p:nvSpPr>
          <p:cNvPr id="4" name="Content Placeholder 3"/>
          <p:cNvSpPr>
            <a:spLocks noGrp="1"/>
          </p:cNvSpPr>
          <p:nvPr>
            <p:ph sz="half" idx="2"/>
          </p:nvPr>
        </p:nvSpPr>
        <p:spPr>
          <a:xfrm>
            <a:off x="819150" y="1701848"/>
            <a:ext cx="3200400" cy="310896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Text Placeholder 4"/>
          <p:cNvSpPr>
            <a:spLocks noGrp="1"/>
          </p:cNvSpPr>
          <p:nvPr>
            <p:ph type="body" sz="quarter" idx="3"/>
          </p:nvPr>
        </p:nvSpPr>
        <p:spPr>
          <a:xfrm>
            <a:off x="4700016" y="1097280"/>
            <a:ext cx="3200400" cy="548640"/>
          </a:xfrm>
        </p:spPr>
        <p:txBody>
          <a:bodyPr anchor="b">
            <a:normAutofit/>
          </a:bodyPr>
          <a:lstStyle>
            <a:lvl1pPr marL="0" indent="0">
              <a:buNone/>
              <a:defRPr lang="en-US" sz="1400" b="0" kern="1200" cap="all" spc="400" baseline="0" dirty="0" smtClean="0">
                <a:solidFill>
                  <a:schemeClr val="tx1"/>
                </a:solidFill>
                <a:latin typeface="+mn-lt"/>
                <a:ea typeface="+mj-ea"/>
                <a:cs typeface="Tunga" pitchFamily="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00000"/>
              </a:lnSpc>
              <a:spcBef>
                <a:spcPts val="0"/>
              </a:spcBef>
              <a:spcAft>
                <a:spcPts val="0"/>
              </a:spcAft>
              <a:buClr>
                <a:schemeClr val="accent1"/>
              </a:buClr>
              <a:buFont typeface="Arial" pitchFamily="34" charset="0"/>
              <a:buNone/>
            </a:pPr>
            <a:r>
              <a:rPr lang="ru-RU"/>
              <a:t>Образец текста</a:t>
            </a:r>
          </a:p>
        </p:txBody>
      </p:sp>
      <p:sp>
        <p:nvSpPr>
          <p:cNvPr id="6" name="Content Placeholder 5"/>
          <p:cNvSpPr>
            <a:spLocks noGrp="1"/>
          </p:cNvSpPr>
          <p:nvPr>
            <p:ph sz="quarter" idx="4"/>
          </p:nvPr>
        </p:nvSpPr>
        <p:spPr>
          <a:xfrm>
            <a:off x="4700016" y="1701848"/>
            <a:ext cx="3200400" cy="310896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7" name="Date Placeholder 6"/>
          <p:cNvSpPr>
            <a:spLocks noGrp="1"/>
          </p:cNvSpPr>
          <p:nvPr>
            <p:ph type="dt" sz="half" idx="10"/>
          </p:nvPr>
        </p:nvSpPr>
        <p:spPr/>
        <p:txBody>
          <a:bodyPr/>
          <a:lstStyle/>
          <a:p>
            <a:fld id="{5988DF5A-BD20-4B74-A361-07C3B2C7470F}" type="datetimeFigureOut">
              <a:rPr lang="ru-RU" smtClean="0"/>
              <a:t>27.03.2023</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147262CC-B1DB-4EFF-A5A8-6AC0CC4C0C0D}" type="slidenum">
              <a:rPr lang="ru-RU" smtClean="0"/>
              <a:t>‹#›</a:t>
            </a:fld>
            <a:endParaRPr 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a:p>
        </p:txBody>
      </p:sp>
      <p:sp>
        <p:nvSpPr>
          <p:cNvPr id="3" name="Date Placeholder 2"/>
          <p:cNvSpPr>
            <a:spLocks noGrp="1"/>
          </p:cNvSpPr>
          <p:nvPr>
            <p:ph type="dt" sz="half" idx="10"/>
          </p:nvPr>
        </p:nvSpPr>
        <p:spPr/>
        <p:txBody>
          <a:bodyPr/>
          <a:lstStyle/>
          <a:p>
            <a:fld id="{5988DF5A-BD20-4B74-A361-07C3B2C7470F}" type="datetimeFigureOut">
              <a:rPr lang="ru-RU" smtClean="0"/>
              <a:t>27.03.2023</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147262CC-B1DB-4EFF-A5A8-6AC0CC4C0C0D}" type="slidenum">
              <a:rPr lang="ru-RU" smtClean="0"/>
              <a:t>‹#›</a:t>
            </a:fld>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988DF5A-BD20-4B74-A361-07C3B2C7470F}" type="datetimeFigureOut">
              <a:rPr lang="ru-RU" smtClean="0"/>
              <a:t>27.03.2023</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147262CC-B1DB-4EFF-A5A8-6AC0CC4C0C0D}" type="slidenum">
              <a:rPr lang="ru-RU" smtClean="0"/>
              <a:t>‹#›</a:t>
            </a:fld>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Объект с подписью">
    <p:spTree>
      <p:nvGrpSpPr>
        <p:cNvPr id="1" name=""/>
        <p:cNvGrpSpPr/>
        <p:nvPr/>
      </p:nvGrpSpPr>
      <p:grpSpPr>
        <a:xfrm>
          <a:off x="0" y="0"/>
          <a:ext cx="0" cy="0"/>
          <a:chOff x="0" y="0"/>
          <a:chExt cx="0" cy="0"/>
        </a:xfrm>
      </p:grpSpPr>
      <p:sp>
        <p:nvSpPr>
          <p:cNvPr id="17" name="Right Triangle 16"/>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ight Triangle 17"/>
          <p:cNvSpPr/>
          <p:nvPr/>
        </p:nvSpPr>
        <p:spPr>
          <a:xfrm rot="5400000">
            <a:off x="433389" y="-433387"/>
            <a:ext cx="6858000" cy="7724778"/>
          </a:xfrm>
          <a:prstGeom prst="rtTriangle">
            <a:avLst/>
          </a:pr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2" name="Title 1"/>
          <p:cNvSpPr>
            <a:spLocks noGrp="1"/>
          </p:cNvSpPr>
          <p:nvPr>
            <p:ph type="title"/>
          </p:nvPr>
        </p:nvSpPr>
        <p:spPr>
          <a:xfrm rot="19140000">
            <a:off x="784930" y="1576103"/>
            <a:ext cx="5212080" cy="1089427"/>
          </a:xfrm>
        </p:spPr>
        <p:txBody>
          <a:bodyPr bIns="0" anchor="b"/>
          <a:lstStyle>
            <a:lvl1pPr algn="l">
              <a:defRPr kumimoji="0" lang="en-US" sz="2800" b="0" i="0" u="none" strike="noStrike" kern="1200" cap="all" spc="0" normalizeH="0" baseline="0" noProof="0" dirty="0" smtClean="0">
                <a:ln>
                  <a:noFill/>
                </a:ln>
                <a:solidFill>
                  <a:srgbClr val="FFFFFF"/>
                </a:solidFill>
                <a:effectLst/>
                <a:uLnTx/>
                <a:uFillTx/>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ru-RU"/>
              <a:t>Образец заголовка</a:t>
            </a:r>
            <a:endParaRPr lang="en-US" dirty="0"/>
          </a:p>
        </p:txBody>
      </p:sp>
      <p:sp>
        <p:nvSpPr>
          <p:cNvPr id="3" name="Content Placeholder 2"/>
          <p:cNvSpPr>
            <a:spLocks noGrp="1"/>
          </p:cNvSpPr>
          <p:nvPr>
            <p:ph idx="1"/>
          </p:nvPr>
        </p:nvSpPr>
        <p:spPr>
          <a:xfrm>
            <a:off x="4749552" y="2618912"/>
            <a:ext cx="3807779" cy="332468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Text Placeholder 3"/>
          <p:cNvSpPr>
            <a:spLocks noGrp="1"/>
          </p:cNvSpPr>
          <p:nvPr>
            <p:ph type="body" sz="half" idx="2"/>
          </p:nvPr>
        </p:nvSpPr>
        <p:spPr>
          <a:xfrm rot="19140000">
            <a:off x="1297954" y="2253385"/>
            <a:ext cx="5794760" cy="623314"/>
          </a:xfrm>
        </p:spPr>
        <p:txBody>
          <a:bodyPr>
            <a:normAutofit/>
          </a:bodyPr>
          <a:lstStyle>
            <a:lvl1pPr marL="0" indent="0">
              <a:buNone/>
              <a:defRPr lang="en-US" sz="1400" b="1" kern="1200" dirty="0" smtClean="0">
                <a:solidFill>
                  <a:srgbClr val="FFFFFF"/>
                </a:solidFill>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ts val="300"/>
              </a:spcBef>
              <a:spcAft>
                <a:spcPts val="0"/>
              </a:spcAft>
              <a:buClr>
                <a:schemeClr val="accent1"/>
              </a:buClr>
              <a:buSzPct val="100000"/>
              <a:buFont typeface="Arial" pitchFamily="34" charset="0"/>
              <a:buNone/>
              <a:tabLst/>
              <a:defRPr/>
            </a:pPr>
            <a:r>
              <a:rPr lang="ru-RU"/>
              <a:t>Образец текста</a:t>
            </a:r>
          </a:p>
        </p:txBody>
      </p:sp>
      <p:sp>
        <p:nvSpPr>
          <p:cNvPr id="5" name="Date Placeholder 4"/>
          <p:cNvSpPr>
            <a:spLocks noGrp="1"/>
          </p:cNvSpPr>
          <p:nvPr>
            <p:ph type="dt" sz="half" idx="10"/>
          </p:nvPr>
        </p:nvSpPr>
        <p:spPr/>
        <p:txBody>
          <a:bodyPr/>
          <a:lstStyle/>
          <a:p>
            <a:fld id="{5988DF5A-BD20-4B74-A361-07C3B2C7470F}" type="datetimeFigureOut">
              <a:rPr lang="ru-RU" smtClean="0"/>
              <a:t>27.03.2023</a:t>
            </a:fld>
            <a:endParaRPr lang="ru-RU"/>
          </a:p>
        </p:txBody>
      </p:sp>
      <p:sp>
        <p:nvSpPr>
          <p:cNvPr id="6" name="Footer Placeholder 5"/>
          <p:cNvSpPr>
            <a:spLocks noGrp="1"/>
          </p:cNvSpPr>
          <p:nvPr>
            <p:ph type="ftr" sz="quarter" idx="11"/>
          </p:nvPr>
        </p:nvSpPr>
        <p:spPr/>
        <p:txBody>
          <a:bodyPr/>
          <a:lstStyle>
            <a:lvl1pPr>
              <a:defRPr>
                <a:solidFill>
                  <a:schemeClr val="tx2"/>
                </a:solidFill>
              </a:defRPr>
            </a:lvl1pPr>
          </a:lstStyle>
          <a:p>
            <a:endParaRPr lang="ru-RU"/>
          </a:p>
        </p:txBody>
      </p:sp>
      <p:sp>
        <p:nvSpPr>
          <p:cNvPr id="7" name="Slide Number Placeholder 6"/>
          <p:cNvSpPr>
            <a:spLocks noGrp="1"/>
          </p:cNvSpPr>
          <p:nvPr>
            <p:ph type="sldNum" sz="quarter" idx="12"/>
          </p:nvPr>
        </p:nvSpPr>
        <p:spPr>
          <a:ln>
            <a:solidFill>
              <a:schemeClr val="tx2"/>
            </a:solidFill>
          </a:ln>
        </p:spPr>
        <p:txBody>
          <a:bodyPr/>
          <a:lstStyle>
            <a:lvl1pPr>
              <a:defRPr>
                <a:solidFill>
                  <a:schemeClr val="tx2"/>
                </a:solidFill>
              </a:defRPr>
            </a:lvl1pPr>
          </a:lstStyle>
          <a:p>
            <a:fld id="{147262CC-B1DB-4EFF-A5A8-6AC0CC4C0C0D}" type="slidenum">
              <a:rPr lang="ru-RU" smtClean="0"/>
              <a:t>‹#›</a:t>
            </a:fld>
            <a:endParaRPr lang="ru-R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Рисунок с подписью">
    <p:spTree>
      <p:nvGrpSpPr>
        <p:cNvPr id="1" name=""/>
        <p:cNvGrpSpPr/>
        <p:nvPr/>
      </p:nvGrpSpPr>
      <p:grpSpPr>
        <a:xfrm>
          <a:off x="0" y="0"/>
          <a:ext cx="0" cy="0"/>
          <a:chOff x="0" y="0"/>
          <a:chExt cx="0" cy="0"/>
        </a:xfrm>
      </p:grpSpPr>
      <p:sp>
        <p:nvSpPr>
          <p:cNvPr id="11" name="Picture Placeholder 10"/>
          <p:cNvSpPr>
            <a:spLocks noGrp="1"/>
          </p:cNvSpPr>
          <p:nvPr>
            <p:ph type="pic" sz="quarter" idx="14"/>
          </p:nvPr>
        </p:nvSpPr>
        <p:spPr>
          <a:xfrm>
            <a:off x="2028825" y="0"/>
            <a:ext cx="7115175" cy="6858000"/>
          </a:xfrm>
          <a:custGeom>
            <a:avLst/>
            <a:gdLst>
              <a:gd name="connsiteX0" fmla="*/ 0 w 7104888"/>
              <a:gd name="connsiteY0" fmla="*/ 0 h 6858000"/>
              <a:gd name="connsiteX1" fmla="*/ 7104888 w 7104888"/>
              <a:gd name="connsiteY1" fmla="*/ 0 h 6858000"/>
              <a:gd name="connsiteX2" fmla="*/ 7104888 w 7104888"/>
              <a:gd name="connsiteY2" fmla="*/ 6858000 h 6858000"/>
              <a:gd name="connsiteX3" fmla="*/ 0 w 7104888"/>
              <a:gd name="connsiteY3" fmla="*/ 6858000 h 6858000"/>
              <a:gd name="connsiteX4" fmla="*/ 0 w 7104888"/>
              <a:gd name="connsiteY4" fmla="*/ 0 h 6858000"/>
              <a:gd name="connsiteX0" fmla="*/ 0 w 7104888"/>
              <a:gd name="connsiteY0" fmla="*/ 0 h 6858000"/>
              <a:gd name="connsiteX1" fmla="*/ 5695188 w 7104888"/>
              <a:gd name="connsiteY1" fmla="*/ 0 h 6858000"/>
              <a:gd name="connsiteX2" fmla="*/ 7104888 w 7104888"/>
              <a:gd name="connsiteY2" fmla="*/ 0 h 6858000"/>
              <a:gd name="connsiteX3" fmla="*/ 7104888 w 7104888"/>
              <a:gd name="connsiteY3" fmla="*/ 6858000 h 6858000"/>
              <a:gd name="connsiteX4" fmla="*/ 0 w 7104888"/>
              <a:gd name="connsiteY4" fmla="*/ 6858000 h 6858000"/>
              <a:gd name="connsiteX5" fmla="*/ 0 w 7104888"/>
              <a:gd name="connsiteY5"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0287 w 7115175"/>
              <a:gd name="connsiteY4" fmla="*/ 6858000 h 6858000"/>
              <a:gd name="connsiteX5" fmla="*/ 0 w 7115175"/>
              <a:gd name="connsiteY5" fmla="*/ 5048250 h 6858000"/>
              <a:gd name="connsiteX6" fmla="*/ 10287 w 7115175"/>
              <a:gd name="connsiteY6"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10287 w 7115175"/>
              <a:gd name="connsiteY5" fmla="*/ 6858000 h 6858000"/>
              <a:gd name="connsiteX6" fmla="*/ 0 w 7115175"/>
              <a:gd name="connsiteY6" fmla="*/ 5048250 h 6858000"/>
              <a:gd name="connsiteX7" fmla="*/ 10287 w 7115175"/>
              <a:gd name="connsiteY7"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0 w 7115175"/>
              <a:gd name="connsiteY5" fmla="*/ 5048250 h 6858000"/>
              <a:gd name="connsiteX6" fmla="*/ 10287 w 7115175"/>
              <a:gd name="connsiteY6" fmla="*/ 0 h 6858000"/>
              <a:gd name="connsiteX0" fmla="*/ 0 w 7115175"/>
              <a:gd name="connsiteY0" fmla="*/ 504825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0 w 7115175"/>
              <a:gd name="connsiteY5" fmla="*/ 504825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115175" h="6858000">
                <a:moveTo>
                  <a:pt x="0" y="5048250"/>
                </a:moveTo>
                <a:lnTo>
                  <a:pt x="5705475" y="0"/>
                </a:lnTo>
                <a:lnTo>
                  <a:pt x="7115175" y="0"/>
                </a:lnTo>
                <a:lnTo>
                  <a:pt x="7115175" y="6858000"/>
                </a:lnTo>
                <a:lnTo>
                  <a:pt x="1533526" y="6848475"/>
                </a:lnTo>
                <a:lnTo>
                  <a:pt x="0" y="5048250"/>
                </a:lnTo>
                <a:close/>
              </a:path>
            </a:pathLst>
          </a:custGeom>
          <a:solidFill>
            <a:schemeClr val="accent3">
              <a:alpha val="80000"/>
            </a:schemeClr>
          </a:solidFill>
        </p:spPr>
        <p:txBody>
          <a:bodyPr rIns="182880" anchor="ctr"/>
          <a:lstStyle>
            <a:lvl1pPr algn="r">
              <a:defRPr/>
            </a:lvl1pPr>
          </a:lstStyle>
          <a:p>
            <a:r>
              <a:rPr lang="ru-RU"/>
              <a:t>Вставка рисунка</a:t>
            </a:r>
            <a:endParaRPr lang="en-US" dirty="0"/>
          </a:p>
        </p:txBody>
      </p:sp>
      <p:sp>
        <p:nvSpPr>
          <p:cNvPr id="9" name="Right Triangle 8"/>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9"/>
          <p:cNvSpPr/>
          <p:nvPr/>
        </p:nvSpPr>
        <p:spPr>
          <a:xfrm>
            <a:off x="0" y="5048250"/>
            <a:ext cx="3571875" cy="1809750"/>
          </a:xfrm>
          <a:custGeom>
            <a:avLst/>
            <a:gdLst>
              <a:gd name="connsiteX0" fmla="*/ 0 w 3571875"/>
              <a:gd name="connsiteY0" fmla="*/ 4210050 h 4210050"/>
              <a:gd name="connsiteX1" fmla="*/ 0 w 3571875"/>
              <a:gd name="connsiteY1" fmla="*/ 0 h 4210050"/>
              <a:gd name="connsiteX2" fmla="*/ 3571875 w 3571875"/>
              <a:gd name="connsiteY2" fmla="*/ 4210050 h 4210050"/>
              <a:gd name="connsiteX3" fmla="*/ 0 w 3571875"/>
              <a:gd name="connsiteY3" fmla="*/ 4210050 h 4210050"/>
              <a:gd name="connsiteX0" fmla="*/ 0 w 3571875"/>
              <a:gd name="connsiteY0" fmla="*/ 1809750 h 1809750"/>
              <a:gd name="connsiteX1" fmla="*/ 1895475 w 3571875"/>
              <a:gd name="connsiteY1" fmla="*/ 0 h 1809750"/>
              <a:gd name="connsiteX2" fmla="*/ 3571875 w 3571875"/>
              <a:gd name="connsiteY2" fmla="*/ 1809750 h 1809750"/>
              <a:gd name="connsiteX3" fmla="*/ 0 w 3571875"/>
              <a:gd name="connsiteY3" fmla="*/ 1809750 h 1809750"/>
              <a:gd name="connsiteX0" fmla="*/ 0 w 3571875"/>
              <a:gd name="connsiteY0" fmla="*/ 1809750 h 1809750"/>
              <a:gd name="connsiteX1" fmla="*/ 2038350 w 3571875"/>
              <a:gd name="connsiteY1" fmla="*/ 0 h 1809750"/>
              <a:gd name="connsiteX2" fmla="*/ 3571875 w 3571875"/>
              <a:gd name="connsiteY2" fmla="*/ 1809750 h 1809750"/>
              <a:gd name="connsiteX3" fmla="*/ 0 w 3571875"/>
              <a:gd name="connsiteY3" fmla="*/ 1809750 h 1809750"/>
            </a:gdLst>
            <a:ahLst/>
            <a:cxnLst>
              <a:cxn ang="0">
                <a:pos x="connsiteX0" y="connsiteY0"/>
              </a:cxn>
              <a:cxn ang="0">
                <a:pos x="connsiteX1" y="connsiteY1"/>
              </a:cxn>
              <a:cxn ang="0">
                <a:pos x="connsiteX2" y="connsiteY2"/>
              </a:cxn>
              <a:cxn ang="0">
                <a:pos x="connsiteX3" y="connsiteY3"/>
              </a:cxn>
            </a:cxnLst>
            <a:rect l="l" t="t" r="r" b="b"/>
            <a:pathLst>
              <a:path w="3571875" h="1809750">
                <a:moveTo>
                  <a:pt x="0" y="1809750"/>
                </a:moveTo>
                <a:lnTo>
                  <a:pt x="2038350" y="0"/>
                </a:lnTo>
                <a:lnTo>
                  <a:pt x="3571875" y="1809750"/>
                </a:lnTo>
                <a:lnTo>
                  <a:pt x="0" y="1809750"/>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rot="19140000">
            <a:off x="671197" y="1717501"/>
            <a:ext cx="5486400" cy="867444"/>
          </a:xfrm>
        </p:spPr>
        <p:txBody>
          <a:bodyPr anchor="b"/>
          <a:lstStyle>
            <a:lvl1pPr algn="l">
              <a:defRPr sz="2800" b="0">
                <a:latin typeface="+mj-lt"/>
              </a:defRPr>
            </a:lvl1pPr>
          </a:lstStyle>
          <a:p>
            <a:r>
              <a:rPr lang="ru-RU"/>
              <a:t>Образец заголовка</a:t>
            </a:r>
            <a:endParaRPr lang="en-US" dirty="0"/>
          </a:p>
        </p:txBody>
      </p:sp>
      <p:sp>
        <p:nvSpPr>
          <p:cNvPr id="4" name="Text Placeholder 3"/>
          <p:cNvSpPr>
            <a:spLocks noGrp="1"/>
          </p:cNvSpPr>
          <p:nvPr>
            <p:ph type="body" sz="half" idx="2"/>
          </p:nvPr>
        </p:nvSpPr>
        <p:spPr>
          <a:xfrm rot="19140000">
            <a:off x="1143479" y="2180529"/>
            <a:ext cx="6096545" cy="740664"/>
          </a:xfrm>
        </p:spPr>
        <p:txBody>
          <a:bodyPr/>
          <a:lstStyle>
            <a:lvl1pPr marL="0" indent="0">
              <a:buNone/>
              <a:defRPr sz="14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Date Placeholder 4"/>
          <p:cNvSpPr>
            <a:spLocks noGrp="1"/>
          </p:cNvSpPr>
          <p:nvPr>
            <p:ph type="dt" sz="half" idx="10"/>
          </p:nvPr>
        </p:nvSpPr>
        <p:spPr/>
        <p:txBody>
          <a:bodyPr/>
          <a:lstStyle/>
          <a:p>
            <a:fld id="{5988DF5A-BD20-4B74-A361-07C3B2C7470F}" type="datetimeFigureOut">
              <a:rPr lang="ru-RU" smtClean="0"/>
              <a:t>27.03.2023</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147262CC-B1DB-4EFF-A5A8-6AC0CC4C0C0D}" type="slidenum">
              <a:rPr lang="ru-RU" smtClean="0"/>
              <a:t>‹#›</a:t>
            </a:fld>
            <a:endParaRPr lang="ru-R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a:p>
        </p:txBody>
      </p:sp>
      <p:sp>
        <p:nvSpPr>
          <p:cNvPr id="3" name="Vertical Text Placeholder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Date Placeholder 3"/>
          <p:cNvSpPr>
            <a:spLocks noGrp="1"/>
          </p:cNvSpPr>
          <p:nvPr>
            <p:ph type="dt" sz="half" idx="10"/>
          </p:nvPr>
        </p:nvSpPr>
        <p:spPr/>
        <p:txBody>
          <a:bodyPr/>
          <a:lstStyle/>
          <a:p>
            <a:fld id="{5988DF5A-BD20-4B74-A361-07C3B2C7470F}" type="datetimeFigureOut">
              <a:rPr lang="ru-RU" smtClean="0"/>
              <a:t>27.03.2023</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147262CC-B1DB-4EFF-A5A8-6AC0CC4C0C0D}" type="slidenum">
              <a:rPr lang="ru-RU" smtClean="0"/>
              <a:t>‹#›</a:t>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4678362"/>
          </a:xfrm>
        </p:spPr>
        <p:txBody>
          <a:bodyPr vert="eaVert"/>
          <a:lstStyle/>
          <a:p>
            <a:r>
              <a:rPr lang="ru-RU"/>
              <a:t>Образец заголовка</a:t>
            </a:r>
            <a:endParaRPr lang="en-US" dirty="0"/>
          </a:p>
        </p:txBody>
      </p:sp>
      <p:sp>
        <p:nvSpPr>
          <p:cNvPr id="3" name="Vertical Text Placeholder 2"/>
          <p:cNvSpPr>
            <a:spLocks noGrp="1"/>
          </p:cNvSpPr>
          <p:nvPr>
            <p:ph type="body" orient="vert" idx="1"/>
          </p:nvPr>
        </p:nvSpPr>
        <p:spPr>
          <a:xfrm>
            <a:off x="457200" y="274639"/>
            <a:ext cx="6019800" cy="4678362"/>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Date Placeholder 3"/>
          <p:cNvSpPr>
            <a:spLocks noGrp="1"/>
          </p:cNvSpPr>
          <p:nvPr>
            <p:ph type="dt" sz="half" idx="10"/>
          </p:nvPr>
        </p:nvSpPr>
        <p:spPr/>
        <p:txBody>
          <a:bodyPr/>
          <a:lstStyle/>
          <a:p>
            <a:fld id="{5988DF5A-BD20-4B74-A361-07C3B2C7470F}" type="datetimeFigureOut">
              <a:rPr lang="ru-RU" smtClean="0"/>
              <a:t>27.03.2023</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147262CC-B1DB-4EFF-A5A8-6AC0CC4C0C0D}" type="slidenum">
              <a:rPr lang="ru-RU" smtClean="0"/>
              <a:t>‹#›</a:t>
            </a:fld>
            <a:endParaRPr lang="ru-R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Freeform 6"/>
          <p:cNvSpPr/>
          <p:nvPr/>
        </p:nvSpPr>
        <p:spPr>
          <a:xfrm>
            <a:off x="-2382" y="5050633"/>
            <a:ext cx="3574257" cy="1807368"/>
          </a:xfrm>
          <a:custGeom>
            <a:avLst/>
            <a:gdLst>
              <a:gd name="connsiteX0" fmla="*/ 0 w 3571875"/>
              <a:gd name="connsiteY0" fmla="*/ 4210050 h 4210050"/>
              <a:gd name="connsiteX1" fmla="*/ 0 w 3571875"/>
              <a:gd name="connsiteY1" fmla="*/ 0 h 4210050"/>
              <a:gd name="connsiteX2" fmla="*/ 3571875 w 3571875"/>
              <a:gd name="connsiteY2" fmla="*/ 4210050 h 4210050"/>
              <a:gd name="connsiteX3" fmla="*/ 0 w 3571875"/>
              <a:gd name="connsiteY3" fmla="*/ 4210050 h 4210050"/>
              <a:gd name="connsiteX0" fmla="*/ 0 w 3571875"/>
              <a:gd name="connsiteY0" fmla="*/ 4210050 h 4210050"/>
              <a:gd name="connsiteX1" fmla="*/ 0 w 3571875"/>
              <a:gd name="connsiteY1" fmla="*/ 0 h 4210050"/>
              <a:gd name="connsiteX2" fmla="*/ 2028825 w 3571875"/>
              <a:gd name="connsiteY2" fmla="*/ 2388394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205038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281238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76450 w 3571875"/>
              <a:gd name="connsiteY2" fmla="*/ 2274094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245519 w 3571875"/>
              <a:gd name="connsiteY2" fmla="*/ 2405063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38350 w 3571875"/>
              <a:gd name="connsiteY2" fmla="*/ 2405063 h 4210050"/>
              <a:gd name="connsiteX3" fmla="*/ 3571875 w 3571875"/>
              <a:gd name="connsiteY3" fmla="*/ 4210050 h 4210050"/>
              <a:gd name="connsiteX4" fmla="*/ 0 w 3571875"/>
              <a:gd name="connsiteY4" fmla="*/ 4210050 h 4210050"/>
              <a:gd name="connsiteX0" fmla="*/ 0 w 3571875"/>
              <a:gd name="connsiteY0" fmla="*/ 2433637 h 2433637"/>
              <a:gd name="connsiteX1" fmla="*/ 257175 w 3571875"/>
              <a:gd name="connsiteY1" fmla="*/ 0 h 2433637"/>
              <a:gd name="connsiteX2" fmla="*/ 2038350 w 3571875"/>
              <a:gd name="connsiteY2" fmla="*/ 628650 h 2433637"/>
              <a:gd name="connsiteX3" fmla="*/ 3571875 w 3571875"/>
              <a:gd name="connsiteY3" fmla="*/ 2433637 h 2433637"/>
              <a:gd name="connsiteX4" fmla="*/ 0 w 3571875"/>
              <a:gd name="connsiteY4" fmla="*/ 2433637 h 2433637"/>
              <a:gd name="connsiteX0" fmla="*/ 2382 w 3574257"/>
              <a:gd name="connsiteY0" fmla="*/ 1807368 h 1807368"/>
              <a:gd name="connsiteX1" fmla="*/ 0 w 3574257"/>
              <a:gd name="connsiteY1" fmla="*/ 0 h 1807368"/>
              <a:gd name="connsiteX2" fmla="*/ 2040732 w 3574257"/>
              <a:gd name="connsiteY2" fmla="*/ 2381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924051 w 3574257"/>
              <a:gd name="connsiteY2" fmla="*/ 307181 h 1807368"/>
              <a:gd name="connsiteX3" fmla="*/ 3574257 w 3574257"/>
              <a:gd name="connsiteY3" fmla="*/ 1807368 h 1807368"/>
              <a:gd name="connsiteX4" fmla="*/ 2382 w 3574257"/>
              <a:gd name="connsiteY4" fmla="*/ 1807368 h 1807368"/>
              <a:gd name="connsiteX0" fmla="*/ 2382 w 3574257"/>
              <a:gd name="connsiteY0" fmla="*/ 1809749 h 1809749"/>
              <a:gd name="connsiteX1" fmla="*/ 0 w 3574257"/>
              <a:gd name="connsiteY1" fmla="*/ 2381 h 1809749"/>
              <a:gd name="connsiteX2" fmla="*/ 2038351 w 3574257"/>
              <a:gd name="connsiteY2" fmla="*/ 0 h 1809749"/>
              <a:gd name="connsiteX3" fmla="*/ 3574257 w 3574257"/>
              <a:gd name="connsiteY3" fmla="*/ 1809749 h 1809749"/>
              <a:gd name="connsiteX4" fmla="*/ 2382 w 3574257"/>
              <a:gd name="connsiteY4" fmla="*/ 1809749 h 1809749"/>
              <a:gd name="connsiteX0" fmla="*/ 2382 w 3574257"/>
              <a:gd name="connsiteY0" fmla="*/ 1807368 h 1807368"/>
              <a:gd name="connsiteX1" fmla="*/ 0 w 3574257"/>
              <a:gd name="connsiteY1" fmla="*/ 0 h 1807368"/>
              <a:gd name="connsiteX2" fmla="*/ 1640682 w 3574257"/>
              <a:gd name="connsiteY2" fmla="*/ 450057 h 1807368"/>
              <a:gd name="connsiteX3" fmla="*/ 3574257 w 3574257"/>
              <a:gd name="connsiteY3" fmla="*/ 1807368 h 1807368"/>
              <a:gd name="connsiteX4" fmla="*/ 2382 w 3574257"/>
              <a:gd name="connsiteY4" fmla="*/ 1807368 h 1807368"/>
              <a:gd name="connsiteX0" fmla="*/ 2382 w 3574257"/>
              <a:gd name="connsiteY0" fmla="*/ 1809749 h 1809749"/>
              <a:gd name="connsiteX1" fmla="*/ 0 w 3574257"/>
              <a:gd name="connsiteY1" fmla="*/ 2381 h 1809749"/>
              <a:gd name="connsiteX2" fmla="*/ 2038351 w 3574257"/>
              <a:gd name="connsiteY2" fmla="*/ 0 h 1809749"/>
              <a:gd name="connsiteX3" fmla="*/ 3574257 w 3574257"/>
              <a:gd name="connsiteY3" fmla="*/ 1809749 h 1809749"/>
              <a:gd name="connsiteX4" fmla="*/ 2382 w 3574257"/>
              <a:gd name="connsiteY4" fmla="*/ 1809749 h 1809749"/>
              <a:gd name="connsiteX0" fmla="*/ 2382 w 3574257"/>
              <a:gd name="connsiteY0" fmla="*/ 1807368 h 1807368"/>
              <a:gd name="connsiteX1" fmla="*/ 0 w 3574257"/>
              <a:gd name="connsiteY1" fmla="*/ 0 h 1807368"/>
              <a:gd name="connsiteX2" fmla="*/ 1657351 w 3574257"/>
              <a:gd name="connsiteY2" fmla="*/ 23098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2040732 w 3574257"/>
              <a:gd name="connsiteY2" fmla="*/ 238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774032 w 3574257"/>
              <a:gd name="connsiteY2" fmla="*/ 161925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969294 w 3574257"/>
              <a:gd name="connsiteY2" fmla="*/ 2143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819275 w 3574257"/>
              <a:gd name="connsiteY2" fmla="*/ 200026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2045494 w 3574257"/>
              <a:gd name="connsiteY2" fmla="*/ 1 h 1807368"/>
              <a:gd name="connsiteX3" fmla="*/ 3574257 w 3574257"/>
              <a:gd name="connsiteY3" fmla="*/ 1807368 h 1807368"/>
              <a:gd name="connsiteX4" fmla="*/ 2382 w 3574257"/>
              <a:gd name="connsiteY4" fmla="*/ 1807368 h 18073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4257" h="1807368">
                <a:moveTo>
                  <a:pt x="2382" y="1807368"/>
                </a:moveTo>
                <a:lnTo>
                  <a:pt x="0" y="0"/>
                </a:lnTo>
                <a:lnTo>
                  <a:pt x="2045494" y="1"/>
                </a:lnTo>
                <a:lnTo>
                  <a:pt x="3574257" y="1807368"/>
                </a:lnTo>
                <a:lnTo>
                  <a:pt x="2382" y="1807368"/>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p:cNvSpPr/>
          <p:nvPr/>
        </p:nvSpPr>
        <p:spPr>
          <a:xfrm>
            <a:off x="-2380" y="5051292"/>
            <a:ext cx="9146380" cy="1806709"/>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 name="connsiteX0" fmla="*/ 0 w 3352800"/>
              <a:gd name="connsiteY0" fmla="*/ 2002631 h 2002631"/>
              <a:gd name="connsiteX1" fmla="*/ 754045 w 3352800"/>
              <a:gd name="connsiteY1" fmla="*/ 146832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534305 h 534305"/>
              <a:gd name="connsiteX1" fmla="*/ 754045 w 3352800"/>
              <a:gd name="connsiteY1" fmla="*/ 0 h 534305"/>
              <a:gd name="connsiteX2" fmla="*/ 3352800 w 3352800"/>
              <a:gd name="connsiteY2" fmla="*/ 7687 h 534305"/>
              <a:gd name="connsiteX3" fmla="*/ 3352800 w 3352800"/>
              <a:gd name="connsiteY3" fmla="*/ 534305 h 534305"/>
              <a:gd name="connsiteX4" fmla="*/ 0 w 3352800"/>
              <a:gd name="connsiteY4" fmla="*/ 534305 h 534305"/>
              <a:gd name="connsiteX0" fmla="*/ 0 w 3352800"/>
              <a:gd name="connsiteY0" fmla="*/ 534305 h 534305"/>
              <a:gd name="connsiteX1" fmla="*/ 754045 w 3352800"/>
              <a:gd name="connsiteY1" fmla="*/ 0 h 534305"/>
              <a:gd name="connsiteX2" fmla="*/ 3352800 w 3352800"/>
              <a:gd name="connsiteY2" fmla="*/ 7687 h 534305"/>
              <a:gd name="connsiteX3" fmla="*/ 3352800 w 3352800"/>
              <a:gd name="connsiteY3" fmla="*/ 534305 h 534305"/>
              <a:gd name="connsiteX4" fmla="*/ 0 w 3352800"/>
              <a:gd name="connsiteY4" fmla="*/ 534305 h 534305"/>
              <a:gd name="connsiteX0" fmla="*/ 0 w 3352800"/>
              <a:gd name="connsiteY0" fmla="*/ 526618 h 526618"/>
              <a:gd name="connsiteX1" fmla="*/ 980611 w 3352800"/>
              <a:gd name="connsiteY1" fmla="*/ 93681 h 526618"/>
              <a:gd name="connsiteX2" fmla="*/ 3352800 w 3352800"/>
              <a:gd name="connsiteY2" fmla="*/ 0 h 526618"/>
              <a:gd name="connsiteX3" fmla="*/ 3352800 w 3352800"/>
              <a:gd name="connsiteY3" fmla="*/ 526618 h 526618"/>
              <a:gd name="connsiteX4" fmla="*/ 0 w 3352800"/>
              <a:gd name="connsiteY4" fmla="*/ 526618 h 526618"/>
              <a:gd name="connsiteX0" fmla="*/ 0 w 3352800"/>
              <a:gd name="connsiteY0" fmla="*/ 526888 h 526888"/>
              <a:gd name="connsiteX1" fmla="*/ 744735 w 3352800"/>
              <a:gd name="connsiteY1" fmla="*/ 0 h 526888"/>
              <a:gd name="connsiteX2" fmla="*/ 3352800 w 3352800"/>
              <a:gd name="connsiteY2" fmla="*/ 270 h 526888"/>
              <a:gd name="connsiteX3" fmla="*/ 3352800 w 3352800"/>
              <a:gd name="connsiteY3" fmla="*/ 526888 h 526888"/>
              <a:gd name="connsiteX4" fmla="*/ 0 w 3352800"/>
              <a:gd name="connsiteY4" fmla="*/ 526888 h 526888"/>
              <a:gd name="connsiteX0" fmla="*/ 0 w 3352800"/>
              <a:gd name="connsiteY0" fmla="*/ 526618 h 526618"/>
              <a:gd name="connsiteX1" fmla="*/ 811948 w 3352800"/>
              <a:gd name="connsiteY1" fmla="*/ 60921 h 526618"/>
              <a:gd name="connsiteX2" fmla="*/ 3352800 w 3352800"/>
              <a:gd name="connsiteY2" fmla="*/ 0 h 526618"/>
              <a:gd name="connsiteX3" fmla="*/ 3352800 w 3352800"/>
              <a:gd name="connsiteY3" fmla="*/ 526618 h 526618"/>
              <a:gd name="connsiteX4" fmla="*/ 0 w 3352800"/>
              <a:gd name="connsiteY4" fmla="*/ 526618 h 526618"/>
              <a:gd name="connsiteX0" fmla="*/ 0 w 3352800"/>
              <a:gd name="connsiteY0" fmla="*/ 527584 h 527584"/>
              <a:gd name="connsiteX1" fmla="*/ 751718 w 3352800"/>
              <a:gd name="connsiteY1" fmla="*/ 0 h 527584"/>
              <a:gd name="connsiteX2" fmla="*/ 3352800 w 3352800"/>
              <a:gd name="connsiteY2" fmla="*/ 966 h 527584"/>
              <a:gd name="connsiteX3" fmla="*/ 3352800 w 3352800"/>
              <a:gd name="connsiteY3" fmla="*/ 527584 h 527584"/>
              <a:gd name="connsiteX4" fmla="*/ 0 w 3352800"/>
              <a:gd name="connsiteY4" fmla="*/ 527584 h 527584"/>
              <a:gd name="connsiteX0" fmla="*/ 0 w 3352800"/>
              <a:gd name="connsiteY0" fmla="*/ 527584 h 527584"/>
              <a:gd name="connsiteX1" fmla="*/ 751718 w 3352800"/>
              <a:gd name="connsiteY1" fmla="*/ 0 h 527584"/>
              <a:gd name="connsiteX2" fmla="*/ 3241069 w 3352800"/>
              <a:gd name="connsiteY2" fmla="*/ 94144 h 527584"/>
              <a:gd name="connsiteX3" fmla="*/ 3352800 w 3352800"/>
              <a:gd name="connsiteY3" fmla="*/ 527584 h 527584"/>
              <a:gd name="connsiteX4" fmla="*/ 0 w 3352800"/>
              <a:gd name="connsiteY4" fmla="*/ 527584 h 527584"/>
              <a:gd name="connsiteX0" fmla="*/ 0 w 3352800"/>
              <a:gd name="connsiteY0" fmla="*/ 527584 h 527584"/>
              <a:gd name="connsiteX1" fmla="*/ 751718 w 3352800"/>
              <a:gd name="connsiteY1" fmla="*/ 0 h 527584"/>
              <a:gd name="connsiteX2" fmla="*/ 3352800 w 3352800"/>
              <a:gd name="connsiteY2" fmla="*/ 271 h 527584"/>
              <a:gd name="connsiteX3" fmla="*/ 3352800 w 3352800"/>
              <a:gd name="connsiteY3" fmla="*/ 527584 h 527584"/>
              <a:gd name="connsiteX4" fmla="*/ 0 w 3352800"/>
              <a:gd name="connsiteY4" fmla="*/ 527584 h 527584"/>
              <a:gd name="connsiteX0" fmla="*/ 0 w 3352800"/>
              <a:gd name="connsiteY0" fmla="*/ 527313 h 527313"/>
              <a:gd name="connsiteX1" fmla="*/ 900984 w 3352800"/>
              <a:gd name="connsiteY1" fmla="*/ 97774 h 527313"/>
              <a:gd name="connsiteX2" fmla="*/ 3352800 w 3352800"/>
              <a:gd name="connsiteY2" fmla="*/ 0 h 527313"/>
              <a:gd name="connsiteX3" fmla="*/ 3352800 w 3352800"/>
              <a:gd name="connsiteY3" fmla="*/ 527313 h 527313"/>
              <a:gd name="connsiteX4" fmla="*/ 0 w 3352800"/>
              <a:gd name="connsiteY4" fmla="*/ 527313 h 527313"/>
              <a:gd name="connsiteX0" fmla="*/ 0 w 3352800"/>
              <a:gd name="connsiteY0" fmla="*/ 527584 h 527584"/>
              <a:gd name="connsiteX1" fmla="*/ 748227 w 3352800"/>
              <a:gd name="connsiteY1" fmla="*/ 0 h 527584"/>
              <a:gd name="connsiteX2" fmla="*/ 3352800 w 3352800"/>
              <a:gd name="connsiteY2" fmla="*/ 271 h 527584"/>
              <a:gd name="connsiteX3" fmla="*/ 3352800 w 3352800"/>
              <a:gd name="connsiteY3" fmla="*/ 527584 h 527584"/>
              <a:gd name="connsiteX4" fmla="*/ 0 w 3352800"/>
              <a:gd name="connsiteY4" fmla="*/ 527584 h 5275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527584">
                <a:moveTo>
                  <a:pt x="0" y="527584"/>
                </a:moveTo>
                <a:lnTo>
                  <a:pt x="748227" y="0"/>
                </a:lnTo>
                <a:lnTo>
                  <a:pt x="3352800" y="271"/>
                </a:lnTo>
                <a:lnTo>
                  <a:pt x="3352800" y="527584"/>
                </a:lnTo>
                <a:lnTo>
                  <a:pt x="0" y="527584"/>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822960" y="365760"/>
            <a:ext cx="7520940" cy="548640"/>
          </a:xfrm>
          <a:prstGeom prst="rect">
            <a:avLst/>
          </a:prstGeom>
        </p:spPr>
        <p:txBody>
          <a:bodyPr vert="horz" lIns="91440" tIns="45720" rIns="91440" bIns="45720" rtlCol="0" anchor="ctr">
            <a:noAutofit/>
          </a:bodyPr>
          <a:lstStyle/>
          <a:p>
            <a:r>
              <a:rPr lang="ru-RU"/>
              <a:t>Образец заголовка</a:t>
            </a:r>
            <a:endParaRPr lang="en-US" dirty="0"/>
          </a:p>
        </p:txBody>
      </p:sp>
      <p:sp>
        <p:nvSpPr>
          <p:cNvPr id="3" name="Text Placeholder 2"/>
          <p:cNvSpPr>
            <a:spLocks noGrp="1"/>
          </p:cNvSpPr>
          <p:nvPr>
            <p:ph type="body" idx="1"/>
          </p:nvPr>
        </p:nvSpPr>
        <p:spPr>
          <a:xfrm>
            <a:off x="822960" y="1100628"/>
            <a:ext cx="7520940" cy="3579849"/>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2"/>
          </p:nvPr>
        </p:nvSpPr>
        <p:spPr>
          <a:xfrm rot="19140000">
            <a:off x="201168" y="5870448"/>
            <a:ext cx="2176272" cy="201168"/>
          </a:xfrm>
          <a:prstGeom prst="rect">
            <a:avLst/>
          </a:prstGeom>
        </p:spPr>
        <p:txBody>
          <a:bodyPr vert="horz" lIns="91440" tIns="45720" rIns="91440" bIns="45720" rtlCol="0" anchor="ctr"/>
          <a:lstStyle>
            <a:lvl1pPr algn="l">
              <a:defRPr sz="1200">
                <a:solidFill>
                  <a:srgbClr val="FFFFFF"/>
                </a:solidFill>
              </a:defRPr>
            </a:lvl1pPr>
          </a:lstStyle>
          <a:p>
            <a:fld id="{5988DF5A-BD20-4B74-A361-07C3B2C7470F}" type="datetimeFigureOut">
              <a:rPr lang="ru-RU" smtClean="0"/>
              <a:t>27.03.2023</a:t>
            </a:fld>
            <a:endParaRPr lang="ru-RU"/>
          </a:p>
        </p:txBody>
      </p:sp>
      <p:sp>
        <p:nvSpPr>
          <p:cNvPr id="5" name="Footer Placeholder 4"/>
          <p:cNvSpPr>
            <a:spLocks noGrp="1"/>
          </p:cNvSpPr>
          <p:nvPr>
            <p:ph type="ftr" sz="quarter" idx="3"/>
          </p:nvPr>
        </p:nvSpPr>
        <p:spPr>
          <a:xfrm>
            <a:off x="3517514" y="6285122"/>
            <a:ext cx="4724400" cy="274320"/>
          </a:xfrm>
          <a:prstGeom prst="rect">
            <a:avLst/>
          </a:prstGeom>
        </p:spPr>
        <p:txBody>
          <a:bodyPr vert="horz" lIns="91440" tIns="45720" rIns="91440" bIns="45720" rtlCol="0" anchor="ctr"/>
          <a:lstStyle>
            <a:lvl1pPr algn="r">
              <a:defRPr sz="1000" cap="all" spc="200" baseline="0">
                <a:solidFill>
                  <a:srgbClr val="FFFFFF"/>
                </a:solidFill>
              </a:defRPr>
            </a:lvl1pPr>
          </a:lstStyle>
          <a:p>
            <a:endParaRPr lang="ru-RU"/>
          </a:p>
        </p:txBody>
      </p:sp>
      <p:sp>
        <p:nvSpPr>
          <p:cNvPr id="6" name="Slide Number Placeholder 5"/>
          <p:cNvSpPr>
            <a:spLocks noGrp="1"/>
          </p:cNvSpPr>
          <p:nvPr>
            <p:ph type="sldNum" sz="quarter" idx="4"/>
          </p:nvPr>
        </p:nvSpPr>
        <p:spPr>
          <a:xfrm>
            <a:off x="8401038" y="6170822"/>
            <a:ext cx="502920" cy="502920"/>
          </a:xfrm>
          <a:prstGeom prst="ellipse">
            <a:avLst/>
          </a:prstGeom>
          <a:ln w="19050">
            <a:solidFill>
              <a:srgbClr val="FFFFFF"/>
            </a:solidFill>
          </a:ln>
        </p:spPr>
        <p:txBody>
          <a:bodyPr vert="horz" lIns="9144" tIns="9144" rIns="9144" bIns="9144" rtlCol="0" anchor="ctr">
            <a:normAutofit/>
          </a:bodyPr>
          <a:lstStyle>
            <a:lvl1pPr algn="ctr">
              <a:defRPr sz="1650">
                <a:solidFill>
                  <a:srgbClr val="FFFFFF"/>
                </a:solidFill>
              </a:defRPr>
            </a:lvl1pPr>
          </a:lstStyle>
          <a:p>
            <a:fld id="{147262CC-B1DB-4EFF-A5A8-6AC0CC4C0C0D}" type="slidenum">
              <a:rPr lang="ru-RU" smtClean="0"/>
              <a:t>‹#›</a:t>
            </a:fld>
            <a:endParaRPr lang="ru-RU"/>
          </a:p>
        </p:txBody>
      </p:sp>
    </p:spTree>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Lst>
  <p:txStyles>
    <p:titleStyle>
      <a:lvl1pPr algn="l" defTabSz="914400" rtl="0" eaLnBrk="1" latinLnBrk="0" hangingPunct="1">
        <a:spcBef>
          <a:spcPct val="0"/>
        </a:spcBef>
        <a:buNone/>
        <a:defRPr sz="2800" kern="1200" cap="all" baseline="0">
          <a:solidFill>
            <a:schemeClr val="tx1"/>
          </a:solidFill>
          <a:latin typeface="+mj-lt"/>
          <a:ea typeface="+mj-ea"/>
          <a:cs typeface="+mj-cs"/>
        </a:defRPr>
      </a:lvl1pPr>
    </p:titleStyle>
    <p:bodyStyle>
      <a:lvl1pPr marL="342900" indent="-342900" algn="l" defTabSz="914400" rtl="0" eaLnBrk="1" latinLnBrk="0" hangingPunct="1">
        <a:spcBef>
          <a:spcPts val="800"/>
        </a:spcBef>
        <a:buFont typeface="Arial" pitchFamily="34" charset="0"/>
        <a:buNone/>
        <a:defRPr sz="1600" b="1" kern="1200">
          <a:solidFill>
            <a:schemeClr val="tx1"/>
          </a:solidFill>
          <a:latin typeface="+mn-lt"/>
          <a:ea typeface="+mn-ea"/>
          <a:cs typeface="+mn-cs"/>
        </a:defRPr>
      </a:lvl1pPr>
      <a:lvl2pPr marL="1737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2pPr>
      <a:lvl3pPr marL="4023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3pPr>
      <a:lvl4pPr marL="6309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4pPr>
      <a:lvl5pPr marL="8595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5pPr>
      <a:lvl6pPr marL="1097280" indent="-173736"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6pPr>
      <a:lvl7pPr marL="13533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7pPr>
      <a:lvl8pPr marL="15819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8pPr>
      <a:lvl9pPr marL="1792224"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www.onlinedoctranslator.com/en/?utm_source=onlinedoctranslator&amp;utm_medium=pptx&amp;utm_campaign=attributio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lstStyle/>
          <a:p>
            <a:pPr algn="l" rtl="0"/>
            <a:r>
              <a:rPr lang="ru-RU" dirty="0"/>
              <a:t>Документування програмних засобів</a:t>
            </a:r>
          </a:p>
        </p:txBody>
      </p:sp>
      <p:sp>
        <p:nvSpPr>
          <p:cNvPr id="100010001" name="ODT_ATTR_LBL_SHAPE">
            <a:extLst>
              <a:ext uri="{FF2B5EF4-FFF2-40B4-BE49-F238E27FC236}">
                <a16:creationId xmlns:a16="http://schemas.microsoft.com/office/drawing/2014/main" id="{ADCB8724-23CD-4EE8-B5B5-3CB2DDF8932E}"/>
              </a:ext>
            </a:extLst>
          </p:cNvPr>
          <p:cNvSpPr txBox="1"/>
          <p:nvPr/>
        </p:nvSpPr>
        <p:spPr>
          <a:xfrm>
            <a:off x="0" y="0"/>
            <a:ext cx="5000000" cy="276999"/>
          </a:xfrm>
          <a:prstGeom prst="rect">
            <a:avLst/>
          </a:prstGeom>
          <a:solidFill>
            <a:srgbClr val="FAFAFA"/>
          </a:solidFill>
        </p:spPr>
        <p:txBody>
          <a:bodyPr wrap="none" lIns="288000">
            <a:spAutoFit/>
          </a:bodyPr>
          <a:lstStyle/>
          <a:p>
            <a:pPr rtl="0"/>
            <a:r>
              <a:rPr lang="en-US" sz="1000" dirty="0">
                <a:solidFill>
                  <a:srgbClr val="0F2B46"/>
                </a:solidFill>
                <a:effectLst/>
                <a:latin typeface="Roboto" panose="02000000000000000000" pitchFamily="2" charset="0"/>
              </a:rPr>
              <a:t>Translated from Russian to Ukrainian - </a:t>
            </a:r>
            <a:r>
              <a:rPr lang="en-US" sz="1000" u="sng" dirty="0">
                <a:solidFill>
                  <a:srgbClr val="0F2B46"/>
                </a:solidFill>
                <a:effectLst/>
                <a:latin typeface="Roboto" panose="02000000000000000000" pitchFamily="2" charset="0"/>
                <a:hlinkClick r:id="rId2" tooltip="Doc Translator - www.onlinedoctranslator.com"/>
              </a:rPr>
              <a:t>www.onlinedoctranslator.com</a:t>
            </a:r>
            <a:endParaRPr lang="en-US" sz="1000" dirty="0"/>
          </a:p>
        </p:txBody>
      </p:sp>
      <p:pic>
        <p:nvPicPr>
          <p:cNvPr id="1000100002" name="ODT_ATTR_LBL_LOGO">
            <a:extLst>
              <a:ext uri="{FF2B5EF4-FFF2-40B4-BE49-F238E27FC236}">
                <a16:creationId xmlns:a16="http://schemas.microsoft.com/office/drawing/2014/main" id="{B066AC4A-9A1C-4C10-800A-DAF9F2764385}"/>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0" y="36000"/>
            <a:ext cx="316230" cy="179705"/>
          </a:xfrm>
          <a:prstGeom prst="rect">
            <a:avLst/>
          </a:prstGeom>
        </p:spPr>
      </p:pic>
    </p:spTree>
    <p:extLst>
      <p:ext uri="{BB962C8B-B14F-4D97-AF65-F5344CB8AC3E}">
        <p14:creationId xmlns:p14="http://schemas.microsoft.com/office/powerpoint/2010/main" val="1554778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pPr lvl="1" algn="l" rtl="0">
              <a:spcBef>
                <a:spcPct val="0"/>
              </a:spcBef>
            </a:pPr>
            <a:r>
              <a:rPr lang="ru-RU" b="1" dirty="0"/>
              <a:t>Документація, що створюється та використовується в процесі розробки програмних засобів</a:t>
            </a:r>
            <a:br>
              <a:rPr lang="ru-RU" b="1" dirty="0"/>
            </a:br>
            <a:endParaRPr lang="ru-RU" dirty="0"/>
          </a:p>
        </p:txBody>
      </p:sp>
      <p:sp>
        <p:nvSpPr>
          <p:cNvPr id="3" name="Объект 2"/>
          <p:cNvSpPr>
            <a:spLocks noGrp="1"/>
          </p:cNvSpPr>
          <p:nvPr>
            <p:ph idx="1"/>
          </p:nvPr>
        </p:nvSpPr>
        <p:spPr/>
        <p:txBody>
          <a:bodyPr>
            <a:normAutofit/>
          </a:bodyPr>
          <a:lstStyle/>
          <a:p>
            <a:pPr algn="l" rtl="0"/>
            <a:r>
              <a:rPr lang="ru-RU" sz="1800" dirty="0"/>
              <a:t>Під час створення ПС створюється і використовується великий обсяг різноманітної документації. Вона необхідна як передачі інформації між розробниками ПС, як управління розробкою ПС і як передачі користувачам інформації, яка потрібна на застосування та супроводження ПС. На створення цієї документації припадає більша частка вартості ПС.</a:t>
            </a:r>
          </a:p>
          <a:p>
            <a:pPr algn="l" rtl="0"/>
            <a:endParaRPr lang="ru-RU" dirty="0"/>
          </a:p>
          <a:p>
            <a:pPr algn="l" rtl="0"/>
            <a:r>
              <a:rPr lang="ru-RU" b="1" dirty="0"/>
              <a:t>Цю документацію можна розбити на дві групи:</a:t>
            </a:r>
          </a:p>
          <a:p>
            <a:pPr lvl="0" algn="l" rtl="0"/>
            <a:r>
              <a:rPr lang="ru-RU" sz="1800" dirty="0"/>
              <a:t>Документи управління розробкою ПЗ.</a:t>
            </a:r>
          </a:p>
          <a:p>
            <a:pPr lvl="0" algn="l" rtl="0"/>
            <a:r>
              <a:rPr lang="ru-RU" sz="1800" dirty="0"/>
              <a:t>Документи, що входять до складу ПЗ.</a:t>
            </a:r>
          </a:p>
          <a:p>
            <a:pPr algn="l" rtl="0"/>
            <a:endParaRPr lang="ru-RU" dirty="0"/>
          </a:p>
        </p:txBody>
      </p:sp>
    </p:spTree>
    <p:extLst>
      <p:ext uri="{BB962C8B-B14F-4D97-AF65-F5344CB8AC3E}">
        <p14:creationId xmlns:p14="http://schemas.microsoft.com/office/powerpoint/2010/main" val="38777034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pPr algn="l" rtl="0"/>
            <a:r>
              <a:rPr lang="ru-RU" i="1" dirty="0"/>
              <a:t>Документи управління розробкою ПС</a:t>
            </a:r>
            <a:r>
              <a:rPr lang="ru-RU" dirty="0"/>
              <a:t> </a:t>
            </a:r>
          </a:p>
        </p:txBody>
      </p:sp>
      <p:sp>
        <p:nvSpPr>
          <p:cNvPr id="3" name="Объект 2"/>
          <p:cNvSpPr>
            <a:spLocks noGrp="1"/>
          </p:cNvSpPr>
          <p:nvPr>
            <p:ph idx="1"/>
          </p:nvPr>
        </p:nvSpPr>
        <p:spPr/>
        <p:txBody>
          <a:bodyPr/>
          <a:lstStyle/>
          <a:p>
            <a:pPr algn="l" rtl="0"/>
            <a:r>
              <a:rPr lang="ru-RU" i="1" dirty="0"/>
              <a:t>Плани, оцінки, розклади</a:t>
            </a:r>
          </a:p>
          <a:p>
            <a:pPr algn="l" rtl="0"/>
            <a:r>
              <a:rPr lang="ru-RU" i="1" dirty="0"/>
              <a:t>Звіти про використання ресурсів у процесі розробки</a:t>
            </a:r>
          </a:p>
          <a:p>
            <a:pPr algn="l" rtl="0"/>
            <a:r>
              <a:rPr lang="ru-RU" i="1" dirty="0"/>
              <a:t>Стандарти.</a:t>
            </a:r>
          </a:p>
          <a:p>
            <a:pPr algn="l" rtl="0"/>
            <a:r>
              <a:rPr lang="ru-RU" i="1" dirty="0"/>
              <a:t>Робочі документи</a:t>
            </a:r>
          </a:p>
          <a:p>
            <a:pPr algn="l" rtl="0"/>
            <a:r>
              <a:rPr lang="ru-RU" i="1" dirty="0"/>
              <a:t>Нотатки та листування.</a:t>
            </a:r>
            <a:endParaRPr lang="ru-RU" dirty="0"/>
          </a:p>
        </p:txBody>
      </p:sp>
    </p:spTree>
    <p:extLst>
      <p:ext uri="{BB962C8B-B14F-4D97-AF65-F5344CB8AC3E}">
        <p14:creationId xmlns:p14="http://schemas.microsoft.com/office/powerpoint/2010/main" val="36716691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pPr algn="l" rtl="0"/>
            <a:r>
              <a:rPr lang="ru-RU" i="1" dirty="0"/>
              <a:t>Документи, що входять до складу ПС</a:t>
            </a:r>
            <a:endParaRPr lang="ru-RU" dirty="0"/>
          </a:p>
        </p:txBody>
      </p:sp>
      <p:sp>
        <p:nvSpPr>
          <p:cNvPr id="3" name="Объект 2"/>
          <p:cNvSpPr>
            <a:spLocks noGrp="1"/>
          </p:cNvSpPr>
          <p:nvPr>
            <p:ph idx="1"/>
          </p:nvPr>
        </p:nvSpPr>
        <p:spPr/>
        <p:txBody>
          <a:bodyPr>
            <a:normAutofit lnSpcReduction="10000"/>
          </a:bodyPr>
          <a:lstStyle/>
          <a:p>
            <a:pPr algn="l" rtl="0"/>
            <a:r>
              <a:rPr lang="ru-RU" sz="1800" dirty="0"/>
              <a:t>Тут слід зазначити, що ці документи будуть використовуватися не тільки на стадії експлуатації ПС (у її фазах застосування та супроводу), а й на стадії розробки для управління процесом розробки (разом із робочими документами) - у всякому разі, вони мають бути перевірені (протестовані) ) на відповідність програмам ПС.</a:t>
            </a:r>
          </a:p>
          <a:p>
            <a:pPr algn="l" rtl="0"/>
            <a:endParaRPr lang="ru-RU" dirty="0"/>
          </a:p>
          <a:p>
            <a:pPr algn="l" rtl="0"/>
            <a:r>
              <a:rPr lang="ru-RU" b="1" dirty="0"/>
              <a:t>Ці документи утворюють два комплекти з різним призначенням:</a:t>
            </a:r>
          </a:p>
          <a:p>
            <a:pPr lvl="0" algn="l" rtl="0"/>
            <a:endParaRPr lang="ru-RU" sz="2000" dirty="0"/>
          </a:p>
          <a:p>
            <a:pPr lvl="0" algn="l" rtl="0"/>
            <a:r>
              <a:rPr lang="ru-RU" sz="1800" dirty="0"/>
              <a:t>Користувальницька документація ПС (П-документація).</a:t>
            </a:r>
          </a:p>
          <a:p>
            <a:pPr lvl="0" algn="l" rtl="0"/>
            <a:r>
              <a:rPr lang="ru-RU" sz="1800" dirty="0"/>
              <a:t>Документація із супроводу ПС (С-документація).</a:t>
            </a:r>
          </a:p>
          <a:p>
            <a:pPr algn="l" rtl="0"/>
            <a:endParaRPr lang="ru-RU" dirty="0"/>
          </a:p>
        </p:txBody>
      </p:sp>
    </p:spTree>
    <p:extLst>
      <p:ext uri="{BB962C8B-B14F-4D97-AF65-F5344CB8AC3E}">
        <p14:creationId xmlns:p14="http://schemas.microsoft.com/office/powerpoint/2010/main" val="23546744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pPr algn="l" rtl="0"/>
            <a:r>
              <a:rPr lang="ru-RU" dirty="0"/>
              <a:t>Користувальницька документація програмних засобів</a:t>
            </a:r>
          </a:p>
        </p:txBody>
      </p:sp>
      <p:sp>
        <p:nvSpPr>
          <p:cNvPr id="3" name="Объект 2"/>
          <p:cNvSpPr>
            <a:spLocks noGrp="1"/>
          </p:cNvSpPr>
          <p:nvPr>
            <p:ph idx="1"/>
          </p:nvPr>
        </p:nvSpPr>
        <p:spPr>
          <a:xfrm>
            <a:off x="395536" y="1772816"/>
            <a:ext cx="8229600" cy="4876800"/>
          </a:xfrm>
        </p:spPr>
        <p:txBody>
          <a:bodyPr>
            <a:normAutofit/>
          </a:bodyPr>
          <a:lstStyle/>
          <a:p>
            <a:pPr algn="l" rtl="0"/>
            <a:r>
              <a:rPr lang="ru-RU" sz="1800" i="1" dirty="0"/>
              <a:t>Користувальницька документація ПС</a:t>
            </a:r>
            <a:r>
              <a:rPr lang="ru-RU" sz="1800" dirty="0"/>
              <a:t>(</a:t>
            </a:r>
            <a:r>
              <a:rPr lang="ru-RU" sz="1800" i="1" dirty="0" err="1"/>
              <a:t>user</a:t>
            </a:r>
            <a:r>
              <a:rPr lang="ru-RU" sz="1800" i="1" dirty="0"/>
              <a:t> </a:t>
            </a:r>
            <a:r>
              <a:rPr lang="ru-RU" sz="1800" i="1" dirty="0" err="1"/>
              <a:t>documentation</a:t>
            </a:r>
            <a:r>
              <a:rPr lang="ru-RU" sz="1800" dirty="0"/>
              <a:t>) пояснює користувачам, як вони повинні діяти, щоб застосувати ПС, що розробляється. До такої документації належать документи, якими має керуватися користувач:</a:t>
            </a:r>
          </a:p>
          <a:p>
            <a:pPr algn="l" rtl="0"/>
            <a:endParaRPr lang="ru-RU" i="1" dirty="0"/>
          </a:p>
          <a:p>
            <a:pPr algn="l" rtl="0"/>
            <a:r>
              <a:rPr lang="ru-RU" b="1" dirty="0"/>
              <a:t>При інсталяції ПЗ;</a:t>
            </a:r>
          </a:p>
          <a:p>
            <a:pPr algn="l" rtl="0"/>
            <a:r>
              <a:rPr lang="ru-RU" b="1" dirty="0"/>
              <a:t>При застосуванні ПС на вирішення своїх завдань;</a:t>
            </a:r>
          </a:p>
          <a:p>
            <a:pPr algn="l" rtl="0"/>
            <a:r>
              <a:rPr lang="ru-RU" b="1" dirty="0"/>
              <a:t>При управлінні ПС (наприклад, коли ПС буде взаємодіяти з іншими системами)</a:t>
            </a:r>
          </a:p>
        </p:txBody>
      </p:sp>
    </p:spTree>
    <p:extLst>
      <p:ext uri="{BB962C8B-B14F-4D97-AF65-F5344CB8AC3E}">
        <p14:creationId xmlns:p14="http://schemas.microsoft.com/office/powerpoint/2010/main" val="5821620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395536" y="692696"/>
            <a:ext cx="8229600" cy="990600"/>
          </a:xfrm>
        </p:spPr>
        <p:txBody>
          <a:bodyPr>
            <a:normAutofit/>
          </a:bodyPr>
          <a:lstStyle/>
          <a:p>
            <a:pPr algn="ctr" rtl="0"/>
            <a:r>
              <a:rPr lang="ru-RU" dirty="0"/>
              <a:t>Дві категорії користувачів: ординарних користувачів ПС та адміністраторів ПС.</a:t>
            </a:r>
          </a:p>
        </p:txBody>
      </p:sp>
      <p:sp>
        <p:nvSpPr>
          <p:cNvPr id="3" name="Объект 2"/>
          <p:cNvSpPr>
            <a:spLocks noGrp="1"/>
          </p:cNvSpPr>
          <p:nvPr>
            <p:ph idx="1"/>
          </p:nvPr>
        </p:nvSpPr>
        <p:spPr>
          <a:xfrm>
            <a:off x="611560" y="2132856"/>
            <a:ext cx="7797552" cy="4261729"/>
          </a:xfrm>
        </p:spPr>
        <p:txBody>
          <a:bodyPr>
            <a:normAutofit/>
          </a:bodyPr>
          <a:lstStyle/>
          <a:p>
            <a:pPr algn="l" rtl="0"/>
            <a:r>
              <a:rPr lang="ru-RU" sz="1800" i="1" dirty="0"/>
              <a:t>Ординарний користувач</a:t>
            </a:r>
            <a:r>
              <a:rPr lang="ru-RU" sz="1800" dirty="0"/>
              <a:t> </a:t>
            </a:r>
            <a:r>
              <a:rPr lang="ru-RU" sz="1800" i="1" dirty="0"/>
              <a:t>ПС</a:t>
            </a:r>
            <a:r>
              <a:rPr lang="ru-RU" sz="1800" dirty="0"/>
              <a:t>(</a:t>
            </a:r>
            <a:r>
              <a:rPr lang="ru-RU" sz="1800" dirty="0" err="1"/>
              <a:t>e</a:t>
            </a:r>
            <a:r>
              <a:rPr lang="ru-RU" sz="1800" i="1" dirty="0" err="1"/>
              <a:t>nd-user</a:t>
            </a:r>
            <a:r>
              <a:rPr lang="ru-RU" sz="1800" dirty="0"/>
              <a:t>) використовує ПС на вирішення своїх завдань (у своїй предметної області). Це може бути інженер, який проектує технічний пристрій, або касир, який продає залізничні квитки за допомогою ПС. Він може не знати багатьох деталей роботи комп'ютера чи принципів програмування.</a:t>
            </a:r>
          </a:p>
          <a:p>
            <a:pPr algn="l" rtl="0"/>
            <a:endParaRPr lang="ru-RU" sz="1800" dirty="0"/>
          </a:p>
          <a:p>
            <a:pPr algn="l" rtl="0"/>
            <a:r>
              <a:rPr lang="ru-RU" sz="1800" i="1" dirty="0"/>
              <a:t>Адміністратор ПС</a:t>
            </a:r>
            <a:r>
              <a:rPr lang="ru-RU" sz="1800" dirty="0"/>
              <a:t>(</a:t>
            </a:r>
            <a:r>
              <a:rPr lang="ru-RU" sz="1800" i="1" dirty="0" err="1"/>
              <a:t>system</a:t>
            </a:r>
            <a:r>
              <a:rPr lang="ru-RU" sz="1800" i="1" dirty="0"/>
              <a:t> </a:t>
            </a:r>
            <a:r>
              <a:rPr lang="ru-RU" sz="1800" i="1" dirty="0" err="1"/>
              <a:t>administrator</a:t>
            </a:r>
            <a:r>
              <a:rPr lang="ru-RU" sz="1800" dirty="0"/>
              <a:t>) керує використанням ПС ординарними користувачами та здійснює супровід ПС, не пов'язане з модифікацією програм. Наприклад, він може регулювати права доступу до ПС між ординарними користувачами, підтримувати зв'язок із постачальниками ПС або виконувати певні дії, щоб підтримувати ПС у робочому стані, якщо воно включене як частину до іншої системи.</a:t>
            </a:r>
          </a:p>
        </p:txBody>
      </p:sp>
    </p:spTree>
    <p:extLst>
      <p:ext uri="{BB962C8B-B14F-4D97-AF65-F5344CB8AC3E}">
        <p14:creationId xmlns:p14="http://schemas.microsoft.com/office/powerpoint/2010/main" val="36923518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39552" y="764704"/>
            <a:ext cx="8229600" cy="990600"/>
          </a:xfrm>
        </p:spPr>
        <p:txBody>
          <a:bodyPr>
            <a:normAutofit fontScale="90000"/>
          </a:bodyPr>
          <a:lstStyle/>
          <a:p>
            <a:pPr algn="l" rtl="0"/>
            <a:r>
              <a:rPr lang="ru-RU" dirty="0"/>
              <a:t>Можна вважати типовим наступний склад документації для досить великих ПС:</a:t>
            </a:r>
          </a:p>
        </p:txBody>
      </p:sp>
      <p:sp>
        <p:nvSpPr>
          <p:cNvPr id="3" name="Объект 2"/>
          <p:cNvSpPr>
            <a:spLocks noGrp="1"/>
          </p:cNvSpPr>
          <p:nvPr>
            <p:ph idx="1"/>
          </p:nvPr>
        </p:nvSpPr>
        <p:spPr>
          <a:xfrm>
            <a:off x="683568" y="2204864"/>
            <a:ext cx="7941568" cy="4437112"/>
          </a:xfrm>
        </p:spPr>
        <p:txBody>
          <a:bodyPr/>
          <a:lstStyle/>
          <a:p>
            <a:pPr algn="l" rtl="0"/>
            <a:r>
              <a:rPr lang="ru-RU" i="1" dirty="0"/>
              <a:t>Загальний функціональний опис</a:t>
            </a:r>
          </a:p>
          <a:p>
            <a:pPr algn="l" rtl="0"/>
            <a:r>
              <a:rPr lang="ru-RU" i="1" dirty="0"/>
              <a:t>Посібник з інсталяції ПС</a:t>
            </a:r>
          </a:p>
          <a:p>
            <a:pPr algn="l" rtl="0"/>
            <a:r>
              <a:rPr lang="ru-RU" i="1" dirty="0"/>
              <a:t>Інструкція із застосування ПС</a:t>
            </a:r>
          </a:p>
          <a:p>
            <a:pPr algn="l" rtl="0"/>
            <a:r>
              <a:rPr lang="ru-RU" i="1" dirty="0"/>
              <a:t>Довідник із застосування ПС</a:t>
            </a:r>
          </a:p>
          <a:p>
            <a:pPr algn="l" rtl="0"/>
            <a:r>
              <a:rPr lang="ru-RU" i="1" dirty="0"/>
              <a:t>Посібник з управління ПС</a:t>
            </a:r>
            <a:r>
              <a:rPr lang="ru-RU" dirty="0"/>
              <a:t>.</a:t>
            </a:r>
          </a:p>
        </p:txBody>
      </p:sp>
    </p:spTree>
    <p:extLst>
      <p:ext uri="{BB962C8B-B14F-4D97-AF65-F5344CB8AC3E}">
        <p14:creationId xmlns:p14="http://schemas.microsoft.com/office/powerpoint/2010/main" val="18242837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395536" y="116632"/>
            <a:ext cx="8229600" cy="983996"/>
          </a:xfrm>
        </p:spPr>
        <p:txBody>
          <a:bodyPr>
            <a:noAutofit/>
          </a:bodyPr>
          <a:lstStyle/>
          <a:p>
            <a:pPr lvl="1" algn="ctr" rtl="0">
              <a:spcBef>
                <a:spcPct val="0"/>
              </a:spcBef>
            </a:pPr>
            <a:r>
              <a:rPr lang="ru-RU" sz="2800" b="1" dirty="0"/>
              <a:t>Документація із супроводу програмних засобів</a:t>
            </a:r>
            <a:br>
              <a:rPr lang="ru-RU" sz="2800" b="1" dirty="0"/>
            </a:br>
            <a:endParaRPr lang="ru-RU" sz="2800" dirty="0"/>
          </a:p>
        </p:txBody>
      </p:sp>
      <p:sp>
        <p:nvSpPr>
          <p:cNvPr id="3" name="Объект 2"/>
          <p:cNvSpPr>
            <a:spLocks noGrp="1"/>
          </p:cNvSpPr>
          <p:nvPr>
            <p:ph idx="1"/>
          </p:nvPr>
        </p:nvSpPr>
        <p:spPr/>
        <p:txBody>
          <a:bodyPr>
            <a:normAutofit fontScale="92500" lnSpcReduction="10000"/>
          </a:bodyPr>
          <a:lstStyle/>
          <a:p>
            <a:pPr algn="l" rtl="0"/>
            <a:r>
              <a:rPr lang="ru-RU" sz="1800" i="1" dirty="0"/>
              <a:t>Документація із супроводу ПС</a:t>
            </a:r>
            <a:r>
              <a:rPr lang="ru-RU" sz="1800" dirty="0"/>
              <a:t>(</a:t>
            </a:r>
            <a:r>
              <a:rPr lang="ru-RU" sz="1800" i="1" dirty="0" err="1"/>
              <a:t>system</a:t>
            </a:r>
            <a:r>
              <a:rPr lang="ru-RU" sz="1800" i="1" dirty="0"/>
              <a:t> </a:t>
            </a:r>
            <a:r>
              <a:rPr lang="ru-RU" sz="1800" i="1" dirty="0" err="1"/>
              <a:t>documentation</a:t>
            </a:r>
            <a:r>
              <a:rPr lang="ru-RU" sz="1800" dirty="0"/>
              <a:t>) описує ПС з погляду її розробки. Ця документація необхідна, якщо ПС передбачає вивчення того, як воно влаштовано (сконструйовано), та модернізацію його програм. Як уже зазначалося, супровід - це розробка, що триває. Тож у разі потреби модернізації ПС до цієї роботи залучається спеціальна команда розробників-супровідників.</a:t>
            </a:r>
          </a:p>
          <a:p>
            <a:pPr algn="l" rtl="0"/>
            <a:endParaRPr lang="ru-RU" sz="1800" dirty="0"/>
          </a:p>
          <a:p>
            <a:pPr algn="l" rtl="0"/>
            <a:r>
              <a:rPr lang="ru-RU" sz="2000" b="1" dirty="0"/>
              <a:t>Документацію з супроводу ПС можна розбити на дві групи:</a:t>
            </a:r>
          </a:p>
          <a:p>
            <a:pPr lvl="0" algn="l" rtl="0"/>
            <a:r>
              <a:rPr lang="ru-RU" sz="1800" dirty="0"/>
              <a:t>документація, що визначає будову програм та структур даних ПС та технологію їх розробки;</a:t>
            </a:r>
          </a:p>
          <a:p>
            <a:pPr lvl="0" algn="l" rtl="0"/>
            <a:r>
              <a:rPr lang="ru-RU" sz="1800" dirty="0"/>
              <a:t>документацію, що допомагає вносити зміни до ПС.</a:t>
            </a:r>
          </a:p>
          <a:p>
            <a:pPr algn="l" rtl="0"/>
            <a:endParaRPr lang="ru-RU" sz="1800" dirty="0"/>
          </a:p>
        </p:txBody>
      </p:sp>
    </p:spTree>
    <p:extLst>
      <p:ext uri="{BB962C8B-B14F-4D97-AF65-F5344CB8AC3E}">
        <p14:creationId xmlns:p14="http://schemas.microsoft.com/office/powerpoint/2010/main" val="31206018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l" rtl="0"/>
            <a:r>
              <a:rPr lang="ru-RU" dirty="0"/>
              <a:t>Документація першої групи</a:t>
            </a:r>
          </a:p>
        </p:txBody>
      </p:sp>
      <p:sp>
        <p:nvSpPr>
          <p:cNvPr id="3" name="Объект 2"/>
          <p:cNvSpPr>
            <a:spLocks noGrp="1"/>
          </p:cNvSpPr>
          <p:nvPr>
            <p:ph idx="1"/>
          </p:nvPr>
        </p:nvSpPr>
        <p:spPr/>
        <p:txBody>
          <a:bodyPr>
            <a:normAutofit/>
          </a:bodyPr>
          <a:lstStyle/>
          <a:p>
            <a:pPr algn="l" rtl="0"/>
            <a:r>
              <a:rPr lang="ru-RU" sz="1800" dirty="0"/>
              <a:t>Зовнішнє опис ПС;</a:t>
            </a:r>
          </a:p>
          <a:p>
            <a:pPr algn="l" rtl="0"/>
            <a:r>
              <a:rPr lang="ru-RU" sz="1800" dirty="0"/>
              <a:t>Опис архітектури ПС;</a:t>
            </a:r>
          </a:p>
          <a:p>
            <a:pPr algn="l" rtl="0"/>
            <a:r>
              <a:rPr lang="ru-RU" sz="1800" dirty="0"/>
              <a:t>Для кожної програми ПС - опис її модульної структури, включаючи зовнішню специфікацію кожного включеного до неї модуля;</a:t>
            </a:r>
          </a:p>
          <a:p>
            <a:pPr algn="l" rtl="0"/>
            <a:r>
              <a:rPr lang="ru-RU" sz="1800" dirty="0"/>
              <a:t>Для кожного модуля - його специфікація та опис його будови;</a:t>
            </a:r>
          </a:p>
          <a:p>
            <a:pPr algn="l" rtl="0"/>
            <a:r>
              <a:rPr lang="ru-RU" sz="1800" dirty="0"/>
              <a:t>Тексти модулів обраною мовою програмування;</a:t>
            </a:r>
          </a:p>
          <a:p>
            <a:pPr algn="l" rtl="0"/>
            <a:r>
              <a:rPr lang="ru-RU" sz="1800" dirty="0"/>
              <a:t>документи встановлення достовірності ПС;</a:t>
            </a:r>
          </a:p>
        </p:txBody>
      </p:sp>
    </p:spTree>
    <p:extLst>
      <p:ext uri="{BB962C8B-B14F-4D97-AF65-F5344CB8AC3E}">
        <p14:creationId xmlns:p14="http://schemas.microsoft.com/office/powerpoint/2010/main" val="11259189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11560" y="764704"/>
            <a:ext cx="8229600" cy="990600"/>
          </a:xfrm>
        </p:spPr>
        <p:txBody>
          <a:bodyPr>
            <a:normAutofit/>
          </a:bodyPr>
          <a:lstStyle/>
          <a:p>
            <a:pPr algn="l" rtl="0"/>
            <a:r>
              <a:rPr lang="ru-RU" dirty="0"/>
              <a:t>Документація другої групи містить</a:t>
            </a:r>
            <a:br>
              <a:rPr lang="ru-RU" dirty="0"/>
            </a:br>
            <a:endParaRPr lang="ru-RU" dirty="0"/>
          </a:p>
        </p:txBody>
      </p:sp>
      <p:sp>
        <p:nvSpPr>
          <p:cNvPr id="3" name="Объект 2"/>
          <p:cNvSpPr>
            <a:spLocks noGrp="1"/>
          </p:cNvSpPr>
          <p:nvPr>
            <p:ph idx="1"/>
          </p:nvPr>
        </p:nvSpPr>
        <p:spPr>
          <a:xfrm>
            <a:off x="827584" y="1412776"/>
            <a:ext cx="7520940" cy="3579849"/>
          </a:xfrm>
        </p:spPr>
        <p:txBody>
          <a:bodyPr/>
          <a:lstStyle/>
          <a:p>
            <a:pPr lvl="0" algn="l" rtl="0"/>
            <a:r>
              <a:rPr lang="ru-RU" sz="2000" i="1" dirty="0"/>
              <a:t>Посібник із супроводу ПС</a:t>
            </a:r>
            <a:r>
              <a:rPr lang="ru-RU" sz="2000" dirty="0"/>
              <a:t>(</a:t>
            </a:r>
            <a:r>
              <a:rPr lang="ru-RU" sz="2000" dirty="0" err="1"/>
              <a:t>system</a:t>
            </a:r>
            <a:r>
              <a:rPr lang="ru-RU" sz="2000" dirty="0"/>
              <a:t> </a:t>
            </a:r>
            <a:r>
              <a:rPr lang="ru-RU" sz="2000" dirty="0" err="1"/>
              <a:t>maintenance</a:t>
            </a:r>
            <a:r>
              <a:rPr lang="ru-RU" sz="2000" dirty="0"/>
              <a:t> </a:t>
            </a:r>
            <a:r>
              <a:rPr lang="ru-RU" sz="2000" dirty="0" err="1"/>
              <a:t>guide</a:t>
            </a:r>
            <a:r>
              <a:rPr lang="ru-RU" sz="2000" dirty="0"/>
              <a:t>), яке описує особливості реалізації ПС (зокрема, труднощі, які довелося долати) та як враховані можливості розвитку ПС у його будові (конструкції). У ньому також фіксуються, які частини ПС є апаратно- та програмно-залежними.</a:t>
            </a:r>
          </a:p>
          <a:p>
            <a:pPr algn="l" rtl="0"/>
            <a:endParaRPr lang="ru-RU" dirty="0"/>
          </a:p>
        </p:txBody>
      </p:sp>
    </p:spTree>
    <p:extLst>
      <p:ext uri="{BB962C8B-B14F-4D97-AF65-F5344CB8AC3E}">
        <p14:creationId xmlns:p14="http://schemas.microsoft.com/office/powerpoint/2010/main" val="22267267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p:txBody>
          <a:bodyPr/>
          <a:lstStyle/>
          <a:p>
            <a:pPr algn="l" rtl="0"/>
            <a:r>
              <a:rPr lang="ru-RU" dirty="0"/>
              <a:t>Загальна проблема супроводу ПС – забезпечити, щоб усі його уявлення йшли в ногу (залишалися узгодженими), коли ПС змінюється. Щоб цьому допомогти, зв'язки та залежності між документами та їх частинами повинні бути відображені в посібнику з супроводу та зафіксовані в базі даних управління конфігурацією.</a:t>
            </a:r>
          </a:p>
          <a:p>
            <a:pPr algn="l" rtl="0"/>
            <a:endParaRPr lang="ru-RU" dirty="0"/>
          </a:p>
        </p:txBody>
      </p:sp>
    </p:spTree>
    <p:extLst>
      <p:ext uri="{BB962C8B-B14F-4D97-AF65-F5344CB8AC3E}">
        <p14:creationId xmlns:p14="http://schemas.microsoft.com/office/powerpoint/2010/main" val="28817375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lstStyle/>
          <a:p>
            <a:pPr lvl="1" algn="l" rtl="0"/>
            <a:r>
              <a:rPr lang="ru-RU" sz="3600" b="1" dirty="0">
                <a:solidFill>
                  <a:srgbClr val="C00000"/>
                </a:solidFill>
              </a:rPr>
              <a:t>КОНФІГУРАЦІЙНЕ</a:t>
            </a:r>
            <a:r>
              <a:rPr lang="ru-RU" sz="4400" b="1" dirty="0">
                <a:solidFill>
                  <a:srgbClr val="C00000"/>
                </a:solidFill>
              </a:rPr>
              <a:t> </a:t>
            </a:r>
            <a:r>
              <a:rPr lang="ru-RU" sz="3600" b="1" dirty="0">
                <a:solidFill>
                  <a:srgbClr val="C00000"/>
                </a:solidFill>
              </a:rPr>
              <a:t>УПРАВЛІННЯ</a:t>
            </a:r>
          </a:p>
        </p:txBody>
      </p:sp>
    </p:spTree>
    <p:extLst>
      <p:ext uri="{BB962C8B-B14F-4D97-AF65-F5344CB8AC3E}">
        <p14:creationId xmlns:p14="http://schemas.microsoft.com/office/powerpoint/2010/main" val="26240875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323528" y="836712"/>
            <a:ext cx="8229600" cy="4876800"/>
          </a:xfrm>
        </p:spPr>
        <p:txBody>
          <a:bodyPr>
            <a:normAutofit/>
          </a:bodyPr>
          <a:lstStyle/>
          <a:p>
            <a:pPr algn="l" rtl="0"/>
            <a:r>
              <a:rPr lang="ru-RU" b="1" i="1" dirty="0"/>
              <a:t>Основне завдання процесу конфігураційного управління</a:t>
            </a:r>
            <a:r>
              <a:rPr lang="ru-RU" dirty="0"/>
              <a:t>- Забезпечення структурної цілісності системи, що розробляється. Усі дані, що входять до проекту, розглядаються як єдина</a:t>
            </a:r>
            <a:r>
              <a:rPr lang="ru-RU" i="1" dirty="0"/>
              <a:t>конфігурація</a:t>
            </a:r>
            <a:r>
              <a:rPr lang="ru-RU" dirty="0"/>
              <a:t>, структурна</a:t>
            </a:r>
            <a:r>
              <a:rPr lang="ru-RU" i="1" dirty="0"/>
              <a:t>цілісність</a:t>
            </a:r>
            <a:r>
              <a:rPr lang="ru-RU" dirty="0"/>
              <a:t>якої досягається за допомогою контролю всіх, що входять до неї</a:t>
            </a:r>
            <a:r>
              <a:rPr lang="ru-RU" i="1" dirty="0"/>
              <a:t>компонент</a:t>
            </a:r>
            <a:r>
              <a:rPr lang="ru-RU" dirty="0"/>
              <a:t>, забезпечення їх фізичної безпеки, контролю та управління змінами</a:t>
            </a:r>
            <a:r>
              <a:rPr lang="ru-RU" i="1" dirty="0"/>
              <a:t>компонент</a:t>
            </a:r>
            <a:r>
              <a:rPr lang="ru-RU" dirty="0"/>
              <a:t>системи.</a:t>
            </a:r>
          </a:p>
          <a:p>
            <a:pPr algn="l" rtl="0"/>
            <a:endParaRPr lang="ru-RU" dirty="0"/>
          </a:p>
          <a:p>
            <a:pPr algn="l" rtl="0"/>
            <a:r>
              <a:rPr lang="ru-RU" dirty="0"/>
              <a:t>Застосування процесу конфігураційного управління є основною вимогою при розробці систем, до їх надійності (тобто, згідно з ГОСТ 13377-75)</a:t>
            </a:r>
          </a:p>
          <a:p>
            <a:pPr algn="l" rtl="0"/>
            <a:endParaRPr lang="ru-RU" dirty="0"/>
          </a:p>
        </p:txBody>
      </p:sp>
    </p:spTree>
    <p:extLst>
      <p:ext uri="{BB962C8B-B14F-4D97-AF65-F5344CB8AC3E}">
        <p14:creationId xmlns:p14="http://schemas.microsoft.com/office/powerpoint/2010/main" val="10750435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764704"/>
            <a:ext cx="8686800" cy="447328"/>
          </a:xfrm>
        </p:spPr>
        <p:txBody>
          <a:bodyPr>
            <a:noAutofit/>
          </a:bodyPr>
          <a:lstStyle/>
          <a:p>
            <a:pPr algn="ctr" rtl="0"/>
            <a:r>
              <a:rPr lang="ru-RU" sz="2800" dirty="0"/>
              <a:t>Основні завдання та цілі процесів конфігураційного управління (КУ) полягають у наступному</a:t>
            </a:r>
          </a:p>
        </p:txBody>
      </p:sp>
      <p:sp>
        <p:nvSpPr>
          <p:cNvPr id="3" name="Объект 2"/>
          <p:cNvSpPr>
            <a:spLocks noGrp="1"/>
          </p:cNvSpPr>
          <p:nvPr>
            <p:ph idx="1"/>
          </p:nvPr>
        </p:nvSpPr>
        <p:spPr>
          <a:xfrm>
            <a:off x="467544" y="1772816"/>
            <a:ext cx="8229600" cy="4876800"/>
          </a:xfrm>
        </p:spPr>
        <p:txBody>
          <a:bodyPr/>
          <a:lstStyle/>
          <a:p>
            <a:pPr algn="l" rtl="0"/>
            <a:r>
              <a:rPr lang="ru-RU" dirty="0"/>
              <a:t>Ідентифікація</a:t>
            </a:r>
          </a:p>
          <a:p>
            <a:pPr algn="l" rtl="0"/>
            <a:r>
              <a:rPr lang="ru-RU" dirty="0"/>
              <a:t>Управління</a:t>
            </a:r>
          </a:p>
          <a:p>
            <a:pPr algn="l" rtl="0"/>
            <a:r>
              <a:rPr lang="ru-RU" dirty="0"/>
              <a:t>Обчислення статусів</a:t>
            </a:r>
          </a:p>
          <a:p>
            <a:pPr algn="l" rtl="0"/>
            <a:r>
              <a:rPr lang="ru-RU" dirty="0"/>
              <a:t>Аудит та інспекції</a:t>
            </a:r>
          </a:p>
          <a:p>
            <a:pPr algn="l" rtl="0"/>
            <a:r>
              <a:rPr lang="ru-RU" dirty="0"/>
              <a:t>Випуск</a:t>
            </a:r>
          </a:p>
          <a:p>
            <a:pPr algn="l" rtl="0"/>
            <a:r>
              <a:rPr lang="ru-RU" dirty="0"/>
              <a:t>Управління процесом</a:t>
            </a:r>
          </a:p>
          <a:p>
            <a:pPr algn="l" rtl="0"/>
            <a:r>
              <a:rPr lang="ru-RU" dirty="0"/>
              <a:t>Колективна робота</a:t>
            </a:r>
          </a:p>
        </p:txBody>
      </p:sp>
    </p:spTree>
    <p:extLst>
      <p:ext uri="{BB962C8B-B14F-4D97-AF65-F5344CB8AC3E}">
        <p14:creationId xmlns:p14="http://schemas.microsoft.com/office/powerpoint/2010/main" val="27126727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lstStyle/>
          <a:p>
            <a:pPr algn="l" rtl="0"/>
            <a:r>
              <a:rPr lang="ru-RU" dirty="0"/>
              <a:t>ЗАВДАННЯ ПРОЦЕСУ КОНФІГУРАЦІЙНОГО УПРАВЛІННЯ</a:t>
            </a:r>
          </a:p>
        </p:txBody>
      </p:sp>
    </p:spTree>
    <p:extLst>
      <p:ext uri="{BB962C8B-B14F-4D97-AF65-F5344CB8AC3E}">
        <p14:creationId xmlns:p14="http://schemas.microsoft.com/office/powerpoint/2010/main" val="14295109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467544" y="1196752"/>
            <a:ext cx="8229600" cy="4876800"/>
          </a:xfrm>
        </p:spPr>
        <p:txBody>
          <a:bodyPr>
            <a:normAutofit/>
          </a:bodyPr>
          <a:lstStyle/>
          <a:p>
            <a:pPr algn="l" rtl="0"/>
            <a:r>
              <a:rPr lang="ru-RU" dirty="0"/>
              <a:t>Основним завданням процесу конфігураційного управління є забезпечення гарантії того, що організація-розробник має всі необхідні дані для підтвердження факту відповідності виробленого продукту вимогам.</a:t>
            </a:r>
          </a:p>
          <a:p>
            <a:pPr algn="l" rtl="0"/>
            <a:endParaRPr lang="ru-RU" dirty="0"/>
          </a:p>
          <a:p>
            <a:pPr algn="l" rtl="0"/>
            <a:r>
              <a:rPr lang="ru-RU" dirty="0"/>
              <a:t>Конфігураційне управління можна визначити як процес, за допомогою якого керівництво проекту має можливість постійно ідентифікувати, встановлювати зв'язки, супроводжувати і управляти різними компонентами проекту. Цей процес гарантує цілісність компонентів та</a:t>
            </a:r>
            <a:r>
              <a:rPr lang="ru-RU" dirty="0" err="1"/>
              <a:t>простежуваність</a:t>
            </a:r>
            <a:r>
              <a:rPr lang="ru-RU" dirty="0"/>
              <a:t>всіх змін, що виникають будь-якої миті життєвого циклу проекту.</a:t>
            </a:r>
          </a:p>
          <a:p>
            <a:pPr algn="l" rtl="0"/>
            <a:endParaRPr lang="ru-RU" dirty="0"/>
          </a:p>
          <a:p>
            <a:pPr algn="l" rtl="0"/>
            <a:endParaRPr lang="ru-RU" dirty="0"/>
          </a:p>
        </p:txBody>
      </p:sp>
    </p:spTree>
    <p:extLst>
      <p:ext uri="{BB962C8B-B14F-4D97-AF65-F5344CB8AC3E}">
        <p14:creationId xmlns:p14="http://schemas.microsoft.com/office/powerpoint/2010/main" val="34702990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39552" y="764704"/>
            <a:ext cx="8229600" cy="990600"/>
          </a:xfrm>
        </p:spPr>
        <p:txBody>
          <a:bodyPr>
            <a:normAutofit fontScale="90000"/>
          </a:bodyPr>
          <a:lstStyle/>
          <a:p>
            <a:pPr algn="l" rtl="0"/>
            <a:r>
              <a:rPr lang="ru-RU" dirty="0"/>
              <a:t>Базовим поняттям процесу є об'єкт (елемент) конфігураційного управління (ОКУ,</a:t>
            </a:r>
            <a:r>
              <a:rPr lang="ru-RU" i="1" dirty="0" err="1"/>
              <a:t>Configuration</a:t>
            </a:r>
            <a:r>
              <a:rPr lang="ru-RU" i="1" dirty="0"/>
              <a:t> </a:t>
            </a:r>
            <a:r>
              <a:rPr lang="ru-RU" i="1" dirty="0" err="1"/>
              <a:t>Item</a:t>
            </a:r>
            <a:r>
              <a:rPr lang="ru-RU" dirty="0"/>
              <a:t>)</a:t>
            </a:r>
          </a:p>
        </p:txBody>
      </p:sp>
      <p:sp>
        <p:nvSpPr>
          <p:cNvPr id="3" name="Объект 2"/>
          <p:cNvSpPr>
            <a:spLocks noGrp="1"/>
          </p:cNvSpPr>
          <p:nvPr>
            <p:ph idx="1"/>
          </p:nvPr>
        </p:nvSpPr>
        <p:spPr>
          <a:xfrm>
            <a:off x="395536" y="2204864"/>
            <a:ext cx="8229600" cy="4876800"/>
          </a:xfrm>
        </p:spPr>
        <p:txBody>
          <a:bodyPr/>
          <a:lstStyle/>
          <a:p>
            <a:pPr algn="l" rtl="0"/>
            <a:r>
              <a:rPr lang="ru-RU" dirty="0"/>
              <a:t>.</a:t>
            </a:r>
            <a:r>
              <a:rPr lang="ru-RU" sz="2000" dirty="0"/>
              <a:t>Під об'єктами конфігураційного управління можуть розумітись всі основні результати діяльності проекту. Такі результати ідентифікуються та контролюються за допомогою процесу конфігураційного управління. Об'єктами конфігураційного управління може бути елементи апаратури, програми, документація, процедури і навчання, засоби обслуговування тощо. З метою ідентифікації об'єктам конфігураційного управління може бути присвоєно номери.</a:t>
            </a:r>
          </a:p>
          <a:p>
            <a:pPr algn="l" rtl="0"/>
            <a:endParaRPr lang="ru-RU" dirty="0"/>
          </a:p>
        </p:txBody>
      </p:sp>
    </p:spTree>
    <p:extLst>
      <p:ext uri="{BB962C8B-B14F-4D97-AF65-F5344CB8AC3E}">
        <p14:creationId xmlns:p14="http://schemas.microsoft.com/office/powerpoint/2010/main" val="31782230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395536" y="908720"/>
            <a:ext cx="8229600" cy="4876800"/>
          </a:xfrm>
        </p:spPr>
        <p:txBody>
          <a:bodyPr>
            <a:normAutofit/>
          </a:bodyPr>
          <a:lstStyle/>
          <a:p>
            <a:pPr algn="l" rtl="0"/>
            <a:r>
              <a:rPr lang="ru-RU" sz="2000" dirty="0"/>
              <a:t>Ще один термін, який використовується в процесі конфігураційного управління - базова конфігурація (</a:t>
            </a:r>
            <a:r>
              <a:rPr lang="ru-RU" sz="2000" dirty="0" err="1"/>
              <a:t>Baseline</a:t>
            </a:r>
            <a:r>
              <a:rPr lang="ru-RU" sz="2000" dirty="0"/>
              <a:t>). Під базовою конфігурацією (БК) розуміється об'єкт конфігураційного управління (окремий елемент або сукупність елементів), який пройшов процедуру затвердження і може бути змінений лише в рамках процедури керування змінами.</a:t>
            </a:r>
          </a:p>
          <a:p>
            <a:pPr algn="l" rtl="0"/>
            <a:endParaRPr lang="ru-RU" dirty="0"/>
          </a:p>
          <a:p>
            <a:pPr algn="l" rtl="0"/>
            <a:r>
              <a:rPr lang="ru-RU" sz="2000" dirty="0"/>
              <a:t>Базова конфігурація може складатися із сукупності однорідних документів: наприклад, сукупність вимог, коди сукупності програмних модулів. Але базова конфігурація може складатися і із сукупності різнорідних за своєю суттю ОКУ: наприклад, вимоги та відповідні програмний код, тест-план, результати</a:t>
            </a:r>
            <a:r>
              <a:rPr lang="ru-RU" sz="2000" i="1" dirty="0"/>
              <a:t>прогону тест</a:t>
            </a:r>
            <a:r>
              <a:rPr lang="ru-RU" sz="2000" dirty="0"/>
              <a:t>-плану.</a:t>
            </a:r>
          </a:p>
          <a:p>
            <a:pPr algn="l" rtl="0"/>
            <a:endParaRPr lang="ru-RU" dirty="0"/>
          </a:p>
        </p:txBody>
      </p:sp>
    </p:spTree>
    <p:extLst>
      <p:ext uri="{BB962C8B-B14F-4D97-AF65-F5344CB8AC3E}">
        <p14:creationId xmlns:p14="http://schemas.microsoft.com/office/powerpoint/2010/main" val="7834498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533400"/>
            <a:ext cx="8507288" cy="990600"/>
          </a:xfrm>
        </p:spPr>
        <p:txBody>
          <a:bodyPr>
            <a:normAutofit/>
          </a:bodyPr>
          <a:lstStyle/>
          <a:p>
            <a:pPr algn="l" rtl="0"/>
            <a:r>
              <a:rPr lang="ru-RU" dirty="0"/>
              <a:t>Конфігураційного управління покликаний забезпечувати</a:t>
            </a:r>
          </a:p>
        </p:txBody>
      </p:sp>
      <p:sp>
        <p:nvSpPr>
          <p:cNvPr id="3" name="Объект 2"/>
          <p:cNvSpPr>
            <a:spLocks noGrp="1"/>
          </p:cNvSpPr>
          <p:nvPr>
            <p:ph idx="1"/>
          </p:nvPr>
        </p:nvSpPr>
        <p:spPr>
          <a:xfrm>
            <a:off x="467544" y="1772816"/>
            <a:ext cx="8229600" cy="4876800"/>
          </a:xfrm>
        </p:spPr>
        <p:txBody>
          <a:bodyPr>
            <a:normAutofit/>
          </a:bodyPr>
          <a:lstStyle/>
          <a:p>
            <a:pPr lvl="0" algn="l" rtl="0"/>
            <a:r>
              <a:rPr lang="ru-RU" sz="2000" dirty="0"/>
              <a:t>об'єктивність та контрольованість даних проекту;</a:t>
            </a:r>
          </a:p>
          <a:p>
            <a:pPr algn="l" rtl="0"/>
            <a:r>
              <a:rPr lang="ru-RU" sz="2000" dirty="0"/>
              <a:t>доступність та відновлюваність даних проекту, включаючи об'єктні коди програм;</a:t>
            </a:r>
          </a:p>
          <a:p>
            <a:pPr algn="l" rtl="0"/>
            <a:r>
              <a:rPr lang="ru-RU" sz="2000" dirty="0"/>
              <a:t>контрольованість вхідних та вихідних даних процедур проекту, забезпечуючи їх цілісність та повторюваність;</a:t>
            </a:r>
          </a:p>
          <a:p>
            <a:pPr algn="l" rtl="0"/>
            <a:r>
              <a:rPr lang="ru-RU" sz="2000" dirty="0"/>
              <a:t>точки контролю, можливість обчислення статусу конфігурації та управління змінами через управління ОКУ та створення БК;</a:t>
            </a:r>
          </a:p>
          <a:p>
            <a:pPr algn="l" rtl="0"/>
            <a:r>
              <a:rPr lang="ru-RU" sz="2000" dirty="0"/>
              <a:t>фіксацію проблем та відстеження прийнятих щодо них рішень;</a:t>
            </a:r>
          </a:p>
          <a:p>
            <a:pPr algn="l" rtl="0"/>
            <a:r>
              <a:rPr lang="ru-RU" sz="2000" dirty="0"/>
              <a:t>можливість простеження стану проекту шляхом контролю вихідних даних його життєвого циклу;</a:t>
            </a:r>
          </a:p>
          <a:p>
            <a:pPr algn="l" rtl="0"/>
            <a:r>
              <a:rPr lang="ru-RU" sz="2000" dirty="0"/>
              <a:t>гарантії відповідності виробленої продукції вимогам, що висуваються до неї;</a:t>
            </a:r>
          </a:p>
          <a:p>
            <a:pPr algn="l" rtl="0"/>
            <a:r>
              <a:rPr lang="ru-RU" sz="2000" dirty="0"/>
              <a:t>обмеження доступу та збереження ОКУ.</a:t>
            </a:r>
          </a:p>
        </p:txBody>
      </p:sp>
    </p:spTree>
    <p:extLst>
      <p:ext uri="{BB962C8B-B14F-4D97-AF65-F5344CB8AC3E}">
        <p14:creationId xmlns:p14="http://schemas.microsoft.com/office/powerpoint/2010/main" val="31302936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p:txBody>
          <a:bodyPr/>
          <a:lstStyle/>
          <a:p>
            <a:pPr algn="l" rtl="0"/>
            <a:r>
              <a:rPr lang="ru-RU" dirty="0"/>
              <a:t>Конфігураційне управління дозволяє команді розробників програми чи проекту точно визначати статус будь-якої компоненти у весь час її життєвого циклу та дає можливість</a:t>
            </a:r>
            <a:r>
              <a:rPr lang="ru-RU" dirty="0" err="1"/>
              <a:t>перетворити</a:t>
            </a:r>
            <a:r>
              <a:rPr lang="ru-RU" dirty="0"/>
              <a:t>будь-яку версію у будь-який момент часу. Компонентами можуть бути будь-які комбінації апаратури, програм, обслуговування та навчання</a:t>
            </a:r>
          </a:p>
        </p:txBody>
      </p:sp>
    </p:spTree>
    <p:extLst>
      <p:ext uri="{BB962C8B-B14F-4D97-AF65-F5344CB8AC3E}">
        <p14:creationId xmlns:p14="http://schemas.microsoft.com/office/powerpoint/2010/main" val="32180234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lstStyle/>
          <a:p>
            <a:pPr algn="l" rtl="0"/>
            <a:r>
              <a:rPr lang="ru-RU" sz="4800" dirty="0"/>
              <a:t>ПРОЦЕДУРИ ПРОЦЕСУ</a:t>
            </a:r>
            <a:br>
              <a:rPr lang="ru-RU" sz="4800" dirty="0"/>
            </a:br>
            <a:r>
              <a:rPr lang="ru-RU" sz="4800" dirty="0"/>
              <a:t>КОНФІГУРАЦІЙНОГО УПРАВЛІННЯ</a:t>
            </a:r>
          </a:p>
        </p:txBody>
      </p:sp>
    </p:spTree>
    <p:extLst>
      <p:ext uri="{BB962C8B-B14F-4D97-AF65-F5344CB8AC3E}">
        <p14:creationId xmlns:p14="http://schemas.microsoft.com/office/powerpoint/2010/main" val="21957651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l" rtl="0"/>
            <a:r>
              <a:rPr lang="ru-RU" dirty="0"/>
              <a:t>Ідентифікація конфігурацій</a:t>
            </a:r>
          </a:p>
        </p:txBody>
      </p:sp>
      <p:sp>
        <p:nvSpPr>
          <p:cNvPr id="3" name="Объект 2"/>
          <p:cNvSpPr>
            <a:spLocks noGrp="1"/>
          </p:cNvSpPr>
          <p:nvPr>
            <p:ph idx="1"/>
          </p:nvPr>
        </p:nvSpPr>
        <p:spPr/>
        <p:txBody>
          <a:bodyPr/>
          <a:lstStyle/>
          <a:p>
            <a:pPr algn="l" rtl="0"/>
            <a:r>
              <a:rPr lang="ru-RU" sz="2000" dirty="0"/>
              <a:t>Метою процедури ідентифікації є присвоєння кожному ОКУ унікального імені (коду), що забезпечує його упізнання серед інших ОКУ. Слід зауважити, що процедура ідентифікації з очевидністю має передувати процедурі простежування (трасування). У тих випадках, коли ідентифікація об'єкта не може бути досягнута шляхом нанесення на нього ідентифікаційного коду (наприклад для об'єктного коду програми), вона повинна бути забезпечена непрямим шляхом, наприклад, ідентифікаційним полем, значення якого може бути проконтрольоване допоміжним програмним засобом.</a:t>
            </a:r>
          </a:p>
          <a:p>
            <a:pPr algn="l" rtl="0"/>
            <a:endParaRPr lang="ru-RU" dirty="0"/>
          </a:p>
        </p:txBody>
      </p:sp>
    </p:spTree>
    <p:extLst>
      <p:ext uri="{BB962C8B-B14F-4D97-AF65-F5344CB8AC3E}">
        <p14:creationId xmlns:p14="http://schemas.microsoft.com/office/powerpoint/2010/main" val="40492855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l" rtl="0"/>
            <a:r>
              <a:rPr lang="ru-RU" dirty="0"/>
              <a:t>Управління змінами</a:t>
            </a:r>
          </a:p>
        </p:txBody>
      </p:sp>
      <p:sp>
        <p:nvSpPr>
          <p:cNvPr id="3" name="Объект 2"/>
          <p:cNvSpPr>
            <a:spLocks noGrp="1"/>
          </p:cNvSpPr>
          <p:nvPr>
            <p:ph idx="1"/>
          </p:nvPr>
        </p:nvSpPr>
        <p:spPr/>
        <p:txBody>
          <a:bodyPr/>
          <a:lstStyle/>
          <a:p>
            <a:pPr algn="l" rtl="0"/>
            <a:r>
              <a:rPr lang="ru-RU" dirty="0"/>
              <a:t>Процедура управління змінами визначає оцінку та трасування запитів на зміни, аналіз потенційного впливу змін та прийняття рішень щодо внесення змін до об'єктів конфігурації. Ця процедура повинна забезпечувати запобігання "випадковому" внесенню зміни до базової конфігурації.</a:t>
            </a:r>
          </a:p>
          <a:p>
            <a:pPr algn="l" rtl="0"/>
            <a:endParaRPr lang="ru-RU" dirty="0"/>
          </a:p>
        </p:txBody>
      </p:sp>
    </p:spTree>
    <p:extLst>
      <p:ext uri="{BB962C8B-B14F-4D97-AF65-F5344CB8AC3E}">
        <p14:creationId xmlns:p14="http://schemas.microsoft.com/office/powerpoint/2010/main" val="19970868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pPr algn="l" rtl="0"/>
            <a:r>
              <a:rPr lang="ru-RU" dirty="0"/>
              <a:t>Формування базових конфігурацій</a:t>
            </a:r>
          </a:p>
        </p:txBody>
      </p:sp>
      <p:sp>
        <p:nvSpPr>
          <p:cNvPr id="3" name="Объект 2"/>
          <p:cNvSpPr>
            <a:spLocks noGrp="1"/>
          </p:cNvSpPr>
          <p:nvPr>
            <p:ph idx="1"/>
          </p:nvPr>
        </p:nvSpPr>
        <p:spPr/>
        <p:txBody>
          <a:bodyPr>
            <a:normAutofit fontScale="92500" lnSpcReduction="20000"/>
          </a:bodyPr>
          <a:lstStyle/>
          <a:p>
            <a:pPr algn="l" rtl="0"/>
            <a:r>
              <a:rPr lang="ru-RU" sz="2200" dirty="0"/>
              <a:t>Базові конфігурації зазвичай використовуються як основа для переходу від однієї процедури життєвого циклу проекту до іншої. У той момент, коли процес розробки переходить від одного кроку до іншого, специфічні для цього кроку результати (документи, специфікації або продукти) перевіряють, щоб переконатися в їх якості та зв'язках (</a:t>
            </a:r>
            <a:r>
              <a:rPr lang="ru-RU" sz="2200" dirty="0" err="1"/>
              <a:t>трасування</a:t>
            </a:r>
            <a:r>
              <a:rPr lang="ru-RU" sz="2200" dirty="0"/>
              <a:t>) з попередніми результатами. Специфічні версії об'єктів конфігурації, що належать їм, ідентифікуються. Коли (і якщо) результати (виходи) кроку пройшли процедуру інспекції (тільки після цього), вони можуть бути оголошені базовою конфігурацією та стають готовими до використання на наступному етапі процесу як вход.</a:t>
            </a:r>
          </a:p>
          <a:p>
            <a:pPr algn="l" rtl="0"/>
            <a:endParaRPr lang="ru-RU" dirty="0"/>
          </a:p>
        </p:txBody>
      </p:sp>
    </p:spTree>
    <p:extLst>
      <p:ext uri="{BB962C8B-B14F-4D97-AF65-F5344CB8AC3E}">
        <p14:creationId xmlns:p14="http://schemas.microsoft.com/office/powerpoint/2010/main" val="9109210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pPr algn="l" rtl="0"/>
            <a:r>
              <a:rPr lang="ru-RU" dirty="0"/>
              <a:t>Обчислення статусів конфігурацій</a:t>
            </a:r>
          </a:p>
        </p:txBody>
      </p:sp>
      <p:sp>
        <p:nvSpPr>
          <p:cNvPr id="3" name="Объект 2"/>
          <p:cNvSpPr>
            <a:spLocks noGrp="1"/>
          </p:cNvSpPr>
          <p:nvPr>
            <p:ph idx="1"/>
          </p:nvPr>
        </p:nvSpPr>
        <p:spPr/>
        <p:txBody>
          <a:bodyPr>
            <a:normAutofit/>
          </a:bodyPr>
          <a:lstStyle/>
          <a:p>
            <a:pPr algn="l" rtl="0"/>
            <a:r>
              <a:rPr lang="ru-RU" sz="2000" dirty="0"/>
              <a:t>Процедура обчислення статусу має забезпечувати можливість керівництву проекту на підставі відстеження станів окремих ОКУ судити про стан розробки загалом. Ця процедура забезпечує проектного менеджера великою кількістю даних про його продукт, включаючи те, як він розробляється і чи всі необхідні властивості дійсно реалізовані.</a:t>
            </a:r>
          </a:p>
        </p:txBody>
      </p:sp>
    </p:spTree>
    <p:extLst>
      <p:ext uri="{BB962C8B-B14F-4D97-AF65-F5344CB8AC3E}">
        <p14:creationId xmlns:p14="http://schemas.microsoft.com/office/powerpoint/2010/main" val="29315774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179512" y="476672"/>
            <a:ext cx="8856984" cy="6264696"/>
          </a:xfrm>
        </p:spPr>
        <p:txBody>
          <a:bodyPr>
            <a:normAutofit/>
          </a:bodyPr>
          <a:lstStyle/>
          <a:p>
            <a:pPr algn="l" rtl="0"/>
            <a:r>
              <a:rPr lang="ru-RU" sz="1800" dirty="0"/>
              <a:t>Зрештою, процедура забезпечує актуальну та об'єктивну інформацію про статус кожного об'єкта конфігурації у будь-який момент процесу розробки, що включає дані наступних типів даних:</a:t>
            </a:r>
          </a:p>
          <a:p>
            <a:pPr algn="l" rtl="0"/>
            <a:endParaRPr lang="ru-RU" sz="1800" dirty="0"/>
          </a:p>
          <a:p>
            <a:pPr lvl="0" algn="l" rtl="0"/>
            <a:r>
              <a:rPr lang="ru-RU" sz="1800" b="1" i="1" dirty="0"/>
              <a:t>час виникнення кожної БК та зміни (проблеми);</a:t>
            </a:r>
          </a:p>
          <a:p>
            <a:pPr lvl="0" algn="l" rtl="0"/>
            <a:r>
              <a:rPr lang="ru-RU" sz="1800" b="1" i="1" dirty="0"/>
              <a:t>час визначення кожного об'єкта конфігурації;</a:t>
            </a:r>
          </a:p>
          <a:p>
            <a:pPr lvl="0" algn="l" rtl="0"/>
            <a:r>
              <a:rPr lang="ru-RU" sz="1800" b="1" i="1" dirty="0"/>
              <a:t>описова інформація про кожен об'єкт конфігурації;</a:t>
            </a:r>
          </a:p>
          <a:p>
            <a:pPr lvl="0" algn="l" rtl="0"/>
            <a:r>
              <a:rPr lang="ru-RU" sz="1800" b="1" i="1" dirty="0"/>
              <a:t>статус запитів на зміни (прийнято, відхилено, чекає виконання, виконано);</a:t>
            </a:r>
          </a:p>
          <a:p>
            <a:pPr lvl="0" algn="l" rtl="0"/>
            <a:r>
              <a:rPr lang="ru-RU" sz="1800" b="1" i="1" dirty="0"/>
              <a:t>опис статусів;</a:t>
            </a:r>
          </a:p>
          <a:p>
            <a:pPr lvl="0" algn="l" rtl="0"/>
            <a:r>
              <a:rPr lang="ru-RU" sz="1800" b="1" i="1" dirty="0"/>
              <a:t>описова інформація щодо кожного запиту на зміну;</a:t>
            </a:r>
          </a:p>
          <a:p>
            <a:pPr lvl="0" algn="l" rtl="0"/>
            <a:r>
              <a:rPr lang="ru-RU" sz="1800" b="1" i="1" dirty="0"/>
              <a:t>статус зміни;</a:t>
            </a:r>
          </a:p>
          <a:p>
            <a:pPr lvl="0" algn="l" rtl="0"/>
            <a:r>
              <a:rPr lang="ru-RU" sz="1800" b="1" i="1" dirty="0"/>
              <a:t>описова інформація про кожну зміну.</a:t>
            </a:r>
          </a:p>
          <a:p>
            <a:pPr algn="l" rtl="0"/>
            <a:endParaRPr lang="ru-RU" sz="1800" dirty="0"/>
          </a:p>
        </p:txBody>
      </p:sp>
    </p:spTree>
    <p:extLst>
      <p:ext uri="{BB962C8B-B14F-4D97-AF65-F5344CB8AC3E}">
        <p14:creationId xmlns:p14="http://schemas.microsoft.com/office/powerpoint/2010/main" val="1219070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pPr algn="l" rtl="0"/>
            <a:r>
              <a:rPr lang="ru-RU" dirty="0"/>
              <a:t>Архівування, аудити/огляди конфігурацій</a:t>
            </a:r>
          </a:p>
        </p:txBody>
      </p:sp>
      <p:sp>
        <p:nvSpPr>
          <p:cNvPr id="3" name="Объект 2"/>
          <p:cNvSpPr>
            <a:spLocks noGrp="1"/>
          </p:cNvSpPr>
          <p:nvPr>
            <p:ph idx="1"/>
          </p:nvPr>
        </p:nvSpPr>
        <p:spPr/>
        <p:txBody>
          <a:bodyPr>
            <a:normAutofit fontScale="92500" lnSpcReduction="20000"/>
          </a:bodyPr>
          <a:lstStyle/>
          <a:p>
            <a:pPr algn="l" rtl="0"/>
            <a:r>
              <a:rPr lang="ru-RU" sz="1800" dirty="0"/>
              <a:t>Збереження даних має на увазі не тільки можливість відновлення шуканої версії ОКУ під час дії процесу конфігураційного управління, а й захист даних проекту від несанкціонованого доступу. Іншими словами, зміни об'єкта можуть проводитися тільки тією особою, якій цю зміну довірено керівництвом проекту.</a:t>
            </a:r>
          </a:p>
          <a:p>
            <a:pPr algn="l" rtl="0"/>
            <a:endParaRPr lang="ru-RU" dirty="0"/>
          </a:p>
          <a:p>
            <a:pPr algn="l" rtl="0"/>
            <a:r>
              <a:rPr lang="ru-RU" sz="1900" dirty="0"/>
              <a:t>Вимоги для цих аудитів та оглядів зазвичай специфікуються у плані конфігураційного управління, але також вони можуть бути задані в планах проекту або плані гарантії якості, як це здасться відповідним. Відповідальність за нормальну реалізацію аудитів змін лежить на менеджера змін, якщо ця посада передбачена в проекті, а якщо ні - на менеджера проекту або менеджера якості.</a:t>
            </a:r>
          </a:p>
          <a:p>
            <a:pPr algn="l" rtl="0"/>
            <a:endParaRPr lang="ru-RU" dirty="0"/>
          </a:p>
        </p:txBody>
      </p:sp>
    </p:spTree>
    <p:extLst>
      <p:ext uri="{BB962C8B-B14F-4D97-AF65-F5344CB8AC3E}">
        <p14:creationId xmlns:p14="http://schemas.microsoft.com/office/powerpoint/2010/main" val="33898610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620688"/>
            <a:ext cx="8229600" cy="990600"/>
          </a:xfrm>
        </p:spPr>
        <p:txBody>
          <a:bodyPr>
            <a:normAutofit fontScale="90000"/>
          </a:bodyPr>
          <a:lstStyle/>
          <a:p>
            <a:pPr algn="l" rtl="0"/>
            <a:r>
              <a:rPr lang="ru-RU" sz="2700" dirty="0"/>
              <a:t>Аудитам конфігурацій адресуються такі питання, що стосуються змінених об'єктів конфігурації:</a:t>
            </a:r>
            <a:br>
              <a:rPr lang="ru-RU" dirty="0"/>
            </a:br>
            <a:endParaRPr lang="ru-RU" dirty="0"/>
          </a:p>
        </p:txBody>
      </p:sp>
      <p:sp>
        <p:nvSpPr>
          <p:cNvPr id="3" name="Объект 2"/>
          <p:cNvSpPr>
            <a:spLocks noGrp="1"/>
          </p:cNvSpPr>
          <p:nvPr>
            <p:ph idx="1"/>
          </p:nvPr>
        </p:nvSpPr>
        <p:spPr/>
        <p:txBody>
          <a:bodyPr>
            <a:normAutofit fontScale="92500" lnSpcReduction="10000"/>
          </a:bodyPr>
          <a:lstStyle/>
          <a:p>
            <a:pPr lvl="0" algn="l" rtl="0"/>
            <a:r>
              <a:rPr lang="ru-RU" sz="1800" dirty="0"/>
              <a:t>Чи проведені зміни так, як вони специфіковані та чи проведені відповідні технічні інспекції?</a:t>
            </a:r>
          </a:p>
          <a:p>
            <a:pPr lvl="0" algn="l" rtl="0"/>
            <a:r>
              <a:rPr lang="ru-RU" sz="1800" dirty="0"/>
              <a:t>Чи витримане дотримання відповідних стандартів?</a:t>
            </a:r>
          </a:p>
          <a:p>
            <a:pPr lvl="0" algn="l" rtl="0"/>
            <a:r>
              <a:rPr lang="ru-RU" sz="1800" dirty="0"/>
              <a:t>Чи витримане дотримання встановлених процедур управління конфігураціями для запису та видачі звітів?</a:t>
            </a:r>
          </a:p>
          <a:p>
            <a:pPr lvl="0" algn="l" rtl="0"/>
            <a:r>
              <a:rPr lang="ru-RU" sz="1800" dirty="0"/>
              <a:t>Чи модифіковані всі пов'язані зі зміною конфігураційні об'єкти?</a:t>
            </a:r>
          </a:p>
          <a:p>
            <a:pPr algn="l" rtl="0"/>
            <a:endParaRPr lang="ru-RU" dirty="0"/>
          </a:p>
          <a:p>
            <a:pPr algn="l" rtl="0"/>
            <a:r>
              <a:rPr lang="ru-RU" sz="1800" b="1" i="1" dirty="0"/>
              <a:t>Слід особливо зауважити, що процес конфігураційного управління аж ніяк не закінчується із завершенням робіт проекту з виробництва продукції. Процес конфігураційного управління продовжує функціонувати, і, можливо, досить значний час, забезпечуючи підтримку супроводу програмного продукту.</a:t>
            </a:r>
          </a:p>
          <a:p>
            <a:pPr algn="l" rtl="0"/>
            <a:endParaRPr lang="ru-RU" dirty="0"/>
          </a:p>
        </p:txBody>
      </p:sp>
    </p:spTree>
    <p:extLst>
      <p:ext uri="{BB962C8B-B14F-4D97-AF65-F5344CB8AC3E}">
        <p14:creationId xmlns:p14="http://schemas.microsoft.com/office/powerpoint/2010/main" val="25056481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lstStyle/>
          <a:p>
            <a:pPr algn="l" rtl="0"/>
            <a:r>
              <a:rPr lang="ru-RU" dirty="0"/>
              <a:t>РОЗРОБКА ПЛАНУ УПРАВЛІННЯ КОНФІГУРАЦІЄЮ</a:t>
            </a:r>
          </a:p>
        </p:txBody>
      </p:sp>
    </p:spTree>
    <p:extLst>
      <p:ext uri="{BB962C8B-B14F-4D97-AF65-F5344CB8AC3E}">
        <p14:creationId xmlns:p14="http://schemas.microsoft.com/office/powerpoint/2010/main" val="374462596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l" rtl="0"/>
            <a:r>
              <a:rPr lang="ru-RU" dirty="0"/>
              <a:t>Що таке план КК</a:t>
            </a:r>
          </a:p>
        </p:txBody>
      </p:sp>
      <p:sp>
        <p:nvSpPr>
          <p:cNvPr id="3" name="Объект 2"/>
          <p:cNvSpPr>
            <a:spLocks noGrp="1"/>
          </p:cNvSpPr>
          <p:nvPr>
            <p:ph idx="1"/>
          </p:nvPr>
        </p:nvSpPr>
        <p:spPr/>
        <p:txBody>
          <a:bodyPr>
            <a:normAutofit/>
          </a:bodyPr>
          <a:lstStyle/>
          <a:p>
            <a:pPr algn="l" rtl="0" fontAlgn="base"/>
            <a:r>
              <a:rPr lang="ru-RU" sz="1800" dirty="0"/>
              <a:t>Це документ, де викладається концепція процесу та імплементація засобів автоматизації. У ньому розписуються всі ролі, і, що особливо важливо, діяльності залежно від стадії життєвого циклу розробки ПЗ.</a:t>
            </a:r>
          </a:p>
          <a:p>
            <a:pPr algn="l" rtl="0" fontAlgn="base"/>
            <a:endParaRPr lang="en-US" sz="1800" dirty="0"/>
          </a:p>
          <a:p>
            <a:pPr algn="l" rtl="0" fontAlgn="base"/>
            <a:r>
              <a:rPr lang="ru-RU" sz="1800" dirty="0"/>
              <a:t>Цей план є основним документом, що регламентує всі подальші проектні події, пов'язані з конфігураційним управлінням. У плані необхідно відзначати те, яким чином буде досягатися та чи інша мета: адже одну й ту саму задачу можна вирішувати різними способами, але одного разу вибравши певне рішення, не рекомендується змінювати його в процесі роботи.</a:t>
            </a:r>
          </a:p>
          <a:p>
            <a:pPr algn="l" rtl="0"/>
            <a:endParaRPr lang="ru-RU" dirty="0"/>
          </a:p>
        </p:txBody>
      </p:sp>
    </p:spTree>
    <p:extLst>
      <p:ext uri="{BB962C8B-B14F-4D97-AF65-F5344CB8AC3E}">
        <p14:creationId xmlns:p14="http://schemas.microsoft.com/office/powerpoint/2010/main" val="200629128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l" rtl="0"/>
            <a:r>
              <a:rPr lang="ru-RU" dirty="0"/>
              <a:t>Хто пише план КК</a:t>
            </a:r>
          </a:p>
        </p:txBody>
      </p:sp>
      <p:sp>
        <p:nvSpPr>
          <p:cNvPr id="3" name="Объект 2"/>
          <p:cNvSpPr>
            <a:spLocks noGrp="1"/>
          </p:cNvSpPr>
          <p:nvPr>
            <p:ph idx="1"/>
          </p:nvPr>
        </p:nvSpPr>
        <p:spPr/>
        <p:txBody>
          <a:bodyPr/>
          <a:lstStyle/>
          <a:p>
            <a:pPr algn="l" rtl="0" fontAlgn="base"/>
            <a:r>
              <a:rPr lang="ru-RU" sz="2000" dirty="0"/>
              <a:t>Якщо говорити стосовно термінології КК, тобто роль, яка відповідає за фізичне написання плану - Менеджер КК.</a:t>
            </a:r>
          </a:p>
          <a:p>
            <a:pPr algn="l" rtl="0" fontAlgn="base"/>
            <a:r>
              <a:rPr lang="ru-RU" sz="2000" dirty="0"/>
              <a:t>Менеджер Управління Конфігураціями – ключова роль. Ця людина знає процес розробки. Розуміє цілі та завдання КК. Усі свої знання він викладає щодо КК. Сам управляє процесом КК.</a:t>
            </a:r>
          </a:p>
          <a:p>
            <a:pPr algn="l" rtl="0"/>
            <a:endParaRPr lang="ru-RU" dirty="0"/>
          </a:p>
        </p:txBody>
      </p:sp>
    </p:spTree>
    <p:extLst>
      <p:ext uri="{BB962C8B-B14F-4D97-AF65-F5344CB8AC3E}">
        <p14:creationId xmlns:p14="http://schemas.microsoft.com/office/powerpoint/2010/main" val="332470928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9375" y="548680"/>
            <a:ext cx="8935113" cy="990600"/>
          </a:xfrm>
        </p:spPr>
        <p:txBody>
          <a:bodyPr>
            <a:noAutofit/>
          </a:bodyPr>
          <a:lstStyle/>
          <a:p>
            <a:pPr algn="ctr" rtl="0"/>
            <a:r>
              <a:rPr lang="ru-RU" sz="3200" dirty="0"/>
              <a:t>Технічне застосування плану</a:t>
            </a:r>
            <a:br>
              <a:rPr lang="en-US" sz="3200" dirty="0"/>
            </a:br>
            <a:r>
              <a:rPr lang="ru-RU" sz="3200" dirty="0"/>
              <a:t>(Реалізація плану в засобах підтримки КК)</a:t>
            </a:r>
          </a:p>
        </p:txBody>
      </p:sp>
      <p:sp>
        <p:nvSpPr>
          <p:cNvPr id="3" name="Объект 2"/>
          <p:cNvSpPr>
            <a:spLocks noGrp="1"/>
          </p:cNvSpPr>
          <p:nvPr>
            <p:ph idx="1"/>
          </p:nvPr>
        </p:nvSpPr>
        <p:spPr>
          <a:xfrm>
            <a:off x="755576" y="1772816"/>
            <a:ext cx="7520940" cy="3579849"/>
          </a:xfrm>
        </p:spPr>
        <p:txBody>
          <a:bodyPr/>
          <a:lstStyle/>
          <a:p>
            <a:pPr algn="l" rtl="0" fontAlgn="base"/>
            <a:r>
              <a:rPr lang="ru-RU" sz="1800" dirty="0"/>
              <a:t>План містить високорівневий опис процесу, але щоб інструментальні засоби підтримки КК почали слідувати плану, необхідно виконати їхнє фізичне налаштування:</a:t>
            </a:r>
          </a:p>
          <a:p>
            <a:pPr lvl="0" algn="l" rtl="0" fontAlgn="base"/>
            <a:endParaRPr lang="en-US" dirty="0"/>
          </a:p>
          <a:p>
            <a:pPr lvl="0" algn="l" rtl="0" fontAlgn="base"/>
            <a:r>
              <a:rPr lang="ru-RU" sz="2000" dirty="0"/>
              <a:t>встановити засоби;</a:t>
            </a:r>
          </a:p>
          <a:p>
            <a:pPr lvl="0" algn="l" rtl="0" fontAlgn="base"/>
            <a:r>
              <a:rPr lang="ru-RU" sz="2000" dirty="0"/>
              <a:t>Розробити екранні форми запитів зміну;</a:t>
            </a:r>
          </a:p>
          <a:p>
            <a:pPr lvl="0" algn="l" rtl="0" fontAlgn="base"/>
            <a:r>
              <a:rPr lang="ru-RU" sz="2000" dirty="0"/>
              <a:t>Встановити політику доступу;</a:t>
            </a:r>
          </a:p>
          <a:p>
            <a:pPr lvl="0" algn="l" rtl="0" fontAlgn="base"/>
            <a:r>
              <a:rPr lang="ru-RU" sz="2000" dirty="0"/>
              <a:t>Визначити життєвий цикл запитів зміну;</a:t>
            </a:r>
          </a:p>
          <a:p>
            <a:pPr lvl="0" algn="l" rtl="0" fontAlgn="base"/>
            <a:r>
              <a:rPr lang="ru-RU" sz="2000" dirty="0"/>
              <a:t>Поставити дані під КК відповідно до плану;</a:t>
            </a:r>
          </a:p>
          <a:p>
            <a:pPr algn="l" rtl="0"/>
            <a:endParaRPr lang="ru-RU" dirty="0"/>
          </a:p>
        </p:txBody>
      </p:sp>
    </p:spTree>
    <p:extLst>
      <p:ext uri="{BB962C8B-B14F-4D97-AF65-F5344CB8AC3E}">
        <p14:creationId xmlns:p14="http://schemas.microsoft.com/office/powerpoint/2010/main" val="17712721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l" rtl="0"/>
            <a:r>
              <a:rPr lang="ru-RU" dirty="0"/>
              <a:t>Коли готують план КК</a:t>
            </a:r>
          </a:p>
        </p:txBody>
      </p:sp>
      <p:sp>
        <p:nvSpPr>
          <p:cNvPr id="3" name="Объект 2"/>
          <p:cNvSpPr>
            <a:spLocks noGrp="1"/>
          </p:cNvSpPr>
          <p:nvPr>
            <p:ph idx="1"/>
          </p:nvPr>
        </p:nvSpPr>
        <p:spPr/>
        <p:txBody>
          <a:bodyPr/>
          <a:lstStyle/>
          <a:p>
            <a:pPr algn="l" rtl="0"/>
            <a:r>
              <a:rPr lang="ru-RU" sz="2000" dirty="0"/>
              <a:t>План розробляється на ранніх стадіях планування проекту. План має бути підготовлений на ранніх стадіях, ще до того, як розробники включили комп'ютери – момент опрацювання технічного завдання вже потрібно писати план КК. Це в ідеалі. Насправді, зазвичай, процес вже склався і його потрібно спочатку описати, та був, за потребами модифікувати, поліпшити.</a:t>
            </a:r>
          </a:p>
          <a:p>
            <a:pPr algn="l" rtl="0"/>
            <a:endParaRPr lang="ru-RU" dirty="0"/>
          </a:p>
        </p:txBody>
      </p:sp>
    </p:spTree>
    <p:extLst>
      <p:ext uri="{BB962C8B-B14F-4D97-AF65-F5344CB8AC3E}">
        <p14:creationId xmlns:p14="http://schemas.microsoft.com/office/powerpoint/2010/main" val="389667209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pPr algn="l" rtl="0"/>
            <a:r>
              <a:rPr lang="ru-RU" dirty="0"/>
              <a:t>Підтримка плану у актуальному стані</a:t>
            </a:r>
          </a:p>
        </p:txBody>
      </p:sp>
      <p:sp>
        <p:nvSpPr>
          <p:cNvPr id="3" name="Объект 2"/>
          <p:cNvSpPr>
            <a:spLocks noGrp="1"/>
          </p:cNvSpPr>
          <p:nvPr>
            <p:ph idx="1"/>
          </p:nvPr>
        </p:nvSpPr>
        <p:spPr>
          <a:xfrm>
            <a:off x="467544" y="1844824"/>
            <a:ext cx="8229600" cy="4876800"/>
          </a:xfrm>
        </p:spPr>
        <p:txBody>
          <a:bodyPr/>
          <a:lstStyle/>
          <a:p>
            <a:pPr algn="l" rtl="0"/>
            <a:r>
              <a:rPr lang="ru-RU" sz="2000" dirty="0"/>
              <a:t>План – живий документ. План пишуть живі люди, які можуть помилитись. План - не секретний документ - він повинен зберігатися на видному місці, його повинні все читати, так як план описує процес розробки, то його особливо повинні читати розробники, що знову прийшли,</a:t>
            </a:r>
            <a:r>
              <a:rPr lang="ru-RU" sz="2000" dirty="0" err="1"/>
              <a:t>тестувальники</a:t>
            </a:r>
            <a:r>
              <a:rPr lang="ru-RU" sz="2000" dirty="0"/>
              <a:t>, менеджери. Щоб план був живим його необхідно читати та коригувати – позбавляти недорікуватості та неправильних формулювань. Така помилка, як неправильне розуміння процесу, веде до простоїв та частих доробок продукту. План має бути доступний і керований у частині його змін.</a:t>
            </a:r>
          </a:p>
          <a:p>
            <a:pPr algn="l" rtl="0"/>
            <a:endParaRPr lang="ru-RU" dirty="0"/>
          </a:p>
        </p:txBody>
      </p:sp>
    </p:spTree>
    <p:extLst>
      <p:ext uri="{BB962C8B-B14F-4D97-AF65-F5344CB8AC3E}">
        <p14:creationId xmlns:p14="http://schemas.microsoft.com/office/powerpoint/2010/main" val="402625768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l" rtl="0"/>
            <a:r>
              <a:rPr lang="ru-RU" dirty="0"/>
              <a:t>Стандартизація та класифікація</a:t>
            </a:r>
          </a:p>
        </p:txBody>
      </p:sp>
      <p:sp>
        <p:nvSpPr>
          <p:cNvPr id="3" name="Объект 2"/>
          <p:cNvSpPr>
            <a:spLocks noGrp="1"/>
          </p:cNvSpPr>
          <p:nvPr>
            <p:ph idx="1"/>
          </p:nvPr>
        </p:nvSpPr>
        <p:spPr/>
        <p:txBody>
          <a:bodyPr>
            <a:normAutofit fontScale="85000" lnSpcReduction="10000"/>
          </a:bodyPr>
          <a:lstStyle/>
          <a:p>
            <a:pPr algn="l" rtl="0" fontAlgn="base"/>
            <a:r>
              <a:rPr lang="ru-RU" sz="1900" dirty="0"/>
              <a:t>Розглянемо чинники, що впливають структуру плану КК:</a:t>
            </a:r>
          </a:p>
          <a:p>
            <a:pPr lvl="0" algn="l" rtl="0" fontAlgn="base"/>
            <a:endParaRPr lang="en-US" sz="1900" dirty="0"/>
          </a:p>
          <a:p>
            <a:pPr lvl="0" algn="l" rtl="0" fontAlgn="base"/>
            <a:r>
              <a:rPr lang="ru-RU" sz="1900" dirty="0"/>
              <a:t>Тип проекту;</a:t>
            </a:r>
          </a:p>
          <a:p>
            <a:pPr lvl="0" algn="l" rtl="0" fontAlgn="base"/>
            <a:r>
              <a:rPr lang="ru-RU" sz="1900" dirty="0"/>
              <a:t>Відносний розмір проекту;</a:t>
            </a:r>
          </a:p>
          <a:p>
            <a:pPr lvl="0" algn="l" rtl="0" fontAlgn="base"/>
            <a:r>
              <a:rPr lang="ru-RU" sz="1900" dirty="0"/>
              <a:t>Кількість конфігураційних елементів;</a:t>
            </a:r>
          </a:p>
          <a:p>
            <a:pPr lvl="0" algn="l" rtl="0" fontAlgn="base"/>
            <a:r>
              <a:rPr lang="ru-RU" sz="1900" dirty="0"/>
              <a:t>Число компонентів та підсистем;</a:t>
            </a:r>
          </a:p>
          <a:p>
            <a:pPr lvl="0" algn="l" rtl="0" fontAlgn="base"/>
            <a:r>
              <a:rPr lang="ru-RU" sz="1900" dirty="0"/>
              <a:t>Наявність кількох офісів (регіонально розподілена розробка);</a:t>
            </a:r>
          </a:p>
          <a:p>
            <a:pPr lvl="0" algn="l" rtl="0" fontAlgn="base"/>
            <a:r>
              <a:rPr lang="ru-RU" sz="1900" dirty="0"/>
              <a:t>Фаза життєвого циклу;</a:t>
            </a:r>
          </a:p>
          <a:p>
            <a:pPr lvl="0" algn="l" rtl="0" fontAlgn="base"/>
            <a:r>
              <a:rPr lang="ru-RU" sz="1900" dirty="0"/>
              <a:t>модель розробки;</a:t>
            </a:r>
          </a:p>
          <a:p>
            <a:pPr lvl="0" algn="l" rtl="0" fontAlgn="base"/>
            <a:r>
              <a:rPr lang="ru-RU" sz="1900" dirty="0"/>
              <a:t>Доступність (наявність) коштів КК та інших суміжних коштів;</a:t>
            </a:r>
          </a:p>
          <a:p>
            <a:pPr lvl="0" algn="l" rtl="0" fontAlgn="base"/>
            <a:r>
              <a:rPr lang="ru-RU" sz="1900" dirty="0"/>
              <a:t>Рівень формалізації (як процесів організації, і тип контролю плану).</a:t>
            </a:r>
          </a:p>
          <a:p>
            <a:pPr algn="l" rtl="0"/>
            <a:endParaRPr lang="ru-RU" dirty="0"/>
          </a:p>
        </p:txBody>
      </p:sp>
    </p:spTree>
    <p:extLst>
      <p:ext uri="{BB962C8B-B14F-4D97-AF65-F5344CB8AC3E}">
        <p14:creationId xmlns:p14="http://schemas.microsoft.com/office/powerpoint/2010/main" val="405526648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185727" y="1340768"/>
            <a:ext cx="8926760" cy="1927225"/>
          </a:xfrm>
        </p:spPr>
        <p:txBody>
          <a:bodyPr/>
          <a:lstStyle/>
          <a:p>
            <a:pPr algn="l" rtl="0"/>
            <a:r>
              <a:rPr lang="ru-RU" dirty="0"/>
              <a:t>ЗАВДАННЯ ТА ЦІЛІ УПРАВЛІННЯ ЯКОСТЮ</a:t>
            </a:r>
          </a:p>
        </p:txBody>
      </p:sp>
    </p:spTree>
    <p:extLst>
      <p:ext uri="{BB962C8B-B14F-4D97-AF65-F5344CB8AC3E}">
        <p14:creationId xmlns:p14="http://schemas.microsoft.com/office/powerpoint/2010/main" val="251106031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l" rtl="0"/>
            <a:endParaRPr lang="ru-RU"/>
          </a:p>
        </p:txBody>
      </p:sp>
      <p:sp>
        <p:nvSpPr>
          <p:cNvPr id="3" name="Объект 2"/>
          <p:cNvSpPr>
            <a:spLocks noGrp="1"/>
          </p:cNvSpPr>
          <p:nvPr>
            <p:ph idx="1"/>
          </p:nvPr>
        </p:nvSpPr>
        <p:spPr/>
        <p:txBody>
          <a:bodyPr>
            <a:normAutofit fontScale="92500" lnSpcReduction="20000"/>
          </a:bodyPr>
          <a:lstStyle/>
          <a:p>
            <a:pPr algn="l" rtl="0"/>
            <a:r>
              <a:rPr lang="ru-RU" sz="1900" dirty="0"/>
              <a:t>Промислова розробка програмного забезпечення як частина промислової розробки складних систем - високотехнологічний процес, в який залучено безліч розрізняються за чисельністю, сферою діяльності та кваліфікацією колективів розробників. Одне з основних завдань при спільній роботі великої кількості розробників або їх колективів: забезпечення єдиної схеми роботи, що дозволяє планувати виконання робіт, забезпечувати цілісність і несуперечність різних вузлів системи, а також гарантувати відповідність системи очікуванням замовника.</a:t>
            </a:r>
          </a:p>
          <a:p>
            <a:pPr algn="l" rtl="0"/>
            <a:r>
              <a:rPr lang="ru-RU" sz="1900" dirty="0"/>
              <a:t>Виконання цього завдання полегшується при підпорядкуванні процесу розробки технологічним вимогам, що регламентує різні аспекти розробки: життєвий цикл проекту та системи, що розробляється, вимоги до процесів розробки, впровадження та супроводу системи.</a:t>
            </a:r>
          </a:p>
          <a:p>
            <a:pPr algn="l" rtl="0"/>
            <a:endParaRPr lang="ru-RU" dirty="0"/>
          </a:p>
        </p:txBody>
      </p:sp>
    </p:spTree>
    <p:extLst>
      <p:ext uri="{BB962C8B-B14F-4D97-AF65-F5344CB8AC3E}">
        <p14:creationId xmlns:p14="http://schemas.microsoft.com/office/powerpoint/2010/main" val="92637026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p:txBody>
          <a:bodyPr/>
          <a:lstStyle/>
          <a:p>
            <a:pPr algn="l" rtl="0"/>
            <a:r>
              <a:rPr lang="ru-RU" sz="2000" dirty="0"/>
              <a:t>Якість - це сукупність показників об'єкта, що має відношення до його здатності задовольнити встановлені та передбачувані вимоги споживача. При цьому, що важливо, під об'єктом якості може розумітися як власне продукція (товари чи послуги) чи процес її виробництва, і виробник (організація, система і навіть окремий працівник).</a:t>
            </a:r>
          </a:p>
          <a:p>
            <a:pPr algn="l" rtl="0"/>
            <a:endParaRPr lang="ru-RU" dirty="0"/>
          </a:p>
        </p:txBody>
      </p:sp>
      <p:pic>
        <p:nvPicPr>
          <p:cNvPr id="4" name="Рисунок 3" descr="Место стандартов качества в разработке системы"/>
          <p:cNvPicPr/>
          <p:nvPr/>
        </p:nvPicPr>
        <p:blipFill>
          <a:blip r:embed="rId2">
            <a:extLst>
              <a:ext uri="{28A0092B-C50C-407E-A947-70E740481C1C}">
                <a14:useLocalDpi xmlns:a14="http://schemas.microsoft.com/office/drawing/2010/main" val="0"/>
              </a:ext>
            </a:extLst>
          </a:blip>
          <a:srcRect/>
          <a:stretch>
            <a:fillRect/>
          </a:stretch>
        </p:blipFill>
        <p:spPr bwMode="auto">
          <a:xfrm>
            <a:off x="1259632" y="4077072"/>
            <a:ext cx="6525741" cy="2074912"/>
          </a:xfrm>
          <a:prstGeom prst="rect">
            <a:avLst/>
          </a:prstGeom>
          <a:noFill/>
          <a:ln>
            <a:noFill/>
          </a:ln>
        </p:spPr>
      </p:pic>
    </p:spTree>
    <p:extLst>
      <p:ext uri="{BB962C8B-B14F-4D97-AF65-F5344CB8AC3E}">
        <p14:creationId xmlns:p14="http://schemas.microsoft.com/office/powerpoint/2010/main" val="415233511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395536" y="1052736"/>
            <a:ext cx="8229600" cy="4876800"/>
          </a:xfrm>
        </p:spPr>
        <p:txBody>
          <a:bodyPr>
            <a:normAutofit/>
          </a:bodyPr>
          <a:lstStyle/>
          <a:p>
            <a:pPr algn="l" rtl="0"/>
            <a:r>
              <a:rPr lang="ru-RU" sz="1800" dirty="0"/>
              <a:t>Основний процес, що розглядається стандартами – випуск продукції. У разі розробки програмних систем цей процес - проект розробки програмного забезпечення, незалежно від того, який</a:t>
            </a:r>
            <a:r>
              <a:rPr lang="ru-RU" sz="1800" i="1" dirty="0"/>
              <a:t>життєвий цикл програмного забезпечення</a:t>
            </a:r>
            <a:r>
              <a:rPr lang="ru-RU" sz="1800" dirty="0"/>
              <a:t>був вибраний. Процес розробки зазвичай розпадається на дрібніші</a:t>
            </a:r>
            <a:r>
              <a:rPr lang="ru-RU" sz="1800" dirty="0" err="1"/>
              <a:t>підпроцеси</a:t>
            </a:r>
            <a:r>
              <a:rPr lang="ru-RU" sz="1800" dirty="0"/>
              <a:t>.</a:t>
            </a:r>
          </a:p>
          <a:p>
            <a:pPr algn="l" rtl="0"/>
            <a:endParaRPr lang="ru-RU" sz="1800" dirty="0"/>
          </a:p>
          <a:p>
            <a:pPr algn="l" rtl="0"/>
            <a:r>
              <a:rPr lang="ru-RU" sz="1800" dirty="0" err="1"/>
              <a:t>Підпроцеси</a:t>
            </a:r>
            <a:r>
              <a:rPr lang="ru-RU" sz="1800" dirty="0"/>
              <a:t>можуть бути віднесені до трьох категорій: процес планування програмного забезпечення; процеси розробки програмного забезпечення, які зазвичай включають розробку вимог до програмного забезпечення, проектування програмного забезпечення, кодування та комплексування програмного забезпечення; та процеси забезпечення цілісності, які включають верифікацію програмного забезпечення, гарантію якості програмного забезпечення, управління конфігураціями програмного забезпечення та взаємодію при сертифікації.</a:t>
            </a:r>
          </a:p>
          <a:p>
            <a:pPr algn="l" rtl="0"/>
            <a:endParaRPr lang="ru-RU" sz="1800" dirty="0"/>
          </a:p>
        </p:txBody>
      </p:sp>
    </p:spTree>
    <p:extLst>
      <p:ext uri="{BB962C8B-B14F-4D97-AF65-F5344CB8AC3E}">
        <p14:creationId xmlns:p14="http://schemas.microsoft.com/office/powerpoint/2010/main" val="5417022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685800" y="1371600"/>
            <a:ext cx="9574832" cy="1927225"/>
          </a:xfrm>
        </p:spPr>
        <p:txBody>
          <a:bodyPr/>
          <a:lstStyle/>
          <a:p>
            <a:pPr algn="l" rtl="0"/>
            <a:r>
              <a:rPr lang="ru-RU" dirty="0"/>
              <a:t>ПРОЦЕСИ ЖЦ ВЕРИФІКАЦІЯ І ВАЛІДАЦІЯ ПРОГРАМ</a:t>
            </a:r>
          </a:p>
        </p:txBody>
      </p:sp>
    </p:spTree>
    <p:extLst>
      <p:ext uri="{BB962C8B-B14F-4D97-AF65-F5344CB8AC3E}">
        <p14:creationId xmlns:p14="http://schemas.microsoft.com/office/powerpoint/2010/main" val="281686213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l" rtl="0"/>
            <a:r>
              <a:rPr lang="ru-RU" dirty="0"/>
              <a:t>Основна інформація</a:t>
            </a:r>
          </a:p>
        </p:txBody>
      </p:sp>
      <p:sp>
        <p:nvSpPr>
          <p:cNvPr id="3" name="Объект 2"/>
          <p:cNvSpPr>
            <a:spLocks noGrp="1"/>
          </p:cNvSpPr>
          <p:nvPr>
            <p:ph idx="1"/>
          </p:nvPr>
        </p:nvSpPr>
        <p:spPr/>
        <p:txBody>
          <a:bodyPr>
            <a:normAutofit fontScale="85000" lnSpcReduction="20000"/>
          </a:bodyPr>
          <a:lstStyle/>
          <a:p>
            <a:pPr algn="l" rtl="0"/>
            <a:r>
              <a:rPr lang="ru-RU" sz="2200" i="1" dirty="0"/>
              <a:t>Верифікація</a:t>
            </a:r>
            <a:r>
              <a:rPr lang="ru-RU" sz="2200" dirty="0"/>
              <a:t>і</a:t>
            </a:r>
            <a:r>
              <a:rPr lang="ru-RU" sz="2200" i="1" dirty="0" err="1"/>
              <a:t>валідація</a:t>
            </a:r>
            <a:r>
              <a:rPr lang="ru-RU" sz="2200" dirty="0"/>
              <a:t>, як методи, забезпечують відповідно перевірку та</a:t>
            </a:r>
            <a:r>
              <a:rPr lang="ru-RU" sz="2200" i="1" dirty="0"/>
              <a:t>аналіз</a:t>
            </a:r>
            <a:r>
              <a:rPr lang="ru-RU" sz="2200" dirty="0"/>
              <a:t>правильності виконання заданих функцій та відповідності</a:t>
            </a:r>
            <a:r>
              <a:rPr lang="ru-RU" sz="2200" i="1" dirty="0"/>
              <a:t>ПЗ</a:t>
            </a:r>
            <a:r>
              <a:rPr lang="ru-RU" sz="2200" dirty="0"/>
              <a:t>вимогам замовника, а також заданим специфікаціям.</a:t>
            </a:r>
          </a:p>
          <a:p>
            <a:pPr algn="l" rtl="0"/>
            <a:endParaRPr lang="ru-RU" sz="2200" dirty="0"/>
          </a:p>
          <a:p>
            <a:pPr algn="l" rtl="0"/>
            <a:r>
              <a:rPr lang="ru-RU" sz="2200" dirty="0"/>
              <a:t>Вони представлені у стандартах як самостійні процеси ЖЦ і використовуються, починаючи від етапу аналізу вимог та закінчуючи перевіркою правильності функціонування програмного коду на заключному етапі, а саме тестуванні.</a:t>
            </a:r>
          </a:p>
          <a:p>
            <a:pPr algn="l" rtl="0"/>
            <a:r>
              <a:rPr lang="ru-RU" sz="2200" dirty="0"/>
              <a:t>Для цих процесів визначено цілі, завдання та дії</a:t>
            </a:r>
            <a:r>
              <a:rPr lang="ru-RU" sz="2200" i="1" dirty="0"/>
              <a:t>по</a:t>
            </a:r>
            <a:r>
              <a:rPr lang="ru-RU" sz="2200" dirty="0"/>
              <a:t>перевірці правильності виробленого продукту (робочі, проміжні продукти) на етапах ЖЦ. Розглянемо їх трактування у стандартному поданні.</a:t>
            </a:r>
          </a:p>
          <a:p>
            <a:pPr algn="l" rtl="0"/>
            <a:endParaRPr lang="ru-RU" dirty="0"/>
          </a:p>
        </p:txBody>
      </p:sp>
    </p:spTree>
    <p:extLst>
      <p:ext uri="{BB962C8B-B14F-4D97-AF65-F5344CB8AC3E}">
        <p14:creationId xmlns:p14="http://schemas.microsoft.com/office/powerpoint/2010/main" val="297166047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l" rtl="0"/>
            <a:r>
              <a:rPr lang="ru-RU" b="1" dirty="0"/>
              <a:t>Процес верифікації</a:t>
            </a:r>
            <a:endParaRPr lang="ru-RU" dirty="0"/>
          </a:p>
        </p:txBody>
      </p:sp>
      <p:sp>
        <p:nvSpPr>
          <p:cNvPr id="3" name="Объект 2"/>
          <p:cNvSpPr>
            <a:spLocks noGrp="1"/>
          </p:cNvSpPr>
          <p:nvPr>
            <p:ph idx="1"/>
          </p:nvPr>
        </p:nvSpPr>
        <p:spPr/>
        <p:txBody>
          <a:bodyPr>
            <a:normAutofit lnSpcReduction="10000"/>
          </a:bodyPr>
          <a:lstStyle/>
          <a:p>
            <a:pPr algn="l" rtl="0"/>
            <a:r>
              <a:rPr lang="ru-RU" sz="2000" dirty="0"/>
              <a:t>Мета процесу – переконатися, що кожен</a:t>
            </a:r>
            <a:r>
              <a:rPr lang="ru-RU" sz="2000" i="1" dirty="0"/>
              <a:t>програмний продукт</a:t>
            </a:r>
            <a:r>
              <a:rPr lang="ru-RU" sz="2000" dirty="0"/>
              <a:t>(і/або сервіс) проекту відображає узгоджені вимоги щодо їх реалізації. Цей процес ґрунтується:</a:t>
            </a:r>
          </a:p>
          <a:p>
            <a:pPr lvl="0" algn="l" rtl="0"/>
            <a:endParaRPr lang="ru-RU" dirty="0"/>
          </a:p>
          <a:p>
            <a:pPr lvl="0" algn="l" rtl="0"/>
            <a:r>
              <a:rPr lang="ru-RU" sz="2000" dirty="0"/>
              <a:t>на стратегії та критеріях верифікації стосовно всіх робочих програмних продуктів;</a:t>
            </a:r>
          </a:p>
          <a:p>
            <a:pPr lvl="0" algn="l" rtl="0"/>
            <a:r>
              <a:rPr lang="ru-RU" sz="2000" dirty="0"/>
              <a:t>на виконанні дій стандарту щодо верифікації;</a:t>
            </a:r>
          </a:p>
          <a:p>
            <a:pPr lvl="0" algn="l" rtl="0"/>
            <a:r>
              <a:rPr lang="ru-RU" sz="2000" dirty="0"/>
              <a:t>на</a:t>
            </a:r>
            <a:r>
              <a:rPr lang="ru-RU" sz="2000" i="1" dirty="0"/>
              <a:t>усунення недоліків</a:t>
            </a:r>
            <a:r>
              <a:rPr lang="ru-RU" sz="2000" dirty="0"/>
              <a:t>, виявлених у програмних (робочих та проміжних) продуктах;</a:t>
            </a:r>
          </a:p>
          <a:p>
            <a:pPr lvl="0" algn="l" rtl="0"/>
            <a:r>
              <a:rPr lang="ru-RU" sz="2000" dirty="0"/>
              <a:t>на узгодженні результатів верифікації із замовником.</a:t>
            </a:r>
          </a:p>
          <a:p>
            <a:pPr algn="l" rtl="0"/>
            <a:endParaRPr lang="ru-RU" dirty="0"/>
          </a:p>
        </p:txBody>
      </p:sp>
    </p:spTree>
    <p:extLst>
      <p:ext uri="{BB962C8B-B14F-4D97-AF65-F5344CB8AC3E}">
        <p14:creationId xmlns:p14="http://schemas.microsoft.com/office/powerpoint/2010/main" val="53512089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l" rtl="0"/>
            <a:r>
              <a:rPr lang="ru-RU" b="1" dirty="0"/>
              <a:t>Процес</a:t>
            </a:r>
            <a:r>
              <a:rPr lang="ru-RU" b="1" dirty="0" err="1"/>
              <a:t>валідації</a:t>
            </a:r>
            <a:endParaRPr lang="ru-RU" dirty="0"/>
          </a:p>
        </p:txBody>
      </p:sp>
      <p:sp>
        <p:nvSpPr>
          <p:cNvPr id="3" name="Объект 2"/>
          <p:cNvSpPr>
            <a:spLocks noGrp="1"/>
          </p:cNvSpPr>
          <p:nvPr>
            <p:ph idx="1"/>
          </p:nvPr>
        </p:nvSpPr>
        <p:spPr/>
        <p:txBody>
          <a:bodyPr/>
          <a:lstStyle/>
          <a:p>
            <a:pPr algn="l" rtl="0"/>
            <a:r>
              <a:rPr lang="ru-RU" b="1" dirty="0"/>
              <a:t>Процес</a:t>
            </a:r>
            <a:r>
              <a:rPr lang="ru-RU" b="1" dirty="0" err="1"/>
              <a:t>валідації</a:t>
            </a:r>
            <a:r>
              <a:rPr lang="ru-RU" dirty="0"/>
              <a:t>. Мета процесу – переконатися, що специфічні вимоги для програмного продукту виконані, і здійснюється це за допомогою:</a:t>
            </a:r>
          </a:p>
          <a:p>
            <a:pPr lvl="0" algn="l" rtl="0"/>
            <a:r>
              <a:rPr lang="ru-RU" dirty="0"/>
              <a:t>розробленої стратегії та критеріїв</a:t>
            </a:r>
            <a:r>
              <a:rPr lang="ru-RU" dirty="0" err="1"/>
              <a:t>валідації</a:t>
            </a:r>
            <a:r>
              <a:rPr lang="ru-RU" dirty="0"/>
              <a:t>для всіх</a:t>
            </a:r>
            <a:r>
              <a:rPr lang="ru-RU" i="1" dirty="0"/>
              <a:t>робочих продуктів</a:t>
            </a:r>
            <a:r>
              <a:rPr lang="ru-RU" dirty="0"/>
              <a:t>;</a:t>
            </a:r>
          </a:p>
          <a:p>
            <a:pPr lvl="0" algn="l" rtl="0"/>
            <a:r>
              <a:rPr lang="ru-RU" dirty="0"/>
              <a:t>обумовлених дій щодо проведення</a:t>
            </a:r>
            <a:r>
              <a:rPr lang="ru-RU" dirty="0" err="1"/>
              <a:t>валідації</a:t>
            </a:r>
            <a:r>
              <a:rPr lang="ru-RU" dirty="0"/>
              <a:t>;</a:t>
            </a:r>
          </a:p>
          <a:p>
            <a:pPr lvl="0" algn="l" rtl="0"/>
            <a:r>
              <a:rPr lang="ru-RU" dirty="0"/>
              <a:t>демонстрації відповідності розроблених програмних продуктів вимогам замовника та правилам їх використання;</a:t>
            </a:r>
          </a:p>
          <a:p>
            <a:pPr lvl="0" algn="l" rtl="0"/>
            <a:r>
              <a:rPr lang="ru-RU" dirty="0"/>
              <a:t>погодження із замовником отриманих результатів</a:t>
            </a:r>
            <a:r>
              <a:rPr lang="ru-RU" dirty="0" err="1"/>
              <a:t>валідації</a:t>
            </a:r>
            <a:r>
              <a:rPr lang="ru-RU" dirty="0"/>
              <a:t>.</a:t>
            </a:r>
          </a:p>
          <a:p>
            <a:pPr algn="l" rtl="0"/>
            <a:endParaRPr lang="ru-RU" dirty="0"/>
          </a:p>
        </p:txBody>
      </p:sp>
    </p:spTree>
    <p:extLst>
      <p:ext uri="{BB962C8B-B14F-4D97-AF65-F5344CB8AC3E}">
        <p14:creationId xmlns:p14="http://schemas.microsoft.com/office/powerpoint/2010/main" val="1681429345"/>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Углы">
  <a:themeElements>
    <a:clrScheme name="Углы">
      <a:dk1>
        <a:srgbClr val="000000"/>
      </a:dk1>
      <a:lt1>
        <a:srgbClr val="FFFFFF"/>
      </a:lt1>
      <a:dk2>
        <a:srgbClr val="434342"/>
      </a:dk2>
      <a:lt2>
        <a:srgbClr val="CDD7D9"/>
      </a:lt2>
      <a:accent1>
        <a:srgbClr val="797B7E"/>
      </a:accent1>
      <a:accent2>
        <a:srgbClr val="F96A1B"/>
      </a:accent2>
      <a:accent3>
        <a:srgbClr val="08A1D9"/>
      </a:accent3>
      <a:accent4>
        <a:srgbClr val="7C984A"/>
      </a:accent4>
      <a:accent5>
        <a:srgbClr val="C2AD8D"/>
      </a:accent5>
      <a:accent6>
        <a:srgbClr val="506E94"/>
      </a:accent6>
      <a:hlink>
        <a:srgbClr val="5F5F5F"/>
      </a:hlink>
      <a:folHlink>
        <a:srgbClr val="969696"/>
      </a:folHlink>
    </a:clrScheme>
    <a:fontScheme name="Углы">
      <a:majorFont>
        <a:latin typeface="Franklin Gothic Medium"/>
        <a:ea typeface=""/>
        <a:cs typeface=""/>
        <a:font script="Jpan" typeface="HG創英角ｺﾞｼｯｸUB"/>
        <a:font script="Hang" typeface="돋움"/>
        <a:font script="Hans" typeface="微软雅黑"/>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a:ea typeface=""/>
        <a:cs typeface=""/>
        <a:font script="Jpan" typeface="ＭＳ Ｐゴシック"/>
        <a:font script="Hang" typeface="맑은 고딕"/>
        <a:font script="Hans" typeface="隶书"/>
        <a:font script="Hant" typeface="新細明體"/>
        <a:font script="Arab" typeface="Arial"/>
        <a:font script="Hebr" typeface="Arial"/>
        <a:font script="Thai" typeface="Cord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Углы">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blipFill rotWithShape="1">
          <a:blip xmlns:r="http://schemas.openxmlformats.org/officeDocument/2006/relationships" r:embed="rId1">
            <a:duotone>
              <a:schemeClr val="phClr">
                <a:tint val="90000"/>
                <a:shade val="85000"/>
              </a:schemeClr>
              <a:schemeClr val="phClr">
                <a:tint val="95000"/>
                <a:shade val="99000"/>
              </a:schemeClr>
            </a:duotone>
          </a:blip>
          <a:tile tx="0" ty="0" sx="100000" sy="100000" flip="none" algn="tl"/>
        </a:blipFill>
        <a:blipFill rotWithShape="1">
          <a:blip xmlns:r="http://schemas.openxmlformats.org/officeDocument/2006/relationships" r:embed="rId2">
            <a:duotone>
              <a:schemeClr val="phClr">
                <a:tint val="93000"/>
                <a:shade val="85000"/>
              </a:schemeClr>
              <a:schemeClr val="phClr">
                <a:tint val="96000"/>
                <a:shade val="99000"/>
              </a:schemeClr>
            </a:duotone>
          </a:blip>
          <a:tile tx="0" ty="0" sx="90000" sy="9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Angles</Template>
  <TotalTime>165</TotalTime>
  <Words>2640</Words>
  <Application>Microsoft Office PowerPoint</Application>
  <PresentationFormat>Экран (4:3)</PresentationFormat>
  <Paragraphs>172</Paragraphs>
  <Slides>43</Slides>
  <Notes>0</Notes>
  <HiddenSlides>0</HiddenSlides>
  <MMClips>0</MMClips>
  <ScaleCrop>false</ScaleCrop>
  <HeadingPairs>
    <vt:vector size="6" baseType="variant">
      <vt:variant>
        <vt:lpstr>Использованные шрифты</vt:lpstr>
      </vt:variant>
      <vt:variant>
        <vt:i4>5</vt:i4>
      </vt:variant>
      <vt:variant>
        <vt:lpstr>Тема</vt:lpstr>
      </vt:variant>
      <vt:variant>
        <vt:i4>1</vt:i4>
      </vt:variant>
      <vt:variant>
        <vt:lpstr>Заголовки слайдов</vt:lpstr>
      </vt:variant>
      <vt:variant>
        <vt:i4>43</vt:i4>
      </vt:variant>
    </vt:vector>
  </HeadingPairs>
  <TitlesOfParts>
    <vt:vector size="49" baseType="lpstr">
      <vt:lpstr>Arial</vt:lpstr>
      <vt:lpstr>Franklin Gothic Book</vt:lpstr>
      <vt:lpstr>Franklin Gothic Medium</vt:lpstr>
      <vt:lpstr>Roboto</vt:lpstr>
      <vt:lpstr>Wingdings</vt:lpstr>
      <vt:lpstr>Углы</vt:lpstr>
      <vt:lpstr>Документування програмних засобів</vt:lpstr>
      <vt:lpstr>Документація, що створюється та використовується в процесі розробки програмних засобів </vt:lpstr>
      <vt:lpstr>Документи управління розробкою ПС </vt:lpstr>
      <vt:lpstr>Документи, що входять до складу ПС</vt:lpstr>
      <vt:lpstr>Користувальницька документація програмних засобів</vt:lpstr>
      <vt:lpstr>Дві категорії користувачів: ординарних користувачів ПС та адміністраторів ПС.</vt:lpstr>
      <vt:lpstr>Можна вважати типовим наступний склад документації для досить великих ПС:</vt:lpstr>
      <vt:lpstr>Документація із супроводу програмних засобів </vt:lpstr>
      <vt:lpstr>Документація першої групи</vt:lpstr>
      <vt:lpstr>Документація другої групи містить </vt:lpstr>
      <vt:lpstr>Презентация PowerPoint</vt:lpstr>
      <vt:lpstr>КОНФІГУРАЦІЙНЕ УПРАВЛІННЯ</vt:lpstr>
      <vt:lpstr>Презентация PowerPoint</vt:lpstr>
      <vt:lpstr>Основні завдання та цілі процесів конфігураційного управління (КУ) полягають у наступному</vt:lpstr>
      <vt:lpstr>ЗАВДАННЯ ПРОЦЕСУ КОНФІГУРАЦІЙНОГО УПРАВЛІННЯ</vt:lpstr>
      <vt:lpstr>Презентация PowerPoint</vt:lpstr>
      <vt:lpstr>Базовим поняттям процесу є об'єкт (елемент) конфігураційного управління (ОКУ,Configuration Item)</vt:lpstr>
      <vt:lpstr>Презентация PowerPoint</vt:lpstr>
      <vt:lpstr>Конфігураційного управління покликаний забезпечувати</vt:lpstr>
      <vt:lpstr>Презентация PowerPoint</vt:lpstr>
      <vt:lpstr>ПРОЦЕДУРИ ПРОЦЕСУ КОНФІГУРАЦІЙНОГО УПРАВЛІННЯ</vt:lpstr>
      <vt:lpstr>Ідентифікація конфігурацій</vt:lpstr>
      <vt:lpstr>Управління змінами</vt:lpstr>
      <vt:lpstr>Формування базових конфігурацій</vt:lpstr>
      <vt:lpstr>Обчислення статусів конфігурацій</vt:lpstr>
      <vt:lpstr>Презентация PowerPoint</vt:lpstr>
      <vt:lpstr>Архівування, аудити/огляди конфігурацій</vt:lpstr>
      <vt:lpstr>Аудитам конфігурацій адресуються такі питання, що стосуються змінених об'єктів конфігурації: </vt:lpstr>
      <vt:lpstr>РОЗРОБКА ПЛАНУ УПРАВЛІННЯ КОНФІГУРАЦІЄЮ</vt:lpstr>
      <vt:lpstr>Що таке план КК</vt:lpstr>
      <vt:lpstr>Хто пише план КК</vt:lpstr>
      <vt:lpstr>Технічне застосування плану (Реалізація плану в засобах підтримки КК)</vt:lpstr>
      <vt:lpstr>Коли готують план КК</vt:lpstr>
      <vt:lpstr>Підтримка плану у актуальному стані</vt:lpstr>
      <vt:lpstr>Стандартизація та класифікація</vt:lpstr>
      <vt:lpstr>ЗАВДАННЯ ТА ЦІЛІ УПРАВЛІННЯ ЯКОСТЮ</vt:lpstr>
      <vt:lpstr>Презентация PowerPoint</vt:lpstr>
      <vt:lpstr>Презентация PowerPoint</vt:lpstr>
      <vt:lpstr>Презентация PowerPoint</vt:lpstr>
      <vt:lpstr>ПРОЦЕСИ ЖЦ ВЕРИФІКАЦІЯ І ВАЛІДАЦІЯ ПРОГРАМ</vt:lpstr>
      <vt:lpstr>Основна інформація</vt:lpstr>
      <vt:lpstr>Процес верифікації</vt:lpstr>
      <vt:lpstr>Процесвалідації</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Документирование программных средств</dc:title>
  <dc:creator>Shiz</dc:creator>
  <cp:lastModifiedBy>380971674174</cp:lastModifiedBy>
  <cp:revision>110</cp:revision>
  <dcterms:created xsi:type="dcterms:W3CDTF">2017-04-10T20:23:37Z</dcterms:created>
  <dcterms:modified xsi:type="dcterms:W3CDTF">2023-03-27T17:42:41Z</dcterms:modified>
</cp:coreProperties>
</file>