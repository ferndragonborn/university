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6"/>
  </p:notesMasterIdLst>
  <p:sldIdLst>
    <p:sldId id="256" r:id="rId2"/>
    <p:sldId id="431" r:id="rId3"/>
    <p:sldId id="432" r:id="rId4"/>
    <p:sldId id="433" r:id="rId5"/>
    <p:sldId id="434" r:id="rId6"/>
    <p:sldId id="411" r:id="rId7"/>
    <p:sldId id="412" r:id="rId8"/>
    <p:sldId id="413" r:id="rId9"/>
    <p:sldId id="414" r:id="rId10"/>
    <p:sldId id="415" r:id="rId11"/>
    <p:sldId id="416" r:id="rId12"/>
    <p:sldId id="427" r:id="rId13"/>
    <p:sldId id="428" r:id="rId14"/>
    <p:sldId id="42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>
      <p:cViewPr varScale="1">
        <p:scale>
          <a:sx n="82" d="100"/>
          <a:sy n="82" d="100"/>
        </p:scale>
        <p:origin x="146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55FA6-59AA-4073-90F5-6B871846C8E8}" type="datetimeFigureOut">
              <a:rPr lang="ru-UA" smtClean="0"/>
              <a:t>27.03.2023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CC4E4-CF3B-4831-9D6D-3CE45712CCC9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65518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988DF5A-BD20-4B74-A361-07C3B2C7470F}" type="datetimeFigureOut">
              <a:rPr lang="ru-RU" smtClean="0"/>
              <a:t>27.03.2023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147262CC-B1DB-4EFF-A5A8-6AC0CC4C0C0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377E466-07E7-425C-9E53-B7BC3EC72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 міжнародні стандарти </a:t>
            </a:r>
            <a:br>
              <a:rPr lang="uk-UA" dirty="0"/>
            </a:br>
            <a:r>
              <a:rPr lang="uk-UA" dirty="0"/>
              <a:t>лекція 1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55477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709174-F732-3D0C-720A-C3AE952A89FC}"/>
              </a:ext>
            </a:extLst>
          </p:cNvPr>
          <p:cNvSpPr txBox="1"/>
          <p:nvPr/>
        </p:nvSpPr>
        <p:spPr>
          <a:xfrm>
            <a:off x="179512" y="764704"/>
            <a:ext cx="87129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err="1"/>
              <a:t>Міжнародні</a:t>
            </a:r>
            <a:r>
              <a:rPr lang="ru-RU" sz="3200" dirty="0"/>
              <a:t> </a:t>
            </a:r>
            <a:r>
              <a:rPr lang="ru-RU" sz="3200" dirty="0" err="1"/>
              <a:t>стандарти</a:t>
            </a:r>
            <a:r>
              <a:rPr lang="ru-RU" sz="3200" dirty="0"/>
              <a:t> </a:t>
            </a:r>
            <a:r>
              <a:rPr lang="ru-RU" sz="3200" dirty="0" err="1"/>
              <a:t>розробляються</a:t>
            </a:r>
            <a:r>
              <a:rPr lang="ru-RU" sz="3200" dirty="0"/>
              <a:t> </a:t>
            </a:r>
            <a:r>
              <a:rPr lang="ru-RU" sz="3200" dirty="0" err="1"/>
              <a:t>міжнародними</a:t>
            </a:r>
            <a:r>
              <a:rPr lang="ru-RU" sz="3200" dirty="0"/>
              <a:t> </a:t>
            </a:r>
            <a:r>
              <a:rPr lang="ru-RU" sz="3200" dirty="0" err="1"/>
              <a:t>організаціями</a:t>
            </a:r>
            <a:r>
              <a:rPr lang="ru-RU" sz="3200" dirty="0"/>
              <a:t> </a:t>
            </a:r>
            <a:r>
              <a:rPr lang="ru-RU" sz="3200" dirty="0" err="1"/>
              <a:t>зі</a:t>
            </a:r>
            <a:r>
              <a:rPr lang="ru-RU" sz="3200" dirty="0"/>
              <a:t> </a:t>
            </a:r>
            <a:r>
              <a:rPr lang="ru-RU" sz="3200" dirty="0" err="1"/>
              <a:t>стандартизації</a:t>
            </a:r>
            <a:r>
              <a:rPr lang="ru-RU" sz="3200" dirty="0"/>
              <a:t> для того, </a:t>
            </a:r>
            <a:r>
              <a:rPr lang="ru-RU" sz="3200" dirty="0" err="1"/>
              <a:t>щоб</a:t>
            </a:r>
            <a:r>
              <a:rPr lang="ru-RU" sz="3200" dirty="0"/>
              <a:t> </a:t>
            </a:r>
            <a:r>
              <a:rPr lang="ru-RU" sz="3200" dirty="0" err="1"/>
              <a:t>усунути</a:t>
            </a:r>
            <a:r>
              <a:rPr lang="ru-RU" sz="3200" dirty="0"/>
              <a:t> </a:t>
            </a:r>
            <a:r>
              <a:rPr lang="ru-RU" sz="3200" dirty="0" err="1"/>
              <a:t>технічні</a:t>
            </a:r>
            <a:r>
              <a:rPr lang="ru-RU" sz="3200" dirty="0"/>
              <a:t> </a:t>
            </a:r>
            <a:r>
              <a:rPr lang="ru-RU" sz="3200" dirty="0" err="1"/>
              <a:t>бар'єри</a:t>
            </a:r>
            <a:r>
              <a:rPr lang="ru-RU" sz="3200" dirty="0"/>
              <a:t> в </a:t>
            </a:r>
            <a:r>
              <a:rPr lang="ru-RU" sz="3200" dirty="0" err="1"/>
              <a:t>торгівлі</a:t>
            </a:r>
            <a:r>
              <a:rPr lang="ru-RU" sz="3200" dirty="0"/>
              <a:t> і </a:t>
            </a:r>
            <a:r>
              <a:rPr lang="ru-RU" sz="3200" dirty="0" err="1"/>
              <a:t>визначити</a:t>
            </a:r>
            <a:r>
              <a:rPr lang="ru-RU" sz="3200" dirty="0"/>
              <a:t> </a:t>
            </a:r>
            <a:r>
              <a:rPr lang="ru-RU" sz="3200" dirty="0" err="1"/>
              <a:t>вимоги</a:t>
            </a:r>
            <a:r>
              <a:rPr lang="ru-RU" sz="3200" dirty="0"/>
              <a:t> до </a:t>
            </a:r>
            <a:r>
              <a:rPr lang="ru-RU" sz="3200" dirty="0" err="1"/>
              <a:t>продукції</a:t>
            </a:r>
            <a:r>
              <a:rPr lang="ru-RU" sz="3200" dirty="0"/>
              <a:t>, </a:t>
            </a:r>
            <a:r>
              <a:rPr lang="ru-RU" sz="3200" dirty="0" err="1"/>
              <a:t>послуг</a:t>
            </a:r>
            <a:r>
              <a:rPr lang="ru-RU" sz="3200" dirty="0"/>
              <a:t> у </a:t>
            </a:r>
            <a:r>
              <a:rPr lang="ru-RU" sz="3200" dirty="0" err="1"/>
              <a:t>відповідність</a:t>
            </a:r>
            <a:r>
              <a:rPr lang="ru-RU" sz="3200" dirty="0"/>
              <a:t> до </a:t>
            </a:r>
            <a:r>
              <a:rPr lang="ru-RU" sz="3200" dirty="0" err="1"/>
              <a:t>вимог</a:t>
            </a:r>
            <a:r>
              <a:rPr lang="ru-RU" sz="3200" dirty="0"/>
              <a:t> </a:t>
            </a:r>
            <a:r>
              <a:rPr lang="ru-RU" sz="3200" dirty="0" err="1"/>
              <a:t>міжнародних</a:t>
            </a:r>
            <a:r>
              <a:rPr lang="ru-RU" sz="3200" dirty="0"/>
              <a:t> </a:t>
            </a:r>
            <a:r>
              <a:rPr lang="ru-RU" sz="3200" dirty="0" err="1"/>
              <a:t>стандартів</a:t>
            </a:r>
            <a:r>
              <a:rPr lang="ru-RU" sz="3200" dirty="0"/>
              <a:t>, </a:t>
            </a:r>
            <a:r>
              <a:rPr lang="ru-RU" sz="3200" dirty="0" err="1"/>
              <a:t>гарантують</a:t>
            </a:r>
            <a:r>
              <a:rPr lang="ru-RU" sz="3200" dirty="0"/>
              <a:t>, </a:t>
            </a:r>
            <a:r>
              <a:rPr lang="ru-RU" sz="3200" dirty="0" err="1"/>
              <a:t>що</a:t>
            </a:r>
            <a:r>
              <a:rPr lang="ru-RU" sz="3200" dirty="0"/>
              <a:t> </a:t>
            </a:r>
            <a:r>
              <a:rPr lang="ru-RU" sz="3200" dirty="0" err="1"/>
              <a:t>продукти</a:t>
            </a:r>
            <a:r>
              <a:rPr lang="ru-RU" sz="3200" dirty="0"/>
              <a:t> і </a:t>
            </a:r>
            <a:r>
              <a:rPr lang="ru-RU" sz="3200" dirty="0" err="1"/>
              <a:t>послуги</a:t>
            </a:r>
            <a:r>
              <a:rPr lang="ru-RU" sz="3200" dirty="0"/>
              <a:t> є </a:t>
            </a:r>
            <a:r>
              <a:rPr lang="ru-RU" sz="3200" dirty="0" err="1"/>
              <a:t>безпечними</a:t>
            </a:r>
            <a:r>
              <a:rPr lang="ru-RU" sz="3200" dirty="0"/>
              <a:t>, </a:t>
            </a:r>
            <a:r>
              <a:rPr lang="ru-RU" sz="3200" dirty="0" err="1"/>
              <a:t>надійними</a:t>
            </a:r>
            <a:r>
              <a:rPr lang="ru-RU" sz="3200" dirty="0"/>
              <a:t> і </a:t>
            </a:r>
            <a:r>
              <a:rPr lang="ru-RU" sz="3200" dirty="0" err="1"/>
              <a:t>якісними</a:t>
            </a:r>
            <a:r>
              <a:rPr lang="ru-RU" sz="3200" dirty="0"/>
              <a:t>.</a:t>
            </a:r>
            <a:endParaRPr lang="ru-UA" sz="3200" dirty="0"/>
          </a:p>
        </p:txBody>
      </p:sp>
    </p:spTree>
    <p:extLst>
      <p:ext uri="{BB962C8B-B14F-4D97-AF65-F5344CB8AC3E}">
        <p14:creationId xmlns:p14="http://schemas.microsoft.com/office/powerpoint/2010/main" val="3454388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A1980-0222-0AF3-AA13-5107384C0AF3}"/>
              </a:ext>
            </a:extLst>
          </p:cNvPr>
          <p:cNvSpPr txBox="1"/>
          <p:nvPr/>
        </p:nvSpPr>
        <p:spPr>
          <a:xfrm>
            <a:off x="683568" y="476672"/>
            <a:ext cx="82089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/>
              <a:t>Цілі</a:t>
            </a:r>
            <a:r>
              <a:rPr lang="ru-RU" sz="2800" dirty="0"/>
              <a:t> </a:t>
            </a:r>
            <a:r>
              <a:rPr lang="ru-RU" sz="2800" dirty="0" err="1"/>
              <a:t>міжнародної</a:t>
            </a:r>
            <a:r>
              <a:rPr lang="ru-RU" sz="2800" dirty="0"/>
              <a:t> </a:t>
            </a:r>
            <a:r>
              <a:rPr lang="ru-RU" sz="2800" dirty="0" err="1"/>
              <a:t>стандартизації</a:t>
            </a:r>
            <a:r>
              <a:rPr lang="ru-RU" sz="2800" dirty="0"/>
              <a:t>:</a:t>
            </a:r>
          </a:p>
          <a:p>
            <a:endParaRPr lang="ru-RU" sz="2800" dirty="0"/>
          </a:p>
          <a:p>
            <a:r>
              <a:rPr lang="ru-RU" sz="2800" dirty="0" err="1"/>
              <a:t>Зближення</a:t>
            </a:r>
            <a:r>
              <a:rPr lang="ru-RU" sz="2800" dirty="0"/>
              <a:t> </a:t>
            </a:r>
            <a:r>
              <a:rPr lang="ru-RU" sz="2800" dirty="0" err="1"/>
              <a:t>рівня</a:t>
            </a:r>
            <a:r>
              <a:rPr lang="ru-RU" sz="2800" dirty="0"/>
              <a:t> </a:t>
            </a:r>
            <a:r>
              <a:rPr lang="ru-RU" sz="2800" dirty="0" err="1"/>
              <a:t>якості</a:t>
            </a:r>
            <a:r>
              <a:rPr lang="ru-RU" sz="2800" dirty="0"/>
              <a:t> </a:t>
            </a:r>
            <a:r>
              <a:rPr lang="ru-RU" sz="2800" dirty="0" err="1"/>
              <a:t>продукції</a:t>
            </a:r>
            <a:r>
              <a:rPr lang="ru-RU" sz="2800" dirty="0"/>
              <a:t>, </a:t>
            </a:r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виготовляється</a:t>
            </a:r>
            <a:r>
              <a:rPr lang="ru-RU" sz="2800" dirty="0"/>
              <a:t> в </a:t>
            </a:r>
            <a:r>
              <a:rPr lang="ru-RU" sz="2800" dirty="0" err="1"/>
              <a:t>різних</a:t>
            </a:r>
            <a:r>
              <a:rPr lang="ru-RU" sz="2800" dirty="0"/>
              <a:t> </a:t>
            </a:r>
            <a:r>
              <a:rPr lang="ru-RU" sz="2800" dirty="0" err="1"/>
              <a:t>країнах</a:t>
            </a:r>
            <a:r>
              <a:rPr lang="ru-RU" sz="2800" dirty="0"/>
              <a:t>;</a:t>
            </a:r>
          </a:p>
          <a:p>
            <a:r>
              <a:rPr lang="ru-RU" sz="2800" dirty="0" err="1"/>
              <a:t>Забезпечення</a:t>
            </a:r>
            <a:r>
              <a:rPr lang="ru-RU" sz="2800" dirty="0"/>
              <a:t> </a:t>
            </a:r>
            <a:r>
              <a:rPr lang="ru-RU" sz="2800" dirty="0" err="1"/>
              <a:t>взаємозамінності</a:t>
            </a:r>
            <a:r>
              <a:rPr lang="ru-RU" sz="2800" dirty="0"/>
              <a:t> </a:t>
            </a:r>
            <a:r>
              <a:rPr lang="ru-RU" sz="2800" dirty="0" err="1"/>
              <a:t>елементів</a:t>
            </a:r>
            <a:r>
              <a:rPr lang="ru-RU" sz="2800" dirty="0"/>
              <a:t> </a:t>
            </a:r>
            <a:r>
              <a:rPr lang="ru-RU" sz="2800" dirty="0" err="1"/>
              <a:t>складної</a:t>
            </a:r>
            <a:r>
              <a:rPr lang="ru-RU" sz="2800" dirty="0"/>
              <a:t> </a:t>
            </a:r>
            <a:r>
              <a:rPr lang="ru-RU" sz="2800" dirty="0" err="1"/>
              <a:t>продукції</a:t>
            </a:r>
            <a:r>
              <a:rPr lang="ru-RU" sz="2800" dirty="0"/>
              <a:t>;</a:t>
            </a:r>
          </a:p>
          <a:p>
            <a:r>
              <a:rPr lang="ru-RU" sz="2800" dirty="0" err="1"/>
              <a:t>Сприяння</a:t>
            </a:r>
            <a:r>
              <a:rPr lang="ru-RU" sz="2800" dirty="0"/>
              <a:t> </a:t>
            </a:r>
            <a:r>
              <a:rPr lang="ru-RU" sz="2800" dirty="0" err="1"/>
              <a:t>міжнародній</a:t>
            </a:r>
            <a:r>
              <a:rPr lang="ru-RU" sz="2800" dirty="0"/>
              <a:t> </a:t>
            </a:r>
            <a:r>
              <a:rPr lang="ru-RU" sz="2800" dirty="0" err="1"/>
              <a:t>торгівлі</a:t>
            </a:r>
            <a:r>
              <a:rPr lang="ru-RU" sz="2800" dirty="0"/>
              <a:t>;</a:t>
            </a:r>
          </a:p>
          <a:p>
            <a:r>
              <a:rPr lang="ru-RU" sz="2800" dirty="0" err="1"/>
              <a:t>Сприяння</a:t>
            </a:r>
            <a:r>
              <a:rPr lang="ru-RU" sz="2800" dirty="0"/>
              <a:t> </a:t>
            </a:r>
            <a:r>
              <a:rPr lang="ru-RU" sz="2800" dirty="0" err="1"/>
              <a:t>взаємному</a:t>
            </a:r>
            <a:r>
              <a:rPr lang="ru-RU" sz="2800" dirty="0"/>
              <a:t> </a:t>
            </a:r>
            <a:r>
              <a:rPr lang="ru-RU" sz="2800" dirty="0" err="1"/>
              <a:t>обміну</a:t>
            </a:r>
            <a:r>
              <a:rPr lang="ru-RU" sz="2800" dirty="0"/>
              <a:t> </a:t>
            </a:r>
            <a:r>
              <a:rPr lang="ru-RU" sz="2800" dirty="0" err="1"/>
              <a:t>науково-технічною</a:t>
            </a:r>
            <a:r>
              <a:rPr lang="ru-RU" sz="2800" dirty="0"/>
              <a:t> </a:t>
            </a:r>
            <a:r>
              <a:rPr lang="ru-RU" sz="2800" dirty="0" err="1"/>
              <a:t>інформацією</a:t>
            </a:r>
            <a:r>
              <a:rPr lang="ru-RU" sz="2800" dirty="0"/>
              <a:t> та </a:t>
            </a:r>
            <a:r>
              <a:rPr lang="ru-RU" sz="2800" dirty="0" err="1"/>
              <a:t>прискорення</a:t>
            </a:r>
            <a:r>
              <a:rPr lang="ru-RU" sz="2800" dirty="0"/>
              <a:t> </a:t>
            </a:r>
            <a:r>
              <a:rPr lang="ru-RU" sz="2800" dirty="0" err="1"/>
              <a:t>науково-технічного</a:t>
            </a:r>
            <a:r>
              <a:rPr lang="ru-RU" sz="2800" dirty="0"/>
              <a:t> </a:t>
            </a:r>
            <a:r>
              <a:rPr lang="ru-RU" sz="2800" dirty="0" err="1"/>
              <a:t>прогресу</a:t>
            </a:r>
            <a:r>
              <a:rPr lang="ru-RU" sz="2800" dirty="0"/>
              <a:t>.</a:t>
            </a:r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161679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C3330-3A38-AE08-BCDC-057B8140D149}"/>
              </a:ext>
            </a:extLst>
          </p:cNvPr>
          <p:cNvSpPr txBox="1"/>
          <p:nvPr/>
        </p:nvSpPr>
        <p:spPr>
          <a:xfrm>
            <a:off x="107504" y="404664"/>
            <a:ext cx="88569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/>
              <a:t>Наявність</a:t>
            </a:r>
            <a:r>
              <a:rPr lang="ru-RU" sz="2800" dirty="0"/>
              <a:t> у </a:t>
            </a:r>
            <a:r>
              <a:rPr lang="ru-RU" sz="2800" dirty="0" err="1"/>
              <a:t>організації</a:t>
            </a:r>
            <a:r>
              <a:rPr lang="ru-RU" sz="2800" dirty="0"/>
              <a:t> </a:t>
            </a:r>
            <a:r>
              <a:rPr lang="ru-RU" sz="2800" dirty="0" err="1"/>
              <a:t>сертифікату</a:t>
            </a:r>
            <a:r>
              <a:rPr lang="ru-RU" sz="2800" dirty="0"/>
              <a:t> </a:t>
            </a:r>
            <a:r>
              <a:rPr lang="en-US" sz="2800" dirty="0"/>
              <a:t>ISO </a:t>
            </a:r>
            <a:r>
              <a:rPr lang="ru-RU" sz="2800" dirty="0"/>
              <a:t>є </a:t>
            </a:r>
            <a:r>
              <a:rPr lang="ru-RU" sz="2800" dirty="0" err="1"/>
              <a:t>важливим</a:t>
            </a:r>
            <a:r>
              <a:rPr lang="ru-RU" sz="2800" dirty="0"/>
              <a:t> </a:t>
            </a:r>
            <a:r>
              <a:rPr lang="ru-RU" sz="2800" dirty="0" err="1"/>
              <a:t>критерієм</a:t>
            </a:r>
            <a:r>
              <a:rPr lang="ru-RU" sz="2800" dirty="0"/>
              <a:t> </a:t>
            </a:r>
            <a:r>
              <a:rPr lang="ru-RU" sz="2800" dirty="0" err="1"/>
              <a:t>відповідності</a:t>
            </a:r>
            <a:r>
              <a:rPr lang="ru-RU" sz="2800" dirty="0"/>
              <a:t> </a:t>
            </a:r>
            <a:r>
              <a:rPr lang="ru-RU" sz="2800" dirty="0" err="1"/>
              <a:t>діяльності</a:t>
            </a:r>
            <a:r>
              <a:rPr lang="ru-RU" sz="2800" dirty="0"/>
              <a:t> </a:t>
            </a:r>
            <a:r>
              <a:rPr lang="ru-RU" sz="2800" dirty="0" err="1"/>
              <a:t>підприємства</a:t>
            </a:r>
            <a:r>
              <a:rPr lang="ru-RU" sz="2800" dirty="0"/>
              <a:t> </a:t>
            </a:r>
            <a:r>
              <a:rPr lang="ru-RU" sz="2800" dirty="0" err="1"/>
              <a:t>вимогам</a:t>
            </a:r>
            <a:r>
              <a:rPr lang="ru-RU" sz="2800" dirty="0"/>
              <a:t>, </a:t>
            </a:r>
            <a:r>
              <a:rPr lang="ru-RU" sz="2800" dirty="0" err="1"/>
              <a:t>які</a:t>
            </a:r>
            <a:r>
              <a:rPr lang="ru-RU" sz="2800" dirty="0"/>
              <a:t> </a:t>
            </a:r>
            <a:r>
              <a:rPr lang="ru-RU" sz="2800" dirty="0" err="1"/>
              <a:t>пред'являються</a:t>
            </a:r>
            <a:r>
              <a:rPr lang="ru-RU" sz="2800" dirty="0"/>
              <a:t> до </a:t>
            </a:r>
            <a:r>
              <a:rPr lang="ru-RU" sz="2800" dirty="0" err="1"/>
              <a:t>якості</a:t>
            </a:r>
            <a:r>
              <a:rPr lang="ru-RU" sz="2800" dirty="0"/>
              <a:t> </a:t>
            </a:r>
            <a:r>
              <a:rPr lang="ru-RU" sz="2800" dirty="0" err="1"/>
              <a:t>його</a:t>
            </a:r>
            <a:r>
              <a:rPr lang="ru-RU" sz="2800" dirty="0"/>
              <a:t> </a:t>
            </a:r>
            <a:r>
              <a:rPr lang="ru-RU" sz="2800" dirty="0" err="1"/>
              <a:t>продукції</a:t>
            </a:r>
            <a:r>
              <a:rPr lang="ru-RU" sz="2800" dirty="0"/>
              <a:t> </a:t>
            </a:r>
            <a:r>
              <a:rPr lang="ru-RU" sz="2800" dirty="0" err="1"/>
              <a:t>або</a:t>
            </a:r>
            <a:r>
              <a:rPr lang="ru-RU" sz="2800" dirty="0"/>
              <a:t> </a:t>
            </a:r>
            <a:r>
              <a:rPr lang="ru-RU" sz="2800" dirty="0" err="1"/>
              <a:t>послуг</a:t>
            </a:r>
            <a:r>
              <a:rPr lang="ru-RU" sz="2800" dirty="0"/>
              <a:t>. </a:t>
            </a:r>
            <a:r>
              <a:rPr lang="ru-RU" sz="2800" dirty="0" err="1"/>
              <a:t>Відповідність</a:t>
            </a:r>
            <a:r>
              <a:rPr lang="ru-RU" sz="2800" dirty="0"/>
              <a:t> </a:t>
            </a:r>
            <a:r>
              <a:rPr lang="ru-RU" sz="2800" dirty="0" err="1"/>
              <a:t>продукції</a:t>
            </a:r>
            <a:r>
              <a:rPr lang="ru-RU" sz="2800" dirty="0"/>
              <a:t> </a:t>
            </a:r>
            <a:r>
              <a:rPr lang="ru-RU" sz="2800" dirty="0" err="1"/>
              <a:t>міжнародним</a:t>
            </a:r>
            <a:r>
              <a:rPr lang="ru-RU" sz="2800" dirty="0"/>
              <a:t> стандартам (</a:t>
            </a:r>
            <a:r>
              <a:rPr lang="ru-RU" sz="2800" dirty="0" err="1"/>
              <a:t>наприклад</a:t>
            </a:r>
            <a:r>
              <a:rPr lang="ru-RU" sz="2800" dirty="0"/>
              <a:t> </a:t>
            </a:r>
            <a:r>
              <a:rPr lang="en-US" sz="2800" dirty="0"/>
              <a:t>ISO) </a:t>
            </a:r>
            <a:r>
              <a:rPr lang="ru-RU" sz="2800" dirty="0"/>
              <a:t>говорить про те, </a:t>
            </a:r>
            <a:r>
              <a:rPr lang="ru-RU" sz="2800" dirty="0" err="1"/>
              <a:t>що</a:t>
            </a:r>
            <a:r>
              <a:rPr lang="ru-RU" sz="2800" dirty="0"/>
              <a:t> </a:t>
            </a:r>
            <a:r>
              <a:rPr lang="ru-RU" sz="2800" dirty="0" err="1"/>
              <a:t>підприємство</a:t>
            </a:r>
            <a:r>
              <a:rPr lang="ru-RU" sz="2800" dirty="0"/>
              <a:t> </a:t>
            </a:r>
            <a:r>
              <a:rPr lang="ru-RU" sz="2800" dirty="0" err="1"/>
              <a:t>пройшло</a:t>
            </a:r>
            <a:r>
              <a:rPr lang="ru-RU" sz="2800" dirty="0"/>
              <a:t> аудит і </a:t>
            </a:r>
            <a:r>
              <a:rPr lang="ru-RU" sz="2800" dirty="0" err="1"/>
              <a:t>підтвердило</a:t>
            </a:r>
            <a:r>
              <a:rPr lang="ru-RU" sz="2800" dirty="0"/>
              <a:t> </a:t>
            </a:r>
            <a:r>
              <a:rPr lang="ru-RU" sz="2800" dirty="0" err="1"/>
              <a:t>якість</a:t>
            </a:r>
            <a:r>
              <a:rPr lang="ru-RU" sz="2800" dirty="0"/>
              <a:t> </a:t>
            </a:r>
            <a:r>
              <a:rPr lang="ru-RU" sz="2800" dirty="0" err="1"/>
              <a:t>свого</a:t>
            </a:r>
            <a:r>
              <a:rPr lang="ru-RU" sz="2800" dirty="0"/>
              <a:t> </a:t>
            </a:r>
            <a:r>
              <a:rPr lang="ru-RU" sz="2800" dirty="0" err="1"/>
              <a:t>виробництва</a:t>
            </a:r>
            <a:r>
              <a:rPr lang="ru-RU" sz="2800" dirty="0"/>
              <a:t> </a:t>
            </a:r>
            <a:r>
              <a:rPr lang="ru-RU" sz="2800" dirty="0" err="1"/>
              <a:t>міжнародним</a:t>
            </a:r>
            <a:r>
              <a:rPr lang="ru-RU" sz="2800" dirty="0"/>
              <a:t> стандартам. Будь-яке </a:t>
            </a:r>
            <a:r>
              <a:rPr lang="ru-RU" sz="2800" dirty="0" err="1"/>
              <a:t>підприємство</a:t>
            </a:r>
            <a:r>
              <a:rPr lang="ru-RU" sz="2800" dirty="0"/>
              <a:t> в </a:t>
            </a:r>
            <a:r>
              <a:rPr lang="ru-RU" sz="2800" dirty="0" err="1"/>
              <a:t>світі</a:t>
            </a:r>
            <a:r>
              <a:rPr lang="ru-RU" sz="2800" dirty="0"/>
              <a:t> в </a:t>
            </a:r>
            <a:r>
              <a:rPr lang="ru-RU" sz="2800" dirty="0" err="1"/>
              <a:t>добровільному</a:t>
            </a:r>
            <a:r>
              <a:rPr lang="ru-RU" sz="2800" dirty="0"/>
              <a:t> порядку </a:t>
            </a:r>
            <a:r>
              <a:rPr lang="ru-RU" sz="2800" dirty="0" err="1"/>
              <a:t>має</a:t>
            </a:r>
            <a:r>
              <a:rPr lang="ru-RU" sz="2800" dirty="0"/>
              <a:t> право </a:t>
            </a:r>
            <a:r>
              <a:rPr lang="ru-RU" sz="2800" dirty="0" err="1"/>
              <a:t>сертифікуватися</a:t>
            </a:r>
            <a:r>
              <a:rPr lang="ru-RU" sz="2800" dirty="0"/>
              <a:t> на </a:t>
            </a:r>
            <a:r>
              <a:rPr lang="ru-RU" sz="2800" dirty="0" err="1"/>
              <a:t>відповідність</a:t>
            </a:r>
            <a:r>
              <a:rPr lang="ru-RU" sz="2800" dirty="0"/>
              <a:t> </a:t>
            </a:r>
            <a:r>
              <a:rPr lang="ru-RU" sz="2800" dirty="0" err="1"/>
              <a:t>міжнародним</a:t>
            </a:r>
            <a:r>
              <a:rPr lang="ru-RU" sz="2800" dirty="0"/>
              <a:t> стандартам </a:t>
            </a:r>
            <a:r>
              <a:rPr lang="ru-RU" sz="2800" dirty="0" err="1"/>
              <a:t>якості</a:t>
            </a:r>
            <a:r>
              <a:rPr lang="ru-RU" sz="2800" dirty="0"/>
              <a:t>.</a:t>
            </a:r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377670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8D4E41-3941-9D92-5091-E5A5C18A4959}"/>
              </a:ext>
            </a:extLst>
          </p:cNvPr>
          <p:cNvSpPr txBox="1"/>
          <p:nvPr/>
        </p:nvSpPr>
        <p:spPr>
          <a:xfrm>
            <a:off x="179512" y="335846"/>
            <a:ext cx="87129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ISO - </a:t>
            </a:r>
            <a:r>
              <a:rPr lang="ru-RU" sz="2000" dirty="0" err="1"/>
              <a:t>стандарти</a:t>
            </a:r>
            <a:r>
              <a:rPr lang="ru-RU" sz="2000" dirty="0"/>
              <a:t> </a:t>
            </a:r>
            <a:r>
              <a:rPr lang="ru-RU" sz="2000" dirty="0" err="1"/>
              <a:t>розробляються</a:t>
            </a:r>
            <a:r>
              <a:rPr lang="ru-RU" sz="2000" dirty="0"/>
              <a:t> </a:t>
            </a:r>
            <a:r>
              <a:rPr lang="ru-RU" sz="2000" dirty="0" err="1"/>
              <a:t>Міжнародною</a:t>
            </a:r>
            <a:r>
              <a:rPr lang="ru-RU" sz="2000" dirty="0"/>
              <a:t> </a:t>
            </a:r>
            <a:r>
              <a:rPr lang="ru-RU" sz="2000" dirty="0" err="1"/>
              <a:t>організацією</a:t>
            </a:r>
            <a:r>
              <a:rPr lang="ru-RU" sz="2000" dirty="0"/>
              <a:t> </a:t>
            </a:r>
            <a:r>
              <a:rPr lang="ru-RU" sz="2000" dirty="0" err="1"/>
              <a:t>зі</a:t>
            </a:r>
            <a:r>
              <a:rPr lang="ru-RU" sz="2000" dirty="0"/>
              <a:t> </a:t>
            </a:r>
            <a:r>
              <a:rPr lang="ru-RU" sz="2000" dirty="0" err="1"/>
              <a:t>стандартизації</a:t>
            </a:r>
            <a:r>
              <a:rPr lang="ru-RU" sz="2000" dirty="0"/>
              <a:t>, </a:t>
            </a:r>
            <a:r>
              <a:rPr lang="en-US" sz="2000" dirty="0"/>
              <a:t>ISO (International Organization for Standardization, ISO.</a:t>
            </a:r>
          </a:p>
          <a:p>
            <a:endParaRPr lang="en-US" sz="2000" dirty="0"/>
          </a:p>
          <a:p>
            <a:r>
              <a:rPr lang="en-US" sz="2000" dirty="0"/>
              <a:t>DIN - </a:t>
            </a:r>
            <a:r>
              <a:rPr lang="ru-RU" sz="2000" dirty="0" err="1"/>
              <a:t>стандарти</a:t>
            </a:r>
            <a:r>
              <a:rPr lang="ru-RU" sz="2000" dirty="0"/>
              <a:t> </a:t>
            </a:r>
            <a:r>
              <a:rPr lang="ru-RU" sz="2000" dirty="0" err="1"/>
              <a:t>розробляються</a:t>
            </a:r>
            <a:r>
              <a:rPr lang="ru-RU" sz="2000" dirty="0"/>
              <a:t> </a:t>
            </a:r>
            <a:r>
              <a:rPr lang="ru-RU" sz="2000" dirty="0" err="1"/>
              <a:t>німецьким</a:t>
            </a:r>
            <a:r>
              <a:rPr lang="ru-RU" sz="2000" dirty="0"/>
              <a:t> </a:t>
            </a:r>
            <a:r>
              <a:rPr lang="ru-RU" sz="2000" dirty="0" err="1"/>
              <a:t>інститутом</a:t>
            </a:r>
            <a:r>
              <a:rPr lang="ru-RU" sz="2000" dirty="0"/>
              <a:t> по </a:t>
            </a:r>
            <a:r>
              <a:rPr lang="ru-RU" sz="2000" dirty="0" err="1"/>
              <a:t>стандартизації</a:t>
            </a:r>
            <a:r>
              <a:rPr lang="ru-RU" sz="2000" dirty="0"/>
              <a:t> </a:t>
            </a:r>
            <a:r>
              <a:rPr lang="en-US" sz="2000" dirty="0"/>
              <a:t>DIN (</a:t>
            </a:r>
            <a:r>
              <a:rPr lang="en-US" sz="2000" dirty="0" err="1"/>
              <a:t>Deutsches</a:t>
            </a:r>
            <a:r>
              <a:rPr lang="en-US" sz="2000" dirty="0"/>
              <a:t> </a:t>
            </a:r>
            <a:r>
              <a:rPr lang="en-US" sz="2000" dirty="0" err="1"/>
              <a:t>Institut</a:t>
            </a:r>
            <a:r>
              <a:rPr lang="en-US" sz="2000" dirty="0"/>
              <a:t> für </a:t>
            </a:r>
            <a:r>
              <a:rPr lang="en-US" sz="2000" dirty="0" err="1"/>
              <a:t>Normung</a:t>
            </a:r>
            <a:r>
              <a:rPr lang="en-US" sz="2000" dirty="0"/>
              <a:t>).</a:t>
            </a:r>
          </a:p>
          <a:p>
            <a:endParaRPr lang="en-US" sz="2000" dirty="0"/>
          </a:p>
          <a:p>
            <a:r>
              <a:rPr lang="ru-RU" sz="2000" dirty="0" err="1"/>
              <a:t>Міжнародний</a:t>
            </a:r>
            <a:r>
              <a:rPr lang="ru-RU" sz="2000" dirty="0"/>
              <a:t> стандарт </a:t>
            </a:r>
            <a:r>
              <a:rPr lang="en-US" sz="2000" dirty="0"/>
              <a:t>ISO 1307: 2006 </a:t>
            </a:r>
            <a:r>
              <a:rPr lang="ru-RU" sz="2000" dirty="0" err="1"/>
              <a:t>визначає</a:t>
            </a:r>
            <a:r>
              <a:rPr lang="ru-RU" sz="2000" dirty="0"/>
              <a:t> </a:t>
            </a:r>
            <a:r>
              <a:rPr lang="ru-RU" sz="2000" dirty="0" err="1"/>
              <a:t>рівень</a:t>
            </a:r>
            <a:r>
              <a:rPr lang="ru-RU" sz="2000" dirty="0"/>
              <a:t> </a:t>
            </a:r>
            <a:r>
              <a:rPr lang="ru-RU" sz="2000" dirty="0" err="1"/>
              <a:t>мінімальні</a:t>
            </a:r>
            <a:r>
              <a:rPr lang="ru-RU" sz="2000" dirty="0"/>
              <a:t> і </a:t>
            </a:r>
            <a:r>
              <a:rPr lang="ru-RU" sz="2000" dirty="0" err="1"/>
              <a:t>макчімальние</a:t>
            </a:r>
            <a:r>
              <a:rPr lang="ru-RU" sz="2000" dirty="0"/>
              <a:t> </a:t>
            </a:r>
            <a:r>
              <a:rPr lang="ru-RU" sz="2000" dirty="0" err="1"/>
              <a:t>діаметри</a:t>
            </a:r>
            <a:r>
              <a:rPr lang="ru-RU" sz="2000" dirty="0"/>
              <a:t>, </a:t>
            </a:r>
            <a:r>
              <a:rPr lang="ru-RU" sz="2000" dirty="0" err="1"/>
              <a:t>довжини</a:t>
            </a:r>
            <a:r>
              <a:rPr lang="ru-RU" sz="2000" dirty="0"/>
              <a:t>, допуски </a:t>
            </a:r>
            <a:r>
              <a:rPr lang="ru-RU" sz="2000" dirty="0" err="1"/>
              <a:t>відповідно</a:t>
            </a:r>
            <a:r>
              <a:rPr lang="ru-RU" sz="2000" dirty="0"/>
              <a:t> до кожного з </a:t>
            </a:r>
            <a:r>
              <a:rPr lang="ru-RU" sz="2000" dirty="0" err="1"/>
              <a:t>чотирьох</a:t>
            </a:r>
            <a:r>
              <a:rPr lang="ru-RU" sz="2000" dirty="0"/>
              <a:t> </a:t>
            </a:r>
            <a:r>
              <a:rPr lang="ru-RU" sz="2000" dirty="0" err="1"/>
              <a:t>типів</a:t>
            </a:r>
            <a:r>
              <a:rPr lang="ru-RU" sz="2000" dirty="0"/>
              <a:t> </a:t>
            </a:r>
            <a:r>
              <a:rPr lang="ru-RU" sz="2000" dirty="0" err="1"/>
              <a:t>виробництва</a:t>
            </a:r>
            <a:r>
              <a:rPr lang="ru-RU" sz="2000" dirty="0"/>
              <a:t>, </a:t>
            </a:r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зберігання</a:t>
            </a:r>
            <a:r>
              <a:rPr lang="ru-RU" sz="2000" dirty="0"/>
              <a:t> </a:t>
            </a:r>
            <a:r>
              <a:rPr lang="ru-RU" sz="2000" dirty="0" err="1"/>
              <a:t>рукавів</a:t>
            </a:r>
            <a:r>
              <a:rPr lang="ru-RU" sz="2000" dirty="0"/>
              <a:t> </a:t>
            </a:r>
            <a:r>
              <a:rPr lang="ru-RU" sz="2000" dirty="0" err="1"/>
              <a:t>гумових</a:t>
            </a:r>
            <a:r>
              <a:rPr lang="ru-RU" sz="2000" dirty="0"/>
              <a:t> і </a:t>
            </a:r>
            <a:r>
              <a:rPr lang="ru-RU" sz="2000" dirty="0" err="1"/>
              <a:t>рукавів</a:t>
            </a:r>
            <a:r>
              <a:rPr lang="ru-RU" sz="2000" dirty="0"/>
              <a:t> з </a:t>
            </a:r>
            <a:r>
              <a:rPr lang="ru-RU" sz="2000" dirty="0" err="1"/>
              <a:t>різних</a:t>
            </a:r>
            <a:r>
              <a:rPr lang="ru-RU" sz="2000" dirty="0"/>
              <a:t> </a:t>
            </a:r>
            <a:r>
              <a:rPr lang="ru-RU" sz="2000" dirty="0" err="1"/>
              <a:t>полімерів</a:t>
            </a:r>
            <a:r>
              <a:rPr lang="ru-RU" sz="2000" dirty="0"/>
              <a:t>. </a:t>
            </a:r>
            <a:r>
              <a:rPr lang="ru-RU" sz="2000" dirty="0" err="1"/>
              <a:t>Власну</a:t>
            </a:r>
            <a:r>
              <a:rPr lang="ru-RU" sz="2000" dirty="0"/>
              <a:t> </a:t>
            </a:r>
            <a:r>
              <a:rPr lang="ru-RU" sz="2000" dirty="0" err="1"/>
              <a:t>конкретну</a:t>
            </a:r>
            <a:r>
              <a:rPr lang="ru-RU" sz="2000" dirty="0"/>
              <a:t> </a:t>
            </a:r>
            <a:r>
              <a:rPr lang="ru-RU" sz="2000" dirty="0" err="1"/>
              <a:t>продукцію</a:t>
            </a:r>
            <a:r>
              <a:rPr lang="ru-RU" sz="2000" dirty="0"/>
              <a:t> </a:t>
            </a:r>
            <a:r>
              <a:rPr lang="ru-RU" sz="2000" dirty="0" err="1"/>
              <a:t>європейські</a:t>
            </a:r>
            <a:r>
              <a:rPr lang="ru-RU" sz="2000" dirty="0"/>
              <a:t> </a:t>
            </a:r>
            <a:r>
              <a:rPr lang="ru-RU" sz="2000" dirty="0" err="1"/>
              <a:t>виробники</a:t>
            </a:r>
            <a:r>
              <a:rPr lang="ru-RU" sz="2000" dirty="0"/>
              <a:t> </a:t>
            </a:r>
            <a:r>
              <a:rPr lang="ru-RU" sz="2000" dirty="0" err="1"/>
              <a:t>рукавів</a:t>
            </a:r>
            <a:r>
              <a:rPr lang="ru-RU" sz="2000" dirty="0"/>
              <a:t> </a:t>
            </a:r>
            <a:r>
              <a:rPr lang="ru-RU" sz="2000" dirty="0" err="1"/>
              <a:t>випускають</a:t>
            </a:r>
            <a:r>
              <a:rPr lang="ru-RU" sz="2000" dirty="0"/>
              <a:t> за </a:t>
            </a:r>
            <a:r>
              <a:rPr lang="ru-RU" sz="2000" dirty="0" err="1"/>
              <a:t>власними</a:t>
            </a:r>
            <a:r>
              <a:rPr lang="ru-RU" sz="2000" dirty="0"/>
              <a:t> рецептурами </a:t>
            </a:r>
            <a:r>
              <a:rPr lang="ru-RU" sz="2000" dirty="0" err="1"/>
              <a:t>відповідно</a:t>
            </a:r>
            <a:r>
              <a:rPr lang="ru-RU" sz="2000" dirty="0"/>
              <a:t> до </a:t>
            </a:r>
            <a:r>
              <a:rPr lang="ru-RU" sz="2000" dirty="0" err="1"/>
              <a:t>техлістамі</a:t>
            </a:r>
            <a:r>
              <a:rPr lang="ru-RU" sz="2000" dirty="0"/>
              <a:t> на </a:t>
            </a:r>
            <a:r>
              <a:rPr lang="ru-RU" sz="2000" dirty="0" err="1"/>
              <a:t>кожну</a:t>
            </a:r>
            <a:r>
              <a:rPr lang="ru-RU" sz="2000" dirty="0"/>
              <a:t> </a:t>
            </a:r>
            <a:r>
              <a:rPr lang="ru-RU" sz="2000" dirty="0" err="1"/>
              <a:t>серію</a:t>
            </a:r>
            <a:r>
              <a:rPr lang="ru-RU" sz="2000" dirty="0"/>
              <a:t>. </a:t>
            </a:r>
            <a:r>
              <a:rPr lang="ru-RU" sz="2000" dirty="0" err="1"/>
              <a:t>Техлісти</a:t>
            </a:r>
            <a:r>
              <a:rPr lang="ru-RU" sz="2000" dirty="0"/>
              <a:t> </a:t>
            </a:r>
            <a:r>
              <a:rPr lang="ru-RU" sz="2000" dirty="0" err="1"/>
              <a:t>визначають</a:t>
            </a:r>
            <a:r>
              <a:rPr lang="ru-RU" sz="2000" dirty="0"/>
              <a:t> </a:t>
            </a:r>
            <a:r>
              <a:rPr lang="ru-RU" sz="2000" dirty="0" err="1"/>
              <a:t>вже</a:t>
            </a:r>
            <a:r>
              <a:rPr lang="ru-RU" sz="2000" dirty="0"/>
              <a:t> </a:t>
            </a:r>
            <a:r>
              <a:rPr lang="ru-RU" sz="2000" dirty="0" err="1"/>
              <a:t>конкретні</a:t>
            </a:r>
            <a:r>
              <a:rPr lang="ru-RU" sz="2000" dirty="0"/>
              <a:t> </a:t>
            </a:r>
            <a:r>
              <a:rPr lang="ru-RU" sz="2000" dirty="0" err="1"/>
              <a:t>розміри</a:t>
            </a:r>
            <a:r>
              <a:rPr lang="ru-RU" sz="2000" dirty="0"/>
              <a:t>, </a:t>
            </a:r>
            <a:r>
              <a:rPr lang="ru-RU" sz="2000" dirty="0" err="1"/>
              <a:t>тиск</a:t>
            </a:r>
            <a:r>
              <a:rPr lang="ru-RU" sz="2000" dirty="0"/>
              <a:t>, вакуум, температуру, </a:t>
            </a:r>
            <a:r>
              <a:rPr lang="ru-RU" sz="2000" dirty="0" err="1"/>
              <a:t>довжини</a:t>
            </a:r>
            <a:r>
              <a:rPr lang="ru-RU" sz="2000" dirty="0"/>
              <a:t>, </a:t>
            </a:r>
            <a:r>
              <a:rPr lang="ru-RU" sz="2000" dirty="0" err="1"/>
              <a:t>умови</a:t>
            </a:r>
            <a:r>
              <a:rPr lang="ru-RU" sz="2000" dirty="0"/>
              <a:t> </a:t>
            </a:r>
            <a:r>
              <a:rPr lang="ru-RU" sz="2000" dirty="0" err="1"/>
              <a:t>експлуатації</a:t>
            </a:r>
            <a:r>
              <a:rPr lang="ru-RU" sz="2000" dirty="0"/>
              <a:t> для </a:t>
            </a:r>
            <a:r>
              <a:rPr lang="ru-RU" sz="2000" dirty="0" err="1"/>
              <a:t>певної</a:t>
            </a:r>
            <a:r>
              <a:rPr lang="ru-RU" sz="2000" dirty="0"/>
              <a:t> </a:t>
            </a:r>
            <a:r>
              <a:rPr lang="ru-RU" sz="2000" dirty="0" err="1"/>
              <a:t>серії</a:t>
            </a:r>
            <a:r>
              <a:rPr lang="ru-RU" sz="2000" dirty="0"/>
              <a:t> рукава (</a:t>
            </a:r>
            <a:r>
              <a:rPr lang="ru-RU" sz="2000" dirty="0" err="1"/>
              <a:t>це</a:t>
            </a:r>
            <a:r>
              <a:rPr lang="ru-RU" sz="2000" dirty="0"/>
              <a:t> аналог ГОСТ, ТУ).</a:t>
            </a:r>
            <a:endParaRPr lang="ru-UA" sz="2000" dirty="0"/>
          </a:p>
        </p:txBody>
      </p:sp>
    </p:spTree>
    <p:extLst>
      <p:ext uri="{BB962C8B-B14F-4D97-AF65-F5344CB8AC3E}">
        <p14:creationId xmlns:p14="http://schemas.microsoft.com/office/powerpoint/2010/main" val="3202223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026133-3F37-C449-943B-4D16E09CF2ED}"/>
              </a:ext>
            </a:extLst>
          </p:cNvPr>
          <p:cNvSpPr txBox="1"/>
          <p:nvPr/>
        </p:nvSpPr>
        <p:spPr>
          <a:xfrm>
            <a:off x="0" y="116632"/>
            <a:ext cx="91450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Міжнародний</a:t>
            </a:r>
            <a:r>
              <a:rPr lang="ru-RU" sz="2400" dirty="0"/>
              <a:t> стандарт – </a:t>
            </a:r>
            <a:r>
              <a:rPr lang="ru-RU" sz="2400" dirty="0" err="1"/>
              <a:t>нормативний</a:t>
            </a:r>
            <a:r>
              <a:rPr lang="ru-RU" sz="2400" dirty="0"/>
              <a:t> документ, </a:t>
            </a:r>
            <a:r>
              <a:rPr lang="ru-RU" sz="2400" dirty="0" err="1"/>
              <a:t>прийнятий</a:t>
            </a:r>
            <a:r>
              <a:rPr lang="ru-RU" sz="2400" dirty="0"/>
              <a:t> </a:t>
            </a:r>
            <a:r>
              <a:rPr lang="ru-RU" sz="2400" dirty="0" err="1"/>
              <a:t>міжнародною</a:t>
            </a:r>
            <a:r>
              <a:rPr lang="ru-RU" sz="2400" dirty="0"/>
              <a:t> </a:t>
            </a:r>
            <a:r>
              <a:rPr lang="ru-RU" sz="2400" dirty="0" err="1"/>
              <a:t>організацією</a:t>
            </a:r>
            <a:r>
              <a:rPr lang="ru-RU" sz="2400" dirty="0"/>
              <a:t> </a:t>
            </a:r>
            <a:r>
              <a:rPr lang="ru-RU" sz="2400" dirty="0" err="1"/>
              <a:t>із</a:t>
            </a:r>
            <a:r>
              <a:rPr lang="ru-RU" sz="2400" dirty="0"/>
              <a:t> </a:t>
            </a:r>
            <a:r>
              <a:rPr lang="ru-RU" sz="2400" dirty="0" err="1"/>
              <a:t>стандартизації</a:t>
            </a:r>
            <a:r>
              <a:rPr lang="ru-RU" sz="2400" dirty="0"/>
              <a:t> і </a:t>
            </a:r>
            <a:r>
              <a:rPr lang="ru-RU" sz="2400" dirty="0" err="1"/>
              <a:t>доступний</a:t>
            </a:r>
            <a:r>
              <a:rPr lang="ru-RU" sz="2400" dirty="0"/>
              <a:t> для широкого кола </a:t>
            </a:r>
            <a:r>
              <a:rPr lang="ru-RU" sz="2400" dirty="0" err="1"/>
              <a:t>користувачів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ru-RU" sz="2400" dirty="0" err="1"/>
              <a:t>Однією</a:t>
            </a:r>
            <a:r>
              <a:rPr lang="ru-RU" sz="2400" dirty="0"/>
              <a:t> з </a:t>
            </a:r>
            <a:r>
              <a:rPr lang="ru-RU" sz="2400" dirty="0" err="1"/>
              <a:t>найбільших</a:t>
            </a:r>
            <a:r>
              <a:rPr lang="ru-RU" sz="2400" dirty="0"/>
              <a:t> </a:t>
            </a:r>
            <a:r>
              <a:rPr lang="ru-RU" sz="2400" dirty="0" err="1"/>
              <a:t>міжнародних</a:t>
            </a:r>
            <a:r>
              <a:rPr lang="ru-RU" sz="2400" dirty="0"/>
              <a:t> </a:t>
            </a:r>
            <a:r>
              <a:rPr lang="ru-RU" sz="2400" dirty="0" err="1"/>
              <a:t>організацій</a:t>
            </a:r>
            <a:r>
              <a:rPr lang="ru-RU" sz="2400" dirty="0"/>
              <a:t> </a:t>
            </a:r>
            <a:r>
              <a:rPr lang="ru-RU" sz="2400" dirty="0" err="1"/>
              <a:t>зі</a:t>
            </a:r>
            <a:r>
              <a:rPr lang="ru-RU" sz="2400" dirty="0"/>
              <a:t> </a:t>
            </a:r>
            <a:r>
              <a:rPr lang="ru-RU" sz="2400" dirty="0" err="1"/>
              <a:t>стандартизації</a:t>
            </a:r>
            <a:r>
              <a:rPr lang="ru-RU" sz="2400" dirty="0"/>
              <a:t> є </a:t>
            </a:r>
            <a:r>
              <a:rPr lang="en-US" sz="2400" dirty="0"/>
              <a:t>ISO, </a:t>
            </a:r>
            <a:r>
              <a:rPr lang="ru-RU" sz="2400" dirty="0"/>
              <a:t>яка </a:t>
            </a:r>
            <a:r>
              <a:rPr lang="ru-RU" sz="2400" dirty="0" err="1"/>
              <a:t>була</a:t>
            </a:r>
            <a:r>
              <a:rPr lang="ru-RU" sz="2400" dirty="0"/>
              <a:t> створена у 1926 </a:t>
            </a:r>
            <a:r>
              <a:rPr lang="ru-RU" sz="2400" dirty="0" err="1"/>
              <a:t>році</a:t>
            </a:r>
            <a:r>
              <a:rPr lang="ru-RU" sz="2400" dirty="0"/>
              <a:t>. В основу </a:t>
            </a:r>
            <a:r>
              <a:rPr lang="ru-RU" sz="2400" dirty="0" err="1"/>
              <a:t>її</a:t>
            </a:r>
            <a:r>
              <a:rPr lang="ru-RU" sz="2400" dirty="0"/>
              <a:t> </a:t>
            </a:r>
            <a:r>
              <a:rPr lang="ru-RU" sz="2400" dirty="0" err="1"/>
              <a:t>назви</a:t>
            </a:r>
            <a:r>
              <a:rPr lang="ru-RU" sz="2400" dirty="0"/>
              <a:t> (</a:t>
            </a:r>
            <a:r>
              <a:rPr lang="ru-RU" sz="2400" dirty="0" err="1"/>
              <a:t>абревіатури</a:t>
            </a:r>
            <a:r>
              <a:rPr lang="ru-RU" sz="2400" dirty="0"/>
              <a:t>) </a:t>
            </a:r>
            <a:r>
              <a:rPr lang="ru-RU" sz="2400" dirty="0" err="1"/>
              <a:t>було</a:t>
            </a:r>
            <a:r>
              <a:rPr lang="ru-RU" sz="2400" dirty="0"/>
              <a:t> </a:t>
            </a:r>
            <a:r>
              <a:rPr lang="ru-RU" sz="2400" dirty="0" err="1"/>
              <a:t>покладено</a:t>
            </a:r>
            <a:r>
              <a:rPr lang="ru-RU" sz="2400" dirty="0"/>
              <a:t> </a:t>
            </a:r>
            <a:r>
              <a:rPr lang="ru-RU" sz="2400" dirty="0" err="1"/>
              <a:t>грецьке</a:t>
            </a:r>
            <a:r>
              <a:rPr lang="ru-RU" sz="2400" dirty="0"/>
              <a:t> слово «</a:t>
            </a:r>
            <a:r>
              <a:rPr lang="en-US" sz="2400" dirty="0"/>
              <a:t>isos» – </a:t>
            </a:r>
            <a:r>
              <a:rPr lang="ru-RU" sz="2400" dirty="0" err="1"/>
              <a:t>рівний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ru-RU" sz="2400" dirty="0"/>
              <a:t>В </a:t>
            </a:r>
            <a:r>
              <a:rPr lang="ru-RU" sz="2400" dirty="0" err="1"/>
              <a:t>сучасному</a:t>
            </a:r>
            <a:r>
              <a:rPr lang="ru-RU" sz="2400" dirty="0"/>
              <a:t> </a:t>
            </a:r>
            <a:r>
              <a:rPr lang="ru-RU" sz="2400" dirty="0" err="1"/>
              <a:t>світі</a:t>
            </a:r>
            <a:r>
              <a:rPr lang="ru-RU" sz="2400" dirty="0"/>
              <a:t> </a:t>
            </a:r>
            <a:r>
              <a:rPr lang="ru-RU" sz="2400" dirty="0" err="1"/>
              <a:t>стандартизація</a:t>
            </a:r>
            <a:r>
              <a:rPr lang="ru-RU" sz="2400" dirty="0"/>
              <a:t> є одним з </a:t>
            </a:r>
            <a:r>
              <a:rPr lang="ru-RU" sz="2400" dirty="0" err="1"/>
              <a:t>дієвих</a:t>
            </a:r>
            <a:r>
              <a:rPr lang="ru-RU" sz="2400" dirty="0"/>
              <a:t> </a:t>
            </a:r>
            <a:r>
              <a:rPr lang="ru-RU" sz="2400" dirty="0" err="1"/>
              <a:t>інструментів</a:t>
            </a:r>
            <a:r>
              <a:rPr lang="ru-RU" sz="2400" dirty="0"/>
              <a:t> </a:t>
            </a:r>
            <a:r>
              <a:rPr lang="ru-RU" sz="2400" dirty="0" err="1"/>
              <a:t>забезпечення</a:t>
            </a:r>
            <a:r>
              <a:rPr lang="ru-RU" sz="2400" dirty="0"/>
              <a:t> </a:t>
            </a:r>
            <a:r>
              <a:rPr lang="ru-RU" sz="2400" dirty="0" err="1"/>
              <a:t>високоякісною</a:t>
            </a:r>
            <a:r>
              <a:rPr lang="ru-RU" sz="2400" dirty="0"/>
              <a:t> та </a:t>
            </a:r>
            <a:r>
              <a:rPr lang="ru-RU" sz="2400" dirty="0" err="1"/>
              <a:t>конкурентоспроможною</a:t>
            </a:r>
            <a:r>
              <a:rPr lang="ru-RU" sz="2400" dirty="0"/>
              <a:t> </a:t>
            </a:r>
            <a:r>
              <a:rPr lang="ru-RU" sz="2400" dirty="0" err="1"/>
              <a:t>продукцією</a:t>
            </a:r>
            <a:r>
              <a:rPr lang="ru-RU" sz="2400" dirty="0"/>
              <a:t> і </a:t>
            </a:r>
            <a:r>
              <a:rPr lang="ru-RU" sz="2400" dirty="0" err="1"/>
              <a:t>має</a:t>
            </a:r>
            <a:r>
              <a:rPr lang="ru-RU" sz="2400" dirty="0"/>
              <a:t> </a:t>
            </a:r>
            <a:r>
              <a:rPr lang="ru-RU" sz="2400" dirty="0" err="1"/>
              <a:t>першорядне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для </a:t>
            </a:r>
            <a:r>
              <a:rPr lang="ru-RU" sz="2400" dirty="0" err="1"/>
              <a:t>підвищення</a:t>
            </a:r>
            <a:r>
              <a:rPr lang="ru-RU" sz="2400" dirty="0"/>
              <a:t> </a:t>
            </a:r>
            <a:r>
              <a:rPr lang="ru-RU" sz="2400" dirty="0" err="1"/>
              <a:t>зовнішньоторговельного</a:t>
            </a:r>
            <a:r>
              <a:rPr lang="ru-RU" sz="2400" dirty="0"/>
              <a:t> </a:t>
            </a:r>
            <a:r>
              <a:rPr lang="ru-RU" sz="2400" dirty="0" err="1"/>
              <a:t>обігу</a:t>
            </a:r>
            <a:r>
              <a:rPr lang="ru-RU" sz="2400" dirty="0"/>
              <a:t> </a:t>
            </a:r>
            <a:r>
              <a:rPr lang="ru-RU" sz="2400" dirty="0" err="1"/>
              <a:t>країни</a:t>
            </a:r>
            <a:r>
              <a:rPr lang="ru-RU" sz="2400" dirty="0"/>
              <a:t>.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276866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90BB6F-944E-F3EF-759D-389A86612F08}"/>
              </a:ext>
            </a:extLst>
          </p:cNvPr>
          <p:cNvSpPr txBox="1"/>
          <p:nvPr/>
        </p:nvSpPr>
        <p:spPr>
          <a:xfrm>
            <a:off x="0" y="-35700"/>
            <a:ext cx="9144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Світова</a:t>
            </a:r>
            <a:r>
              <a:rPr lang="ru-RU" sz="2400" dirty="0"/>
              <a:t> </a:t>
            </a:r>
            <a:r>
              <a:rPr lang="ru-RU" sz="2400" dirty="0" err="1"/>
              <a:t>організація</a:t>
            </a:r>
            <a:r>
              <a:rPr lang="ru-RU" sz="2400" dirty="0"/>
              <a:t> </a:t>
            </a:r>
            <a:r>
              <a:rPr lang="ru-RU" sz="2400" dirty="0" err="1"/>
              <a:t>торгівлі</a:t>
            </a:r>
            <a:r>
              <a:rPr lang="ru-RU" sz="2400" dirty="0"/>
              <a:t> (</a:t>
            </a:r>
            <a:r>
              <a:rPr lang="en-US" sz="2400" dirty="0"/>
              <a:t>WTO) </a:t>
            </a:r>
            <a:r>
              <a:rPr lang="ru-RU" sz="2400" dirty="0" err="1"/>
              <a:t>визнає</a:t>
            </a:r>
            <a:r>
              <a:rPr lang="ru-RU" sz="2400" dirty="0"/>
              <a:t> </a:t>
            </a:r>
            <a:r>
              <a:rPr lang="ru-RU" sz="2400" dirty="0" err="1"/>
              <a:t>перевагу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розробляються</a:t>
            </a:r>
            <a:r>
              <a:rPr lang="ru-RU" sz="2400" dirty="0"/>
              <a:t> </a:t>
            </a:r>
            <a:r>
              <a:rPr lang="ru-RU" sz="2400" dirty="0" err="1"/>
              <a:t>Міжнародною</a:t>
            </a:r>
            <a:r>
              <a:rPr lang="ru-RU" sz="2400" dirty="0"/>
              <a:t> </a:t>
            </a:r>
            <a:r>
              <a:rPr lang="ru-RU" sz="2400" dirty="0" err="1"/>
              <a:t>організацією</a:t>
            </a:r>
            <a:r>
              <a:rPr lang="ru-RU" sz="2400" dirty="0"/>
              <a:t> </a:t>
            </a:r>
            <a:r>
              <a:rPr lang="ru-RU" sz="2400" dirty="0" err="1"/>
              <a:t>зі</a:t>
            </a:r>
            <a:r>
              <a:rPr lang="ru-RU" sz="2400" dirty="0"/>
              <a:t> </a:t>
            </a:r>
            <a:r>
              <a:rPr lang="ru-RU" sz="2400" dirty="0" err="1"/>
              <a:t>стандартизації</a:t>
            </a:r>
            <a:r>
              <a:rPr lang="ru-RU" sz="2400" dirty="0"/>
              <a:t> (</a:t>
            </a:r>
            <a:r>
              <a:rPr lang="en-US" sz="2400" dirty="0"/>
              <a:t>ISO), </a:t>
            </a:r>
            <a:r>
              <a:rPr lang="ru-RU" sz="2400" dirty="0" err="1"/>
              <a:t>Міжнародною</a:t>
            </a:r>
            <a:r>
              <a:rPr lang="ru-RU" sz="2400" dirty="0"/>
              <a:t> </a:t>
            </a:r>
            <a:r>
              <a:rPr lang="ru-RU" sz="2400" dirty="0" err="1"/>
              <a:t>електротехнічною</a:t>
            </a:r>
            <a:r>
              <a:rPr lang="ru-RU" sz="2400" dirty="0"/>
              <a:t> </a:t>
            </a:r>
            <a:r>
              <a:rPr lang="ru-RU" sz="2400" dirty="0" err="1"/>
              <a:t>комісією</a:t>
            </a:r>
            <a:r>
              <a:rPr lang="ru-RU" sz="2400" dirty="0"/>
              <a:t> (ІЕС) та </a:t>
            </a:r>
            <a:r>
              <a:rPr lang="ru-RU" sz="2400" dirty="0" err="1"/>
              <a:t>Міжнародним</a:t>
            </a:r>
            <a:r>
              <a:rPr lang="ru-RU" sz="2400" dirty="0"/>
              <a:t> союзом </a:t>
            </a:r>
            <a:r>
              <a:rPr lang="ru-RU" sz="2400" dirty="0" err="1"/>
              <a:t>телекомунікацій</a:t>
            </a:r>
            <a:r>
              <a:rPr lang="ru-RU" sz="2400" dirty="0"/>
              <a:t> (</a:t>
            </a:r>
            <a:r>
              <a:rPr lang="en-US" sz="2400" dirty="0"/>
              <a:t>ITU). </a:t>
            </a:r>
            <a:r>
              <a:rPr lang="ru-RU" sz="2400" dirty="0" err="1"/>
              <a:t>Діяльність</a:t>
            </a:r>
            <a:r>
              <a:rPr lang="ru-RU" sz="2400" dirty="0"/>
              <a:t> </a:t>
            </a:r>
            <a:r>
              <a:rPr lang="ru-RU" sz="2400" dirty="0" err="1"/>
              <a:t>цих</a:t>
            </a:r>
            <a:r>
              <a:rPr lang="ru-RU" sz="2400" dirty="0"/>
              <a:t> </a:t>
            </a:r>
            <a:r>
              <a:rPr lang="ru-RU" sz="2400" dirty="0" err="1"/>
              <a:t>організацій</a:t>
            </a:r>
            <a:r>
              <a:rPr lang="ru-RU" sz="2400" dirty="0"/>
              <a:t> </a:t>
            </a:r>
            <a:r>
              <a:rPr lang="ru-RU" sz="2400" dirty="0" err="1"/>
              <a:t>охоплює</a:t>
            </a:r>
            <a:r>
              <a:rPr lang="ru-RU" sz="2400" dirty="0"/>
              <a:t> </a:t>
            </a:r>
            <a:r>
              <a:rPr lang="ru-RU" sz="2400" dirty="0" err="1"/>
              <a:t>всі</a:t>
            </a:r>
            <a:r>
              <a:rPr lang="ru-RU" sz="2400" dirty="0"/>
              <a:t> </a:t>
            </a:r>
            <a:r>
              <a:rPr lang="ru-RU" sz="2400" dirty="0" err="1"/>
              <a:t>галузі</a:t>
            </a:r>
            <a:r>
              <a:rPr lang="ru-RU" sz="2400" dirty="0"/>
              <a:t> </a:t>
            </a:r>
            <a:r>
              <a:rPr lang="ru-RU" sz="2400" dirty="0" err="1"/>
              <a:t>стандартизації</a:t>
            </a:r>
            <a:r>
              <a:rPr lang="ru-RU" sz="2400" dirty="0"/>
              <a:t> на глобальному </a:t>
            </a:r>
            <a:r>
              <a:rPr lang="ru-RU" sz="2400" dirty="0" err="1"/>
              <a:t>рівні</a:t>
            </a:r>
            <a:r>
              <a:rPr lang="ru-RU" sz="2400" dirty="0"/>
              <a:t>. </a:t>
            </a:r>
            <a:r>
              <a:rPr lang="ru-RU" sz="2400" dirty="0" err="1"/>
              <a:t>Міжнародні</a:t>
            </a:r>
            <a:r>
              <a:rPr lang="ru-RU" sz="2400" dirty="0"/>
              <a:t> </a:t>
            </a:r>
            <a:r>
              <a:rPr lang="ru-RU" sz="2400" dirty="0" err="1"/>
              <a:t>стандарти</a:t>
            </a:r>
            <a:r>
              <a:rPr lang="ru-RU" sz="2400" dirty="0"/>
              <a:t> </a:t>
            </a:r>
            <a:r>
              <a:rPr lang="ru-RU" sz="2400" dirty="0" err="1"/>
              <a:t>підтримують</a:t>
            </a:r>
            <a:r>
              <a:rPr lang="ru-RU" sz="2400" dirty="0"/>
              <a:t> </a:t>
            </a:r>
            <a:r>
              <a:rPr lang="ru-RU" sz="2400" dirty="0" err="1"/>
              <a:t>реалізацію</a:t>
            </a:r>
            <a:r>
              <a:rPr lang="ru-RU" sz="2400" dirty="0"/>
              <a:t> Угоди про </a:t>
            </a:r>
            <a:r>
              <a:rPr lang="ru-RU" sz="2400" dirty="0" err="1"/>
              <a:t>усунення</a:t>
            </a:r>
            <a:r>
              <a:rPr lang="ru-RU" sz="2400" dirty="0"/>
              <a:t> </a:t>
            </a:r>
            <a:r>
              <a:rPr lang="ru-RU" sz="2400" dirty="0" err="1"/>
              <a:t>технічних</a:t>
            </a:r>
            <a:r>
              <a:rPr lang="ru-RU" sz="2400" dirty="0"/>
              <a:t> </a:t>
            </a:r>
            <a:r>
              <a:rPr lang="ru-RU" sz="2400" dirty="0" err="1"/>
              <a:t>бар'єрів</a:t>
            </a:r>
            <a:r>
              <a:rPr lang="ru-RU" sz="2400" dirty="0"/>
              <a:t> у </a:t>
            </a:r>
            <a:r>
              <a:rPr lang="ru-RU" sz="2400" dirty="0" err="1"/>
              <a:t>торгівлі</a:t>
            </a:r>
            <a:r>
              <a:rPr lang="ru-RU" sz="2400" dirty="0"/>
              <a:t> (ТВТ).</a:t>
            </a:r>
          </a:p>
          <a:p>
            <a:endParaRPr lang="ru-RU" sz="2400" dirty="0"/>
          </a:p>
          <a:p>
            <a:r>
              <a:rPr lang="ru-RU" sz="2400" dirty="0"/>
              <a:t>Угода </a:t>
            </a:r>
            <a:r>
              <a:rPr lang="en-US" sz="2400" dirty="0"/>
              <a:t>WTO </a:t>
            </a:r>
            <a:r>
              <a:rPr lang="ru-RU" sz="2400" dirty="0"/>
              <a:t>та ТВТ на </a:t>
            </a:r>
            <a:r>
              <a:rPr lang="ru-RU" sz="2400" dirty="0" err="1"/>
              <a:t>основі</a:t>
            </a:r>
            <a:r>
              <a:rPr lang="ru-RU" sz="2400" dirty="0"/>
              <a:t> </a:t>
            </a:r>
            <a:r>
              <a:rPr lang="ru-RU" sz="2400" dirty="0" err="1"/>
              <a:t>міжнародних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 є фундаментом </a:t>
            </a:r>
            <a:r>
              <a:rPr lang="ru-RU" sz="2400" dirty="0" err="1"/>
              <a:t>світового</a:t>
            </a:r>
            <a:r>
              <a:rPr lang="ru-RU" sz="2400" dirty="0"/>
              <a:t> ринку.</a:t>
            </a:r>
          </a:p>
          <a:p>
            <a:endParaRPr lang="ru-RU" sz="2400" dirty="0"/>
          </a:p>
          <a:p>
            <a:r>
              <a:rPr lang="ru-RU" sz="2400" dirty="0"/>
              <a:t>З 1993 року </a:t>
            </a:r>
            <a:r>
              <a:rPr lang="ru-RU" sz="2400" dirty="0" err="1"/>
              <a:t>Україна</a:t>
            </a:r>
            <a:r>
              <a:rPr lang="ru-RU" sz="2400" dirty="0"/>
              <a:t> є членом </a:t>
            </a:r>
            <a:r>
              <a:rPr lang="en-US" sz="2400" dirty="0"/>
              <a:t>ISO </a:t>
            </a:r>
            <a:r>
              <a:rPr lang="ru-RU" sz="2400" dirty="0"/>
              <a:t>та ІЕС. З </a:t>
            </a:r>
            <a:r>
              <a:rPr lang="ru-RU" sz="2400" dirty="0" err="1"/>
              <a:t>цього</a:t>
            </a:r>
            <a:r>
              <a:rPr lang="ru-RU" sz="2400" dirty="0"/>
              <a:t> часу одним з </a:t>
            </a:r>
            <a:r>
              <a:rPr lang="ru-RU" sz="2400" dirty="0" err="1"/>
              <a:t>пріоритетів</a:t>
            </a:r>
            <a:r>
              <a:rPr lang="ru-RU" sz="2400" dirty="0"/>
              <a:t> </a:t>
            </a:r>
            <a:r>
              <a:rPr lang="ru-RU" sz="2400" dirty="0" err="1"/>
              <a:t>розвитку</a:t>
            </a:r>
            <a:r>
              <a:rPr lang="ru-RU" sz="2400" dirty="0"/>
              <a:t> </a:t>
            </a:r>
            <a:r>
              <a:rPr lang="ru-RU" sz="2400" dirty="0" err="1"/>
              <a:t>національної</a:t>
            </a:r>
            <a:r>
              <a:rPr lang="ru-RU" sz="2400" dirty="0"/>
              <a:t> </a:t>
            </a:r>
            <a:r>
              <a:rPr lang="ru-RU" sz="2400" dirty="0" err="1"/>
              <a:t>системи</a:t>
            </a:r>
            <a:r>
              <a:rPr lang="ru-RU" sz="2400" dirty="0"/>
              <a:t> </a:t>
            </a:r>
            <a:r>
              <a:rPr lang="ru-RU" sz="2400" dirty="0" err="1"/>
              <a:t>стандартизації</a:t>
            </a:r>
            <a:r>
              <a:rPr lang="ru-RU" sz="2400" dirty="0"/>
              <a:t> є </a:t>
            </a:r>
            <a:r>
              <a:rPr lang="ru-RU" sz="2400" dirty="0" err="1"/>
              <a:t>зближення</a:t>
            </a:r>
            <a:r>
              <a:rPr lang="ru-RU" sz="2400" dirty="0"/>
              <a:t> та </a:t>
            </a:r>
            <a:r>
              <a:rPr lang="ru-RU" sz="2400" dirty="0" err="1"/>
              <a:t>гармонізація</a:t>
            </a:r>
            <a:r>
              <a:rPr lang="ru-RU" sz="2400" dirty="0"/>
              <a:t> з </a:t>
            </a:r>
            <a:r>
              <a:rPr lang="ru-RU" sz="2400" dirty="0" err="1"/>
              <a:t>цими</a:t>
            </a:r>
            <a:r>
              <a:rPr lang="ru-RU" sz="2400" dirty="0"/>
              <a:t> </a:t>
            </a:r>
            <a:r>
              <a:rPr lang="ru-RU" sz="2400" dirty="0" err="1"/>
              <a:t>міжнародними</a:t>
            </a:r>
            <a:r>
              <a:rPr lang="ru-RU" sz="2400" dirty="0"/>
              <a:t> системами.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158005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BE6F1-44C4-A2A0-49FA-0395E861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ISO </a:t>
            </a:r>
            <a:r>
              <a:rPr lang="ru-RU" dirty="0"/>
              <a:t>та </a:t>
            </a:r>
            <a:r>
              <a:rPr lang="ru-RU" dirty="0" err="1"/>
              <a:t>навколишнє</a:t>
            </a:r>
            <a:r>
              <a:rPr lang="ru-RU" dirty="0"/>
              <a:t> </a:t>
            </a:r>
            <a:r>
              <a:rPr lang="ru-RU" dirty="0" err="1"/>
              <a:t>середовище</a:t>
            </a:r>
            <a:endParaRPr lang="ru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00C3D-F634-9CEB-8BC5-54F9641937FB}"/>
              </a:ext>
            </a:extLst>
          </p:cNvPr>
          <p:cNvSpPr txBox="1"/>
          <p:nvPr/>
        </p:nvSpPr>
        <p:spPr>
          <a:xfrm>
            <a:off x="107504" y="1166843"/>
            <a:ext cx="90364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ISO </a:t>
            </a:r>
            <a:r>
              <a:rPr lang="ru-RU" sz="2400" dirty="0" err="1"/>
              <a:t>має</a:t>
            </a:r>
            <a:r>
              <a:rPr lang="ru-RU" sz="2400" dirty="0"/>
              <a:t> </a:t>
            </a:r>
            <a:r>
              <a:rPr lang="ru-RU" sz="2400" dirty="0" err="1"/>
              <a:t>багатогранний</a:t>
            </a:r>
            <a:r>
              <a:rPr lang="ru-RU" sz="2400" dirty="0"/>
              <a:t> </a:t>
            </a:r>
            <a:r>
              <a:rPr lang="ru-RU" sz="2400" dirty="0" err="1"/>
              <a:t>підхід</a:t>
            </a:r>
            <a:r>
              <a:rPr lang="ru-RU" sz="2400" dirty="0"/>
              <a:t> до </a:t>
            </a:r>
            <a:r>
              <a:rPr lang="ru-RU" sz="2400" dirty="0" err="1"/>
              <a:t>задоволення</a:t>
            </a:r>
            <a:r>
              <a:rPr lang="ru-RU" sz="2400" dirty="0"/>
              <a:t> потреб </a:t>
            </a:r>
            <a:r>
              <a:rPr lang="ru-RU" sz="2400" dirty="0" err="1"/>
              <a:t>бізнесу</a:t>
            </a:r>
            <a:r>
              <a:rPr lang="ru-RU" sz="2400" dirty="0"/>
              <a:t>, </a:t>
            </a:r>
            <a:r>
              <a:rPr lang="ru-RU" sz="2400" dirty="0" err="1"/>
              <a:t>промисловості</a:t>
            </a:r>
            <a:r>
              <a:rPr lang="ru-RU" sz="2400" dirty="0"/>
              <a:t>, </a:t>
            </a:r>
            <a:r>
              <a:rPr lang="ru-RU" sz="2400" dirty="0" err="1"/>
              <a:t>урядових</a:t>
            </a:r>
            <a:r>
              <a:rPr lang="ru-RU" sz="2400" dirty="0"/>
              <a:t> та </a:t>
            </a:r>
            <a:r>
              <a:rPr lang="ru-RU" sz="2400" dirty="0" err="1"/>
              <a:t>неурядових</a:t>
            </a:r>
            <a:r>
              <a:rPr lang="ru-RU" sz="2400" dirty="0"/>
              <a:t> </a:t>
            </a:r>
            <a:r>
              <a:rPr lang="ru-RU" sz="2400" dirty="0" err="1"/>
              <a:t>організацій</a:t>
            </a:r>
            <a:r>
              <a:rPr lang="ru-RU" sz="2400" dirty="0"/>
              <a:t> й </a:t>
            </a:r>
            <a:r>
              <a:rPr lang="ru-RU" sz="2400" dirty="0" err="1"/>
              <a:t>споживачів</a:t>
            </a:r>
            <a:r>
              <a:rPr lang="ru-RU" sz="2400" dirty="0"/>
              <a:t> у </a:t>
            </a:r>
            <a:r>
              <a:rPr lang="ru-RU" sz="2400" dirty="0" err="1"/>
              <a:t>сфері</a:t>
            </a:r>
            <a:r>
              <a:rPr lang="ru-RU" sz="2400" dirty="0"/>
              <a:t> </a:t>
            </a:r>
            <a:r>
              <a:rPr lang="ru-RU" sz="2400" dirty="0" err="1"/>
              <a:t>охорони</a:t>
            </a:r>
            <a:r>
              <a:rPr lang="ru-RU" sz="2400" dirty="0"/>
              <a:t> </a:t>
            </a:r>
            <a:r>
              <a:rPr lang="ru-RU" sz="2400" dirty="0" err="1"/>
              <a:t>довкілля</a:t>
            </a:r>
            <a:r>
              <a:rPr lang="ru-RU" sz="2400" dirty="0"/>
              <a:t>, </a:t>
            </a:r>
            <a:r>
              <a:rPr lang="ru-RU" sz="2400" dirty="0" err="1"/>
              <a:t>раціонального</a:t>
            </a:r>
            <a:r>
              <a:rPr lang="ru-RU" sz="2400" dirty="0"/>
              <a:t> </a:t>
            </a:r>
            <a:r>
              <a:rPr lang="ru-RU" sz="2400" dirty="0" err="1"/>
              <a:t>природокористування</a:t>
            </a:r>
            <a:r>
              <a:rPr lang="ru-RU" sz="2400" dirty="0"/>
              <a:t> та </a:t>
            </a:r>
            <a:r>
              <a:rPr lang="ru-RU" sz="2400" dirty="0" err="1"/>
              <a:t>екологічної</a:t>
            </a:r>
            <a:r>
              <a:rPr lang="ru-RU" sz="2400" dirty="0"/>
              <a:t> </a:t>
            </a:r>
            <a:r>
              <a:rPr lang="ru-RU" sz="2400" dirty="0" err="1"/>
              <a:t>безпеки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en-US" sz="2400" dirty="0"/>
              <a:t>ISO </a:t>
            </a:r>
            <a:r>
              <a:rPr lang="ru-RU" sz="2400" dirty="0" err="1"/>
              <a:t>пропонує</a:t>
            </a:r>
            <a:r>
              <a:rPr lang="ru-RU" sz="2400" dirty="0"/>
              <a:t> 570 </a:t>
            </a:r>
            <a:r>
              <a:rPr lang="ru-RU" sz="2400" dirty="0" err="1"/>
              <a:t>міжнародних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 з </a:t>
            </a:r>
            <a:r>
              <a:rPr lang="ru-RU" sz="2400" dirty="0" err="1"/>
              <a:t>оцінювання</a:t>
            </a:r>
            <a:r>
              <a:rPr lang="ru-RU" sz="2400" dirty="0"/>
              <a:t> стану </a:t>
            </a:r>
            <a:r>
              <a:rPr lang="ru-RU" sz="2400" dirty="0" err="1"/>
              <a:t>об’єктів</a:t>
            </a:r>
            <a:r>
              <a:rPr lang="ru-RU" sz="2400" dirty="0"/>
              <a:t> </a:t>
            </a:r>
            <a:r>
              <a:rPr lang="ru-RU" sz="2400" dirty="0" err="1"/>
              <a:t>довкілля</a:t>
            </a:r>
            <a:r>
              <a:rPr lang="ru-RU" sz="2400" dirty="0"/>
              <a:t>, </a:t>
            </a:r>
            <a:r>
              <a:rPr lang="ru-RU" sz="2400" dirty="0" err="1"/>
              <a:t>раціонального</a:t>
            </a:r>
            <a:r>
              <a:rPr lang="ru-RU" sz="2400" dirty="0"/>
              <a:t> </a:t>
            </a:r>
            <a:r>
              <a:rPr lang="ru-RU" sz="2400" dirty="0" err="1"/>
              <a:t>використання</a:t>
            </a:r>
            <a:r>
              <a:rPr lang="ru-RU" sz="2400" dirty="0"/>
              <a:t> </a:t>
            </a:r>
            <a:r>
              <a:rPr lang="ru-RU" sz="2400" dirty="0" err="1"/>
              <a:t>ресурсів</a:t>
            </a:r>
            <a:r>
              <a:rPr lang="ru-RU" sz="2400" dirty="0"/>
              <a:t> та </a:t>
            </a:r>
            <a:r>
              <a:rPr lang="ru-RU" sz="2400" dirty="0" err="1"/>
              <a:t>метрологічної</a:t>
            </a:r>
            <a:r>
              <a:rPr lang="ru-RU" sz="2400" dirty="0"/>
              <a:t> </a:t>
            </a:r>
            <a:r>
              <a:rPr lang="ru-RU" sz="2400" dirty="0" err="1"/>
              <a:t>діяльності</a:t>
            </a:r>
            <a:r>
              <a:rPr lang="ru-RU" sz="2400" dirty="0"/>
              <a:t>. </a:t>
            </a:r>
            <a:r>
              <a:rPr lang="ru-RU" sz="2400" dirty="0" err="1"/>
              <a:t>Стандарти</a:t>
            </a:r>
            <a:r>
              <a:rPr lang="ru-RU" sz="2400" dirty="0"/>
              <a:t> </a:t>
            </a:r>
            <a:r>
              <a:rPr lang="ru-RU" sz="2400" dirty="0" err="1"/>
              <a:t>серії</a:t>
            </a:r>
            <a:r>
              <a:rPr lang="ru-RU" sz="2400" dirty="0"/>
              <a:t> </a:t>
            </a:r>
            <a:r>
              <a:rPr lang="en-US" sz="2400" dirty="0"/>
              <a:t>ISO 14000 «</a:t>
            </a:r>
            <a:r>
              <a:rPr lang="ru-RU" sz="2400" dirty="0" err="1"/>
              <a:t>Системи</a:t>
            </a:r>
            <a:r>
              <a:rPr lang="ru-RU" sz="2400" dirty="0"/>
              <a:t> </a:t>
            </a:r>
            <a:r>
              <a:rPr lang="ru-RU" sz="2400" dirty="0" err="1"/>
              <a:t>екологічного</a:t>
            </a:r>
            <a:r>
              <a:rPr lang="ru-RU" sz="2400" dirty="0"/>
              <a:t> </a:t>
            </a:r>
            <a:r>
              <a:rPr lang="ru-RU" sz="2400" dirty="0" err="1"/>
              <a:t>управління</a:t>
            </a:r>
            <a:r>
              <a:rPr lang="ru-RU" sz="2400" dirty="0"/>
              <a:t>» </a:t>
            </a:r>
            <a:r>
              <a:rPr lang="ru-RU" sz="2400" dirty="0" err="1"/>
              <a:t>допомагають</a:t>
            </a:r>
            <a:r>
              <a:rPr lang="ru-RU" sz="2400" dirty="0"/>
              <a:t> </a:t>
            </a:r>
            <a:r>
              <a:rPr lang="ru-RU" sz="2400" dirty="0" err="1"/>
              <a:t>організаціям</a:t>
            </a:r>
            <a:r>
              <a:rPr lang="ru-RU" sz="2400" dirty="0"/>
              <a:t> </a:t>
            </a:r>
            <a:r>
              <a:rPr lang="ru-RU" sz="2400" dirty="0" err="1"/>
              <a:t>забезпечити</a:t>
            </a:r>
            <a:r>
              <a:rPr lang="ru-RU" sz="2400" dirty="0"/>
              <a:t> </a:t>
            </a:r>
            <a:r>
              <a:rPr lang="ru-RU" sz="2400" dirty="0" err="1"/>
              <a:t>системне</a:t>
            </a:r>
            <a:r>
              <a:rPr lang="ru-RU" sz="2400" dirty="0"/>
              <a:t> </a:t>
            </a:r>
            <a:r>
              <a:rPr lang="ru-RU" sz="2400" dirty="0" err="1"/>
              <a:t>управління</a:t>
            </a:r>
            <a:r>
              <a:rPr lang="ru-RU" sz="2400" dirty="0"/>
              <a:t> </a:t>
            </a:r>
            <a:r>
              <a:rPr lang="ru-RU" sz="2400" dirty="0" err="1"/>
              <a:t>екологічними</a:t>
            </a:r>
            <a:r>
              <a:rPr lang="ru-RU" sz="2400" dirty="0"/>
              <a:t> аспектами і </a:t>
            </a:r>
            <a:r>
              <a:rPr lang="ru-RU" sz="2400" dirty="0" err="1"/>
              <a:t>можуть</a:t>
            </a:r>
            <a:r>
              <a:rPr lang="ru-RU" sz="2400" dirty="0"/>
              <a:t> бути </a:t>
            </a:r>
            <a:r>
              <a:rPr lang="ru-RU" sz="2400" dirty="0" err="1"/>
              <a:t>впроваджені</a:t>
            </a:r>
            <a:r>
              <a:rPr lang="ru-RU" sz="2400" dirty="0"/>
              <a:t> в </a:t>
            </a:r>
            <a:r>
              <a:rPr lang="ru-RU" sz="2400" dirty="0" err="1"/>
              <a:t>різних</a:t>
            </a:r>
            <a:r>
              <a:rPr lang="ru-RU" sz="2400" dirty="0"/>
              <a:t> секторах </a:t>
            </a:r>
            <a:r>
              <a:rPr lang="ru-RU" sz="2400" dirty="0" err="1"/>
              <a:t>економіки</a:t>
            </a:r>
            <a:r>
              <a:rPr lang="ru-RU" sz="2400" dirty="0"/>
              <a:t>.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2839762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BC24C4-D23A-F679-0BCD-D916D2215395}"/>
              </a:ext>
            </a:extLst>
          </p:cNvPr>
          <p:cNvSpPr txBox="1"/>
          <p:nvPr/>
        </p:nvSpPr>
        <p:spPr>
          <a:xfrm>
            <a:off x="179512" y="404664"/>
            <a:ext cx="9144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/>
              <a:t>Екологічне</a:t>
            </a:r>
            <a:r>
              <a:rPr lang="ru-RU" sz="2800" dirty="0"/>
              <a:t> </a:t>
            </a:r>
            <a:r>
              <a:rPr lang="ru-RU" sz="2800" dirty="0" err="1"/>
              <a:t>маркування</a:t>
            </a:r>
            <a:r>
              <a:rPr lang="ru-RU" sz="2800" dirty="0"/>
              <a:t> </a:t>
            </a:r>
            <a:r>
              <a:rPr lang="ru-RU" sz="2800" dirty="0" err="1"/>
              <a:t>має</a:t>
            </a:r>
            <a:r>
              <a:rPr lang="ru-RU" sz="2800" dirty="0"/>
              <a:t> </a:t>
            </a:r>
            <a:r>
              <a:rPr lang="ru-RU" sz="2800" dirty="0" err="1"/>
              <a:t>широку</a:t>
            </a:r>
            <a:r>
              <a:rPr lang="ru-RU" sz="2800" dirty="0"/>
              <a:t> сферу </a:t>
            </a:r>
            <a:r>
              <a:rPr lang="ru-RU" sz="2800" dirty="0" err="1"/>
              <a:t>застосування</a:t>
            </a:r>
            <a:r>
              <a:rPr lang="ru-RU" sz="2800" dirty="0"/>
              <a:t> – </a:t>
            </a:r>
            <a:r>
              <a:rPr lang="ru-RU" sz="2800" dirty="0" err="1"/>
              <a:t>від</a:t>
            </a:r>
            <a:r>
              <a:rPr lang="ru-RU" sz="2800" dirty="0"/>
              <a:t> </a:t>
            </a:r>
            <a:r>
              <a:rPr lang="ru-RU" sz="2800" dirty="0" err="1"/>
              <a:t>продуктів</a:t>
            </a:r>
            <a:r>
              <a:rPr lang="ru-RU" sz="2800" dirty="0"/>
              <a:t> </a:t>
            </a:r>
            <a:r>
              <a:rPr lang="ru-RU" sz="2800" dirty="0" err="1"/>
              <a:t>харчування</a:t>
            </a:r>
            <a:r>
              <a:rPr lang="ru-RU" sz="2800" dirty="0"/>
              <a:t>, </a:t>
            </a:r>
            <a:r>
              <a:rPr lang="ru-RU" sz="2800" dirty="0" err="1"/>
              <a:t>промислових</a:t>
            </a:r>
            <a:r>
              <a:rPr lang="ru-RU" sz="2800" dirty="0"/>
              <a:t> </a:t>
            </a:r>
            <a:r>
              <a:rPr lang="ru-RU" sz="2800" dirty="0" err="1"/>
              <a:t>товарів</a:t>
            </a:r>
            <a:r>
              <a:rPr lang="ru-RU" sz="2800" dirty="0"/>
              <a:t>, </a:t>
            </a:r>
            <a:r>
              <a:rPr lang="ru-RU" sz="2800" dirty="0" err="1"/>
              <a:t>будматеріалів</a:t>
            </a:r>
            <a:r>
              <a:rPr lang="ru-RU" sz="2800" dirty="0"/>
              <a:t> до </a:t>
            </a:r>
            <a:r>
              <a:rPr lang="ru-RU" sz="2800" dirty="0" err="1"/>
              <a:t>об’єктів</a:t>
            </a:r>
            <a:r>
              <a:rPr lang="ru-RU" sz="2800" dirty="0"/>
              <a:t> </a:t>
            </a:r>
            <a:r>
              <a:rPr lang="ru-RU" sz="2800" dirty="0" err="1"/>
              <a:t>нерухомості</a:t>
            </a:r>
            <a:r>
              <a:rPr lang="ru-RU" sz="2800" dirty="0"/>
              <a:t> та </a:t>
            </a:r>
            <a:r>
              <a:rPr lang="ru-RU" sz="2800" dirty="0" err="1"/>
              <a:t>послуг</a:t>
            </a:r>
            <a:r>
              <a:rPr lang="ru-RU" sz="2800" dirty="0"/>
              <a:t>. </a:t>
            </a:r>
            <a:r>
              <a:rPr lang="ru-RU" sz="2800" dirty="0" err="1"/>
              <a:t>Загальні</a:t>
            </a:r>
            <a:r>
              <a:rPr lang="ru-RU" sz="2800" dirty="0"/>
              <a:t> </a:t>
            </a:r>
            <a:r>
              <a:rPr lang="ru-RU" sz="2800" dirty="0" err="1"/>
              <a:t>принципи</a:t>
            </a:r>
            <a:r>
              <a:rPr lang="ru-RU" sz="2800" dirty="0"/>
              <a:t> та </a:t>
            </a:r>
            <a:r>
              <a:rPr lang="ru-RU" sz="2800" dirty="0" err="1"/>
              <a:t>методи</a:t>
            </a:r>
            <a:r>
              <a:rPr lang="ru-RU" sz="2800" dirty="0"/>
              <a:t> </a:t>
            </a:r>
            <a:r>
              <a:rPr lang="ru-RU" sz="2800" dirty="0" err="1"/>
              <a:t>його</a:t>
            </a:r>
            <a:r>
              <a:rPr lang="ru-RU" sz="2800" dirty="0"/>
              <a:t> </a:t>
            </a:r>
            <a:r>
              <a:rPr lang="ru-RU" sz="2800" dirty="0" err="1"/>
              <a:t>застосування</a:t>
            </a:r>
            <a:r>
              <a:rPr lang="ru-RU" sz="2800" dirty="0"/>
              <a:t> </a:t>
            </a:r>
            <a:r>
              <a:rPr lang="ru-RU" sz="2800" dirty="0" err="1"/>
              <a:t>викладені</a:t>
            </a:r>
            <a:r>
              <a:rPr lang="ru-RU" sz="2800" dirty="0"/>
              <a:t> в стандартах </a:t>
            </a:r>
            <a:r>
              <a:rPr lang="ru-RU" sz="2800" dirty="0" err="1"/>
              <a:t>серії</a:t>
            </a:r>
            <a:r>
              <a:rPr lang="ru-RU" sz="2800" dirty="0"/>
              <a:t> </a:t>
            </a:r>
            <a:r>
              <a:rPr lang="en-US" sz="2800" dirty="0"/>
              <a:t>ISO 14020 «</a:t>
            </a:r>
            <a:r>
              <a:rPr lang="ru-RU" sz="2800" dirty="0" err="1"/>
              <a:t>Екологічні</a:t>
            </a:r>
            <a:r>
              <a:rPr lang="ru-RU" sz="2800" dirty="0"/>
              <a:t> </a:t>
            </a:r>
            <a:r>
              <a:rPr lang="ru-RU" sz="2800" dirty="0" err="1"/>
              <a:t>марковання</a:t>
            </a:r>
            <a:r>
              <a:rPr lang="ru-RU" sz="2800" dirty="0"/>
              <a:t> та </a:t>
            </a:r>
            <a:r>
              <a:rPr lang="ru-RU" sz="2800" dirty="0" err="1"/>
              <a:t>декларації</a:t>
            </a:r>
            <a:r>
              <a:rPr lang="ru-RU" sz="2800" dirty="0"/>
              <a:t>».</a:t>
            </a:r>
          </a:p>
          <a:p>
            <a:endParaRPr lang="ru-RU" sz="2800" dirty="0"/>
          </a:p>
          <a:p>
            <a:r>
              <a:rPr lang="ru-RU" sz="2800" dirty="0" err="1"/>
              <a:t>Стандарти</a:t>
            </a:r>
            <a:r>
              <a:rPr lang="ru-RU" sz="2800" dirty="0"/>
              <a:t> </a:t>
            </a:r>
            <a:r>
              <a:rPr lang="en-US" sz="2800" dirty="0"/>
              <a:t>ISO 14040 «</a:t>
            </a:r>
            <a:r>
              <a:rPr lang="ru-RU" sz="2800" dirty="0" err="1"/>
              <a:t>Оцінка</a:t>
            </a:r>
            <a:r>
              <a:rPr lang="ru-RU" sz="2800" dirty="0"/>
              <a:t> </a:t>
            </a:r>
            <a:r>
              <a:rPr lang="ru-RU" sz="2800" dirty="0" err="1"/>
              <a:t>життєвого</a:t>
            </a:r>
            <a:r>
              <a:rPr lang="ru-RU" sz="2800" dirty="0"/>
              <a:t> циклу» </a:t>
            </a:r>
            <a:r>
              <a:rPr lang="ru-RU" sz="2800" dirty="0" err="1"/>
              <a:t>дають</a:t>
            </a:r>
            <a:r>
              <a:rPr lang="ru-RU" sz="2800" dirty="0"/>
              <a:t> </a:t>
            </a:r>
            <a:r>
              <a:rPr lang="ru-RU" sz="2800" dirty="0" err="1"/>
              <a:t>рекомендації</a:t>
            </a:r>
            <a:r>
              <a:rPr lang="ru-RU" sz="2800" dirty="0"/>
              <a:t> як </a:t>
            </a:r>
            <a:r>
              <a:rPr lang="ru-RU" sz="2800" dirty="0" err="1"/>
              <a:t>зменшити</a:t>
            </a:r>
            <a:r>
              <a:rPr lang="ru-RU" sz="2800" dirty="0"/>
              <a:t> </a:t>
            </a:r>
            <a:r>
              <a:rPr lang="ru-RU" sz="2800" dirty="0" err="1"/>
              <a:t>впливи</a:t>
            </a:r>
            <a:r>
              <a:rPr lang="ru-RU" sz="2800" dirty="0"/>
              <a:t> на </a:t>
            </a:r>
            <a:r>
              <a:rPr lang="ru-RU" sz="2800" dirty="0" err="1"/>
              <a:t>довкілля</a:t>
            </a:r>
            <a:r>
              <a:rPr lang="ru-RU" sz="2800" dirty="0"/>
              <a:t> </a:t>
            </a:r>
            <a:r>
              <a:rPr lang="ru-RU" sz="2800" dirty="0" err="1"/>
              <a:t>протягом</a:t>
            </a:r>
            <a:r>
              <a:rPr lang="ru-RU" sz="2800" dirty="0"/>
              <a:t> </a:t>
            </a:r>
            <a:r>
              <a:rPr lang="ru-RU" sz="2800" dirty="0" err="1"/>
              <a:t>життєвого</a:t>
            </a:r>
            <a:r>
              <a:rPr lang="ru-RU" sz="2800" dirty="0"/>
              <a:t> циклу </a:t>
            </a:r>
            <a:r>
              <a:rPr lang="ru-RU" sz="2800" dirty="0" err="1"/>
              <a:t>товарів</a:t>
            </a:r>
            <a:r>
              <a:rPr lang="ru-RU" sz="2800" dirty="0"/>
              <a:t> </a:t>
            </a:r>
            <a:r>
              <a:rPr lang="ru-RU" sz="2800" dirty="0" err="1"/>
              <a:t>чи</a:t>
            </a:r>
            <a:r>
              <a:rPr lang="ru-RU" sz="2800" dirty="0"/>
              <a:t> </a:t>
            </a:r>
            <a:r>
              <a:rPr lang="ru-RU" sz="2800" dirty="0" err="1"/>
              <a:t>послуг</a:t>
            </a:r>
            <a:r>
              <a:rPr lang="ru-RU" sz="2800" dirty="0"/>
              <a:t> </a:t>
            </a:r>
            <a:r>
              <a:rPr lang="ru-RU" sz="2800" dirty="0" err="1"/>
              <a:t>різноманітних</a:t>
            </a:r>
            <a:r>
              <a:rPr lang="ru-RU" sz="2800" dirty="0"/>
              <a:t> </a:t>
            </a:r>
            <a:r>
              <a:rPr lang="ru-RU" sz="2800" dirty="0" err="1"/>
              <a:t>категорій</a:t>
            </a:r>
            <a:r>
              <a:rPr lang="ru-RU" sz="2800" dirty="0"/>
              <a:t>.</a:t>
            </a:r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252247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D8A18-99A0-02DB-AD1A-C30D4AD7E947}"/>
              </a:ext>
            </a:extLst>
          </p:cNvPr>
          <p:cNvSpPr txBox="1"/>
          <p:nvPr/>
        </p:nvSpPr>
        <p:spPr>
          <a:xfrm>
            <a:off x="0" y="-99392"/>
            <a:ext cx="9144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/>
              <a:t>Розроблення</a:t>
            </a:r>
            <a:r>
              <a:rPr lang="ru-RU" sz="2000" dirty="0"/>
              <a:t> </a:t>
            </a:r>
            <a:r>
              <a:rPr lang="ru-RU" sz="2000" dirty="0" err="1"/>
              <a:t>міжнародних</a:t>
            </a:r>
            <a:r>
              <a:rPr lang="ru-RU" sz="2000" dirty="0"/>
              <a:t> </a:t>
            </a:r>
            <a:r>
              <a:rPr lang="ru-RU" sz="2000" dirty="0" err="1"/>
              <a:t>стандартів</a:t>
            </a:r>
            <a:r>
              <a:rPr lang="ru-RU" sz="2000" dirty="0"/>
              <a:t> у </a:t>
            </a:r>
            <a:r>
              <a:rPr lang="ru-RU" sz="2000" dirty="0" err="1"/>
              <a:t>сфері</a:t>
            </a:r>
            <a:r>
              <a:rPr lang="ru-RU" sz="2000" dirty="0"/>
              <a:t> </a:t>
            </a:r>
            <a:r>
              <a:rPr lang="ru-RU" sz="2000" dirty="0" err="1"/>
              <a:t>екологічного</a:t>
            </a:r>
            <a:r>
              <a:rPr lang="ru-RU" sz="2000" dirty="0"/>
              <a:t> </a:t>
            </a:r>
            <a:r>
              <a:rPr lang="ru-RU" sz="2000" dirty="0" err="1"/>
              <a:t>управління</a:t>
            </a:r>
            <a:r>
              <a:rPr lang="ru-RU" sz="2000" dirty="0"/>
              <a:t> </a:t>
            </a:r>
            <a:r>
              <a:rPr lang="ru-RU" sz="2000" dirty="0" err="1"/>
              <a:t>забезпечує</a:t>
            </a:r>
            <a:r>
              <a:rPr lang="ru-RU" sz="2000" dirty="0"/>
              <a:t> </a:t>
            </a:r>
            <a:r>
              <a:rPr lang="ru-RU" sz="2000" dirty="0" err="1"/>
              <a:t>технічний</a:t>
            </a:r>
            <a:r>
              <a:rPr lang="ru-RU" sz="2000" dirty="0"/>
              <a:t> </a:t>
            </a:r>
            <a:r>
              <a:rPr lang="ru-RU" sz="2000" dirty="0" err="1"/>
              <a:t>комітет</a:t>
            </a:r>
            <a:r>
              <a:rPr lang="ru-RU" sz="2000" dirty="0"/>
              <a:t> </a:t>
            </a:r>
            <a:r>
              <a:rPr lang="en-US" sz="2000" dirty="0"/>
              <a:t>ISO/TC 207 «</a:t>
            </a:r>
            <a:r>
              <a:rPr lang="ru-RU" sz="2000" dirty="0" err="1"/>
              <a:t>Екологічне</a:t>
            </a:r>
            <a:r>
              <a:rPr lang="ru-RU" sz="2000" dirty="0"/>
              <a:t> </a:t>
            </a:r>
            <a:r>
              <a:rPr lang="ru-RU" sz="2000" dirty="0" err="1"/>
              <a:t>управління</a:t>
            </a:r>
            <a:r>
              <a:rPr lang="ru-RU" sz="2000" dirty="0"/>
              <a:t>». До </a:t>
            </a:r>
            <a:r>
              <a:rPr lang="ru-RU" sz="2000" dirty="0" err="1"/>
              <a:t>його</a:t>
            </a:r>
            <a:r>
              <a:rPr lang="ru-RU" sz="2000" dirty="0"/>
              <a:t> </a:t>
            </a:r>
            <a:r>
              <a:rPr lang="ru-RU" sz="2000" dirty="0" err="1"/>
              <a:t>сфери</a:t>
            </a:r>
            <a:r>
              <a:rPr lang="ru-RU" sz="2000" dirty="0"/>
              <a:t> </a:t>
            </a:r>
            <a:r>
              <a:rPr lang="ru-RU" sz="2000" dirty="0" err="1"/>
              <a:t>стандартизації</a:t>
            </a:r>
            <a:r>
              <a:rPr lang="ru-RU" sz="2000" dirty="0"/>
              <a:t> належать:</a:t>
            </a:r>
          </a:p>
          <a:p>
            <a:endParaRPr lang="ru-RU" sz="2000" dirty="0"/>
          </a:p>
          <a:p>
            <a:r>
              <a:rPr lang="ru-RU" sz="2000" dirty="0" err="1"/>
              <a:t>системи</a:t>
            </a:r>
            <a:r>
              <a:rPr lang="ru-RU" sz="2000" dirty="0"/>
              <a:t> </a:t>
            </a:r>
            <a:r>
              <a:rPr lang="ru-RU" sz="2000" dirty="0" err="1"/>
              <a:t>екологічного</a:t>
            </a:r>
            <a:r>
              <a:rPr lang="ru-RU" sz="2000" dirty="0"/>
              <a:t> </a:t>
            </a:r>
            <a:r>
              <a:rPr lang="ru-RU" sz="2000" dirty="0" err="1"/>
              <a:t>управління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екологічний</a:t>
            </a:r>
            <a:r>
              <a:rPr lang="ru-RU" sz="2000" dirty="0"/>
              <a:t> аудит та </a:t>
            </a:r>
            <a:r>
              <a:rPr lang="ru-RU" sz="2000" dirty="0" err="1"/>
              <a:t>пов’язані</a:t>
            </a:r>
            <a:r>
              <a:rPr lang="ru-RU" sz="2000" dirty="0"/>
              <a:t> з ним </a:t>
            </a:r>
            <a:r>
              <a:rPr lang="ru-RU" sz="2000" dirty="0" err="1"/>
              <a:t>екологічні</a:t>
            </a:r>
            <a:r>
              <a:rPr lang="ru-RU" sz="2000" dirty="0"/>
              <a:t> </a:t>
            </a:r>
            <a:r>
              <a:rPr lang="ru-RU" sz="2000" dirty="0" err="1"/>
              <a:t>дослідження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оцінка</a:t>
            </a:r>
            <a:r>
              <a:rPr lang="ru-RU" sz="2000" dirty="0"/>
              <a:t> </a:t>
            </a:r>
            <a:r>
              <a:rPr lang="ru-RU" sz="2000" dirty="0" err="1"/>
              <a:t>екологічної</a:t>
            </a:r>
            <a:r>
              <a:rPr lang="ru-RU" sz="2000" dirty="0"/>
              <a:t> </a:t>
            </a:r>
            <a:r>
              <a:rPr lang="ru-RU" sz="2000" dirty="0" err="1"/>
              <a:t>ефективності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екологічне</a:t>
            </a:r>
            <a:r>
              <a:rPr lang="ru-RU" sz="2000" dirty="0"/>
              <a:t> </a:t>
            </a:r>
            <a:r>
              <a:rPr lang="ru-RU" sz="2000" dirty="0" err="1"/>
              <a:t>маркування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оцінка</a:t>
            </a:r>
            <a:r>
              <a:rPr lang="ru-RU" sz="2000" dirty="0"/>
              <a:t> </a:t>
            </a:r>
            <a:r>
              <a:rPr lang="ru-RU" sz="2000" dirty="0" err="1"/>
              <a:t>життєвого</a:t>
            </a:r>
            <a:r>
              <a:rPr lang="ru-RU" sz="2000" dirty="0"/>
              <a:t> циклу;</a:t>
            </a:r>
          </a:p>
          <a:p>
            <a:r>
              <a:rPr lang="ru-RU" sz="2000" dirty="0" err="1"/>
              <a:t>екологічні</a:t>
            </a:r>
            <a:r>
              <a:rPr lang="ru-RU" sz="2000" dirty="0"/>
              <a:t> </a:t>
            </a:r>
            <a:r>
              <a:rPr lang="ru-RU" sz="2000" dirty="0" err="1"/>
              <a:t>комунікації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екологічні</a:t>
            </a:r>
            <a:r>
              <a:rPr lang="ru-RU" sz="2000" dirty="0"/>
              <a:t> </a:t>
            </a:r>
            <a:r>
              <a:rPr lang="ru-RU" sz="2000" dirty="0" err="1"/>
              <a:t>аспекти</a:t>
            </a:r>
            <a:r>
              <a:rPr lang="ru-RU" sz="2000" dirty="0"/>
              <a:t> </a:t>
            </a:r>
            <a:r>
              <a:rPr lang="ru-RU" sz="2000" dirty="0" err="1"/>
              <a:t>проектування</a:t>
            </a:r>
            <a:r>
              <a:rPr lang="ru-RU" sz="2000" dirty="0"/>
              <a:t> та </a:t>
            </a:r>
            <a:r>
              <a:rPr lang="ru-RU" sz="2000" dirty="0" err="1"/>
              <a:t>розроблення</a:t>
            </a:r>
            <a:r>
              <a:rPr lang="ru-RU" sz="2000" dirty="0"/>
              <a:t> </a:t>
            </a:r>
            <a:r>
              <a:rPr lang="ru-RU" sz="2000" dirty="0" err="1"/>
              <a:t>продукції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екологічні</a:t>
            </a:r>
            <a:r>
              <a:rPr lang="ru-RU" sz="2000" dirty="0"/>
              <a:t> </a:t>
            </a:r>
            <a:r>
              <a:rPr lang="ru-RU" sz="2000" dirty="0" err="1"/>
              <a:t>аспекти</a:t>
            </a:r>
            <a:r>
              <a:rPr lang="ru-RU" sz="2000" dirty="0"/>
              <a:t> в стандартах на </a:t>
            </a:r>
            <a:r>
              <a:rPr lang="ru-RU" sz="2000" dirty="0" err="1"/>
              <a:t>продукцію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терміни</a:t>
            </a:r>
            <a:r>
              <a:rPr lang="ru-RU" sz="2000" dirty="0"/>
              <a:t> та </a:t>
            </a:r>
            <a:r>
              <a:rPr lang="ru-RU" sz="2000" dirty="0" err="1"/>
              <a:t>визначення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управління</a:t>
            </a:r>
            <a:r>
              <a:rPr lang="ru-RU" sz="2000" dirty="0"/>
              <a:t> </a:t>
            </a:r>
            <a:r>
              <a:rPr lang="ru-RU" sz="2000" dirty="0" err="1"/>
              <a:t>парниковими</a:t>
            </a:r>
            <a:r>
              <a:rPr lang="ru-RU" sz="2000" dirty="0"/>
              <a:t> газами;</a:t>
            </a:r>
          </a:p>
          <a:p>
            <a:r>
              <a:rPr lang="ru-RU" sz="2000" dirty="0" err="1"/>
              <a:t>розрахунок</a:t>
            </a:r>
            <a:r>
              <a:rPr lang="ru-RU" sz="2000" dirty="0"/>
              <a:t> </a:t>
            </a:r>
            <a:r>
              <a:rPr lang="ru-RU" sz="2000" dirty="0" err="1"/>
              <a:t>вуглецевого</a:t>
            </a:r>
            <a:r>
              <a:rPr lang="ru-RU" sz="2000" dirty="0"/>
              <a:t> та водного </a:t>
            </a:r>
            <a:r>
              <a:rPr lang="ru-RU" sz="2000" dirty="0" err="1"/>
              <a:t>сліду</a:t>
            </a:r>
            <a:r>
              <a:rPr lang="ru-RU" sz="2000" dirty="0"/>
              <a:t> </a:t>
            </a:r>
            <a:r>
              <a:rPr lang="ru-RU" sz="2000" dirty="0" err="1"/>
              <a:t>продукції</a:t>
            </a:r>
            <a:r>
              <a:rPr lang="ru-RU" sz="2000" dirty="0"/>
              <a:t>.</a:t>
            </a:r>
            <a:endParaRPr lang="ru-UA" sz="2000" dirty="0"/>
          </a:p>
        </p:txBody>
      </p:sp>
    </p:spTree>
    <p:extLst>
      <p:ext uri="{BB962C8B-B14F-4D97-AF65-F5344CB8AC3E}">
        <p14:creationId xmlns:p14="http://schemas.microsoft.com/office/powerpoint/2010/main" val="268246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07D9D-D2A0-0F30-DBED-D44D504A1ED6}"/>
              </a:ext>
            </a:extLst>
          </p:cNvPr>
          <p:cNvSpPr txBox="1"/>
          <p:nvPr/>
        </p:nvSpPr>
        <p:spPr>
          <a:xfrm>
            <a:off x="827584" y="620688"/>
            <a:ext cx="73448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Членство в </a:t>
            </a:r>
            <a:r>
              <a:rPr lang="ru-RU" sz="2800" dirty="0" err="1"/>
              <a:t>технічному</a:t>
            </a:r>
            <a:r>
              <a:rPr lang="ru-RU" sz="2800" dirty="0"/>
              <a:t> </a:t>
            </a:r>
            <a:r>
              <a:rPr lang="ru-RU" sz="2800" dirty="0" err="1"/>
              <a:t>комітеті</a:t>
            </a:r>
            <a:r>
              <a:rPr lang="ru-RU" sz="2800" dirty="0"/>
              <a:t> </a:t>
            </a:r>
            <a:r>
              <a:rPr lang="en-US" sz="2800" dirty="0"/>
              <a:t>ISO/TC 207 </a:t>
            </a:r>
            <a:r>
              <a:rPr lang="ru-RU" sz="2800" dirty="0" err="1"/>
              <a:t>представлени</a:t>
            </a:r>
            <a:r>
              <a:rPr lang="ru-RU" sz="2800" dirty="0"/>
              <a:t> </a:t>
            </a:r>
            <a:r>
              <a:rPr lang="ru-RU" sz="2800" dirty="0" err="1"/>
              <a:t>національними</a:t>
            </a:r>
            <a:r>
              <a:rPr lang="ru-RU" sz="2800" dirty="0"/>
              <a:t> делегатами з </a:t>
            </a:r>
            <a:r>
              <a:rPr lang="ru-RU" sz="2800" dirty="0" err="1"/>
              <a:t>понад</a:t>
            </a:r>
            <a:r>
              <a:rPr lang="ru-RU" sz="2800" dirty="0"/>
              <a:t> 100 </a:t>
            </a:r>
            <a:r>
              <a:rPr lang="ru-RU" sz="2800" dirty="0" err="1"/>
              <a:t>країн</a:t>
            </a:r>
            <a:r>
              <a:rPr lang="ru-RU" sz="2800" dirty="0"/>
              <a:t> </a:t>
            </a:r>
            <a:r>
              <a:rPr lang="ru-RU" sz="2800" dirty="0" err="1"/>
              <a:t>світу</a:t>
            </a:r>
            <a:r>
              <a:rPr lang="ru-RU" sz="2800" dirty="0"/>
              <a:t>. </a:t>
            </a:r>
            <a:r>
              <a:rPr lang="ru-RU" sz="2800" dirty="0" err="1"/>
              <a:t>Україну</a:t>
            </a:r>
            <a:r>
              <a:rPr lang="ru-RU" sz="2800" dirty="0"/>
              <a:t> у </a:t>
            </a:r>
            <a:r>
              <a:rPr lang="ru-RU" sz="2800" dirty="0" err="1"/>
              <a:t>складі</a:t>
            </a:r>
            <a:r>
              <a:rPr lang="ru-RU" sz="2800" dirty="0"/>
              <a:t> </a:t>
            </a:r>
            <a:r>
              <a:rPr lang="en-US" sz="2800" dirty="0"/>
              <a:t>ISO/TC 207 </a:t>
            </a:r>
            <a:r>
              <a:rPr lang="ru-RU" sz="2800" dirty="0" err="1"/>
              <a:t>представляє</a:t>
            </a:r>
            <a:r>
              <a:rPr lang="ru-RU" sz="2800" dirty="0"/>
              <a:t> «</a:t>
            </a:r>
            <a:r>
              <a:rPr lang="ru-RU" sz="2800" dirty="0" err="1"/>
              <a:t>дзеркальний</a:t>
            </a:r>
            <a:r>
              <a:rPr lang="ru-RU" sz="2800" dirty="0"/>
              <a:t>» </a:t>
            </a:r>
            <a:r>
              <a:rPr lang="ru-RU" sz="2800" dirty="0" err="1"/>
              <a:t>технічний</a:t>
            </a:r>
            <a:r>
              <a:rPr lang="ru-RU" sz="2800" dirty="0"/>
              <a:t> </a:t>
            </a:r>
            <a:r>
              <a:rPr lang="ru-RU" sz="2800" dirty="0" err="1"/>
              <a:t>комітет</a:t>
            </a:r>
            <a:r>
              <a:rPr lang="ru-RU" sz="2800" dirty="0"/>
              <a:t> </a:t>
            </a:r>
            <a:r>
              <a:rPr lang="ru-RU" sz="2800" dirty="0" err="1"/>
              <a:t>стандартизації</a:t>
            </a:r>
            <a:r>
              <a:rPr lang="ru-RU" sz="2800" dirty="0"/>
              <a:t> ТК 82 «</a:t>
            </a:r>
            <a:r>
              <a:rPr lang="ru-RU" sz="2800" dirty="0" err="1"/>
              <a:t>Охорона</a:t>
            </a:r>
            <a:r>
              <a:rPr lang="ru-RU" sz="2800" dirty="0"/>
              <a:t> </a:t>
            </a:r>
            <a:r>
              <a:rPr lang="ru-RU" sz="2800" dirty="0" err="1"/>
              <a:t>довкілля</a:t>
            </a:r>
            <a:r>
              <a:rPr lang="ru-RU" sz="2800" dirty="0"/>
              <a:t>».</a:t>
            </a:r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392543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37328-0D70-E5F0-F4A2-0FEC7AEC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стандарт </a:t>
            </a:r>
            <a:r>
              <a:rPr lang="en-US" dirty="0"/>
              <a:t>ISO</a:t>
            </a:r>
            <a:r>
              <a:rPr lang="uk-UA" dirty="0"/>
              <a:t>? ТРОХИ ІСТОРІЇ</a:t>
            </a:r>
            <a:endParaRPr lang="ru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E8991-A7AD-D8AE-A7F5-A200C5069577}"/>
              </a:ext>
            </a:extLst>
          </p:cNvPr>
          <p:cNvSpPr txBox="1"/>
          <p:nvPr/>
        </p:nvSpPr>
        <p:spPr>
          <a:xfrm>
            <a:off x="26573" y="1340768"/>
            <a:ext cx="903649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Трохи</a:t>
            </a:r>
            <a:r>
              <a:rPr lang="ru-RU" sz="2400" dirty="0"/>
              <a:t> </a:t>
            </a:r>
            <a:r>
              <a:rPr lang="ru-RU" sz="2400" dirty="0" err="1"/>
              <a:t>історії</a:t>
            </a:r>
            <a:r>
              <a:rPr lang="ru-RU" sz="2400" dirty="0"/>
              <a:t>. У 1946 </a:t>
            </a:r>
            <a:r>
              <a:rPr lang="ru-RU" sz="2400" dirty="0" err="1"/>
              <a:t>році</a:t>
            </a:r>
            <a:r>
              <a:rPr lang="ru-RU" sz="2400" dirty="0"/>
              <a:t> </a:t>
            </a:r>
            <a:r>
              <a:rPr lang="ru-RU" sz="2400" dirty="0" err="1"/>
              <a:t>представники</a:t>
            </a:r>
            <a:r>
              <a:rPr lang="ru-RU" sz="2400" dirty="0"/>
              <a:t> 25 </a:t>
            </a:r>
            <a:r>
              <a:rPr lang="ru-RU" sz="2400" dirty="0" err="1"/>
              <a:t>країн</a:t>
            </a:r>
            <a:r>
              <a:rPr lang="ru-RU" sz="2400" dirty="0"/>
              <a:t> </a:t>
            </a:r>
            <a:r>
              <a:rPr lang="ru-RU" sz="2400" dirty="0" err="1"/>
              <a:t>світу</a:t>
            </a:r>
            <a:r>
              <a:rPr lang="ru-RU" sz="2400" dirty="0"/>
              <a:t> </a:t>
            </a:r>
            <a:r>
              <a:rPr lang="ru-RU" sz="2400" dirty="0" err="1"/>
              <a:t>зібралися</a:t>
            </a:r>
            <a:r>
              <a:rPr lang="ru-RU" sz="2400" dirty="0"/>
              <a:t> в </a:t>
            </a:r>
            <a:r>
              <a:rPr lang="ru-RU" sz="2400" dirty="0" err="1"/>
              <a:t>Лондоні</a:t>
            </a:r>
            <a:r>
              <a:rPr lang="ru-RU" sz="2400" dirty="0"/>
              <a:t> і </a:t>
            </a:r>
            <a:r>
              <a:rPr lang="ru-RU" sz="2400" dirty="0" err="1"/>
              <a:t>домовилися</a:t>
            </a:r>
            <a:r>
              <a:rPr lang="ru-RU" sz="2400" dirty="0"/>
              <a:t> </a:t>
            </a:r>
            <a:r>
              <a:rPr lang="ru-RU" sz="2400" dirty="0" err="1"/>
              <a:t>створити</a:t>
            </a:r>
            <a:r>
              <a:rPr lang="ru-RU" sz="2400" dirty="0"/>
              <a:t> </a:t>
            </a:r>
            <a:r>
              <a:rPr lang="ru-RU" sz="2400" dirty="0" err="1"/>
              <a:t>організацію</a:t>
            </a:r>
            <a:r>
              <a:rPr lang="ru-RU" sz="2400" dirty="0"/>
              <a:t>, яка б </a:t>
            </a:r>
            <a:r>
              <a:rPr lang="ru-RU" sz="2400" dirty="0" err="1"/>
              <a:t>розробляла</a:t>
            </a:r>
            <a:r>
              <a:rPr lang="ru-RU" sz="2400" dirty="0"/>
              <a:t> та </a:t>
            </a:r>
            <a:r>
              <a:rPr lang="ru-RU" sz="2400" dirty="0" err="1"/>
              <a:t>узаконювала</a:t>
            </a:r>
            <a:r>
              <a:rPr lang="ru-RU" sz="2400" dirty="0"/>
              <a:t> </a:t>
            </a:r>
            <a:r>
              <a:rPr lang="ru-RU" sz="2400" dirty="0" err="1"/>
              <a:t>міжнародні</a:t>
            </a:r>
            <a:r>
              <a:rPr lang="ru-RU" sz="2400" dirty="0"/>
              <a:t> </a:t>
            </a:r>
            <a:r>
              <a:rPr lang="ru-RU" sz="2400" dirty="0" err="1"/>
              <a:t>стандарти</a:t>
            </a:r>
            <a:r>
              <a:rPr lang="ru-RU" sz="2400" dirty="0"/>
              <a:t>, </a:t>
            </a:r>
            <a:r>
              <a:rPr lang="ru-RU" sz="2400" dirty="0" err="1"/>
              <a:t>єдині</a:t>
            </a:r>
            <a:r>
              <a:rPr lang="ru-RU" sz="2400" dirty="0"/>
              <a:t> для </a:t>
            </a:r>
            <a:r>
              <a:rPr lang="ru-RU" sz="2400" dirty="0" err="1"/>
              <a:t>всіх</a:t>
            </a:r>
            <a:r>
              <a:rPr lang="ru-RU" sz="2400" dirty="0"/>
              <a:t> </a:t>
            </a:r>
            <a:r>
              <a:rPr lang="ru-RU" sz="2400" dirty="0" err="1"/>
              <a:t>виробників</a:t>
            </a:r>
            <a:r>
              <a:rPr lang="ru-RU" sz="2400" dirty="0"/>
              <a:t> </a:t>
            </a:r>
            <a:r>
              <a:rPr lang="ru-RU" sz="2400" dirty="0" err="1"/>
              <a:t>чи</a:t>
            </a:r>
            <a:r>
              <a:rPr lang="ru-RU" sz="2400" dirty="0"/>
              <a:t> </a:t>
            </a:r>
            <a:r>
              <a:rPr lang="ru-RU" sz="2400" dirty="0" err="1"/>
              <a:t>надавачів</a:t>
            </a:r>
            <a:r>
              <a:rPr lang="ru-RU" sz="2400" dirty="0"/>
              <a:t> </a:t>
            </a:r>
            <a:r>
              <a:rPr lang="ru-RU" sz="2400" dirty="0" err="1"/>
              <a:t>послуг</a:t>
            </a:r>
            <a:r>
              <a:rPr lang="ru-RU" sz="2400" dirty="0"/>
              <a:t> у </a:t>
            </a:r>
            <a:r>
              <a:rPr lang="ru-RU" sz="2400" dirty="0" err="1"/>
              <a:t>світі</a:t>
            </a:r>
            <a:r>
              <a:rPr lang="ru-RU" sz="2400" dirty="0"/>
              <a:t>. (Стандарт – </a:t>
            </a:r>
            <a:r>
              <a:rPr lang="ru-RU" sz="2400" dirty="0" err="1"/>
              <a:t>це</a:t>
            </a:r>
            <a:r>
              <a:rPr lang="ru-RU" sz="2400" dirty="0"/>
              <a:t> документ, </a:t>
            </a:r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встановлює</a:t>
            </a:r>
            <a:r>
              <a:rPr lang="ru-RU" sz="2400" dirty="0"/>
              <a:t> </a:t>
            </a:r>
            <a:r>
              <a:rPr lang="ru-RU" sz="2400" dirty="0" err="1"/>
              <a:t>вимоги</a:t>
            </a:r>
            <a:r>
              <a:rPr lang="ru-RU" sz="2400" dirty="0"/>
              <a:t>, </a:t>
            </a:r>
            <a:r>
              <a:rPr lang="ru-RU" sz="2400" dirty="0" err="1"/>
              <a:t>ключові</a:t>
            </a:r>
            <a:r>
              <a:rPr lang="ru-RU" sz="2400" dirty="0"/>
              <a:t> </a:t>
            </a:r>
            <a:r>
              <a:rPr lang="ru-RU" sz="2400" dirty="0" err="1"/>
              <a:t>принципи</a:t>
            </a:r>
            <a:r>
              <a:rPr lang="ru-RU" sz="2400" dirty="0"/>
              <a:t>, характеристики, </a:t>
            </a:r>
            <a:r>
              <a:rPr lang="ru-RU" sz="2400" dirty="0" err="1"/>
              <a:t>відповідно</a:t>
            </a:r>
            <a:r>
              <a:rPr lang="ru-RU" sz="2400" dirty="0"/>
              <a:t> до </a:t>
            </a:r>
            <a:r>
              <a:rPr lang="ru-RU" sz="2400" dirty="0" err="1"/>
              <a:t>яких</a:t>
            </a:r>
            <a:r>
              <a:rPr lang="ru-RU" sz="2400" dirty="0"/>
              <a:t> </a:t>
            </a:r>
            <a:r>
              <a:rPr lang="ru-RU" sz="2400" dirty="0" err="1"/>
              <a:t>створюються</a:t>
            </a:r>
            <a:r>
              <a:rPr lang="ru-RU" sz="2400" dirty="0"/>
              <a:t> та </a:t>
            </a:r>
            <a:r>
              <a:rPr lang="ru-RU" sz="2400" dirty="0" err="1"/>
              <a:t>використовуються</a:t>
            </a:r>
            <a:r>
              <a:rPr lang="ru-RU" sz="2400" dirty="0"/>
              <a:t> </a:t>
            </a:r>
            <a:r>
              <a:rPr lang="ru-RU" sz="2400" dirty="0" err="1"/>
              <a:t>продукти</a:t>
            </a:r>
            <a:r>
              <a:rPr lang="ru-RU" sz="2400" dirty="0"/>
              <a:t>, </a:t>
            </a:r>
            <a:r>
              <a:rPr lang="ru-RU" sz="2400" dirty="0" err="1"/>
              <a:t>послуги</a:t>
            </a:r>
            <a:r>
              <a:rPr lang="ru-RU" sz="2400" dirty="0"/>
              <a:t>, </a:t>
            </a:r>
            <a:r>
              <a:rPr lang="ru-RU" sz="2400" dirty="0" err="1"/>
              <a:t>процеси</a:t>
            </a:r>
            <a:r>
              <a:rPr lang="ru-RU" sz="2400" dirty="0"/>
              <a:t>.) Так </a:t>
            </a:r>
            <a:r>
              <a:rPr lang="ru-RU" sz="2400" dirty="0" err="1"/>
              <a:t>виникла</a:t>
            </a:r>
            <a:r>
              <a:rPr lang="ru-RU" sz="2400" dirty="0"/>
              <a:t> </a:t>
            </a:r>
            <a:r>
              <a:rPr lang="en-US" sz="2400" dirty="0"/>
              <a:t>International Organization for Standardization (ISO) – </a:t>
            </a:r>
            <a:r>
              <a:rPr lang="ru-RU" sz="2400" dirty="0" err="1"/>
              <a:t>Міжнародна</a:t>
            </a:r>
            <a:r>
              <a:rPr lang="ru-RU" sz="2400" dirty="0"/>
              <a:t> </a:t>
            </a:r>
            <a:r>
              <a:rPr lang="ru-RU" sz="2400" dirty="0" err="1"/>
              <a:t>організація</a:t>
            </a:r>
            <a:r>
              <a:rPr lang="ru-RU" sz="2400" dirty="0"/>
              <a:t> </a:t>
            </a:r>
            <a:r>
              <a:rPr lang="ru-RU" sz="2400" dirty="0" err="1"/>
              <a:t>зі</a:t>
            </a:r>
            <a:r>
              <a:rPr lang="ru-RU" sz="2400" dirty="0"/>
              <a:t> </a:t>
            </a:r>
            <a:r>
              <a:rPr lang="ru-RU" sz="2400" dirty="0" err="1"/>
              <a:t>стандартизації</a:t>
            </a:r>
            <a:r>
              <a:rPr lang="ru-RU" sz="2400" dirty="0"/>
              <a:t> (</a:t>
            </a:r>
            <a:r>
              <a:rPr lang="en-US" sz="2400" dirty="0"/>
              <a:t>https://www.iso.org/ru/about-us.html). </a:t>
            </a:r>
            <a:r>
              <a:rPr lang="ru-RU" sz="2400" dirty="0"/>
              <a:t>З того часу </a:t>
            </a:r>
            <a:r>
              <a:rPr lang="en-US" sz="2400" dirty="0"/>
              <a:t>ISO </a:t>
            </a:r>
            <a:r>
              <a:rPr lang="ru-RU" sz="2400" dirty="0" err="1"/>
              <a:t>оприлюднила</a:t>
            </a:r>
            <a:r>
              <a:rPr lang="ru-RU" sz="2400" dirty="0"/>
              <a:t> </a:t>
            </a:r>
            <a:r>
              <a:rPr lang="ru-RU" sz="2400" dirty="0" err="1"/>
              <a:t>майже</a:t>
            </a:r>
            <a:r>
              <a:rPr lang="ru-RU" sz="2400" dirty="0"/>
              <a:t> 23 000 </a:t>
            </a:r>
            <a:r>
              <a:rPr lang="ru-RU" sz="2400" dirty="0" err="1"/>
              <a:t>міжнародних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, </a:t>
            </a:r>
            <a:r>
              <a:rPr lang="ru-RU" sz="2400" dirty="0" err="1"/>
              <a:t>які</a:t>
            </a:r>
            <a:r>
              <a:rPr lang="ru-RU" sz="2400" dirty="0"/>
              <a:t> </a:t>
            </a:r>
            <a:r>
              <a:rPr lang="ru-RU" sz="2400" dirty="0" err="1"/>
              <a:t>охоплюють</a:t>
            </a:r>
            <a:r>
              <a:rPr lang="ru-RU" sz="2400" dirty="0"/>
              <a:t> практично </a:t>
            </a:r>
            <a:r>
              <a:rPr lang="ru-RU" sz="2400" dirty="0" err="1"/>
              <a:t>всі</a:t>
            </a:r>
            <a:r>
              <a:rPr lang="ru-RU" sz="2400" dirty="0"/>
              <a:t> </a:t>
            </a:r>
            <a:r>
              <a:rPr lang="ru-RU" sz="2400" dirty="0" err="1"/>
              <a:t>аспекти</a:t>
            </a:r>
            <a:r>
              <a:rPr lang="ru-RU" sz="2400" dirty="0"/>
              <a:t> </a:t>
            </a:r>
            <a:r>
              <a:rPr lang="ru-RU" sz="2400" dirty="0" err="1"/>
              <a:t>технологій</a:t>
            </a:r>
            <a:r>
              <a:rPr lang="ru-RU" sz="2400" dirty="0"/>
              <a:t> та </a:t>
            </a:r>
            <a:r>
              <a:rPr lang="ru-RU" sz="2400" dirty="0" err="1"/>
              <a:t>виробництва</a:t>
            </a:r>
            <a:r>
              <a:rPr lang="ru-RU" sz="2400" dirty="0"/>
              <a:t>. Членами </a:t>
            </a:r>
            <a:r>
              <a:rPr lang="ru-RU" sz="2400" dirty="0" err="1"/>
              <a:t>організації</a:t>
            </a:r>
            <a:r>
              <a:rPr lang="ru-RU" sz="2400" dirty="0"/>
              <a:t>, штаб-квартира </a:t>
            </a:r>
            <a:r>
              <a:rPr lang="ru-RU" sz="2400" dirty="0" err="1"/>
              <a:t>якої</a:t>
            </a:r>
            <a:r>
              <a:rPr lang="ru-RU" sz="2400" dirty="0"/>
              <a:t> </a:t>
            </a:r>
            <a:r>
              <a:rPr lang="ru-RU" sz="2400" dirty="0" err="1"/>
              <a:t>знаходиться</a:t>
            </a:r>
            <a:r>
              <a:rPr lang="ru-RU" sz="2400" dirty="0"/>
              <a:t> в </a:t>
            </a:r>
            <a:r>
              <a:rPr lang="ru-RU" sz="2400" dirty="0" err="1"/>
              <a:t>Женеві</a:t>
            </a:r>
            <a:r>
              <a:rPr lang="ru-RU" sz="2400" dirty="0"/>
              <a:t>, стали </a:t>
            </a:r>
            <a:r>
              <a:rPr lang="ru-RU" sz="2400" dirty="0" err="1"/>
              <a:t>вже</a:t>
            </a:r>
            <a:r>
              <a:rPr lang="ru-RU" sz="2400" dirty="0"/>
              <a:t> 164 </a:t>
            </a:r>
            <a:r>
              <a:rPr lang="ru-RU" sz="2400" dirty="0" err="1"/>
              <a:t>країни</a:t>
            </a:r>
            <a:r>
              <a:rPr lang="ru-RU" sz="2400" dirty="0"/>
              <a:t>.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3979239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E644-3FB6-5FB8-A4DD-5733A90818A2}"/>
              </a:ext>
            </a:extLst>
          </p:cNvPr>
          <p:cNvSpPr txBox="1"/>
          <p:nvPr/>
        </p:nvSpPr>
        <p:spPr>
          <a:xfrm>
            <a:off x="143508" y="-99392"/>
            <a:ext cx="88569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означають</a:t>
            </a:r>
            <a:r>
              <a:rPr lang="ru-RU" sz="2400" dirty="0"/>
              <a:t> </a:t>
            </a:r>
            <a:r>
              <a:rPr lang="ru-RU" sz="2400" dirty="0" err="1"/>
              <a:t>цифри</a:t>
            </a:r>
            <a:r>
              <a:rPr lang="ru-RU" sz="2400" dirty="0"/>
              <a:t> у </a:t>
            </a:r>
            <a:r>
              <a:rPr lang="ru-RU" sz="2400" dirty="0" err="1"/>
              <a:t>назві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 </a:t>
            </a:r>
            <a:r>
              <a:rPr lang="en-US" sz="2400" dirty="0"/>
              <a:t>ISO? </a:t>
            </a:r>
            <a:r>
              <a:rPr lang="ru-RU" sz="2400" dirty="0" err="1"/>
              <a:t>Розберемося</a:t>
            </a:r>
            <a:r>
              <a:rPr lang="ru-RU" sz="2400" dirty="0"/>
              <a:t> на </a:t>
            </a:r>
            <a:r>
              <a:rPr lang="ru-RU" sz="2400" dirty="0" err="1"/>
              <a:t>прикладі</a:t>
            </a:r>
            <a:r>
              <a:rPr lang="ru-RU" sz="2400" dirty="0"/>
              <a:t> одного з </a:t>
            </a:r>
            <a:r>
              <a:rPr lang="ru-RU" sz="2400" dirty="0" err="1"/>
              <a:t>міжнародних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, </a:t>
            </a:r>
            <a:r>
              <a:rPr lang="ru-RU" sz="2400" dirty="0" err="1"/>
              <a:t>яких</a:t>
            </a:r>
            <a:r>
              <a:rPr lang="ru-RU" sz="2400" dirty="0"/>
              <a:t> </a:t>
            </a:r>
            <a:r>
              <a:rPr lang="ru-RU" sz="2400" dirty="0" err="1"/>
              <a:t>дотримується</a:t>
            </a:r>
            <a:r>
              <a:rPr lang="ru-RU" sz="2400" dirty="0"/>
              <a:t> </a:t>
            </a:r>
            <a:r>
              <a:rPr lang="en-US" sz="2400" dirty="0"/>
              <a:t>Lactalis-Ukraine, – ISO 9001:2008. </a:t>
            </a:r>
            <a:r>
              <a:rPr lang="ru-RU" sz="2400" dirty="0" err="1"/>
              <a:t>Цифри</a:t>
            </a:r>
            <a:r>
              <a:rPr lang="ru-RU" sz="2400" dirty="0"/>
              <a:t> до </a:t>
            </a:r>
            <a:r>
              <a:rPr lang="ru-RU" sz="2400" dirty="0" err="1"/>
              <a:t>двокрапки</a:t>
            </a:r>
            <a:r>
              <a:rPr lang="ru-RU" sz="2400" dirty="0"/>
              <a:t> </a:t>
            </a:r>
            <a:r>
              <a:rPr lang="ru-RU" sz="2400" dirty="0" err="1"/>
              <a:t>пояснюють</a:t>
            </a:r>
            <a:r>
              <a:rPr lang="ru-RU" sz="2400" dirty="0"/>
              <a:t>, про стандарт у </a:t>
            </a:r>
            <a:r>
              <a:rPr lang="ru-RU" sz="2400" dirty="0" err="1"/>
              <a:t>якій</a:t>
            </a:r>
            <a:r>
              <a:rPr lang="ru-RU" sz="2400" dirty="0"/>
              <a:t> </a:t>
            </a:r>
            <a:r>
              <a:rPr lang="ru-RU" sz="2400" dirty="0" err="1"/>
              <a:t>сфері</a:t>
            </a:r>
            <a:r>
              <a:rPr lang="ru-RU" sz="2400" dirty="0"/>
              <a:t> </a:t>
            </a:r>
            <a:r>
              <a:rPr lang="ru-RU" sz="2400" dirty="0" err="1"/>
              <a:t>йде</a:t>
            </a:r>
            <a:r>
              <a:rPr lang="ru-RU" sz="2400" dirty="0"/>
              <a:t> мова. «9001» – </a:t>
            </a:r>
            <a:r>
              <a:rPr lang="ru-RU" sz="2400" dirty="0" err="1"/>
              <a:t>це</a:t>
            </a:r>
            <a:r>
              <a:rPr lang="ru-RU" sz="2400" dirty="0"/>
              <a:t> стандарт </a:t>
            </a:r>
            <a:r>
              <a:rPr lang="ru-RU" sz="2400" dirty="0" err="1"/>
              <a:t>створення</a:t>
            </a:r>
            <a:r>
              <a:rPr lang="ru-RU" sz="2400" dirty="0"/>
              <a:t> та </a:t>
            </a:r>
            <a:r>
              <a:rPr lang="ru-RU" sz="2400" dirty="0" err="1"/>
              <a:t>вдосконалення</a:t>
            </a:r>
            <a:r>
              <a:rPr lang="ru-RU" sz="2400" dirty="0"/>
              <a:t> </a:t>
            </a:r>
            <a:r>
              <a:rPr lang="ru-RU" sz="2400" dirty="0" err="1"/>
              <a:t>системи</a:t>
            </a:r>
            <a:r>
              <a:rPr lang="ru-RU" sz="2400" dirty="0"/>
              <a:t> менеджменту </a:t>
            </a:r>
            <a:r>
              <a:rPr lang="ru-RU" sz="2400" dirty="0" err="1"/>
              <a:t>якості</a:t>
            </a:r>
            <a:r>
              <a:rPr lang="ru-RU" sz="2400" dirty="0"/>
              <a:t>, яка </a:t>
            </a:r>
            <a:r>
              <a:rPr lang="ru-RU" sz="2400" dirty="0" err="1"/>
              <a:t>допомагає</a:t>
            </a:r>
            <a:r>
              <a:rPr lang="ru-RU" sz="2400" dirty="0"/>
              <a:t> </a:t>
            </a:r>
            <a:r>
              <a:rPr lang="ru-RU" sz="2400" dirty="0" err="1"/>
              <a:t>виробляти</a:t>
            </a:r>
            <a:r>
              <a:rPr lang="ru-RU" sz="2400" dirty="0"/>
              <a:t> </a:t>
            </a:r>
            <a:r>
              <a:rPr lang="ru-RU" sz="2400" dirty="0" err="1"/>
              <a:t>затребувану</a:t>
            </a:r>
            <a:r>
              <a:rPr lang="ru-RU" sz="2400" dirty="0"/>
              <a:t> і </a:t>
            </a:r>
            <a:r>
              <a:rPr lang="ru-RU" sz="2400" dirty="0" err="1"/>
              <a:t>якісну</a:t>
            </a:r>
            <a:r>
              <a:rPr lang="ru-RU" sz="2400" dirty="0"/>
              <a:t> </a:t>
            </a:r>
            <a:r>
              <a:rPr lang="ru-RU" sz="2400" dirty="0" err="1"/>
              <a:t>продукцію</a:t>
            </a:r>
            <a:r>
              <a:rPr lang="ru-RU" sz="2400" dirty="0"/>
              <a:t> та </a:t>
            </a:r>
            <a:r>
              <a:rPr lang="ru-RU" sz="2400" dirty="0" err="1"/>
              <a:t>підтримувати</a:t>
            </a:r>
            <a:r>
              <a:rPr lang="ru-RU" sz="2400" dirty="0"/>
              <a:t> </a:t>
            </a:r>
            <a:r>
              <a:rPr lang="ru-RU" sz="2400" dirty="0" err="1"/>
              <a:t>високу</a:t>
            </a:r>
            <a:r>
              <a:rPr lang="ru-RU" sz="2400" dirty="0"/>
              <a:t> </a:t>
            </a:r>
            <a:r>
              <a:rPr lang="ru-RU" sz="2400" dirty="0" err="1"/>
              <a:t>якість</a:t>
            </a:r>
            <a:r>
              <a:rPr lang="ru-RU" sz="2400" dirty="0"/>
              <a:t> продукту на </a:t>
            </a:r>
            <a:r>
              <a:rPr lang="ru-RU" sz="2400" dirty="0" err="1"/>
              <a:t>всіх</a:t>
            </a:r>
            <a:r>
              <a:rPr lang="ru-RU" sz="2400" dirty="0"/>
              <a:t> </a:t>
            </a:r>
            <a:r>
              <a:rPr lang="ru-RU" sz="2400" dirty="0" err="1"/>
              <a:t>етапах</a:t>
            </a:r>
            <a:r>
              <a:rPr lang="ru-RU" sz="2400" dirty="0"/>
              <a:t> </a:t>
            </a:r>
            <a:r>
              <a:rPr lang="ru-RU" sz="2400" dirty="0" err="1"/>
              <a:t>виробничого</a:t>
            </a:r>
            <a:r>
              <a:rPr lang="ru-RU" sz="2400" dirty="0"/>
              <a:t> циклу. </a:t>
            </a:r>
            <a:r>
              <a:rPr lang="ru-RU" sz="2400" dirty="0" err="1"/>
              <a:t>Якщо</a:t>
            </a:r>
            <a:r>
              <a:rPr lang="ru-RU" sz="2400" dirty="0"/>
              <a:t> </a:t>
            </a:r>
            <a:r>
              <a:rPr lang="ru-RU" sz="2400" dirty="0" err="1"/>
              <a:t>компанія</a:t>
            </a:r>
            <a:r>
              <a:rPr lang="ru-RU" sz="2400" dirty="0"/>
              <a:t> </a:t>
            </a:r>
            <a:r>
              <a:rPr lang="ru-RU" sz="2400" dirty="0" err="1"/>
              <a:t>має</a:t>
            </a:r>
            <a:r>
              <a:rPr lang="ru-RU" sz="2400" dirty="0"/>
              <a:t> </a:t>
            </a:r>
            <a:r>
              <a:rPr lang="ru-RU" sz="2400" dirty="0" err="1"/>
              <a:t>сертифікат</a:t>
            </a:r>
            <a:r>
              <a:rPr lang="ru-RU" sz="2400" dirty="0"/>
              <a:t> </a:t>
            </a:r>
            <a:r>
              <a:rPr lang="en-US" sz="2400" dirty="0"/>
              <a:t>ISO 9001, </a:t>
            </a:r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err="1"/>
              <a:t>означає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всі</a:t>
            </a:r>
            <a:r>
              <a:rPr lang="ru-RU" sz="2400" dirty="0"/>
              <a:t> </a:t>
            </a:r>
            <a:r>
              <a:rPr lang="ru-RU" sz="2400" dirty="0" err="1"/>
              <a:t>процеси</a:t>
            </a:r>
            <a:r>
              <a:rPr lang="ru-RU" sz="2400" dirty="0"/>
              <a:t>,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яких</a:t>
            </a:r>
            <a:r>
              <a:rPr lang="ru-RU" sz="2400" dirty="0"/>
              <a:t> </a:t>
            </a:r>
            <a:r>
              <a:rPr lang="ru-RU" sz="2400" dirty="0" err="1"/>
              <a:t>залежить</a:t>
            </a:r>
            <a:r>
              <a:rPr lang="ru-RU" sz="2400" dirty="0"/>
              <a:t> </a:t>
            </a:r>
            <a:r>
              <a:rPr lang="ru-RU" sz="2400" dirty="0" err="1"/>
              <a:t>якість</a:t>
            </a:r>
            <a:r>
              <a:rPr lang="ru-RU" sz="2400" dirty="0"/>
              <a:t> </a:t>
            </a:r>
            <a:r>
              <a:rPr lang="ru-RU" sz="2400" dirty="0" err="1"/>
              <a:t>її</a:t>
            </a:r>
            <a:r>
              <a:rPr lang="ru-RU" sz="2400" dirty="0"/>
              <a:t> </a:t>
            </a:r>
            <a:r>
              <a:rPr lang="ru-RU" sz="2400" dirty="0" err="1"/>
              <a:t>продукції</a:t>
            </a:r>
            <a:r>
              <a:rPr lang="ru-RU" sz="2400" dirty="0"/>
              <a:t>, </a:t>
            </a:r>
            <a:r>
              <a:rPr lang="ru-RU" sz="2400" dirty="0" err="1"/>
              <a:t>вибудовані</a:t>
            </a:r>
            <a:r>
              <a:rPr lang="ru-RU" sz="2400" dirty="0"/>
              <a:t> максимально </a:t>
            </a:r>
            <a:r>
              <a:rPr lang="ru-RU" sz="2400" dirty="0" err="1"/>
              <a:t>ефективно</a:t>
            </a:r>
            <a:r>
              <a:rPr lang="ru-RU" sz="2400" dirty="0"/>
              <a:t>, і </a:t>
            </a:r>
            <a:r>
              <a:rPr lang="ru-RU" sz="2400" dirty="0" err="1"/>
              <a:t>якість</a:t>
            </a:r>
            <a:r>
              <a:rPr lang="ru-RU" sz="2400" dirty="0"/>
              <a:t> продукту – </a:t>
            </a:r>
            <a:r>
              <a:rPr lang="ru-RU" sz="2400" dirty="0" err="1"/>
              <a:t>пріоритет</a:t>
            </a:r>
            <a:r>
              <a:rPr lang="ru-RU" sz="2400" dirty="0"/>
              <a:t> для </a:t>
            </a:r>
            <a:r>
              <a:rPr lang="ru-RU" sz="2400" dirty="0" err="1"/>
              <a:t>всіх</a:t>
            </a:r>
            <a:r>
              <a:rPr lang="ru-RU" sz="2400" dirty="0"/>
              <a:t> </a:t>
            </a:r>
            <a:r>
              <a:rPr lang="ru-RU" sz="2400" dirty="0" err="1"/>
              <a:t>підрозділів</a:t>
            </a:r>
            <a:r>
              <a:rPr lang="ru-RU" sz="2400" dirty="0"/>
              <a:t> </a:t>
            </a:r>
            <a:r>
              <a:rPr lang="ru-RU" sz="2400" dirty="0" err="1"/>
              <a:t>організації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Цифри</a:t>
            </a:r>
            <a:r>
              <a:rPr lang="ru-RU" sz="2400" dirty="0"/>
              <a:t> </a:t>
            </a:r>
            <a:r>
              <a:rPr lang="ru-RU" sz="2400" dirty="0" err="1"/>
              <a:t>після</a:t>
            </a:r>
            <a:r>
              <a:rPr lang="ru-RU" sz="2400" dirty="0"/>
              <a:t> </a:t>
            </a:r>
            <a:r>
              <a:rPr lang="ru-RU" sz="2400" dirty="0" err="1"/>
              <a:t>двокрапки</a:t>
            </a:r>
            <a:r>
              <a:rPr lang="ru-RU" sz="2400" dirty="0"/>
              <a:t> – у </a:t>
            </a:r>
            <a:r>
              <a:rPr lang="ru-RU" sz="2400" dirty="0" err="1"/>
              <a:t>даному</a:t>
            </a:r>
            <a:r>
              <a:rPr lang="ru-RU" sz="2400" dirty="0"/>
              <a:t> </a:t>
            </a:r>
            <a:r>
              <a:rPr lang="ru-RU" sz="2400" dirty="0" err="1"/>
              <a:t>випадку</a:t>
            </a:r>
            <a:r>
              <a:rPr lang="ru-RU" sz="2400" dirty="0"/>
              <a:t> «2008» – </a:t>
            </a:r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err="1"/>
              <a:t>рік</a:t>
            </a:r>
            <a:r>
              <a:rPr lang="ru-RU" sz="2400" dirty="0"/>
              <a:t>, коли </a:t>
            </a:r>
            <a:r>
              <a:rPr lang="en-US" sz="2400" dirty="0"/>
              <a:t>ISO </a:t>
            </a:r>
            <a:r>
              <a:rPr lang="ru-RU" sz="2400" dirty="0"/>
              <a:t>затвердила </a:t>
            </a:r>
            <a:r>
              <a:rPr lang="ru-RU" sz="2400" dirty="0" err="1"/>
              <a:t>цю</a:t>
            </a:r>
            <a:r>
              <a:rPr lang="ru-RU" sz="2400" dirty="0"/>
              <a:t> </a:t>
            </a:r>
            <a:r>
              <a:rPr lang="ru-RU" sz="2400" dirty="0" err="1"/>
              <a:t>конкретну</a:t>
            </a:r>
            <a:r>
              <a:rPr lang="ru-RU" sz="2400" dirty="0"/>
              <a:t> </a:t>
            </a:r>
            <a:r>
              <a:rPr lang="ru-RU" sz="2400" dirty="0" err="1"/>
              <a:t>версію</a:t>
            </a:r>
            <a:r>
              <a:rPr lang="ru-RU" sz="2400" dirty="0"/>
              <a:t> стандарту (</a:t>
            </a:r>
            <a:r>
              <a:rPr lang="ru-RU" sz="2400" dirty="0" err="1"/>
              <a:t>адже</a:t>
            </a:r>
            <a:r>
              <a:rPr lang="ru-RU" sz="2400" dirty="0"/>
              <a:t> </a:t>
            </a:r>
            <a:r>
              <a:rPr lang="ru-RU" sz="2400" dirty="0" err="1"/>
              <a:t>стандарти</a:t>
            </a:r>
            <a:r>
              <a:rPr lang="ru-RU" sz="2400" dirty="0"/>
              <a:t>, як і все в </a:t>
            </a:r>
            <a:r>
              <a:rPr lang="ru-RU" sz="2400" dirty="0" err="1"/>
              <a:t>нашому</a:t>
            </a:r>
            <a:r>
              <a:rPr lang="ru-RU" sz="2400" dirty="0"/>
              <a:t> </a:t>
            </a:r>
            <a:r>
              <a:rPr lang="ru-RU" sz="2400" dirty="0" err="1"/>
              <a:t>житті</a:t>
            </a:r>
            <a:r>
              <a:rPr lang="ru-RU" sz="2400" dirty="0"/>
              <a:t>, з часом </a:t>
            </a:r>
            <a:r>
              <a:rPr lang="ru-RU" sz="2400" dirty="0" err="1"/>
              <a:t>удосконалюються</a:t>
            </a:r>
            <a:r>
              <a:rPr lang="ru-RU" sz="2400" dirty="0"/>
              <a:t>)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399825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B63AF-790D-F91B-6098-9A4C825679F1}"/>
              </a:ext>
            </a:extLst>
          </p:cNvPr>
          <p:cNvSpPr txBox="1"/>
          <p:nvPr/>
        </p:nvSpPr>
        <p:spPr>
          <a:xfrm>
            <a:off x="107504" y="188640"/>
            <a:ext cx="90364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Як </a:t>
            </a:r>
            <a:r>
              <a:rPr lang="ru-RU" sz="2400" dirty="0" err="1"/>
              <a:t>дізнатися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компанія</a:t>
            </a:r>
            <a:r>
              <a:rPr lang="ru-RU" sz="2400" dirty="0"/>
              <a:t> </a:t>
            </a:r>
            <a:r>
              <a:rPr lang="ru-RU" sz="2400" dirty="0" err="1"/>
              <a:t>дотримується</a:t>
            </a:r>
            <a:r>
              <a:rPr lang="ru-RU" sz="2400" dirty="0"/>
              <a:t> </a:t>
            </a:r>
            <a:r>
              <a:rPr lang="ru-RU" sz="2400" dirty="0" err="1"/>
              <a:t>міжнародного</a:t>
            </a:r>
            <a:r>
              <a:rPr lang="ru-RU" sz="2400" dirty="0"/>
              <a:t> стандарту?</a:t>
            </a:r>
          </a:p>
          <a:p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err="1"/>
              <a:t>засвідчує</a:t>
            </a:r>
            <a:r>
              <a:rPr lang="ru-RU" sz="2400" dirty="0"/>
              <a:t> </a:t>
            </a:r>
            <a:r>
              <a:rPr lang="ru-RU" sz="2400" dirty="0" err="1"/>
              <a:t>спеціальний</a:t>
            </a:r>
            <a:r>
              <a:rPr lang="ru-RU" sz="2400" dirty="0"/>
              <a:t> </a:t>
            </a:r>
            <a:r>
              <a:rPr lang="ru-RU" sz="2400" dirty="0" err="1"/>
              <a:t>сертифікат</a:t>
            </a:r>
            <a:r>
              <a:rPr lang="ru-RU" sz="2400" dirty="0"/>
              <a:t>. До </a:t>
            </a:r>
            <a:r>
              <a:rPr lang="ru-RU" sz="2400" dirty="0" err="1"/>
              <a:t>речі</a:t>
            </a:r>
            <a:r>
              <a:rPr lang="ru-RU" sz="2400" dirty="0"/>
              <a:t>, </a:t>
            </a:r>
            <a:r>
              <a:rPr lang="ru-RU" sz="2400" dirty="0" err="1"/>
              <a:t>його</a:t>
            </a:r>
            <a:r>
              <a:rPr lang="ru-RU" sz="2400" dirty="0"/>
              <a:t> </a:t>
            </a:r>
            <a:r>
              <a:rPr lang="ru-RU" sz="2400" dirty="0" err="1"/>
              <a:t>отримання</a:t>
            </a:r>
            <a:r>
              <a:rPr lang="ru-RU" sz="2400" dirty="0"/>
              <a:t> – непроста справа. </a:t>
            </a:r>
            <a:r>
              <a:rPr lang="ru-RU" sz="2400" dirty="0" err="1"/>
              <a:t>Організація</a:t>
            </a:r>
            <a:r>
              <a:rPr lang="ru-RU" sz="2400" dirty="0"/>
              <a:t> </a:t>
            </a:r>
            <a:r>
              <a:rPr lang="ru-RU" sz="2400" dirty="0" err="1"/>
              <a:t>має</a:t>
            </a:r>
            <a:r>
              <a:rPr lang="ru-RU" sz="2400" dirty="0"/>
              <a:t> пройти </a:t>
            </a:r>
            <a:r>
              <a:rPr lang="ru-RU" sz="2400" dirty="0" err="1"/>
              <a:t>міжнародний</a:t>
            </a:r>
            <a:r>
              <a:rPr lang="ru-RU" sz="2400" dirty="0"/>
              <a:t> аудит, </a:t>
            </a:r>
            <a:r>
              <a:rPr lang="ru-RU" sz="2400" dirty="0" err="1"/>
              <a:t>під</a:t>
            </a:r>
            <a:r>
              <a:rPr lang="ru-RU" sz="2400" dirty="0"/>
              <a:t> час </a:t>
            </a:r>
            <a:r>
              <a:rPr lang="ru-RU" sz="2400" dirty="0" err="1"/>
              <a:t>якого</a:t>
            </a:r>
            <a:r>
              <a:rPr lang="ru-RU" sz="2400" dirty="0"/>
              <a:t> </a:t>
            </a:r>
            <a:r>
              <a:rPr lang="ru-RU" sz="2400" dirty="0" err="1"/>
              <a:t>перевірять</a:t>
            </a:r>
            <a:r>
              <a:rPr lang="ru-RU" sz="2400" dirty="0"/>
              <a:t>, </a:t>
            </a:r>
            <a:r>
              <a:rPr lang="ru-RU" sz="2400" dirty="0" err="1"/>
              <a:t>чи</a:t>
            </a:r>
            <a:r>
              <a:rPr lang="ru-RU" sz="2400" dirty="0"/>
              <a:t> </a:t>
            </a:r>
            <a:r>
              <a:rPr lang="ru-RU" sz="2400" dirty="0" err="1"/>
              <a:t>дійсно</a:t>
            </a:r>
            <a:r>
              <a:rPr lang="ru-RU" sz="2400" dirty="0"/>
              <a:t> </a:t>
            </a:r>
            <a:r>
              <a:rPr lang="ru-RU" sz="2400" dirty="0" err="1"/>
              <a:t>компанія</a:t>
            </a:r>
            <a:r>
              <a:rPr lang="ru-RU" sz="2400" dirty="0"/>
              <a:t> </a:t>
            </a:r>
            <a:r>
              <a:rPr lang="ru-RU" sz="2400" dirty="0" err="1"/>
              <a:t>дотримується</a:t>
            </a:r>
            <a:r>
              <a:rPr lang="ru-RU" sz="2400" dirty="0"/>
              <a:t> </a:t>
            </a:r>
            <a:r>
              <a:rPr lang="ru-RU" sz="2400" dirty="0" err="1"/>
              <a:t>всіх</a:t>
            </a:r>
            <a:r>
              <a:rPr lang="ru-RU" sz="2400" dirty="0"/>
              <a:t> </a:t>
            </a:r>
            <a:r>
              <a:rPr lang="ru-RU" sz="2400" dirty="0" err="1"/>
              <a:t>вимог</a:t>
            </a:r>
            <a:r>
              <a:rPr lang="ru-RU" sz="2400" dirty="0"/>
              <a:t>, </a:t>
            </a:r>
            <a:r>
              <a:rPr lang="ru-RU" sz="2400" dirty="0" err="1"/>
              <a:t>передбачених</a:t>
            </a:r>
            <a:r>
              <a:rPr lang="ru-RU" sz="2400" dirty="0"/>
              <a:t> стандартом.</a:t>
            </a:r>
          </a:p>
          <a:p>
            <a:r>
              <a:rPr lang="ru-RU" sz="2400" dirty="0"/>
              <a:t>Для </a:t>
            </a:r>
            <a:r>
              <a:rPr lang="ru-RU" sz="2400" dirty="0" err="1"/>
              <a:t>отримання</a:t>
            </a:r>
            <a:r>
              <a:rPr lang="ru-RU" sz="2400" dirty="0"/>
              <a:t> </a:t>
            </a:r>
            <a:r>
              <a:rPr lang="ru-RU" sz="2400" dirty="0" err="1"/>
              <a:t>сертифікату</a:t>
            </a:r>
            <a:r>
              <a:rPr lang="ru-RU" sz="2400" dirty="0"/>
              <a:t> стандарту </a:t>
            </a:r>
            <a:r>
              <a:rPr lang="en-US" sz="2400" dirty="0"/>
              <a:t>ISO 9001:2008 Lactalis-Ukraine </a:t>
            </a:r>
            <a:r>
              <a:rPr lang="ru-RU" sz="2400" dirty="0" err="1"/>
              <a:t>цю</a:t>
            </a:r>
            <a:r>
              <a:rPr lang="ru-RU" sz="2400" dirty="0"/>
              <a:t> </a:t>
            </a:r>
            <a:r>
              <a:rPr lang="ru-RU" sz="2400" dirty="0" err="1"/>
              <a:t>перевірку</a:t>
            </a:r>
            <a:r>
              <a:rPr lang="ru-RU" sz="2400" dirty="0"/>
              <a:t> </a:t>
            </a:r>
            <a:r>
              <a:rPr lang="ru-RU" sz="2400" dirty="0" err="1"/>
              <a:t>пройшла</a:t>
            </a:r>
            <a:r>
              <a:rPr lang="ru-RU" sz="2400" dirty="0"/>
              <a:t> у </a:t>
            </a:r>
            <a:r>
              <a:rPr lang="ru-RU" sz="2400" dirty="0" err="1"/>
              <a:t>грудні</a:t>
            </a:r>
            <a:r>
              <a:rPr lang="ru-RU" sz="2400" dirty="0"/>
              <a:t> 2009 року. </a:t>
            </a:r>
            <a:r>
              <a:rPr lang="ru-RU" sz="2400" dirty="0" err="1"/>
              <a:t>Наступного</a:t>
            </a:r>
            <a:r>
              <a:rPr lang="ru-RU" sz="2400" dirty="0"/>
              <a:t> року ми </a:t>
            </a:r>
            <a:r>
              <a:rPr lang="ru-RU" sz="2400" dirty="0" err="1"/>
              <a:t>отримали</a:t>
            </a:r>
            <a:r>
              <a:rPr lang="ru-RU" sz="2400" dirty="0"/>
              <a:t> </a:t>
            </a:r>
            <a:r>
              <a:rPr lang="ru-RU" sz="2400" dirty="0" err="1"/>
              <a:t>сертифікат</a:t>
            </a:r>
            <a:r>
              <a:rPr lang="ru-RU" sz="2400" dirty="0"/>
              <a:t> про </a:t>
            </a:r>
            <a:r>
              <a:rPr lang="ru-RU" sz="2400" dirty="0" err="1"/>
              <a:t>дотримання</a:t>
            </a:r>
            <a:r>
              <a:rPr lang="ru-RU" sz="2400" dirty="0"/>
              <a:t> </a:t>
            </a:r>
            <a:r>
              <a:rPr lang="ru-RU" sz="2400" dirty="0" err="1"/>
              <a:t>ще</a:t>
            </a:r>
            <a:r>
              <a:rPr lang="ru-RU" sz="2400" dirty="0"/>
              <a:t> одного </a:t>
            </a:r>
            <a:r>
              <a:rPr lang="ru-RU" sz="2400" dirty="0" err="1"/>
              <a:t>міжнародного</a:t>
            </a:r>
            <a:r>
              <a:rPr lang="ru-RU" sz="2400" dirty="0"/>
              <a:t> стандарту – </a:t>
            </a:r>
            <a:r>
              <a:rPr lang="en-US" sz="2400" dirty="0"/>
              <a:t>ISO 22000:2005.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2701797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Углы">
  <a:themeElements>
    <a:clrScheme name="Углы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Углы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Угл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33115</TotalTime>
  <Words>1033</Words>
  <Application>Microsoft Office PowerPoint</Application>
  <PresentationFormat>Экран (4:3)</PresentationFormat>
  <Paragraphs>52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Franklin Gothic Book</vt:lpstr>
      <vt:lpstr>Franklin Gothic Medium</vt:lpstr>
      <vt:lpstr>Wingdings</vt:lpstr>
      <vt:lpstr>Углы</vt:lpstr>
      <vt:lpstr> міжнародні стандарти  лекція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ISO та навколишнє середовище</vt:lpstr>
      <vt:lpstr>Презентация PowerPoint</vt:lpstr>
      <vt:lpstr>Презентация PowerPoint</vt:lpstr>
      <vt:lpstr>Презентация PowerPoint</vt:lpstr>
      <vt:lpstr>Що таке стандарт ISO? ТРОХИ ІСТОРІЇ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Документирование программных средств</dc:title>
  <dc:creator>Shiz</dc:creator>
  <cp:lastModifiedBy>380971674174</cp:lastModifiedBy>
  <cp:revision>206</cp:revision>
  <dcterms:created xsi:type="dcterms:W3CDTF">2017-04-10T20:23:37Z</dcterms:created>
  <dcterms:modified xsi:type="dcterms:W3CDTF">2023-03-27T17:49:57Z</dcterms:modified>
</cp:coreProperties>
</file>