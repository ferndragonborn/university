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70" r:id="rId9"/>
    <p:sldId id="264" r:id="rId10"/>
    <p:sldId id="265" r:id="rId11"/>
    <p:sldId id="266" r:id="rId12"/>
    <p:sldId id="267" r:id="rId13"/>
    <p:sldId id="268" r:id="rId14"/>
    <p:sldId id="269" r:id="rId15"/>
    <p:sldId id="271" r:id="rId16"/>
    <p:sldId id="272" r:id="rId17"/>
    <p:sldId id="273" r:id="rId18"/>
    <p:sldId id="274" r:id="rId19"/>
    <p:sldId id="275" r:id="rId20"/>
    <p:sldId id="276" r:id="rId21"/>
    <p:sldId id="277" r:id="rId22"/>
    <p:sldId id="278" r:id="rId23"/>
    <p:sldId id="279" r:id="rId24"/>
    <p:sldId id="280" r:id="rId25"/>
    <p:sldId id="281" r:id="rId26"/>
    <p:sldId id="283" r:id="rId27"/>
    <p:sldId id="284" r:id="rId28"/>
    <p:sldId id="285" r:id="rId29"/>
    <p:sldId id="286" r:id="rId30"/>
    <p:sldId id="287" r:id="rId31"/>
    <p:sldId id="288" r:id="rId32"/>
    <p:sldId id="289" r:id="rId33"/>
    <p:sldId id="290" r:id="rId34"/>
    <p:sldId id="292" r:id="rId35"/>
    <p:sldId id="291" r:id="rId36"/>
    <p:sldId id="293" r:id="rId37"/>
    <p:sldId id="294" r:id="rId38"/>
    <p:sldId id="295" r:id="rId39"/>
    <p:sldId id="296" r:id="rId40"/>
    <p:sldId id="297" r:id="rId41"/>
    <p:sldId id="298" r:id="rId42"/>
    <p:sldId id="299" r:id="rId43"/>
    <p:sldId id="300" r:id="rId44"/>
    <p:sldId id="305" r:id="rId45"/>
    <p:sldId id="304" r:id="rId46"/>
    <p:sldId id="306" r:id="rId47"/>
    <p:sldId id="301" r:id="rId48"/>
    <p:sldId id="303" r:id="rId49"/>
    <p:sldId id="307" r:id="rId50"/>
    <p:sldId id="308" r:id="rId51"/>
    <p:sldId id="263" r:id="rId52"/>
  </p:sldIdLst>
  <p:sldSz cx="9144000" cy="6858000" type="screen4x3"/>
  <p:notesSz cx="6858000" cy="9144000"/>
  <p:defaultTextStyle>
    <a:defPPr>
      <a:defRPr lang="ru-RU"/>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2" d="100"/>
          <a:sy n="82" d="100"/>
        </p:scale>
        <p:origin x="147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8" name="Заголовок 7"/>
          <p:cNvSpPr>
            <a:spLocks noGrp="1"/>
          </p:cNvSpPr>
          <p:nvPr>
            <p:ph type="ctrTitle"/>
          </p:nvPr>
        </p:nvSpPr>
        <p:spPr>
          <a:xfrm>
            <a:off x="422030" y="1371600"/>
            <a:ext cx="8229600" cy="1828800"/>
          </a:xfrm>
        </p:spPr>
        <p:txBody>
          <a:bodyPr lIns="45720" tIns="0" rIns="45720" bIns="0" anchor="b">
            <a:scene3d>
              <a:camera prst="orthographicFront"/>
              <a:lightRig rig="soft" dir="t">
                <a:rot lat="0" lon="0" rev="17220000"/>
              </a:lightRig>
            </a:scene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lang="ru-RU"/>
              <a:t>Образец заголовка</a:t>
            </a:r>
            <a:endParaRPr lang="en-US"/>
          </a:p>
        </p:txBody>
      </p:sp>
      <p:sp>
        <p:nvSpPr>
          <p:cNvPr id="9" name="Подзаголовок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ru-RU"/>
              <a:t>Образец подзаголовка</a:t>
            </a:r>
            <a:endParaRPr lang="en-US"/>
          </a:p>
        </p:txBody>
      </p:sp>
      <p:sp>
        <p:nvSpPr>
          <p:cNvPr id="4" name="Дата 13"/>
          <p:cNvSpPr>
            <a:spLocks noGrp="1"/>
          </p:cNvSpPr>
          <p:nvPr>
            <p:ph type="dt" sz="half" idx="10"/>
          </p:nvPr>
        </p:nvSpPr>
        <p:spPr/>
        <p:txBody>
          <a:bodyPr/>
          <a:lstStyle>
            <a:lvl1pPr>
              <a:defRPr/>
            </a:lvl1pPr>
          </a:lstStyle>
          <a:p>
            <a:pPr>
              <a:defRPr/>
            </a:pPr>
            <a:fld id="{C1B61B15-B18B-4184-844E-9C81302168ED}" type="datetimeFigureOut">
              <a:rPr lang="ru-RU"/>
              <a:pPr>
                <a:defRPr/>
              </a:pPr>
              <a:t>27.03.2023</a:t>
            </a:fld>
            <a:endParaRPr lang="ru-RU"/>
          </a:p>
        </p:txBody>
      </p:sp>
      <p:sp>
        <p:nvSpPr>
          <p:cNvPr id="5" name="Нижний колонтитул 2"/>
          <p:cNvSpPr>
            <a:spLocks noGrp="1"/>
          </p:cNvSpPr>
          <p:nvPr>
            <p:ph type="ftr" sz="quarter" idx="11"/>
          </p:nvPr>
        </p:nvSpPr>
        <p:spPr/>
        <p:txBody>
          <a:bodyPr/>
          <a:lstStyle>
            <a:lvl1pPr>
              <a:defRPr/>
            </a:lvl1pPr>
          </a:lstStyle>
          <a:p>
            <a:pPr>
              <a:defRPr/>
            </a:pPr>
            <a:endParaRPr lang="ru-RU"/>
          </a:p>
        </p:txBody>
      </p:sp>
      <p:sp>
        <p:nvSpPr>
          <p:cNvPr id="6" name="Номер слайда 22"/>
          <p:cNvSpPr>
            <a:spLocks noGrp="1"/>
          </p:cNvSpPr>
          <p:nvPr>
            <p:ph type="sldNum" sz="quarter" idx="12"/>
          </p:nvPr>
        </p:nvSpPr>
        <p:spPr/>
        <p:txBody>
          <a:bodyPr/>
          <a:lstStyle>
            <a:lvl1pPr>
              <a:defRPr/>
            </a:lvl1pPr>
          </a:lstStyle>
          <a:p>
            <a:pPr>
              <a:defRPr/>
            </a:pPr>
            <a:fld id="{41E790EA-2406-4E1F-A3D6-EE7B0AAE8262}" type="slidenum">
              <a:rPr lang="ru-RU"/>
              <a:pPr>
                <a:defRPr/>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endParaRPr lang="en-US"/>
          </a:p>
        </p:txBody>
      </p:sp>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13"/>
          <p:cNvSpPr>
            <a:spLocks noGrp="1"/>
          </p:cNvSpPr>
          <p:nvPr>
            <p:ph type="dt" sz="half" idx="10"/>
          </p:nvPr>
        </p:nvSpPr>
        <p:spPr/>
        <p:txBody>
          <a:bodyPr/>
          <a:lstStyle>
            <a:lvl1pPr>
              <a:defRPr/>
            </a:lvl1pPr>
          </a:lstStyle>
          <a:p>
            <a:pPr>
              <a:defRPr/>
            </a:pPr>
            <a:fld id="{B8C45157-06F1-4C7E-9E4F-3C5326764E2C}" type="datetimeFigureOut">
              <a:rPr lang="ru-RU"/>
              <a:pPr>
                <a:defRPr/>
              </a:pPr>
              <a:t>27.03.2023</a:t>
            </a:fld>
            <a:endParaRPr lang="ru-RU"/>
          </a:p>
        </p:txBody>
      </p:sp>
      <p:sp>
        <p:nvSpPr>
          <p:cNvPr id="5" name="Нижний колонтитул 2"/>
          <p:cNvSpPr>
            <a:spLocks noGrp="1"/>
          </p:cNvSpPr>
          <p:nvPr>
            <p:ph type="ftr" sz="quarter" idx="11"/>
          </p:nvPr>
        </p:nvSpPr>
        <p:spPr/>
        <p:txBody>
          <a:bodyPr/>
          <a:lstStyle>
            <a:lvl1pPr>
              <a:defRPr/>
            </a:lvl1pPr>
          </a:lstStyle>
          <a:p>
            <a:pPr>
              <a:defRPr/>
            </a:pPr>
            <a:endParaRPr lang="ru-RU"/>
          </a:p>
        </p:txBody>
      </p:sp>
      <p:sp>
        <p:nvSpPr>
          <p:cNvPr id="6" name="Номер слайда 22"/>
          <p:cNvSpPr>
            <a:spLocks noGrp="1"/>
          </p:cNvSpPr>
          <p:nvPr>
            <p:ph type="sldNum" sz="quarter" idx="12"/>
          </p:nvPr>
        </p:nvSpPr>
        <p:spPr/>
        <p:txBody>
          <a:bodyPr/>
          <a:lstStyle>
            <a:lvl1pPr>
              <a:defRPr/>
            </a:lvl1pPr>
          </a:lstStyle>
          <a:p>
            <a:pPr>
              <a:defRPr/>
            </a:pPr>
            <a:fld id="{28EC5110-DB67-4160-9376-73B52074BAC9}" type="slidenum">
              <a:rPr lang="ru-RU"/>
              <a:pPr>
                <a:defRPr/>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600200" y="609600"/>
            <a:ext cx="7086600" cy="1828800"/>
          </a:xfrm>
        </p:spPr>
        <p:txBody>
          <a:bodyPr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lang="ru-RU"/>
              <a:t>Образец заголовка</a:t>
            </a:r>
            <a:endParaRPr lang="en-US"/>
          </a:p>
        </p:txBody>
      </p:sp>
      <p:sp>
        <p:nvSpPr>
          <p:cNvPr id="3" name="Текст 2"/>
          <p:cNvSpPr>
            <a:spLocks noGrp="1"/>
          </p:cNvSpPr>
          <p:nvPr>
            <p:ph type="body" idx="1"/>
          </p:nvPr>
        </p:nvSpPr>
        <p:spPr>
          <a:xfrm>
            <a:off x="1600200" y="2507786"/>
            <a:ext cx="7086600" cy="1509712"/>
          </a:xfrm>
        </p:spPr>
        <p:txBody>
          <a:bodyPr/>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ru-RU"/>
              <a:t>Образец текста</a:t>
            </a:r>
          </a:p>
        </p:txBody>
      </p:sp>
      <p:sp>
        <p:nvSpPr>
          <p:cNvPr id="4" name="Дата 3"/>
          <p:cNvSpPr>
            <a:spLocks noGrp="1"/>
          </p:cNvSpPr>
          <p:nvPr>
            <p:ph type="dt" sz="half" idx="10"/>
          </p:nvPr>
        </p:nvSpPr>
        <p:spPr/>
        <p:txBody>
          <a:bodyPr/>
          <a:lstStyle>
            <a:lvl1pPr>
              <a:defRPr/>
            </a:lvl1pPr>
          </a:lstStyle>
          <a:p>
            <a:pPr>
              <a:defRPr/>
            </a:pPr>
            <a:fld id="{F6C70335-0866-467B-8A3C-3F30A44A7908}" type="datetimeFigureOut">
              <a:rPr lang="ru-RU"/>
              <a:pPr>
                <a:defRPr/>
              </a:pPr>
              <a:t>27.03.2023</a:t>
            </a:fld>
            <a:endParaRPr lang="ru-RU"/>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AA53BEC3-C53A-4193-B157-6C8E2A5CF5F5}" type="slidenum">
              <a:rPr lang="ru-RU"/>
              <a:pPr>
                <a:defRPr/>
              </a:pPr>
              <a:t>‹#›</a:t>
            </a:fld>
            <a:endParaRPr lang="ru-RU"/>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endParaRPr lang="en-US"/>
          </a:p>
        </p:txBody>
      </p:sp>
      <p:sp>
        <p:nvSpPr>
          <p:cNvPr id="3" name="Содержимое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Содержимое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Дата 13"/>
          <p:cNvSpPr>
            <a:spLocks noGrp="1"/>
          </p:cNvSpPr>
          <p:nvPr>
            <p:ph type="dt" sz="half" idx="10"/>
          </p:nvPr>
        </p:nvSpPr>
        <p:spPr/>
        <p:txBody>
          <a:bodyPr/>
          <a:lstStyle>
            <a:lvl1pPr>
              <a:defRPr/>
            </a:lvl1pPr>
          </a:lstStyle>
          <a:p>
            <a:pPr>
              <a:defRPr/>
            </a:pPr>
            <a:fld id="{A40B5AA4-905F-4A28-9624-C52C940CB60A}" type="datetimeFigureOut">
              <a:rPr lang="ru-RU"/>
              <a:pPr>
                <a:defRPr/>
              </a:pPr>
              <a:t>27.03.2023</a:t>
            </a:fld>
            <a:endParaRPr lang="ru-RU"/>
          </a:p>
        </p:txBody>
      </p:sp>
      <p:sp>
        <p:nvSpPr>
          <p:cNvPr id="6" name="Нижний колонтитул 2"/>
          <p:cNvSpPr>
            <a:spLocks noGrp="1"/>
          </p:cNvSpPr>
          <p:nvPr>
            <p:ph type="ftr" sz="quarter" idx="11"/>
          </p:nvPr>
        </p:nvSpPr>
        <p:spPr/>
        <p:txBody>
          <a:bodyPr/>
          <a:lstStyle>
            <a:lvl1pPr>
              <a:defRPr/>
            </a:lvl1pPr>
          </a:lstStyle>
          <a:p>
            <a:pPr>
              <a:defRPr/>
            </a:pPr>
            <a:endParaRPr lang="ru-RU"/>
          </a:p>
        </p:txBody>
      </p:sp>
      <p:sp>
        <p:nvSpPr>
          <p:cNvPr id="7" name="Номер слайда 22"/>
          <p:cNvSpPr>
            <a:spLocks noGrp="1"/>
          </p:cNvSpPr>
          <p:nvPr>
            <p:ph type="sldNum" sz="quarter" idx="12"/>
          </p:nvPr>
        </p:nvSpPr>
        <p:spPr/>
        <p:txBody>
          <a:bodyPr/>
          <a:lstStyle>
            <a:lvl1pPr>
              <a:defRPr/>
            </a:lvl1pPr>
          </a:lstStyle>
          <a:p>
            <a:pPr>
              <a:defRPr/>
            </a:pPr>
            <a:fld id="{2DAEBED3-0172-4DCF-840A-4A551F7ED1EF}" type="slidenum">
              <a:rPr lang="ru-RU"/>
              <a:pPr>
                <a:defRPr/>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8229600" cy="1143000"/>
          </a:xfrm>
        </p:spPr>
        <p:txBody>
          <a:bodyPr/>
          <a:lstStyle>
            <a:lvl1pPr>
              <a:defRPr/>
            </a:lvl1pPr>
          </a:lstStyle>
          <a:p>
            <a:r>
              <a:rPr lang="ru-RU"/>
              <a:t>Образец заголовка</a:t>
            </a:r>
            <a:endParaRPr lang="en-US"/>
          </a:p>
        </p:txBody>
      </p:sp>
      <p:sp>
        <p:nvSpPr>
          <p:cNvPr id="3" name="Текст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a:r>
              <a:rPr lang="ru-RU"/>
              <a:t>Образец текста</a:t>
            </a:r>
          </a:p>
        </p:txBody>
      </p:sp>
      <p:sp>
        <p:nvSpPr>
          <p:cNvPr id="4" name="Текст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a:r>
              <a:rPr lang="ru-RU"/>
              <a:t>Образец текста</a:t>
            </a:r>
          </a:p>
        </p:txBody>
      </p:sp>
      <p:sp>
        <p:nvSpPr>
          <p:cNvPr id="5" name="Содержимое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6" name="Содержимое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7" name="Дата 13"/>
          <p:cNvSpPr>
            <a:spLocks noGrp="1"/>
          </p:cNvSpPr>
          <p:nvPr>
            <p:ph type="dt" sz="half" idx="10"/>
          </p:nvPr>
        </p:nvSpPr>
        <p:spPr/>
        <p:txBody>
          <a:bodyPr/>
          <a:lstStyle>
            <a:lvl1pPr>
              <a:defRPr/>
            </a:lvl1pPr>
          </a:lstStyle>
          <a:p>
            <a:pPr>
              <a:defRPr/>
            </a:pPr>
            <a:fld id="{44BF52CE-820E-4894-BC56-7876CD3B7A3B}" type="datetimeFigureOut">
              <a:rPr lang="ru-RU"/>
              <a:pPr>
                <a:defRPr/>
              </a:pPr>
              <a:t>27.03.2023</a:t>
            </a:fld>
            <a:endParaRPr lang="ru-RU"/>
          </a:p>
        </p:txBody>
      </p:sp>
      <p:sp>
        <p:nvSpPr>
          <p:cNvPr id="8" name="Нижний колонтитул 2"/>
          <p:cNvSpPr>
            <a:spLocks noGrp="1"/>
          </p:cNvSpPr>
          <p:nvPr>
            <p:ph type="ftr" sz="quarter" idx="11"/>
          </p:nvPr>
        </p:nvSpPr>
        <p:spPr/>
        <p:txBody>
          <a:bodyPr/>
          <a:lstStyle>
            <a:lvl1pPr>
              <a:defRPr/>
            </a:lvl1pPr>
          </a:lstStyle>
          <a:p>
            <a:pPr>
              <a:defRPr/>
            </a:pPr>
            <a:endParaRPr lang="ru-RU"/>
          </a:p>
        </p:txBody>
      </p:sp>
      <p:sp>
        <p:nvSpPr>
          <p:cNvPr id="9" name="Номер слайда 22"/>
          <p:cNvSpPr>
            <a:spLocks noGrp="1"/>
          </p:cNvSpPr>
          <p:nvPr>
            <p:ph type="sldNum" sz="quarter" idx="12"/>
          </p:nvPr>
        </p:nvSpPr>
        <p:spPr/>
        <p:txBody>
          <a:bodyPr/>
          <a:lstStyle>
            <a:lvl1pPr>
              <a:defRPr/>
            </a:lvl1pPr>
          </a:lstStyle>
          <a:p>
            <a:pPr>
              <a:defRPr/>
            </a:pPr>
            <a:fld id="{7BDDCCEC-81CC-4A01-895A-D047F45D155F}" type="slidenum">
              <a:rPr lang="ru-RU"/>
              <a:pPr>
                <a:defRPr/>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endParaRPr lang="en-US"/>
          </a:p>
        </p:txBody>
      </p:sp>
      <p:sp>
        <p:nvSpPr>
          <p:cNvPr id="3" name="Дата 13"/>
          <p:cNvSpPr>
            <a:spLocks noGrp="1"/>
          </p:cNvSpPr>
          <p:nvPr>
            <p:ph type="dt" sz="half" idx="10"/>
          </p:nvPr>
        </p:nvSpPr>
        <p:spPr/>
        <p:txBody>
          <a:bodyPr/>
          <a:lstStyle>
            <a:lvl1pPr>
              <a:defRPr/>
            </a:lvl1pPr>
          </a:lstStyle>
          <a:p>
            <a:pPr>
              <a:defRPr/>
            </a:pPr>
            <a:fld id="{C15B79C8-5222-4C3A-8002-C2F500638E68}" type="datetimeFigureOut">
              <a:rPr lang="ru-RU"/>
              <a:pPr>
                <a:defRPr/>
              </a:pPr>
              <a:t>27.03.2023</a:t>
            </a:fld>
            <a:endParaRPr lang="ru-RU"/>
          </a:p>
        </p:txBody>
      </p:sp>
      <p:sp>
        <p:nvSpPr>
          <p:cNvPr id="4" name="Нижний колонтитул 2"/>
          <p:cNvSpPr>
            <a:spLocks noGrp="1"/>
          </p:cNvSpPr>
          <p:nvPr>
            <p:ph type="ftr" sz="quarter" idx="11"/>
          </p:nvPr>
        </p:nvSpPr>
        <p:spPr/>
        <p:txBody>
          <a:bodyPr/>
          <a:lstStyle>
            <a:lvl1pPr>
              <a:defRPr/>
            </a:lvl1pPr>
          </a:lstStyle>
          <a:p>
            <a:pPr>
              <a:defRPr/>
            </a:pPr>
            <a:endParaRPr lang="ru-RU"/>
          </a:p>
        </p:txBody>
      </p:sp>
      <p:sp>
        <p:nvSpPr>
          <p:cNvPr id="5" name="Номер слайда 22"/>
          <p:cNvSpPr>
            <a:spLocks noGrp="1"/>
          </p:cNvSpPr>
          <p:nvPr>
            <p:ph type="sldNum" sz="quarter" idx="12"/>
          </p:nvPr>
        </p:nvSpPr>
        <p:spPr/>
        <p:txBody>
          <a:bodyPr/>
          <a:lstStyle>
            <a:lvl1pPr>
              <a:defRPr/>
            </a:lvl1pPr>
          </a:lstStyle>
          <a:p>
            <a:pPr>
              <a:defRPr/>
            </a:pPr>
            <a:fld id="{88068052-06BD-4586-8D55-5BB827D6BAE0}" type="slidenum">
              <a:rPr lang="ru-RU"/>
              <a:pPr>
                <a:defRPr/>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3"/>
          <p:cNvSpPr>
            <a:spLocks noGrp="1"/>
          </p:cNvSpPr>
          <p:nvPr>
            <p:ph type="dt" sz="half" idx="10"/>
          </p:nvPr>
        </p:nvSpPr>
        <p:spPr/>
        <p:txBody>
          <a:bodyPr/>
          <a:lstStyle>
            <a:lvl1pPr>
              <a:defRPr/>
            </a:lvl1pPr>
          </a:lstStyle>
          <a:p>
            <a:pPr>
              <a:defRPr/>
            </a:pPr>
            <a:fld id="{925BD3C7-D42A-412E-A2B9-8777A337B580}" type="datetimeFigureOut">
              <a:rPr lang="ru-RU"/>
              <a:pPr>
                <a:defRPr/>
              </a:pPr>
              <a:t>27.03.2023</a:t>
            </a:fld>
            <a:endParaRPr lang="ru-RU"/>
          </a:p>
        </p:txBody>
      </p:sp>
      <p:sp>
        <p:nvSpPr>
          <p:cNvPr id="3" name="Нижний колонтитул 2"/>
          <p:cNvSpPr>
            <a:spLocks noGrp="1"/>
          </p:cNvSpPr>
          <p:nvPr>
            <p:ph type="ftr" sz="quarter" idx="11"/>
          </p:nvPr>
        </p:nvSpPr>
        <p:spPr/>
        <p:txBody>
          <a:bodyPr/>
          <a:lstStyle>
            <a:lvl1pPr>
              <a:defRPr/>
            </a:lvl1pPr>
          </a:lstStyle>
          <a:p>
            <a:pPr>
              <a:defRPr/>
            </a:pPr>
            <a:endParaRPr lang="ru-RU"/>
          </a:p>
        </p:txBody>
      </p:sp>
      <p:sp>
        <p:nvSpPr>
          <p:cNvPr id="4" name="Номер слайда 22"/>
          <p:cNvSpPr>
            <a:spLocks noGrp="1"/>
          </p:cNvSpPr>
          <p:nvPr>
            <p:ph type="sldNum" sz="quarter" idx="12"/>
          </p:nvPr>
        </p:nvSpPr>
        <p:spPr/>
        <p:txBody>
          <a:bodyPr/>
          <a:lstStyle>
            <a:lvl1pPr>
              <a:defRPr/>
            </a:lvl1pPr>
          </a:lstStyle>
          <a:p>
            <a:pPr>
              <a:defRPr/>
            </a:pPr>
            <a:fld id="{73861AE0-6E73-4913-837F-0BDE13A3B86D}" type="slidenum">
              <a:rPr lang="ru-RU"/>
              <a:pPr>
                <a:defRPr/>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sp3d prstMaterial="softEdge"/>
          </a:bodyPr>
          <a:lstStyle>
            <a:lvl1pPr algn="l">
              <a:buNone/>
              <a:defRPr sz="2200" b="0">
                <a:ln w="6350">
                  <a:noFill/>
                </a:ln>
                <a:solidFill>
                  <a:schemeClr val="accent1">
                    <a:tint val="73000"/>
                    <a:satMod val="180000"/>
                  </a:schemeClr>
                </a:solidFill>
              </a:defRPr>
            </a:lvl1pPr>
          </a:lstStyle>
          <a:p>
            <a:r>
              <a:rPr lang="ru-RU"/>
              <a:t>Образец заголовка</a:t>
            </a:r>
            <a:endParaRPr lang="en-US"/>
          </a:p>
        </p:txBody>
      </p:sp>
      <p:sp>
        <p:nvSpPr>
          <p:cNvPr id="3" name="Текст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a:r>
              <a:rPr lang="ru-RU"/>
              <a:t>Образец текста</a:t>
            </a:r>
          </a:p>
        </p:txBody>
      </p:sp>
      <p:sp>
        <p:nvSpPr>
          <p:cNvPr id="4" name="Содержимое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Дата 13"/>
          <p:cNvSpPr>
            <a:spLocks noGrp="1"/>
          </p:cNvSpPr>
          <p:nvPr>
            <p:ph type="dt" sz="half" idx="10"/>
          </p:nvPr>
        </p:nvSpPr>
        <p:spPr/>
        <p:txBody>
          <a:bodyPr/>
          <a:lstStyle>
            <a:lvl1pPr>
              <a:defRPr/>
            </a:lvl1pPr>
          </a:lstStyle>
          <a:p>
            <a:pPr>
              <a:defRPr/>
            </a:pPr>
            <a:fld id="{622B94EE-DA3F-4FCB-8818-8DB36A9D914F}" type="datetimeFigureOut">
              <a:rPr lang="ru-RU"/>
              <a:pPr>
                <a:defRPr/>
              </a:pPr>
              <a:t>27.03.2023</a:t>
            </a:fld>
            <a:endParaRPr lang="ru-RU"/>
          </a:p>
        </p:txBody>
      </p:sp>
      <p:sp>
        <p:nvSpPr>
          <p:cNvPr id="6" name="Нижний колонтитул 2"/>
          <p:cNvSpPr>
            <a:spLocks noGrp="1"/>
          </p:cNvSpPr>
          <p:nvPr>
            <p:ph type="ftr" sz="quarter" idx="11"/>
          </p:nvPr>
        </p:nvSpPr>
        <p:spPr/>
        <p:txBody>
          <a:bodyPr/>
          <a:lstStyle>
            <a:lvl1pPr>
              <a:defRPr/>
            </a:lvl1pPr>
          </a:lstStyle>
          <a:p>
            <a:pPr>
              <a:defRPr/>
            </a:pPr>
            <a:endParaRPr lang="ru-RU"/>
          </a:p>
        </p:txBody>
      </p:sp>
      <p:sp>
        <p:nvSpPr>
          <p:cNvPr id="7" name="Номер слайда 22"/>
          <p:cNvSpPr>
            <a:spLocks noGrp="1"/>
          </p:cNvSpPr>
          <p:nvPr>
            <p:ph type="sldNum" sz="quarter" idx="12"/>
          </p:nvPr>
        </p:nvSpPr>
        <p:spPr/>
        <p:txBody>
          <a:bodyPr/>
          <a:lstStyle>
            <a:lvl1pPr>
              <a:defRPr/>
            </a:lvl1pPr>
          </a:lstStyle>
          <a:p>
            <a:pPr>
              <a:defRPr/>
            </a:pPr>
            <a:fld id="{A1FCFEC7-AD88-4275-91E9-278E47CA7A6E}" type="slidenum">
              <a:rPr lang="ru-RU"/>
              <a:pPr>
                <a:defRPr/>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lang="ru-RU"/>
              <a:t>Образец заголовка</a:t>
            </a:r>
            <a:endParaRPr lang="en-US"/>
          </a:p>
        </p:txBody>
      </p:sp>
      <p:sp>
        <p:nvSpPr>
          <p:cNvPr id="3" name="Рисунок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ormAutofit/>
          </a:bodyPr>
          <a:lstStyle>
            <a:lvl1pPr indent="0">
              <a:buNone/>
              <a:defRPr sz="3200"/>
            </a:lvl1pPr>
          </a:lstStyle>
          <a:p>
            <a:pPr lvl="0"/>
            <a:r>
              <a:rPr lang="ru-RU" noProof="0"/>
              <a:t>Вставка рисунка</a:t>
            </a:r>
            <a:endParaRPr lang="en-US" noProof="0" dirty="0"/>
          </a:p>
        </p:txBody>
      </p:sp>
      <p:sp>
        <p:nvSpPr>
          <p:cNvPr id="4" name="Текст 3"/>
          <p:cNvSpPr>
            <a:spLocks noGrp="1"/>
          </p:cNvSpPr>
          <p:nvPr>
            <p:ph type="body" sz="half" idx="2"/>
          </p:nvPr>
        </p:nvSpPr>
        <p:spPr>
          <a:xfrm>
            <a:off x="1828800" y="1166787"/>
            <a:ext cx="5486400" cy="530352"/>
          </a:xfrm>
        </p:spPr>
        <p:txBody>
          <a:bodyPr lIns="45720" rIns="45720"/>
          <a:lstStyle>
            <a:lvl1pPr marL="0" indent="0" algn="ctr">
              <a:buNone/>
              <a:defRPr sz="1400"/>
            </a:lvl1pPr>
            <a:lvl2pPr>
              <a:defRPr sz="1200"/>
            </a:lvl2pPr>
            <a:lvl3pPr>
              <a:defRPr sz="1000"/>
            </a:lvl3pPr>
            <a:lvl4pPr>
              <a:defRPr sz="900"/>
            </a:lvl4pPr>
            <a:lvl5pPr>
              <a:defRPr sz="900"/>
            </a:lvl5pPr>
          </a:lstStyle>
          <a:p>
            <a:pPr lvl="0"/>
            <a:r>
              <a:rPr lang="ru-RU"/>
              <a:t>Образец текста</a:t>
            </a:r>
          </a:p>
        </p:txBody>
      </p:sp>
      <p:sp>
        <p:nvSpPr>
          <p:cNvPr id="5" name="Дата 13"/>
          <p:cNvSpPr>
            <a:spLocks noGrp="1"/>
          </p:cNvSpPr>
          <p:nvPr>
            <p:ph type="dt" sz="half" idx="10"/>
          </p:nvPr>
        </p:nvSpPr>
        <p:spPr/>
        <p:txBody>
          <a:bodyPr/>
          <a:lstStyle>
            <a:lvl1pPr>
              <a:defRPr/>
            </a:lvl1pPr>
          </a:lstStyle>
          <a:p>
            <a:pPr>
              <a:defRPr/>
            </a:pPr>
            <a:fld id="{6A91C005-7A3E-47A7-B800-EBE383ABAE3E}" type="datetimeFigureOut">
              <a:rPr lang="ru-RU"/>
              <a:pPr>
                <a:defRPr/>
              </a:pPr>
              <a:t>27.03.2023</a:t>
            </a:fld>
            <a:endParaRPr lang="ru-RU"/>
          </a:p>
        </p:txBody>
      </p:sp>
      <p:sp>
        <p:nvSpPr>
          <p:cNvPr id="6" name="Нижний колонтитул 2"/>
          <p:cNvSpPr>
            <a:spLocks noGrp="1"/>
          </p:cNvSpPr>
          <p:nvPr>
            <p:ph type="ftr" sz="quarter" idx="11"/>
          </p:nvPr>
        </p:nvSpPr>
        <p:spPr/>
        <p:txBody>
          <a:bodyPr/>
          <a:lstStyle>
            <a:lvl1pPr>
              <a:defRPr/>
            </a:lvl1pPr>
          </a:lstStyle>
          <a:p>
            <a:pPr>
              <a:defRPr/>
            </a:pPr>
            <a:endParaRPr lang="ru-RU"/>
          </a:p>
        </p:txBody>
      </p:sp>
      <p:sp>
        <p:nvSpPr>
          <p:cNvPr id="7" name="Номер слайда 22"/>
          <p:cNvSpPr>
            <a:spLocks noGrp="1"/>
          </p:cNvSpPr>
          <p:nvPr>
            <p:ph type="sldNum" sz="quarter" idx="12"/>
          </p:nvPr>
        </p:nvSpPr>
        <p:spPr/>
        <p:txBody>
          <a:bodyPr/>
          <a:lstStyle>
            <a:lvl1pPr>
              <a:defRPr/>
            </a:lvl1pPr>
          </a:lstStyle>
          <a:p>
            <a:pPr>
              <a:defRPr/>
            </a:pPr>
            <a:fld id="{8040EEC0-6892-4D4E-923B-2DB30C25B346}" type="slidenum">
              <a:rPr lang="ru-RU"/>
              <a:pPr>
                <a:defRPr/>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endParaRPr lang="en-US"/>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13"/>
          <p:cNvSpPr>
            <a:spLocks noGrp="1"/>
          </p:cNvSpPr>
          <p:nvPr>
            <p:ph type="dt" sz="half" idx="10"/>
          </p:nvPr>
        </p:nvSpPr>
        <p:spPr/>
        <p:txBody>
          <a:bodyPr/>
          <a:lstStyle>
            <a:lvl1pPr>
              <a:defRPr/>
            </a:lvl1pPr>
          </a:lstStyle>
          <a:p>
            <a:pPr>
              <a:defRPr/>
            </a:pPr>
            <a:fld id="{ED13EFC0-FD9C-416C-B0CF-EE3A32FFEE23}" type="datetimeFigureOut">
              <a:rPr lang="ru-RU"/>
              <a:pPr>
                <a:defRPr/>
              </a:pPr>
              <a:t>27.03.2023</a:t>
            </a:fld>
            <a:endParaRPr lang="ru-RU"/>
          </a:p>
        </p:txBody>
      </p:sp>
      <p:sp>
        <p:nvSpPr>
          <p:cNvPr id="5" name="Нижний колонтитул 2"/>
          <p:cNvSpPr>
            <a:spLocks noGrp="1"/>
          </p:cNvSpPr>
          <p:nvPr>
            <p:ph type="ftr" sz="quarter" idx="11"/>
          </p:nvPr>
        </p:nvSpPr>
        <p:spPr/>
        <p:txBody>
          <a:bodyPr/>
          <a:lstStyle>
            <a:lvl1pPr>
              <a:defRPr/>
            </a:lvl1pPr>
          </a:lstStyle>
          <a:p>
            <a:pPr>
              <a:defRPr/>
            </a:pPr>
            <a:endParaRPr lang="ru-RU"/>
          </a:p>
        </p:txBody>
      </p:sp>
      <p:sp>
        <p:nvSpPr>
          <p:cNvPr id="6" name="Номер слайда 22"/>
          <p:cNvSpPr>
            <a:spLocks noGrp="1"/>
          </p:cNvSpPr>
          <p:nvPr>
            <p:ph type="sldNum" sz="quarter" idx="12"/>
          </p:nvPr>
        </p:nvSpPr>
        <p:spPr/>
        <p:txBody>
          <a:bodyPr/>
          <a:lstStyle>
            <a:lvl1pPr>
              <a:defRPr/>
            </a:lvl1pPr>
          </a:lstStyle>
          <a:p>
            <a:pPr>
              <a:defRPr/>
            </a:pPr>
            <a:fld id="{05D6F53C-4E17-4C57-A154-DB61A6B6134C}" type="slidenum">
              <a:rPr lang="ru-RU"/>
              <a:pPr>
                <a:defRPr/>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a:t>Образец заголовка</a:t>
            </a:r>
            <a:endParaRPr lang="en-US"/>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13"/>
          <p:cNvSpPr>
            <a:spLocks noGrp="1"/>
          </p:cNvSpPr>
          <p:nvPr>
            <p:ph type="dt" sz="half" idx="10"/>
          </p:nvPr>
        </p:nvSpPr>
        <p:spPr/>
        <p:txBody>
          <a:bodyPr/>
          <a:lstStyle>
            <a:lvl1pPr>
              <a:defRPr/>
            </a:lvl1pPr>
          </a:lstStyle>
          <a:p>
            <a:pPr>
              <a:defRPr/>
            </a:pPr>
            <a:fld id="{431912F1-7FBE-48D4-8765-CA21245BF297}" type="datetimeFigureOut">
              <a:rPr lang="ru-RU"/>
              <a:pPr>
                <a:defRPr/>
              </a:pPr>
              <a:t>27.03.2023</a:t>
            </a:fld>
            <a:endParaRPr lang="ru-RU"/>
          </a:p>
        </p:txBody>
      </p:sp>
      <p:sp>
        <p:nvSpPr>
          <p:cNvPr id="5" name="Нижний колонтитул 2"/>
          <p:cNvSpPr>
            <a:spLocks noGrp="1"/>
          </p:cNvSpPr>
          <p:nvPr>
            <p:ph type="ftr" sz="quarter" idx="11"/>
          </p:nvPr>
        </p:nvSpPr>
        <p:spPr/>
        <p:txBody>
          <a:bodyPr/>
          <a:lstStyle>
            <a:lvl1pPr>
              <a:defRPr/>
            </a:lvl1pPr>
          </a:lstStyle>
          <a:p>
            <a:pPr>
              <a:defRPr/>
            </a:pPr>
            <a:endParaRPr lang="ru-RU"/>
          </a:p>
        </p:txBody>
      </p:sp>
      <p:sp>
        <p:nvSpPr>
          <p:cNvPr id="6" name="Номер слайда 22"/>
          <p:cNvSpPr>
            <a:spLocks noGrp="1"/>
          </p:cNvSpPr>
          <p:nvPr>
            <p:ph type="sldNum" sz="quarter" idx="12"/>
          </p:nvPr>
        </p:nvSpPr>
        <p:spPr/>
        <p:txBody>
          <a:bodyPr/>
          <a:lstStyle>
            <a:lvl1pPr>
              <a:defRPr/>
            </a:lvl1pPr>
          </a:lstStyle>
          <a:p>
            <a:pPr>
              <a:defRPr/>
            </a:pPr>
            <a:fld id="{A764AB91-D69B-4552-92B9-DE11992A361E}" type="slidenum">
              <a:rPr lang="ru-RU"/>
              <a:pPr>
                <a:defRPr/>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Заголовок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lang="ru-RU"/>
              <a:t>Образец заголовка</a:t>
            </a:r>
            <a:endParaRPr lang="en-US"/>
          </a:p>
        </p:txBody>
      </p:sp>
      <p:sp>
        <p:nvSpPr>
          <p:cNvPr id="1027" name="Текст 12"/>
          <p:cNvSpPr>
            <a:spLocks noGrp="1"/>
          </p:cNvSpPr>
          <p:nvPr>
            <p:ph type="body" idx="1"/>
          </p:nvPr>
        </p:nvSpPr>
        <p:spPr bwMode="auto">
          <a:xfrm>
            <a:off x="457200" y="1600200"/>
            <a:ext cx="8229600" cy="47085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14" name="Дата 13"/>
          <p:cNvSpPr>
            <a:spLocks noGrp="1"/>
          </p:cNvSpPr>
          <p:nvPr>
            <p:ph type="dt" sz="half" idx="2"/>
          </p:nvPr>
        </p:nvSpPr>
        <p:spPr>
          <a:xfrm>
            <a:off x="457200" y="6416675"/>
            <a:ext cx="2133600" cy="365125"/>
          </a:xfrm>
          <a:prstGeom prst="rect">
            <a:avLst/>
          </a:prstGeom>
        </p:spPr>
        <p:txBody>
          <a:bodyPr vert="horz" anchor="b"/>
          <a:lstStyle>
            <a:lvl1pPr algn="l" eaLnBrk="1" fontAlgn="auto" latinLnBrk="0" hangingPunct="1">
              <a:spcBef>
                <a:spcPts val="0"/>
              </a:spcBef>
              <a:spcAft>
                <a:spcPts val="0"/>
              </a:spcAft>
              <a:defRPr kumimoji="0" sz="1200" smtClean="0">
                <a:solidFill>
                  <a:schemeClr val="tx1">
                    <a:shade val="50000"/>
                  </a:schemeClr>
                </a:solidFill>
                <a:latin typeface="+mn-lt"/>
              </a:defRPr>
            </a:lvl1pPr>
          </a:lstStyle>
          <a:p>
            <a:pPr>
              <a:defRPr/>
            </a:pPr>
            <a:fld id="{11A36056-80AA-4712-AA57-2935920C3C88}" type="datetimeFigureOut">
              <a:rPr lang="ru-RU"/>
              <a:pPr>
                <a:defRPr/>
              </a:pPr>
              <a:t>27.03.2023</a:t>
            </a:fld>
            <a:endParaRPr lang="ru-RU"/>
          </a:p>
        </p:txBody>
      </p:sp>
      <p:sp>
        <p:nvSpPr>
          <p:cNvPr id="3" name="Нижний колонтитул 2"/>
          <p:cNvSpPr>
            <a:spLocks noGrp="1"/>
          </p:cNvSpPr>
          <p:nvPr>
            <p:ph type="ftr" sz="quarter" idx="3"/>
          </p:nvPr>
        </p:nvSpPr>
        <p:spPr>
          <a:xfrm>
            <a:off x="3124200" y="6416675"/>
            <a:ext cx="2895600" cy="365125"/>
          </a:xfrm>
          <a:prstGeom prst="rect">
            <a:avLst/>
          </a:prstGeom>
        </p:spPr>
        <p:txBody>
          <a:bodyPr vert="horz" anchor="b"/>
          <a:lstStyle>
            <a:lvl1pPr algn="ctr" eaLnBrk="1" fontAlgn="auto" latinLnBrk="0" hangingPunct="1">
              <a:spcBef>
                <a:spcPts val="0"/>
              </a:spcBef>
              <a:spcAft>
                <a:spcPts val="0"/>
              </a:spcAft>
              <a:defRPr kumimoji="0" sz="1200">
                <a:solidFill>
                  <a:schemeClr val="tx1">
                    <a:shade val="50000"/>
                  </a:schemeClr>
                </a:solidFill>
                <a:latin typeface="+mn-lt"/>
              </a:defRPr>
            </a:lvl1pPr>
          </a:lstStyle>
          <a:p>
            <a:pPr>
              <a:defRPr/>
            </a:pPr>
            <a:endParaRPr lang="ru-RU"/>
          </a:p>
        </p:txBody>
      </p:sp>
      <p:sp>
        <p:nvSpPr>
          <p:cNvPr id="23" name="Номер слайда 22"/>
          <p:cNvSpPr>
            <a:spLocks noGrp="1"/>
          </p:cNvSpPr>
          <p:nvPr>
            <p:ph type="sldNum" sz="quarter" idx="4"/>
          </p:nvPr>
        </p:nvSpPr>
        <p:spPr>
          <a:xfrm>
            <a:off x="7924800" y="6416675"/>
            <a:ext cx="762000" cy="365125"/>
          </a:xfrm>
          <a:prstGeom prst="rect">
            <a:avLst/>
          </a:prstGeom>
        </p:spPr>
        <p:txBody>
          <a:bodyPr vert="horz" lIns="0" rIns="0" anchor="b"/>
          <a:lstStyle>
            <a:lvl1pPr algn="r" eaLnBrk="1" fontAlgn="auto" latinLnBrk="0" hangingPunct="1">
              <a:spcBef>
                <a:spcPts val="0"/>
              </a:spcBef>
              <a:spcAft>
                <a:spcPts val="0"/>
              </a:spcAft>
              <a:defRPr kumimoji="0" sz="1200" smtClean="0">
                <a:solidFill>
                  <a:schemeClr val="tx1">
                    <a:shade val="50000"/>
                  </a:schemeClr>
                </a:solidFill>
                <a:latin typeface="+mn-lt"/>
              </a:defRPr>
            </a:lvl1pPr>
          </a:lstStyle>
          <a:p>
            <a:pPr>
              <a:defRPr/>
            </a:pPr>
            <a:fld id="{9B75A472-6AB6-41F4-A493-3D6B0AA10D16}" type="slidenum">
              <a:rPr lang="ru-RU"/>
              <a:pPr>
                <a:defRPr/>
              </a:pPr>
              <a:t>‹#›</a:t>
            </a:fld>
            <a:endParaRPr lang="ru-RU"/>
          </a:p>
        </p:txBody>
      </p:sp>
    </p:spTree>
  </p:cSld>
  <p:clrMap bg1="dk1" tx1="lt1" bg2="dk2" tx2="lt2" accent1="accent1" accent2="accent2" accent3="accent3" accent4="accent4" accent5="accent5" accent6="accent6" hlink="hlink" folHlink="folHlink"/>
  <p:sldLayoutIdLst>
    <p:sldLayoutId id="2147483662" r:id="rId1"/>
    <p:sldLayoutId id="2147483663" r:id="rId2"/>
    <p:sldLayoutId id="2147483672"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fontAlgn="base">
        <a:spcBef>
          <a:spcPct val="0"/>
        </a:spcBef>
        <a:spcAft>
          <a:spcPct val="0"/>
        </a:spcAft>
        <a:defRPr sz="4100" b="1" kern="120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a:lvl2pPr algn="ctr" rtl="0" fontAlgn="base">
        <a:spcBef>
          <a:spcPct val="0"/>
        </a:spcBef>
        <a:spcAft>
          <a:spcPct val="0"/>
        </a:spcAft>
        <a:defRPr sz="4100" b="1">
          <a:solidFill>
            <a:schemeClr val="tx1"/>
          </a:solidFill>
          <a:latin typeface="Arial" charset="0"/>
        </a:defRPr>
      </a:lvl2pPr>
      <a:lvl3pPr algn="ctr" rtl="0" fontAlgn="base">
        <a:spcBef>
          <a:spcPct val="0"/>
        </a:spcBef>
        <a:spcAft>
          <a:spcPct val="0"/>
        </a:spcAft>
        <a:defRPr sz="4100" b="1">
          <a:solidFill>
            <a:schemeClr val="tx1"/>
          </a:solidFill>
          <a:latin typeface="Arial" charset="0"/>
        </a:defRPr>
      </a:lvl3pPr>
      <a:lvl4pPr algn="ctr" rtl="0" fontAlgn="base">
        <a:spcBef>
          <a:spcPct val="0"/>
        </a:spcBef>
        <a:spcAft>
          <a:spcPct val="0"/>
        </a:spcAft>
        <a:defRPr sz="4100" b="1">
          <a:solidFill>
            <a:schemeClr val="tx1"/>
          </a:solidFill>
          <a:latin typeface="Arial" charset="0"/>
        </a:defRPr>
      </a:lvl4pPr>
      <a:lvl5pPr algn="ctr" rtl="0" fontAlgn="base">
        <a:spcBef>
          <a:spcPct val="0"/>
        </a:spcBef>
        <a:spcAft>
          <a:spcPct val="0"/>
        </a:spcAft>
        <a:defRPr sz="4100" b="1">
          <a:solidFill>
            <a:schemeClr val="tx1"/>
          </a:solidFill>
          <a:latin typeface="Arial" charset="0"/>
        </a:defRPr>
      </a:lvl5pPr>
      <a:lvl6pPr marL="457200" algn="ctr" rtl="0" fontAlgn="base">
        <a:spcBef>
          <a:spcPct val="0"/>
        </a:spcBef>
        <a:spcAft>
          <a:spcPct val="0"/>
        </a:spcAft>
        <a:defRPr sz="4100" b="1">
          <a:solidFill>
            <a:schemeClr val="tx1"/>
          </a:solidFill>
          <a:latin typeface="Arial" charset="0"/>
        </a:defRPr>
      </a:lvl6pPr>
      <a:lvl7pPr marL="914400" algn="ctr" rtl="0" fontAlgn="base">
        <a:spcBef>
          <a:spcPct val="0"/>
        </a:spcBef>
        <a:spcAft>
          <a:spcPct val="0"/>
        </a:spcAft>
        <a:defRPr sz="4100" b="1">
          <a:solidFill>
            <a:schemeClr val="tx1"/>
          </a:solidFill>
          <a:latin typeface="Arial" charset="0"/>
        </a:defRPr>
      </a:lvl7pPr>
      <a:lvl8pPr marL="1371600" algn="ctr" rtl="0" fontAlgn="base">
        <a:spcBef>
          <a:spcPct val="0"/>
        </a:spcBef>
        <a:spcAft>
          <a:spcPct val="0"/>
        </a:spcAft>
        <a:defRPr sz="4100" b="1">
          <a:solidFill>
            <a:schemeClr val="tx1"/>
          </a:solidFill>
          <a:latin typeface="Arial" charset="0"/>
        </a:defRPr>
      </a:lvl8pPr>
      <a:lvl9pPr marL="1828800" algn="ctr" rtl="0" fontAlgn="base">
        <a:spcBef>
          <a:spcPct val="0"/>
        </a:spcBef>
        <a:spcAft>
          <a:spcPct val="0"/>
        </a:spcAft>
        <a:defRPr sz="4100" b="1">
          <a:solidFill>
            <a:schemeClr val="tx1"/>
          </a:solidFill>
          <a:latin typeface="Arial" charset="0"/>
        </a:defRPr>
      </a:lvl9pPr>
    </p:titleStyle>
    <p:bodyStyle>
      <a:lvl1pPr marL="547688" indent="-411163" algn="l" rtl="0" fontAlgn="base">
        <a:spcBef>
          <a:spcPct val="20000"/>
        </a:spcBef>
        <a:spcAft>
          <a:spcPct val="0"/>
        </a:spcAft>
        <a:buClr>
          <a:srgbClr val="F9F9F9"/>
        </a:buClr>
        <a:buSzPct val="65000"/>
        <a:buFont typeface="Wingdings 2" pitchFamily="18" charset="2"/>
        <a:buChar char=""/>
        <a:defRPr sz="2800" kern="1200">
          <a:solidFill>
            <a:schemeClr val="tx1"/>
          </a:solidFill>
          <a:latin typeface="+mn-lt"/>
          <a:ea typeface="+mn-ea"/>
          <a:cs typeface="+mn-cs"/>
        </a:defRPr>
      </a:lvl1pPr>
      <a:lvl2pPr marL="868363" indent="-282575" algn="l" rtl="0" fontAlgn="base">
        <a:spcBef>
          <a:spcPct val="20000"/>
        </a:spcBef>
        <a:spcAft>
          <a:spcPct val="0"/>
        </a:spcAft>
        <a:buClr>
          <a:schemeClr val="tx1"/>
        </a:buClr>
        <a:buSzPct val="80000"/>
        <a:buFont typeface="Wingdings 2" pitchFamily="18" charset="2"/>
        <a:buChar char=""/>
        <a:defRPr sz="2400" kern="1200">
          <a:solidFill>
            <a:schemeClr val="tx1"/>
          </a:solidFill>
          <a:latin typeface="+mn-lt"/>
          <a:ea typeface="+mn-ea"/>
          <a:cs typeface="+mn-cs"/>
        </a:defRPr>
      </a:lvl2pPr>
      <a:lvl3pPr marL="1133475" indent="-228600" algn="l" rtl="0" fontAlgn="base">
        <a:spcBef>
          <a:spcPct val="20000"/>
        </a:spcBef>
        <a:spcAft>
          <a:spcPct val="0"/>
        </a:spcAft>
        <a:buClr>
          <a:schemeClr val="tx1"/>
        </a:buClr>
        <a:buSzPct val="95000"/>
        <a:buFont typeface="Wingdings" pitchFamily="2" charset="2"/>
        <a:buChar char=""/>
        <a:defRPr sz="2200" kern="1200">
          <a:solidFill>
            <a:schemeClr val="tx1"/>
          </a:solidFill>
          <a:latin typeface="+mn-lt"/>
          <a:ea typeface="+mn-ea"/>
          <a:cs typeface="+mn-cs"/>
        </a:defRPr>
      </a:lvl3pPr>
      <a:lvl4pPr marL="1352550" indent="-182563" algn="l" rtl="0" fontAlgn="base">
        <a:spcBef>
          <a:spcPct val="20000"/>
        </a:spcBef>
        <a:spcAft>
          <a:spcPct val="0"/>
        </a:spcAft>
        <a:buClr>
          <a:schemeClr val="tx1"/>
        </a:buClr>
        <a:buSzPct val="100000"/>
        <a:buFont typeface="Wingdings 3" pitchFamily="18" charset="2"/>
        <a:buChar char=""/>
        <a:defRPr sz="2000" kern="1200">
          <a:solidFill>
            <a:schemeClr val="tx1"/>
          </a:solidFill>
          <a:latin typeface="+mn-lt"/>
          <a:ea typeface="+mn-ea"/>
          <a:cs typeface="+mn-cs"/>
        </a:defRPr>
      </a:lvl4pPr>
      <a:lvl5pPr marL="1544638" indent="-182563" algn="l" rtl="0" fontAlgn="base">
        <a:spcBef>
          <a:spcPct val="20000"/>
        </a:spcBef>
        <a:spcAft>
          <a:spcPct val="0"/>
        </a:spcAft>
        <a:buClr>
          <a:schemeClr val="tx1"/>
        </a:buClr>
        <a:buFont typeface="Wingdings 2" pitchFamily="18" charset="2"/>
        <a:buChar char=""/>
        <a:defRPr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onlinedoctranslator.com/en/?utm_source=onlinedoctranslator&amp;utm_medium=pptx&amp;utm_campaign=attributio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ru.wikipedia.org/wiki/%D0%90%D0%BD%D0%B3%D0%BB%D0%B8%D0%B9%D1%81%D0%BA%D0%B8%D0%B9_%D1%8F%D0%B7%D1%8B%D0%BA"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no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l" rtl="0" fontAlgn="auto">
              <a:spcAft>
                <a:spcPts val="0"/>
              </a:spcAft>
              <a:defRPr/>
            </a:pPr>
            <a:br>
              <a:rPr lang="ru-RU" sz="2000"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br>
            <a:r>
              <a:rPr lang="ru-RU" sz="2800"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ISO/IEC/IEEE 12207:2008 у термінах: контекст процесу, група процесів, процес у групі – об'єкт вивчення обраної теми, призначення (мета процесу), вихідний продукт, дії, завдання.</a:t>
            </a:r>
            <a:br>
              <a:rPr lang="ru-RU" sz="2800"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br>
            <a:endParaRPr lang="ru-RU" sz="2000"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endParaRPr>
          </a:p>
        </p:txBody>
      </p:sp>
      <p:sp>
        <p:nvSpPr>
          <p:cNvPr id="13314" name="Подзаголовок 2"/>
          <p:cNvSpPr>
            <a:spLocks noGrp="1"/>
          </p:cNvSpPr>
          <p:nvPr>
            <p:ph type="subTitle" idx="1"/>
          </p:nvPr>
        </p:nvSpPr>
        <p:spPr>
          <a:xfrm>
            <a:off x="2286000" y="3810000"/>
            <a:ext cx="6400800" cy="1752600"/>
          </a:xfrm>
        </p:spPr>
        <p:txBody>
          <a:bodyPr/>
          <a:lstStyle/>
          <a:p>
            <a:pPr algn="l" rtl="0"/>
            <a:r>
              <a:rPr lang="ru-RU">
                <a:latin typeface="Arial" charset="0"/>
              </a:rPr>
              <a:t>МАНДРІКОВА ЛЮДМИЛА</a:t>
            </a:r>
          </a:p>
          <a:p>
            <a:pPr algn="l" rtl="0"/>
            <a:endParaRPr lang="ru-RU"/>
          </a:p>
        </p:txBody>
      </p:sp>
      <p:sp>
        <p:nvSpPr>
          <p:cNvPr id="100010001" name="ODT_ATTR_LBL_SHAPE">
            <a:extLst>
              <a:ext uri="{FF2B5EF4-FFF2-40B4-BE49-F238E27FC236}">
                <a16:creationId xmlns:a16="http://schemas.microsoft.com/office/drawing/2014/main" id="{ADCB8724-23CD-4EE8-B5B5-3CB2DDF8932E}"/>
              </a:ext>
            </a:extLst>
          </p:cNvPr>
          <p:cNvSpPr txBox="1"/>
          <p:nvPr/>
        </p:nvSpPr>
        <p:spPr>
          <a:xfrm>
            <a:off x="0" y="0"/>
            <a:ext cx="5000000" cy="276999"/>
          </a:xfrm>
          <a:prstGeom prst="rect">
            <a:avLst/>
          </a:prstGeom>
          <a:solidFill>
            <a:srgbClr val="FAFAFA"/>
          </a:solidFill>
        </p:spPr>
        <p:txBody>
          <a:bodyPr wrap="none" lIns="288000">
            <a:spAutoFit/>
          </a:bodyPr>
          <a:lstStyle/>
          <a:p>
            <a:pPr rtl="0"/>
            <a:r>
              <a:rPr lang="en-US" sz="1000" dirty="0">
                <a:solidFill>
                  <a:srgbClr val="0F2B46"/>
                </a:solidFill>
                <a:effectLst/>
                <a:latin typeface="Roboto" panose="02000000000000000000" pitchFamily="2" charset="0"/>
              </a:rPr>
              <a:t>Translated from Russian to Ukrainian - </a:t>
            </a:r>
            <a:r>
              <a:rPr lang="en-US" sz="1000" u="sng" dirty="0">
                <a:solidFill>
                  <a:srgbClr val="0F2B46"/>
                </a:solidFill>
                <a:effectLst/>
                <a:latin typeface="Roboto" panose="02000000000000000000" pitchFamily="2" charset="0"/>
                <a:hlinkClick r:id="rId2" tooltip="Doc Translator - www.onlinedoctranslator.com"/>
              </a:rPr>
              <a:t>www.onlinedoctranslator.com</a:t>
            </a:r>
            <a:endParaRPr lang="en-US" sz="1000" dirty="0"/>
          </a:p>
        </p:txBody>
      </p:sp>
      <p:pic>
        <p:nvPicPr>
          <p:cNvPr id="1000100002" name="ODT_ATTR_LBL_LOGO">
            <a:extLst>
              <a:ext uri="{FF2B5EF4-FFF2-40B4-BE49-F238E27FC236}">
                <a16:creationId xmlns:a16="http://schemas.microsoft.com/office/drawing/2014/main" id="{B066AC4A-9A1C-4C10-800A-DAF9F2764385}"/>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6000"/>
            <a:ext cx="316230" cy="17970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Содержимое 2"/>
          <p:cNvSpPr>
            <a:spLocks noGrp="1"/>
          </p:cNvSpPr>
          <p:nvPr>
            <p:ph idx="1"/>
          </p:nvPr>
        </p:nvSpPr>
        <p:spPr>
          <a:xfrm>
            <a:off x="381000" y="457200"/>
            <a:ext cx="8229600" cy="4708525"/>
          </a:xfrm>
        </p:spPr>
        <p:txBody>
          <a:bodyPr/>
          <a:lstStyle/>
          <a:p>
            <a:pPr algn="l" rtl="0"/>
            <a:r>
              <a:rPr lang="ru-RU"/>
              <a:t>ISO/IEC 12207:2008 Systems and software engineering — Software life cycle</a:t>
            </a:r>
            <a:r>
              <a:rPr lang="ru-RU" b="1"/>
              <a:t> </a:t>
            </a:r>
            <a:r>
              <a:rPr lang="ru-RU"/>
              <a:t>processes – стандарт ISO, що описує процеси життєвого циклу програмного забезпечення.</a:t>
            </a:r>
          </a:p>
          <a:p>
            <a:pPr algn="l" rtl="0"/>
            <a:endParaRPr lang="ru-RU"/>
          </a:p>
        </p:txBody>
      </p:sp>
      <p:pic>
        <p:nvPicPr>
          <p:cNvPr id="14338" name="Рисунок 6" descr="default_coverart.gif"/>
          <p:cNvPicPr>
            <a:picLocks noChangeAspect="1"/>
          </p:cNvPicPr>
          <p:nvPr/>
        </p:nvPicPr>
        <p:blipFill>
          <a:blip r:embed="rId2"/>
          <a:srcRect/>
          <a:stretch>
            <a:fillRect/>
          </a:stretch>
        </p:blipFill>
        <p:spPr bwMode="auto">
          <a:xfrm>
            <a:off x="2667000" y="3733800"/>
            <a:ext cx="3581400" cy="1274763"/>
          </a:xfrm>
          <a:prstGeom prst="rect">
            <a:avLst/>
          </a:prstGeom>
          <a:noFill/>
          <a:ln w="9525">
            <a:solidFill>
              <a:schemeClr val="bg1"/>
            </a:solidFill>
            <a:miter lim="800000"/>
            <a:headEnd/>
            <a:tailEnd/>
          </a:ln>
        </p:spPr>
      </p:pic>
      <p:pic>
        <p:nvPicPr>
          <p:cNvPr id="14339" name="Рисунок 7" descr="download (1).png"/>
          <p:cNvPicPr>
            <a:picLocks noChangeAspect="1"/>
          </p:cNvPicPr>
          <p:nvPr/>
        </p:nvPicPr>
        <p:blipFill>
          <a:blip r:embed="rId3"/>
          <a:srcRect/>
          <a:stretch>
            <a:fillRect/>
          </a:stretch>
        </p:blipFill>
        <p:spPr bwMode="auto">
          <a:xfrm>
            <a:off x="533400" y="2819400"/>
            <a:ext cx="1381125" cy="1381125"/>
          </a:xfrm>
          <a:prstGeom prst="rect">
            <a:avLst/>
          </a:prstGeom>
          <a:noFill/>
          <a:ln w="9525">
            <a:solidFill>
              <a:schemeClr val="bg1"/>
            </a:solidFill>
            <a:miter lim="800000"/>
            <a:headEnd/>
            <a:tailEnd/>
          </a:ln>
        </p:spPr>
      </p:pic>
      <p:pic>
        <p:nvPicPr>
          <p:cNvPr id="14340" name="Рисунок 8" descr="download.png"/>
          <p:cNvPicPr>
            <a:picLocks noChangeAspect="1"/>
          </p:cNvPicPr>
          <p:nvPr/>
        </p:nvPicPr>
        <p:blipFill>
          <a:blip r:embed="rId4"/>
          <a:srcRect/>
          <a:stretch>
            <a:fillRect/>
          </a:stretch>
        </p:blipFill>
        <p:spPr bwMode="auto">
          <a:xfrm>
            <a:off x="6629400" y="4876800"/>
            <a:ext cx="1447800" cy="1447800"/>
          </a:xfrm>
          <a:prstGeom prst="rect">
            <a:avLst/>
          </a:prstGeom>
          <a:noFill/>
          <a:ln w="9525">
            <a:solidFill>
              <a:schemeClr val="bg1"/>
            </a:solid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l" rtl="0" fontAlgn="auto">
              <a:spcAft>
                <a:spcPts val="0"/>
              </a:spcAft>
              <a:defRPr/>
            </a:pPr>
            <a:r>
              <a:rPr lang="ru-RU" dirty="0"/>
              <a:t>Основні терміни</a:t>
            </a:r>
            <a:br>
              <a:rPr lang="ru-RU" dirty="0"/>
            </a:br>
            <a:endParaRPr lang="ru-RU" dirty="0"/>
          </a:p>
        </p:txBody>
      </p:sp>
      <p:sp>
        <p:nvSpPr>
          <p:cNvPr id="15362" name="Содержимое 2"/>
          <p:cNvSpPr>
            <a:spLocks noGrp="1"/>
          </p:cNvSpPr>
          <p:nvPr>
            <p:ph idx="1"/>
          </p:nvPr>
        </p:nvSpPr>
        <p:spPr/>
        <p:txBody>
          <a:bodyPr/>
          <a:lstStyle/>
          <a:p>
            <a:pPr algn="l" rtl="0"/>
            <a:r>
              <a:rPr lang="ru-RU" b="1"/>
              <a:t>Процес</a:t>
            </a:r>
            <a:r>
              <a:rPr lang="ru-RU"/>
              <a:t>(process): Сукупність взаємопов'язаних чи взаємодіючих видів діяльності, що перетворюють входи у виходи.</a:t>
            </a:r>
          </a:p>
          <a:p>
            <a:pPr algn="l" rtl="0"/>
            <a:endParaRPr lang="ru-RU"/>
          </a:p>
          <a:p>
            <a:pPr algn="l" rtl="0"/>
            <a:endParaRPr lang="ru-RU"/>
          </a:p>
          <a:p>
            <a:pPr algn="l" rtl="0"/>
            <a:r>
              <a:rPr lang="ru-RU" b="1"/>
              <a:t>Ціль процесу</a:t>
            </a:r>
            <a:r>
              <a:rPr lang="ru-RU"/>
              <a:t>(process purpose): Мета високого рівня виконання процесу та ймовірні виходи ефективної реалізації процесу</a:t>
            </a:r>
          </a:p>
          <a:p>
            <a:pPr algn="l" rtl="0"/>
            <a:endParaRPr lang="ru-RU"/>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l" rtl="0" fontAlgn="auto">
              <a:spcAft>
                <a:spcPts val="0"/>
              </a:spcAft>
              <a:defRPr/>
            </a:pPr>
            <a:r>
              <a:rPr lang="ru-RU" dirty="0"/>
              <a:t>Основні терміни</a:t>
            </a:r>
            <a:br>
              <a:rPr lang="ru-RU" dirty="0"/>
            </a:br>
            <a:endParaRPr lang="ru-RU" dirty="0"/>
          </a:p>
        </p:txBody>
      </p:sp>
      <p:sp>
        <p:nvSpPr>
          <p:cNvPr id="16386" name="Содержимое 2"/>
          <p:cNvSpPr>
            <a:spLocks noGrp="1"/>
          </p:cNvSpPr>
          <p:nvPr>
            <p:ph idx="1"/>
          </p:nvPr>
        </p:nvSpPr>
        <p:spPr/>
        <p:txBody>
          <a:bodyPr/>
          <a:lstStyle/>
          <a:p>
            <a:pPr algn="l" rtl="0"/>
            <a:r>
              <a:rPr lang="ru-RU" b="1"/>
              <a:t>Вихід процесу</a:t>
            </a:r>
            <a:r>
              <a:rPr lang="ru-RU"/>
              <a:t>(process outcome): Нагляд результат успішного досягнення мети процесу</a:t>
            </a:r>
          </a:p>
          <a:p>
            <a:pPr algn="l" rtl="0"/>
            <a:endParaRPr lang="ru-RU"/>
          </a:p>
          <a:p>
            <a:pPr algn="l" rtl="0"/>
            <a:endParaRPr lang="ru-RU"/>
          </a:p>
          <a:p>
            <a:pPr algn="l" rtl="0"/>
            <a:r>
              <a:rPr lang="ru-RU" b="1"/>
              <a:t>Завдання (task): Вимога, рекомендація або дозволена дія, призначена для сприяння досягненню одного або більше виходів процесу.</a:t>
            </a:r>
            <a:endParaRPr lang="ru-RU"/>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l" rtl="0" fontAlgn="auto">
              <a:spcAft>
                <a:spcPts val="0"/>
              </a:spcAft>
              <a:defRPr/>
            </a:pPr>
            <a:r>
              <a:rPr lang="ru-RU" dirty="0"/>
              <a:t>Основні терміни</a:t>
            </a:r>
            <a:br>
              <a:rPr lang="ru-RU" dirty="0"/>
            </a:br>
            <a:endParaRPr lang="ru-RU" dirty="0"/>
          </a:p>
        </p:txBody>
      </p:sp>
      <p:sp>
        <p:nvSpPr>
          <p:cNvPr id="17410" name="Содержимое 2"/>
          <p:cNvSpPr>
            <a:spLocks noGrp="1"/>
          </p:cNvSpPr>
          <p:nvPr>
            <p:ph idx="1"/>
          </p:nvPr>
        </p:nvSpPr>
        <p:spPr/>
        <p:txBody>
          <a:bodyPr/>
          <a:lstStyle/>
          <a:p>
            <a:pPr algn="l" rtl="0"/>
            <a:r>
              <a:rPr lang="ru-RU"/>
              <a:t>Цей стандарт групує різні види діяльності, які можуть виконуватися протягом життєвого циклу програмних систем, у сім груп процесів. Кожен із процесів життєвого циклу в межах цих груп описується в термінах мети та бажаних виходів, списків дій та завдань, які необхідно виконувати для досягнення цих результатів.</a:t>
            </a:r>
          </a:p>
          <a:p>
            <a:pPr algn="l" rtl="0"/>
            <a:endParaRPr lang="ru-RU"/>
          </a:p>
          <a:p>
            <a:pPr algn="l" rtl="0"/>
            <a:endParaRPr lang="ru-RU"/>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l" rtl="0" fontAlgn="auto">
              <a:spcAft>
                <a:spcPts val="0"/>
              </a:spcAft>
              <a:defRPr/>
            </a:pPr>
            <a:r>
              <a:rPr lang="ru-RU" dirty="0"/>
              <a:t>Основні терміни</a:t>
            </a:r>
            <a:br>
              <a:rPr lang="ru-RU" dirty="0"/>
            </a:br>
            <a:endParaRPr lang="ru-RU" dirty="0"/>
          </a:p>
        </p:txBody>
      </p:sp>
      <p:sp>
        <p:nvSpPr>
          <p:cNvPr id="3" name="Содержимое 2"/>
          <p:cNvSpPr>
            <a:spLocks noGrp="1"/>
          </p:cNvSpPr>
          <p:nvPr>
            <p:ph idx="1"/>
          </p:nvPr>
        </p:nvSpPr>
        <p:spPr/>
        <p:txBody>
          <a:bodyPr>
            <a:normAutofit lnSpcReduction="10000"/>
          </a:bodyPr>
          <a:lstStyle/>
          <a:p>
            <a:pPr marL="548640" indent="-411480" algn="l" rtl="0" fontAlgn="auto">
              <a:spcAft>
                <a:spcPts val="0"/>
              </a:spcAft>
              <a:buClr>
                <a:schemeClr val="tx1">
                  <a:shade val="95000"/>
                </a:schemeClr>
              </a:buClr>
              <a:buFont typeface="Wingdings 2"/>
              <a:buNone/>
              <a:defRPr/>
            </a:pPr>
            <a:r>
              <a:rPr lang="ru-RU" dirty="0"/>
              <a:t>Вирізняють такі процеси:</a:t>
            </a:r>
          </a:p>
          <a:p>
            <a:pPr marL="548640" indent="-411480" algn="l" rtl="0" fontAlgn="auto">
              <a:spcAft>
                <a:spcPts val="0"/>
              </a:spcAft>
              <a:buClr>
                <a:schemeClr val="tx1">
                  <a:shade val="95000"/>
                </a:schemeClr>
              </a:buClr>
              <a:buFont typeface="Wingdings 2"/>
              <a:buChar char=""/>
              <a:defRPr/>
            </a:pPr>
            <a:r>
              <a:rPr lang="ru-RU" dirty="0"/>
              <a:t>процеси угоди</a:t>
            </a:r>
          </a:p>
          <a:p>
            <a:pPr marL="548640" indent="-411480" algn="l" rtl="0" fontAlgn="auto">
              <a:spcAft>
                <a:spcPts val="0"/>
              </a:spcAft>
              <a:buClr>
                <a:schemeClr val="tx1">
                  <a:shade val="95000"/>
                </a:schemeClr>
              </a:buClr>
              <a:buFont typeface="Wingdings 2"/>
              <a:buChar char=""/>
              <a:defRPr/>
            </a:pPr>
            <a:r>
              <a:rPr lang="ru-RU" dirty="0"/>
              <a:t>процеси організаційного забезпечення проекту</a:t>
            </a:r>
          </a:p>
          <a:p>
            <a:pPr marL="548640" indent="-411480" algn="l" rtl="0" fontAlgn="auto">
              <a:spcAft>
                <a:spcPts val="0"/>
              </a:spcAft>
              <a:buClr>
                <a:schemeClr val="tx1">
                  <a:shade val="95000"/>
                </a:schemeClr>
              </a:buClr>
              <a:buFont typeface="Wingdings 2"/>
              <a:buChar char=""/>
              <a:defRPr/>
            </a:pPr>
            <a:r>
              <a:rPr lang="ru-RU" dirty="0"/>
              <a:t>процеси проекту</a:t>
            </a:r>
          </a:p>
          <a:p>
            <a:pPr marL="548640" indent="-411480" algn="l" rtl="0" fontAlgn="auto">
              <a:spcAft>
                <a:spcPts val="0"/>
              </a:spcAft>
              <a:buClr>
                <a:schemeClr val="tx1">
                  <a:shade val="95000"/>
                </a:schemeClr>
              </a:buClr>
              <a:buFont typeface="Wingdings 2"/>
              <a:buChar char=""/>
              <a:defRPr/>
            </a:pPr>
            <a:r>
              <a:rPr lang="ru-RU" dirty="0"/>
              <a:t>технічні процеси</a:t>
            </a:r>
          </a:p>
          <a:p>
            <a:pPr marL="548640" indent="-411480" algn="l" rtl="0" fontAlgn="auto">
              <a:spcAft>
                <a:spcPts val="0"/>
              </a:spcAft>
              <a:buClr>
                <a:schemeClr val="tx1">
                  <a:shade val="95000"/>
                </a:schemeClr>
              </a:buClr>
              <a:buFont typeface="Wingdings 2"/>
              <a:buChar char=""/>
              <a:defRPr/>
            </a:pPr>
            <a:r>
              <a:rPr lang="ru-RU" dirty="0"/>
              <a:t>процеси реалізації програмних засобів</a:t>
            </a:r>
          </a:p>
          <a:p>
            <a:pPr marL="548640" indent="-411480" algn="l" rtl="0" fontAlgn="auto">
              <a:spcAft>
                <a:spcPts val="0"/>
              </a:spcAft>
              <a:buClr>
                <a:schemeClr val="tx1">
                  <a:shade val="95000"/>
                </a:schemeClr>
              </a:buClr>
              <a:buFont typeface="Wingdings 2"/>
              <a:buChar char=""/>
              <a:defRPr/>
            </a:pPr>
            <a:r>
              <a:rPr lang="ru-RU" dirty="0"/>
              <a:t>процеси підтримки програмних засобів</a:t>
            </a:r>
          </a:p>
          <a:p>
            <a:pPr marL="548640" indent="-411480" algn="l" rtl="0" fontAlgn="auto">
              <a:spcAft>
                <a:spcPts val="0"/>
              </a:spcAft>
              <a:buClr>
                <a:schemeClr val="tx1">
                  <a:shade val="95000"/>
                </a:schemeClr>
              </a:buClr>
              <a:buFont typeface="Wingdings 2"/>
              <a:buChar char=""/>
              <a:defRPr/>
            </a:pPr>
            <a:r>
              <a:rPr lang="ru-RU" dirty="0"/>
              <a:t>процеси повторного застосування програмних засобів</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7" name="Содержимое 3" descr="get.jpg"/>
          <p:cNvPicPr>
            <a:picLocks noGrp="1"/>
          </p:cNvPicPr>
          <p:nvPr>
            <p:ph idx="1"/>
          </p:nvPr>
        </p:nvPicPr>
        <p:blipFill>
          <a:blip r:embed="rId2"/>
          <a:srcRect/>
          <a:stretch>
            <a:fillRect/>
          </a:stretch>
        </p:blipFill>
        <p:spPr>
          <a:xfrm>
            <a:off x="1752600" y="914400"/>
            <a:ext cx="5715000" cy="5257800"/>
          </a:xfrm>
          <a:ln>
            <a:solidFill>
              <a:schemeClr val="bg1"/>
            </a:solidFill>
          </a:ln>
        </p:spPr>
      </p:pic>
      <p:sp>
        <p:nvSpPr>
          <p:cNvPr id="19458" name="Прямоугольник 5"/>
          <p:cNvSpPr>
            <a:spLocks noChangeArrowheads="1"/>
          </p:cNvSpPr>
          <p:nvPr/>
        </p:nvSpPr>
        <p:spPr bwMode="auto">
          <a:xfrm>
            <a:off x="2438400" y="228600"/>
            <a:ext cx="3830638" cy="646113"/>
          </a:xfrm>
          <a:prstGeom prst="rect">
            <a:avLst/>
          </a:prstGeom>
          <a:noFill/>
          <a:ln w="9525">
            <a:noFill/>
            <a:miter lim="800000"/>
            <a:headEnd/>
            <a:tailEnd/>
          </a:ln>
        </p:spPr>
        <p:txBody>
          <a:bodyPr wrap="none">
            <a:spAutoFit/>
          </a:bodyPr>
          <a:lstStyle/>
          <a:p>
            <a:pPr algn="l" rtl="0"/>
            <a:r>
              <a:rPr lang="ru-RU" sz="3600">
                <a:latin typeface="Times New Roman" pitchFamily="18" charset="0"/>
              </a:rPr>
              <a:t>Групи процесів</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81000" y="533400"/>
            <a:ext cx="8229600" cy="3657600"/>
          </a:xfrm>
        </p:spPr>
        <p:txBody>
          <a:bodyPr>
            <a:no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l" rtl="0" fontAlgn="auto">
              <a:spcAft>
                <a:spcPts val="0"/>
              </a:spcAft>
              <a:defRPr/>
            </a:pPr>
            <a:br>
              <a:rPr lang="ru-RU" sz="2400"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br>
            <a:r>
              <a:rPr lang="ru-RU" sz="2400"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Визначення для обраного складу процесів на основі</a:t>
            </a:r>
            <a:r>
              <a:rPr lang="ru-RU" sz="2400" cap="all" dirty="0" err="1">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аналітичних</a:t>
            </a:r>
            <a:r>
              <a:rPr lang="ru-RU" sz="2400"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оглядів рекомендованої літератури предметної області обраноїтеми</a:t>
            </a:r>
            <a:r>
              <a:rPr lang="en-US" sz="2400"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 </a:t>
            </a:r>
            <a:br>
              <a:rPr lang="ru-RU" sz="2400"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br>
            <a:r>
              <a:rPr lang="ru-RU" sz="2400"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в термінах:</a:t>
            </a:r>
            <a:br>
              <a:rPr lang="en-US" sz="2400"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br>
            <a:r>
              <a:rPr lang="ru-RU" sz="2400"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абстракції, моделі, методи, заходи та метрики,</a:t>
            </a:r>
            <a:r>
              <a:rPr lang="ru-RU" sz="2400" cap="all" dirty="0" err="1">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інструментальні</a:t>
            </a:r>
            <a:r>
              <a:rPr lang="ru-RU" sz="2400"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засоби та середовища, інформаційні технології,керівництвата стандарти.</a:t>
            </a:r>
            <a:br>
              <a:rPr lang="ru-RU" sz="2400"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br>
            <a:r>
              <a:rPr lang="ru-RU" sz="2400"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 </a:t>
            </a:r>
            <a:br>
              <a:rPr lang="ru-RU" sz="2400"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br>
            <a:endParaRPr lang="ru-RU" sz="2400"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fontAlgn="auto">
              <a:spcAft>
                <a:spcPts val="0"/>
              </a:spcAft>
              <a:defRPr/>
            </a:pPr>
            <a:r>
              <a:rPr lang="ru-RU" dirty="0"/>
              <a:t>Основні терміни</a:t>
            </a:r>
          </a:p>
        </p:txBody>
      </p:sp>
      <p:sp>
        <p:nvSpPr>
          <p:cNvPr id="21506" name="Содержимое 2"/>
          <p:cNvSpPr>
            <a:spLocks noGrp="1"/>
          </p:cNvSpPr>
          <p:nvPr>
            <p:ph idx="1"/>
          </p:nvPr>
        </p:nvSpPr>
        <p:spPr/>
        <p:txBody>
          <a:bodyPr/>
          <a:lstStyle/>
          <a:p>
            <a:pPr algn="l" rtl="0"/>
            <a:r>
              <a:rPr lang="ru-RU" b="1"/>
              <a:t>Абстракція</a:t>
            </a:r>
            <a:r>
              <a:rPr lang="ru-RU"/>
              <a:t>— це надання об'єкту характеристик, які чітко визначають його концептуальні межі, відрізняючи від інших об'єктів.</a:t>
            </a:r>
          </a:p>
          <a:p>
            <a:pPr algn="l" rtl="0"/>
            <a:endParaRPr lang="ru-RU"/>
          </a:p>
        </p:txBody>
      </p:sp>
      <p:pic>
        <p:nvPicPr>
          <p:cNvPr id="21507" name="Рисунок 3" descr="stock-photo-programming-code-abstract-screen-of-software-developer-computer-script-blue-color-238096621.jpg"/>
          <p:cNvPicPr>
            <a:picLocks noChangeAspect="1"/>
          </p:cNvPicPr>
          <p:nvPr/>
        </p:nvPicPr>
        <p:blipFill>
          <a:blip r:embed="rId2"/>
          <a:srcRect/>
          <a:stretch>
            <a:fillRect/>
          </a:stretch>
        </p:blipFill>
        <p:spPr bwMode="auto">
          <a:xfrm>
            <a:off x="5562600" y="4191000"/>
            <a:ext cx="2971800" cy="2179638"/>
          </a:xfrm>
          <a:prstGeom prst="rect">
            <a:avLst/>
          </a:prstGeom>
          <a:noFill/>
          <a:ln w="9525">
            <a:solidFill>
              <a:schemeClr val="accent1"/>
            </a:solid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fontAlgn="auto">
              <a:spcAft>
                <a:spcPts val="0"/>
              </a:spcAft>
              <a:defRPr/>
            </a:pPr>
            <a:r>
              <a:rPr lang="ru-RU" dirty="0"/>
              <a:t>Основні терміни</a:t>
            </a:r>
          </a:p>
        </p:txBody>
      </p:sp>
      <p:sp>
        <p:nvSpPr>
          <p:cNvPr id="22530" name="Содержимое 2"/>
          <p:cNvSpPr>
            <a:spLocks noGrp="1"/>
          </p:cNvSpPr>
          <p:nvPr>
            <p:ph idx="1"/>
          </p:nvPr>
        </p:nvSpPr>
        <p:spPr/>
        <p:txBody>
          <a:bodyPr/>
          <a:lstStyle/>
          <a:p>
            <a:pPr algn="l" rtl="0"/>
            <a:r>
              <a:rPr lang="ru-RU" b="1"/>
              <a:t>Модель</a:t>
            </a:r>
            <a:r>
              <a:rPr lang="ru-RU"/>
              <a:t>- Це штучно створений людиною абстрактний або матеріальний образ реального об'єкта, в якому збережені типові властивості оригіналу, важливі для вирішення певного завдання.</a:t>
            </a:r>
          </a:p>
          <a:p>
            <a:pPr algn="l" rtl="0"/>
            <a:endParaRPr lang="ru-RU"/>
          </a:p>
        </p:txBody>
      </p:sp>
      <p:pic>
        <p:nvPicPr>
          <p:cNvPr id="4" name="Рисунок 3" descr="610.jpg"/>
          <p:cNvPicPr>
            <a:picLocks noChangeAspect="1"/>
          </p:cNvPicPr>
          <p:nvPr/>
        </p:nvPicPr>
        <p:blipFill>
          <a:blip r:embed="rId2"/>
          <a:stretch>
            <a:fillRect/>
          </a:stretch>
        </p:blipFill>
        <p:spPr>
          <a:xfrm>
            <a:off x="5943600" y="3581400"/>
            <a:ext cx="2819400" cy="1995488"/>
          </a:xfrm>
          <a:prstGeom prst="rect">
            <a:avLst/>
          </a:prstGeom>
          <a:ln>
            <a:solidFill>
              <a:schemeClr val="accent1"/>
            </a:solidFill>
          </a:ln>
          <a:effectLst>
            <a:outerShdw blurRad="152400" dist="317500" dir="5400000" sx="90000" sy="-19000" rotWithShape="0">
              <a:prstClr val="black">
                <a:alpha val="15000"/>
              </a:prst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fontAlgn="auto">
              <a:spcAft>
                <a:spcPts val="0"/>
              </a:spcAft>
              <a:defRPr/>
            </a:pPr>
            <a:r>
              <a:rPr lang="ru-RU" dirty="0"/>
              <a:t>Основні терміни</a:t>
            </a:r>
          </a:p>
        </p:txBody>
      </p:sp>
      <p:sp>
        <p:nvSpPr>
          <p:cNvPr id="23554" name="Содержимое 2"/>
          <p:cNvSpPr>
            <a:spLocks noGrp="1"/>
          </p:cNvSpPr>
          <p:nvPr>
            <p:ph idx="1"/>
          </p:nvPr>
        </p:nvSpPr>
        <p:spPr/>
        <p:txBody>
          <a:bodyPr/>
          <a:lstStyle/>
          <a:p>
            <a:pPr algn="l" rtl="0"/>
            <a:r>
              <a:rPr lang="ru-RU" b="1"/>
              <a:t>міра</a:t>
            </a:r>
            <a:r>
              <a:rPr lang="ru-RU"/>
              <a:t>— це категорія, яка фіксує та узагальнює результати та процедури вимірювання якісно-кількісної визначеності об'єктів, а також тих засобів вимірювання, що виступають у функції еталонів.</a:t>
            </a:r>
          </a:p>
          <a:p>
            <a:pPr algn="l" rtl="0"/>
            <a:r>
              <a:rPr lang="ru-RU"/>
              <a:t>Метрика - це кількісна міра ступеня до якої об'єкт має якусь властивість.</a:t>
            </a:r>
          </a:p>
          <a:p>
            <a:pPr algn="l" rtl="0"/>
            <a:endParaRPr lang="ru-RU"/>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fontAlgn="auto">
              <a:spcAft>
                <a:spcPts val="0"/>
              </a:spcAft>
              <a:defRPr/>
            </a:pPr>
            <a:r>
              <a:rPr lang="ru-RU" dirty="0"/>
              <a:t>Основні терміни</a:t>
            </a:r>
          </a:p>
        </p:txBody>
      </p:sp>
      <p:sp>
        <p:nvSpPr>
          <p:cNvPr id="3" name="Содержимое 2"/>
          <p:cNvSpPr>
            <a:spLocks noGrp="1"/>
          </p:cNvSpPr>
          <p:nvPr>
            <p:ph idx="1"/>
          </p:nvPr>
        </p:nvSpPr>
        <p:spPr/>
        <p:txBody>
          <a:bodyPr>
            <a:normAutofit fontScale="92500" lnSpcReduction="20000"/>
          </a:bodyPr>
          <a:lstStyle/>
          <a:p>
            <a:pPr marL="548640" indent="-411480" algn="l" rtl="0" fontAlgn="auto">
              <a:spcAft>
                <a:spcPts val="0"/>
              </a:spcAft>
              <a:buClr>
                <a:schemeClr val="tx1">
                  <a:shade val="95000"/>
                </a:schemeClr>
              </a:buClr>
              <a:buFont typeface="Wingdings 2"/>
              <a:buChar char=""/>
              <a:defRPr/>
            </a:pPr>
            <a:r>
              <a:rPr lang="ru-RU" b="1" dirty="0"/>
              <a:t>Інструментальні засоби програмування</a:t>
            </a:r>
            <a:r>
              <a:rPr lang="ru-RU" dirty="0"/>
              <a:t>- Це програмні продукти підтримки технології програмування.</a:t>
            </a:r>
          </a:p>
          <a:p>
            <a:pPr marL="548640" indent="-411480" algn="l" rtl="0" fontAlgn="auto">
              <a:spcAft>
                <a:spcPts val="0"/>
              </a:spcAft>
              <a:buClr>
                <a:schemeClr val="tx1">
                  <a:shade val="95000"/>
                </a:schemeClr>
              </a:buClr>
              <a:buFont typeface="Wingdings 2"/>
              <a:buChar char=""/>
              <a:defRPr/>
            </a:pPr>
            <a:r>
              <a:rPr lang="ru-RU" b="1" dirty="0"/>
              <a:t>Інструментальні середовища користувача</a:t>
            </a:r>
            <a:r>
              <a:rPr lang="ru-RU" dirty="0"/>
              <a:t>- спеціальні засоби, які вбудовані в пакети прикладних програм - бібліотеки функцій, процедур, об'єктів та методів обробки, макрокоманди, клавішні макроси, мовні макроси, програмні модулі-вставки, конструктори екранних форм та звітів, генератори додатків, мови запитів високого рівня, мови маніпулювання даними, конструктори меню та ін.</a:t>
            </a:r>
          </a:p>
          <a:p>
            <a:pPr marL="548640" indent="-411480" algn="l" rtl="0" fontAlgn="auto">
              <a:spcAft>
                <a:spcPts val="0"/>
              </a:spcAft>
              <a:buClr>
                <a:schemeClr val="tx1">
                  <a:shade val="95000"/>
                </a:schemeClr>
              </a:buClr>
              <a:buFont typeface="Wingdings 2"/>
              <a:buChar char=""/>
              <a:defRPr/>
            </a:pPr>
            <a:endParaRPr lang="ru-RU"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fontAlgn="auto">
              <a:spcAft>
                <a:spcPts val="0"/>
              </a:spcAft>
              <a:defRPr/>
            </a:pPr>
            <a:r>
              <a:rPr lang="ru-RU" dirty="0"/>
              <a:t>Основні терміни</a:t>
            </a:r>
          </a:p>
        </p:txBody>
      </p:sp>
      <p:sp>
        <p:nvSpPr>
          <p:cNvPr id="25602" name="Содержимое 2"/>
          <p:cNvSpPr>
            <a:spLocks noGrp="1"/>
          </p:cNvSpPr>
          <p:nvPr>
            <p:ph idx="1"/>
          </p:nvPr>
        </p:nvSpPr>
        <p:spPr/>
        <p:txBody>
          <a:bodyPr/>
          <a:lstStyle/>
          <a:p>
            <a:pPr algn="l" rtl="0"/>
            <a:r>
              <a:rPr lang="ru-RU" b="1"/>
              <a:t>Інформаційна технологія</a:t>
            </a:r>
            <a:r>
              <a:rPr lang="ru-RU"/>
              <a:t>— це процес, що використовує сукупність засобів і методів збирання, обробки та передачі даних для отримання інформації нової якості про стан об'єкта, процесу чи явища.</a:t>
            </a:r>
          </a:p>
        </p:txBody>
      </p:sp>
      <p:pic>
        <p:nvPicPr>
          <p:cNvPr id="25603" name="Рисунок 3" descr="58699414dd18d.jpg"/>
          <p:cNvPicPr>
            <a:picLocks noChangeAspect="1"/>
          </p:cNvPicPr>
          <p:nvPr/>
        </p:nvPicPr>
        <p:blipFill>
          <a:blip r:embed="rId2"/>
          <a:srcRect/>
          <a:stretch>
            <a:fillRect/>
          </a:stretch>
        </p:blipFill>
        <p:spPr bwMode="auto">
          <a:xfrm>
            <a:off x="5486400" y="3962400"/>
            <a:ext cx="3352800" cy="2455863"/>
          </a:xfrm>
          <a:prstGeom prst="rect">
            <a:avLst/>
          </a:prstGeom>
          <a:noFill/>
          <a:ln w="9525">
            <a:solidFill>
              <a:schemeClr val="accent1"/>
            </a:solid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fontAlgn="auto">
              <a:spcAft>
                <a:spcPts val="0"/>
              </a:spcAft>
              <a:defRPr/>
            </a:pPr>
            <a:r>
              <a:rPr lang="ru-RU" dirty="0"/>
              <a:t>Основні терміни</a:t>
            </a:r>
          </a:p>
        </p:txBody>
      </p:sp>
      <p:sp>
        <p:nvSpPr>
          <p:cNvPr id="3" name="Содержимое 2"/>
          <p:cNvSpPr>
            <a:spLocks noGrp="1"/>
          </p:cNvSpPr>
          <p:nvPr>
            <p:ph idx="1"/>
          </p:nvPr>
        </p:nvSpPr>
        <p:spPr/>
        <p:txBody>
          <a:bodyPr>
            <a:normAutofit fontScale="92500"/>
          </a:bodyPr>
          <a:lstStyle/>
          <a:p>
            <a:pPr marL="548640" indent="-411480" algn="l" rtl="0" fontAlgn="auto">
              <a:spcAft>
                <a:spcPts val="0"/>
              </a:spcAft>
              <a:buClr>
                <a:schemeClr val="tx1">
                  <a:shade val="95000"/>
                </a:schemeClr>
              </a:buClr>
              <a:buFont typeface="Wingdings 2"/>
              <a:buChar char=""/>
              <a:defRPr/>
            </a:pPr>
            <a:r>
              <a:rPr lang="ru-RU" b="1" dirty="0"/>
              <a:t>Стандарт</a:t>
            </a:r>
            <a:r>
              <a:rPr lang="ru-RU" dirty="0"/>
              <a:t>— офіційне видання, що містить комплекс норм, правил, вимог до об'єкта стандартизації, які встановлюють на основі досягнень науки, техніки та передового досвіду та затверджують відповідно до чинного законодавства.</a:t>
            </a:r>
          </a:p>
          <a:p>
            <a:pPr marL="548640" indent="-411480" algn="l" rtl="0" fontAlgn="auto">
              <a:spcAft>
                <a:spcPts val="0"/>
              </a:spcAft>
              <a:buClr>
                <a:schemeClr val="tx1">
                  <a:shade val="95000"/>
                </a:schemeClr>
              </a:buClr>
              <a:buFont typeface="Wingdings 2"/>
              <a:buChar char=""/>
              <a:defRPr/>
            </a:pPr>
            <a:r>
              <a:rPr lang="ru-RU" b="1" dirty="0"/>
              <a:t>Міжнародний стандарт</a:t>
            </a:r>
            <a:r>
              <a:rPr lang="ru-RU" dirty="0"/>
              <a:t>-</a:t>
            </a:r>
            <a:r>
              <a:rPr lang="ru-RU" dirty="0" err="1"/>
              <a:t>стандарт</a:t>
            </a:r>
            <a:r>
              <a:rPr lang="ru-RU" dirty="0"/>
              <a:t>, прийнятий міжнародною організацією зі стандартизації та доступний широкому колу користувачів.</a:t>
            </a:r>
          </a:p>
          <a:p>
            <a:pPr marL="548640" indent="-411480" algn="l" rtl="0" fontAlgn="auto">
              <a:spcAft>
                <a:spcPts val="0"/>
              </a:spcAft>
              <a:buClr>
                <a:schemeClr val="tx1">
                  <a:shade val="95000"/>
                </a:schemeClr>
              </a:buClr>
              <a:buFont typeface="Wingdings 2"/>
              <a:buChar char=""/>
              <a:defRPr/>
            </a:pPr>
            <a:r>
              <a:rPr lang="ru-RU" b="1" dirty="0"/>
              <a:t>Керівництво</a:t>
            </a:r>
            <a:r>
              <a:rPr lang="ru-RU" dirty="0"/>
              <a:t>- Виробничо-практичне видання детально-інструктивного характеру.</a:t>
            </a:r>
          </a:p>
          <a:p>
            <a:pPr marL="548640" indent="-411480" algn="l" rtl="0" fontAlgn="auto">
              <a:spcAft>
                <a:spcPts val="0"/>
              </a:spcAft>
              <a:buClr>
                <a:schemeClr val="tx1">
                  <a:shade val="95000"/>
                </a:schemeClr>
              </a:buClr>
              <a:buFont typeface="Wingdings 2"/>
              <a:buChar char=""/>
              <a:defRPr/>
            </a:pPr>
            <a:endParaRPr lang="ru-RU"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81000" y="1905000"/>
            <a:ext cx="8534400" cy="1782762"/>
          </a:xfrm>
        </p:spPr>
        <p:txBody>
          <a:bodyPr>
            <a:no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l" rtl="0" fontAlgn="auto">
              <a:spcAft>
                <a:spcPts val="0"/>
              </a:spcAft>
              <a:defRPr/>
            </a:pPr>
            <a:br>
              <a:rPr lang="ru-RU" sz="3200"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br>
            <a:r>
              <a:rPr lang="ru-RU" sz="3200"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Анотація. Методи декомпозиції. Принцип «поділяй і володарюй» (</a:t>
            </a:r>
            <a:r>
              <a:rPr lang="ru-RU" sz="3200" cap="all" dirty="0" err="1">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divide</a:t>
            </a:r>
            <a:r>
              <a:rPr lang="ru-RU" sz="3200"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 </a:t>
            </a:r>
            <a:br>
              <a:rPr lang="ru-RU" sz="3200"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br>
            <a:r>
              <a:rPr lang="ru-RU" sz="3200" cap="all" dirty="0" err="1">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et</a:t>
            </a:r>
            <a:r>
              <a:rPr lang="ru-RU" sz="3200"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 </a:t>
            </a:r>
            <a:r>
              <a:rPr lang="ru-RU" sz="3200" cap="all" dirty="0" err="1">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impera</a:t>
            </a:r>
            <a:r>
              <a:rPr lang="ru-RU" sz="3200"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 Нотації. Виразні</a:t>
            </a:r>
            <a:r>
              <a:rPr lang="ru-RU" sz="3200" cap="all" dirty="0" err="1">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зображальні</a:t>
            </a:r>
            <a:r>
              <a:rPr lang="ru-RU" sz="3200"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засоби (мови).</a:t>
            </a:r>
            <a:br>
              <a:rPr lang="ru-RU" sz="3200"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br>
            <a:br>
              <a:rPr lang="ru-RU" sz="3200"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br>
            <a:endParaRPr lang="ru-RU" sz="3200"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fontAlgn="auto">
              <a:spcAft>
                <a:spcPts val="0"/>
              </a:spcAft>
              <a:defRPr/>
            </a:pPr>
            <a:r>
              <a:rPr lang="ru-RU" dirty="0"/>
              <a:t>Абстракція та декомпозиція</a:t>
            </a:r>
          </a:p>
        </p:txBody>
      </p:sp>
      <p:sp>
        <p:nvSpPr>
          <p:cNvPr id="28674" name="Содержимое 2"/>
          <p:cNvSpPr>
            <a:spLocks noGrp="1"/>
          </p:cNvSpPr>
          <p:nvPr>
            <p:ph idx="1"/>
          </p:nvPr>
        </p:nvSpPr>
        <p:spPr>
          <a:xfrm>
            <a:off x="304800" y="1600200"/>
            <a:ext cx="8382000" cy="4708525"/>
          </a:xfrm>
        </p:spPr>
        <p:txBody>
          <a:bodyPr/>
          <a:lstStyle/>
          <a:p>
            <a:pPr algn="l" rtl="0"/>
            <a:r>
              <a:rPr lang="ru-RU" b="1"/>
              <a:t>Декомпозиція програми</a:t>
            </a:r>
            <a:r>
              <a:rPr lang="ru-RU"/>
              <a:t>- створення модулів, які у свою чергу є невеликими програмами, що взаємодіють один з одним за добре визначеними і простими правилами.</a:t>
            </a:r>
          </a:p>
          <a:p>
            <a:pPr algn="l" rtl="0">
              <a:buFont typeface="Wingdings 2" pitchFamily="18" charset="2"/>
              <a:buNone/>
            </a:pPr>
            <a:r>
              <a:rPr lang="ru-RU" i="1"/>
              <a:t> </a:t>
            </a:r>
            <a:r>
              <a:rPr lang="ru-RU" b="1" i="1"/>
              <a:t>приклад</a:t>
            </a:r>
            <a:r>
              <a:rPr lang="ru-RU" i="1"/>
              <a:t>. Група авторів створює п'єсу, причому кожен із них пише текст одного персонажа. Очевидно, що хоча кожен із авторів і впорається зі своїм завданням, про сенс готового твору говорити не доводиться.</a:t>
            </a:r>
            <a:endParaRPr lang="ru-RU"/>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fontAlgn="auto">
              <a:spcAft>
                <a:spcPts val="0"/>
              </a:spcAft>
              <a:defRPr/>
            </a:pPr>
            <a:r>
              <a:rPr lang="ru-RU" dirty="0"/>
              <a:t>Абстракція та декомпозиція</a:t>
            </a:r>
          </a:p>
        </p:txBody>
      </p:sp>
      <p:sp>
        <p:nvSpPr>
          <p:cNvPr id="29698" name="Содержимое 2"/>
          <p:cNvSpPr>
            <a:spLocks noGrp="1"/>
          </p:cNvSpPr>
          <p:nvPr>
            <p:ph idx="1"/>
          </p:nvPr>
        </p:nvSpPr>
        <p:spPr>
          <a:xfrm>
            <a:off x="457200" y="1295400"/>
            <a:ext cx="8229600" cy="4708525"/>
          </a:xfrm>
        </p:spPr>
        <p:txBody>
          <a:bodyPr/>
          <a:lstStyle/>
          <a:p>
            <a:pPr algn="l" rtl="0"/>
            <a:r>
              <a:rPr lang="ru-RU" sz="2400"/>
              <a:t>Абстракція</a:t>
            </a:r>
            <a:r>
              <a:rPr lang="en-US" sz="2400"/>
              <a:t>-</a:t>
            </a:r>
            <a:r>
              <a:rPr lang="ru-RU" sz="2400"/>
              <a:t>передбачає процес зміни рівня деталізації програми.</a:t>
            </a:r>
          </a:p>
          <a:p>
            <a:pPr algn="l" rtl="0"/>
            <a:r>
              <a:rPr lang="ru-RU" sz="2400"/>
              <a:t>Вона дозволяє розглядати різні предмети, тому що якби вони були еквівалентні за рахунок виділення істотних атрибутів від несуттєвих.</a:t>
            </a:r>
          </a:p>
          <a:p>
            <a:pPr algn="l" rtl="0"/>
            <a:endParaRPr lang="ru-RU" sz="2400"/>
          </a:p>
        </p:txBody>
      </p:sp>
      <p:pic>
        <p:nvPicPr>
          <p:cNvPr id="29699" name="Рисунок 3" descr="art18-3.gif"/>
          <p:cNvPicPr>
            <a:picLocks noChangeAspect="1"/>
          </p:cNvPicPr>
          <p:nvPr/>
        </p:nvPicPr>
        <p:blipFill>
          <a:blip r:embed="rId2"/>
          <a:srcRect/>
          <a:stretch>
            <a:fillRect/>
          </a:stretch>
        </p:blipFill>
        <p:spPr bwMode="auto">
          <a:xfrm>
            <a:off x="2514600" y="3429000"/>
            <a:ext cx="4572000" cy="3108325"/>
          </a:xfrm>
          <a:prstGeom prst="rect">
            <a:avLst/>
          </a:prstGeom>
          <a:noFill/>
          <a:ln w="9525">
            <a:solidFill>
              <a:schemeClr val="accent1"/>
            </a:solid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l" rtl="0" fontAlgn="auto">
              <a:spcAft>
                <a:spcPts val="0"/>
              </a:spcAft>
              <a:defRPr/>
            </a:pPr>
            <a:r>
              <a:rPr lang="ru-RU" dirty="0" err="1"/>
              <a:t>Work</a:t>
            </a:r>
            <a:r>
              <a:rPr lang="ru-RU" dirty="0"/>
              <a:t> </a:t>
            </a:r>
            <a:r>
              <a:rPr lang="ru-RU" dirty="0" err="1"/>
              <a:t>breakdown</a:t>
            </a:r>
            <a:r>
              <a:rPr lang="ru-RU" dirty="0"/>
              <a:t> </a:t>
            </a:r>
            <a:r>
              <a:rPr lang="ru-RU" dirty="0" err="1"/>
              <a:t>structure</a:t>
            </a:r>
            <a:r>
              <a:rPr lang="ru-RU" dirty="0"/>
              <a:t>(WBS)</a:t>
            </a:r>
            <a:br>
              <a:rPr lang="ru-RU" dirty="0"/>
            </a:br>
            <a:endParaRPr lang="ru-RU" dirty="0"/>
          </a:p>
        </p:txBody>
      </p:sp>
      <p:sp>
        <p:nvSpPr>
          <p:cNvPr id="3" name="Содержимое 2"/>
          <p:cNvSpPr>
            <a:spLocks noGrp="1"/>
          </p:cNvSpPr>
          <p:nvPr>
            <p:ph idx="1"/>
          </p:nvPr>
        </p:nvSpPr>
        <p:spPr/>
        <p:txBody>
          <a:bodyPr>
            <a:normAutofit lnSpcReduction="10000"/>
          </a:bodyPr>
          <a:lstStyle/>
          <a:p>
            <a:pPr marL="548640" indent="-411480" algn="l" rtl="0" fontAlgn="auto">
              <a:spcAft>
                <a:spcPts val="0"/>
              </a:spcAft>
              <a:buClr>
                <a:schemeClr val="tx1">
                  <a:shade val="95000"/>
                </a:schemeClr>
              </a:buClr>
              <a:buFont typeface="Wingdings 2"/>
              <a:buChar char=""/>
              <a:defRPr/>
            </a:pPr>
            <a:r>
              <a:rPr lang="ru-RU" b="1" dirty="0"/>
              <a:t>Ієрархічна структура робіт (ІСР)</a:t>
            </a:r>
            <a:r>
              <a:rPr lang="ru-RU" dirty="0"/>
              <a:t>— це ієрархічне розбиття всієї роботи, яку необхідно виконати для досягнення цілей проекту, на дрібніші операції та дії до такого рівня, на якому способи виконання цих дій цілком зрозумілі та відповідні роботи можуть бути оцінені та сплановані.</a:t>
            </a:r>
          </a:p>
          <a:p>
            <a:pPr marL="548640" indent="-411480" algn="l" rtl="0" fontAlgn="auto">
              <a:spcAft>
                <a:spcPts val="0"/>
              </a:spcAft>
              <a:buClr>
                <a:schemeClr val="tx1">
                  <a:shade val="95000"/>
                </a:schemeClr>
              </a:buClr>
              <a:buFont typeface="Wingdings 2"/>
              <a:buChar char=""/>
              <a:defRPr/>
            </a:pPr>
            <a:r>
              <a:rPr lang="ru-RU" dirty="0"/>
              <a:t>Функціональна: декомпозиція щодо функціональних областей менеджменту</a:t>
            </a:r>
          </a:p>
          <a:p>
            <a:pPr marL="548640" indent="-411480" algn="l" rtl="0" fontAlgn="auto">
              <a:spcAft>
                <a:spcPts val="0"/>
              </a:spcAft>
              <a:buClr>
                <a:schemeClr val="tx1">
                  <a:shade val="95000"/>
                </a:schemeClr>
              </a:buClr>
              <a:buFont typeface="Wingdings 2"/>
              <a:buChar char=""/>
              <a:defRPr/>
            </a:pPr>
            <a:r>
              <a:rPr lang="ru-RU" dirty="0"/>
              <a:t>За етапами життєвого циклу проекту</a:t>
            </a:r>
          </a:p>
          <a:p>
            <a:pPr marL="548640" indent="-411480" algn="l" rtl="0" fontAlgn="auto">
              <a:spcAft>
                <a:spcPts val="0"/>
              </a:spcAft>
              <a:buClr>
                <a:schemeClr val="tx1">
                  <a:shade val="95000"/>
                </a:schemeClr>
              </a:buClr>
              <a:buFont typeface="Wingdings 2"/>
              <a:buChar char=""/>
              <a:defRPr/>
            </a:pPr>
            <a:endParaRPr lang="ru-RU"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l" rtl="0" fontAlgn="auto">
              <a:spcAft>
                <a:spcPts val="0"/>
              </a:spcAft>
              <a:defRPr/>
            </a:pPr>
            <a:r>
              <a:rPr lang="ru-RU" dirty="0" err="1"/>
              <a:t>Work</a:t>
            </a:r>
            <a:r>
              <a:rPr lang="ru-RU" dirty="0"/>
              <a:t> </a:t>
            </a:r>
            <a:r>
              <a:rPr lang="ru-RU" dirty="0" err="1"/>
              <a:t>breakdown</a:t>
            </a:r>
            <a:r>
              <a:rPr lang="ru-RU" dirty="0"/>
              <a:t> </a:t>
            </a:r>
            <a:r>
              <a:rPr lang="ru-RU" dirty="0" err="1"/>
              <a:t>structure</a:t>
            </a:r>
            <a:r>
              <a:rPr lang="ru-RU" dirty="0"/>
              <a:t>(WBS)</a:t>
            </a:r>
            <a:br>
              <a:rPr lang="ru-RU" dirty="0"/>
            </a:br>
            <a:endParaRPr lang="ru-RU" dirty="0"/>
          </a:p>
        </p:txBody>
      </p:sp>
      <p:sp>
        <p:nvSpPr>
          <p:cNvPr id="31746" name="Содержимое 2"/>
          <p:cNvSpPr>
            <a:spLocks noGrp="1"/>
          </p:cNvSpPr>
          <p:nvPr>
            <p:ph idx="1"/>
          </p:nvPr>
        </p:nvSpPr>
        <p:spPr/>
        <p:txBody>
          <a:bodyPr/>
          <a:lstStyle/>
          <a:p>
            <a:pPr algn="l" rtl="0"/>
            <a:r>
              <a:rPr lang="ru-RU"/>
              <a:t>Продуктова (об'єктна)</a:t>
            </a:r>
          </a:p>
          <a:p>
            <a:pPr algn="l" rtl="0"/>
            <a:endParaRPr lang="ru-RU"/>
          </a:p>
          <a:p>
            <a:pPr algn="l" rtl="0"/>
            <a:endParaRPr lang="ru-RU"/>
          </a:p>
          <a:p>
            <a:pPr algn="l" rtl="0"/>
            <a:endParaRPr lang="ru-RU"/>
          </a:p>
          <a:p>
            <a:pPr algn="l" rtl="0"/>
            <a:endParaRPr lang="ru-RU"/>
          </a:p>
          <a:p>
            <a:pPr algn="l" rtl="0"/>
            <a:endParaRPr lang="ru-RU"/>
          </a:p>
          <a:p>
            <a:pPr algn="ctr" rtl="0">
              <a:buFont typeface="Wingdings 2" pitchFamily="18" charset="2"/>
              <a:buNone/>
            </a:pPr>
            <a:r>
              <a:rPr lang="ru-RU"/>
              <a:t>Фрагмент структурної декомпозиції робіт проекту (WBS) щодо елементів продукту проекту</a:t>
            </a:r>
          </a:p>
          <a:p>
            <a:pPr algn="l" rtl="0"/>
            <a:endParaRPr lang="ru-RU"/>
          </a:p>
          <a:p>
            <a:pPr algn="l" rtl="0"/>
            <a:endParaRPr lang="ru-RU"/>
          </a:p>
        </p:txBody>
      </p:sp>
      <p:pic>
        <p:nvPicPr>
          <p:cNvPr id="31747" name="Рисунок 3" descr="Пример структурной декомпозиции работ проекта (WBS) по элементам продукта проекта"/>
          <p:cNvPicPr>
            <a:picLocks noChangeAspect="1" noChangeArrowheads="1"/>
          </p:cNvPicPr>
          <p:nvPr/>
        </p:nvPicPr>
        <p:blipFill>
          <a:blip r:embed="rId2"/>
          <a:srcRect/>
          <a:stretch>
            <a:fillRect/>
          </a:stretch>
        </p:blipFill>
        <p:spPr bwMode="auto">
          <a:xfrm>
            <a:off x="1752600" y="2209800"/>
            <a:ext cx="5718175" cy="2155825"/>
          </a:xfrm>
          <a:prstGeom prst="rect">
            <a:avLst/>
          </a:prstGeom>
          <a:noFill/>
          <a:ln w="9525">
            <a:solidFill>
              <a:schemeClr val="accent1"/>
            </a:solid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l" rtl="0" fontAlgn="auto">
              <a:spcAft>
                <a:spcPts val="0"/>
              </a:spcAft>
              <a:defRPr/>
            </a:pPr>
            <a:r>
              <a:rPr lang="ru-RU" dirty="0" err="1"/>
              <a:t>Work</a:t>
            </a:r>
            <a:r>
              <a:rPr lang="ru-RU" dirty="0"/>
              <a:t> </a:t>
            </a:r>
            <a:r>
              <a:rPr lang="ru-RU" dirty="0" err="1"/>
              <a:t>breakdown</a:t>
            </a:r>
            <a:r>
              <a:rPr lang="ru-RU" dirty="0"/>
              <a:t> </a:t>
            </a:r>
            <a:r>
              <a:rPr lang="ru-RU" dirty="0" err="1"/>
              <a:t>structure</a:t>
            </a:r>
            <a:r>
              <a:rPr lang="ru-RU" dirty="0"/>
              <a:t>(WBS)</a:t>
            </a:r>
            <a:br>
              <a:rPr lang="ru-RU" dirty="0"/>
            </a:br>
            <a:endParaRPr lang="ru-RU" dirty="0"/>
          </a:p>
        </p:txBody>
      </p:sp>
      <p:sp>
        <p:nvSpPr>
          <p:cNvPr id="32770" name="Содержимое 2"/>
          <p:cNvSpPr>
            <a:spLocks noGrp="1"/>
          </p:cNvSpPr>
          <p:nvPr>
            <p:ph idx="1"/>
          </p:nvPr>
        </p:nvSpPr>
        <p:spPr/>
        <p:txBody>
          <a:bodyPr/>
          <a:lstStyle/>
          <a:p>
            <a:pPr algn="l" rtl="0"/>
            <a:r>
              <a:rPr lang="ru-RU"/>
              <a:t>Функціональна: декомпозиція</a:t>
            </a:r>
          </a:p>
          <a:p>
            <a:pPr algn="l" rtl="0"/>
            <a:endParaRPr lang="ru-RU"/>
          </a:p>
          <a:p>
            <a:pPr algn="l" rtl="0"/>
            <a:endParaRPr lang="ru-RU"/>
          </a:p>
          <a:p>
            <a:pPr algn="l" rtl="0"/>
            <a:endParaRPr lang="ru-RU"/>
          </a:p>
          <a:p>
            <a:pPr algn="l" rtl="0"/>
            <a:endParaRPr lang="ru-RU"/>
          </a:p>
          <a:p>
            <a:pPr algn="l" rtl="0"/>
            <a:endParaRPr lang="ru-RU"/>
          </a:p>
          <a:p>
            <a:pPr algn="ctr" rtl="0">
              <a:buFont typeface="Wingdings 2" pitchFamily="18" charset="2"/>
              <a:buNone/>
            </a:pPr>
            <a:r>
              <a:rPr lang="ru-RU"/>
              <a:t>Фрагмент структурної декомпозиції робіт проекту (WBS) щодо функцій менеджменту</a:t>
            </a:r>
          </a:p>
          <a:p>
            <a:pPr algn="l" rtl="0"/>
            <a:endParaRPr lang="ru-RU"/>
          </a:p>
          <a:p>
            <a:pPr algn="l" rtl="0"/>
            <a:endParaRPr lang="ru-RU"/>
          </a:p>
          <a:p>
            <a:pPr algn="l" rtl="0"/>
            <a:endParaRPr lang="ru-RU"/>
          </a:p>
        </p:txBody>
      </p:sp>
      <p:pic>
        <p:nvPicPr>
          <p:cNvPr id="32771" name="Рисунок 4" descr="Пример структурной декомпозиции работ проекта (WBS) по функциям менеджмента"/>
          <p:cNvPicPr>
            <a:picLocks noChangeAspect="1" noChangeArrowheads="1"/>
          </p:cNvPicPr>
          <p:nvPr/>
        </p:nvPicPr>
        <p:blipFill>
          <a:blip r:embed="rId2"/>
          <a:srcRect/>
          <a:stretch>
            <a:fillRect/>
          </a:stretch>
        </p:blipFill>
        <p:spPr bwMode="auto">
          <a:xfrm>
            <a:off x="1712913" y="2125663"/>
            <a:ext cx="5718175" cy="2606675"/>
          </a:xfrm>
          <a:prstGeom prst="rect">
            <a:avLst/>
          </a:prstGeom>
          <a:noFill/>
          <a:ln w="9525">
            <a:solidFill>
              <a:schemeClr val="accent1"/>
            </a:solid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l" rtl="0" fontAlgn="auto">
              <a:spcAft>
                <a:spcPts val="0"/>
              </a:spcAft>
              <a:defRPr/>
            </a:pPr>
            <a:r>
              <a:rPr lang="ru-RU" dirty="0" err="1"/>
              <a:t>Work</a:t>
            </a:r>
            <a:r>
              <a:rPr lang="ru-RU" dirty="0"/>
              <a:t> </a:t>
            </a:r>
            <a:r>
              <a:rPr lang="ru-RU" dirty="0" err="1"/>
              <a:t>breakdown</a:t>
            </a:r>
            <a:r>
              <a:rPr lang="ru-RU" dirty="0"/>
              <a:t> </a:t>
            </a:r>
            <a:r>
              <a:rPr lang="ru-RU" dirty="0" err="1"/>
              <a:t>structure</a:t>
            </a:r>
            <a:r>
              <a:rPr lang="ru-RU" dirty="0"/>
              <a:t>(WBS)</a:t>
            </a:r>
            <a:br>
              <a:rPr lang="ru-RU" dirty="0"/>
            </a:br>
            <a:endParaRPr lang="ru-RU" dirty="0"/>
          </a:p>
        </p:txBody>
      </p:sp>
      <p:pic>
        <p:nvPicPr>
          <p:cNvPr id="33794" name="Содержимое 3" descr="Пример структурной декомпозиции работ проекта (WBS) по этапам жизненного цикла"/>
          <p:cNvPicPr>
            <a:picLocks noGrp="1"/>
          </p:cNvPicPr>
          <p:nvPr>
            <p:ph idx="1"/>
          </p:nvPr>
        </p:nvPicPr>
        <p:blipFill>
          <a:blip r:embed="rId2"/>
          <a:srcRect/>
          <a:stretch>
            <a:fillRect/>
          </a:stretch>
        </p:blipFill>
        <p:spPr>
          <a:xfrm>
            <a:off x="2362200" y="1981200"/>
            <a:ext cx="4414838" cy="3473450"/>
          </a:xfrm>
          <a:ln>
            <a:solidFill>
              <a:schemeClr val="accent1"/>
            </a:solidFill>
          </a:ln>
        </p:spPr>
      </p:pic>
      <p:sp>
        <p:nvSpPr>
          <p:cNvPr id="5" name="Содержимое 2"/>
          <p:cNvSpPr txBox="1">
            <a:spLocks/>
          </p:cNvSpPr>
          <p:nvPr/>
        </p:nvSpPr>
        <p:spPr>
          <a:xfrm>
            <a:off x="457200" y="1371600"/>
            <a:ext cx="8382000" cy="5105400"/>
          </a:xfrm>
          <a:prstGeom prst="rect">
            <a:avLst/>
          </a:prstGeom>
        </p:spPr>
        <p:txBody>
          <a:bodyPr>
            <a:normAutofit fontScale="92500" lnSpcReduction="20000"/>
          </a:bodyPr>
          <a:lstStyle/>
          <a:p>
            <a:pPr marL="548640" indent="-411480" algn="l" rtl="0" fontAlgn="auto">
              <a:spcBef>
                <a:spcPct val="20000"/>
              </a:spcBef>
              <a:spcAft>
                <a:spcPts val="0"/>
              </a:spcAft>
              <a:buClr>
                <a:schemeClr val="tx1">
                  <a:shade val="95000"/>
                </a:schemeClr>
              </a:buClr>
              <a:buSzPct val="65000"/>
              <a:buFont typeface="Wingdings 2"/>
              <a:buChar char=""/>
              <a:defRPr/>
            </a:pPr>
            <a:r>
              <a:rPr lang="ru-RU" sz="2800" dirty="0">
                <a:latin typeface="+mn-lt"/>
              </a:rPr>
              <a:t>За етапами життєвого циклу проекту</a:t>
            </a:r>
          </a:p>
          <a:p>
            <a:pPr marL="548640" indent="-411480" algn="l" rtl="0" fontAlgn="auto">
              <a:spcBef>
                <a:spcPct val="20000"/>
              </a:spcBef>
              <a:spcAft>
                <a:spcPts val="0"/>
              </a:spcAft>
              <a:buClr>
                <a:schemeClr val="tx1">
                  <a:shade val="95000"/>
                </a:schemeClr>
              </a:buClr>
              <a:buSzPct val="65000"/>
              <a:buFont typeface="Wingdings 2"/>
              <a:buChar char=""/>
              <a:defRPr/>
            </a:pPr>
            <a:endParaRPr lang="ru-RU" sz="2800" dirty="0">
              <a:latin typeface="+mn-lt"/>
            </a:endParaRPr>
          </a:p>
          <a:p>
            <a:pPr marL="548640" indent="-411480" algn="l" rtl="0" fontAlgn="auto">
              <a:spcBef>
                <a:spcPct val="20000"/>
              </a:spcBef>
              <a:spcAft>
                <a:spcPts val="0"/>
              </a:spcAft>
              <a:buClr>
                <a:schemeClr val="tx1">
                  <a:shade val="95000"/>
                </a:schemeClr>
              </a:buClr>
              <a:buSzPct val="65000"/>
              <a:buFont typeface="Wingdings 2"/>
              <a:buChar char=""/>
              <a:defRPr/>
            </a:pPr>
            <a:endParaRPr lang="ru-RU" sz="2800" dirty="0">
              <a:latin typeface="+mn-lt"/>
            </a:endParaRPr>
          </a:p>
          <a:p>
            <a:pPr marL="548640" indent="-411480" algn="l" rtl="0" fontAlgn="auto">
              <a:spcBef>
                <a:spcPct val="20000"/>
              </a:spcBef>
              <a:spcAft>
                <a:spcPts val="0"/>
              </a:spcAft>
              <a:buClr>
                <a:schemeClr val="tx1">
                  <a:shade val="95000"/>
                </a:schemeClr>
              </a:buClr>
              <a:buSzPct val="65000"/>
              <a:buFont typeface="Wingdings 2"/>
              <a:buChar char=""/>
              <a:defRPr/>
            </a:pPr>
            <a:endParaRPr lang="ru-RU" sz="2800" dirty="0">
              <a:latin typeface="+mn-lt"/>
            </a:endParaRPr>
          </a:p>
          <a:p>
            <a:pPr marL="548640" indent="-411480" algn="l" rtl="0" fontAlgn="auto">
              <a:spcBef>
                <a:spcPct val="20000"/>
              </a:spcBef>
              <a:spcAft>
                <a:spcPts val="0"/>
              </a:spcAft>
              <a:buClr>
                <a:schemeClr val="tx1">
                  <a:shade val="95000"/>
                </a:schemeClr>
              </a:buClr>
              <a:buSzPct val="65000"/>
              <a:buFont typeface="Wingdings 2"/>
              <a:buChar char=""/>
              <a:defRPr/>
            </a:pPr>
            <a:endParaRPr lang="ru-RU" sz="2800" dirty="0">
              <a:latin typeface="+mn-lt"/>
            </a:endParaRPr>
          </a:p>
          <a:p>
            <a:pPr marL="548640" indent="-411480" algn="l" rtl="0" fontAlgn="auto">
              <a:spcBef>
                <a:spcPct val="20000"/>
              </a:spcBef>
              <a:spcAft>
                <a:spcPts val="0"/>
              </a:spcAft>
              <a:buClr>
                <a:schemeClr val="tx1">
                  <a:shade val="95000"/>
                </a:schemeClr>
              </a:buClr>
              <a:buSzPct val="65000"/>
              <a:buFont typeface="Wingdings 2"/>
              <a:buChar char=""/>
              <a:defRPr/>
            </a:pPr>
            <a:endParaRPr lang="ru-RU" sz="2800" dirty="0">
              <a:latin typeface="+mn-lt"/>
            </a:endParaRPr>
          </a:p>
          <a:p>
            <a:pPr marL="548640" indent="-411480" algn="l" rtl="0" fontAlgn="auto">
              <a:spcBef>
                <a:spcPct val="20000"/>
              </a:spcBef>
              <a:spcAft>
                <a:spcPts val="0"/>
              </a:spcAft>
              <a:buClr>
                <a:schemeClr val="tx1">
                  <a:shade val="95000"/>
                </a:schemeClr>
              </a:buClr>
              <a:buSzPct val="65000"/>
              <a:buFont typeface="Wingdings 2"/>
              <a:buChar char=""/>
              <a:defRPr/>
            </a:pPr>
            <a:endParaRPr lang="ru-RU" sz="2800" dirty="0">
              <a:latin typeface="+mn-lt"/>
            </a:endParaRPr>
          </a:p>
          <a:p>
            <a:pPr marL="548640" indent="-411480" algn="l" rtl="0" fontAlgn="auto">
              <a:spcBef>
                <a:spcPct val="20000"/>
              </a:spcBef>
              <a:spcAft>
                <a:spcPts val="0"/>
              </a:spcAft>
              <a:buClr>
                <a:schemeClr val="tx1">
                  <a:shade val="95000"/>
                </a:schemeClr>
              </a:buClr>
              <a:buSzPct val="65000"/>
              <a:buFont typeface="Wingdings 2"/>
              <a:buChar char=""/>
              <a:defRPr/>
            </a:pPr>
            <a:endParaRPr lang="ru-RU" sz="2800" dirty="0">
              <a:latin typeface="+mn-lt"/>
            </a:endParaRPr>
          </a:p>
          <a:p>
            <a:pPr marL="548640" indent="-411480" algn="l" rtl="0" fontAlgn="auto">
              <a:spcBef>
                <a:spcPct val="20000"/>
              </a:spcBef>
              <a:spcAft>
                <a:spcPts val="0"/>
              </a:spcAft>
              <a:buClr>
                <a:schemeClr val="tx1">
                  <a:shade val="95000"/>
                </a:schemeClr>
              </a:buClr>
              <a:buSzPct val="65000"/>
              <a:buFont typeface="Wingdings 2"/>
              <a:buChar char=""/>
              <a:defRPr/>
            </a:pPr>
            <a:endParaRPr lang="ru-RU" sz="2800" dirty="0">
              <a:latin typeface="+mn-lt"/>
            </a:endParaRPr>
          </a:p>
          <a:p>
            <a:pPr marL="548640" indent="-411480" algn="l" rtl="0" fontAlgn="auto">
              <a:spcBef>
                <a:spcPct val="20000"/>
              </a:spcBef>
              <a:spcAft>
                <a:spcPts val="0"/>
              </a:spcAft>
              <a:buClr>
                <a:schemeClr val="tx1">
                  <a:shade val="95000"/>
                </a:schemeClr>
              </a:buClr>
              <a:buSzPct val="65000"/>
              <a:buFont typeface="Wingdings 2"/>
              <a:buChar char=""/>
              <a:defRPr/>
            </a:pPr>
            <a:endParaRPr lang="ru-RU" sz="2800" dirty="0">
              <a:latin typeface="+mn-lt"/>
            </a:endParaRPr>
          </a:p>
          <a:p>
            <a:pPr marL="548640" indent="-411480" algn="l" rtl="0" fontAlgn="auto">
              <a:spcBef>
                <a:spcPct val="20000"/>
              </a:spcBef>
              <a:spcAft>
                <a:spcPts val="0"/>
              </a:spcAft>
              <a:buClr>
                <a:schemeClr val="tx1">
                  <a:shade val="95000"/>
                </a:schemeClr>
              </a:buClr>
              <a:buSzPct val="65000"/>
              <a:buFont typeface="Wingdings 2"/>
              <a:buChar char=""/>
              <a:defRPr/>
            </a:pPr>
            <a:endParaRPr lang="ru-RU" sz="2800" dirty="0">
              <a:latin typeface="+mn-lt"/>
            </a:endParaRPr>
          </a:p>
          <a:p>
            <a:pPr marL="548640" indent="-411480" algn="ctr" rtl="0" fontAlgn="auto">
              <a:spcBef>
                <a:spcPct val="20000"/>
              </a:spcBef>
              <a:spcAft>
                <a:spcPts val="0"/>
              </a:spcAft>
              <a:buClr>
                <a:schemeClr val="tx1">
                  <a:shade val="95000"/>
                </a:schemeClr>
              </a:buClr>
              <a:buSzPct val="65000"/>
              <a:defRPr/>
            </a:pPr>
            <a:r>
              <a:rPr lang="ru-RU" sz="2800" dirty="0">
                <a:latin typeface="+mn-lt"/>
              </a:rPr>
              <a:t>Фрагмент структурної декомпозиції робіт проекту (WBS) за етапами життєвого</a:t>
            </a:r>
            <a:r>
              <a:rPr lang="ru-RU" sz="2800" i="1" dirty="0">
                <a:latin typeface="+mn-lt"/>
              </a:rPr>
              <a:t> </a:t>
            </a:r>
            <a:r>
              <a:rPr lang="ru-RU" sz="2800" dirty="0">
                <a:latin typeface="+mn-lt"/>
              </a:rPr>
              <a:t>циклу</a:t>
            </a:r>
          </a:p>
          <a:p>
            <a:pPr marL="548640" indent="-411480" algn="ctr" rtl="0" fontAlgn="auto">
              <a:spcBef>
                <a:spcPct val="20000"/>
              </a:spcBef>
              <a:spcAft>
                <a:spcPts val="0"/>
              </a:spcAft>
              <a:buClr>
                <a:schemeClr val="tx1">
                  <a:shade val="95000"/>
                </a:schemeClr>
              </a:buClr>
              <a:buSzPct val="65000"/>
              <a:buFont typeface="Wingdings 2"/>
              <a:buNone/>
              <a:defRPr/>
            </a:pPr>
            <a:endParaRPr lang="ru-RU" sz="2800" dirty="0">
              <a:latin typeface="+mn-lt"/>
            </a:endParaRPr>
          </a:p>
          <a:p>
            <a:pPr marL="548640" indent="-411480" algn="l" rtl="0" fontAlgn="auto">
              <a:spcBef>
                <a:spcPct val="20000"/>
              </a:spcBef>
              <a:spcAft>
                <a:spcPts val="0"/>
              </a:spcAft>
              <a:buClr>
                <a:schemeClr val="tx1">
                  <a:shade val="95000"/>
                </a:schemeClr>
              </a:buClr>
              <a:buSzPct val="65000"/>
              <a:buFont typeface="Wingdings 2"/>
              <a:buChar char=""/>
              <a:defRPr/>
            </a:pPr>
            <a:endParaRPr lang="ru-RU" sz="2800" dirty="0">
              <a:latin typeface="+mn-lt"/>
            </a:endParaRPr>
          </a:p>
          <a:p>
            <a:pPr marL="548640" indent="-411480" algn="l" rtl="0" fontAlgn="auto">
              <a:spcBef>
                <a:spcPct val="20000"/>
              </a:spcBef>
              <a:spcAft>
                <a:spcPts val="0"/>
              </a:spcAft>
              <a:buClr>
                <a:schemeClr val="tx1">
                  <a:shade val="95000"/>
                </a:schemeClr>
              </a:buClr>
              <a:buSzPct val="65000"/>
              <a:buFont typeface="Wingdings 2"/>
              <a:buChar char=""/>
              <a:defRPr/>
            </a:pPr>
            <a:endParaRPr lang="ru-RU" sz="2800" dirty="0">
              <a:latin typeface="+mn-lt"/>
            </a:endParaRPr>
          </a:p>
          <a:p>
            <a:pPr marL="548640" indent="-411480" algn="l" rtl="0" fontAlgn="auto">
              <a:spcBef>
                <a:spcPct val="20000"/>
              </a:spcBef>
              <a:spcAft>
                <a:spcPts val="0"/>
              </a:spcAft>
              <a:buClr>
                <a:schemeClr val="tx1">
                  <a:shade val="95000"/>
                </a:schemeClr>
              </a:buClr>
              <a:buSzPct val="65000"/>
              <a:buFont typeface="Wingdings 2"/>
              <a:buChar char=""/>
              <a:defRPr/>
            </a:pPr>
            <a:endParaRPr lang="ru-RU" sz="2800" dirty="0">
              <a:latin typeface="+mn-l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228600"/>
            <a:ext cx="7315200" cy="1096962"/>
          </a:xfrm>
        </p:spPr>
        <p:txBody>
          <a:bodyPr/>
          <a:lstStyle/>
          <a:p>
            <a:pPr algn="l" rtl="0" fontAlgn="auto">
              <a:spcAft>
                <a:spcPts val="0"/>
              </a:spcAft>
              <a:defRPr/>
            </a:pPr>
            <a:r>
              <a:rPr lang="en-US" dirty="0"/>
              <a:t>D</a:t>
            </a:r>
            <a:r>
              <a:rPr lang="ru-RU" dirty="0" err="1"/>
              <a:t>ivide</a:t>
            </a:r>
            <a:r>
              <a:rPr lang="ru-RU" dirty="0"/>
              <a:t> </a:t>
            </a:r>
            <a:r>
              <a:rPr lang="ru-RU" dirty="0" err="1"/>
              <a:t>and</a:t>
            </a:r>
            <a:r>
              <a:rPr lang="ru-RU" dirty="0"/>
              <a:t> </a:t>
            </a:r>
            <a:r>
              <a:rPr lang="ru-RU" dirty="0" err="1"/>
              <a:t>conquer</a:t>
            </a:r>
            <a:endParaRPr lang="ru-RU" dirty="0"/>
          </a:p>
        </p:txBody>
      </p:sp>
      <p:sp>
        <p:nvSpPr>
          <p:cNvPr id="34818" name="Содержимое 2"/>
          <p:cNvSpPr>
            <a:spLocks noGrp="1"/>
          </p:cNvSpPr>
          <p:nvPr>
            <p:ph idx="1"/>
          </p:nvPr>
        </p:nvSpPr>
        <p:spPr>
          <a:xfrm>
            <a:off x="304800" y="1219200"/>
            <a:ext cx="8229600" cy="4708525"/>
          </a:xfrm>
        </p:spPr>
        <p:txBody>
          <a:bodyPr/>
          <a:lstStyle/>
          <a:p>
            <a:pPr algn="l" rtl="0"/>
            <a:r>
              <a:rPr lang="ru-RU" sz="2400"/>
              <a:t>Розділяй і владарюй — важлива парадигма розробки алгоритмів, що полягає в рекурсивному розбитті розв'язуваного завдання на дві або більше підзавдання того ж типу, але меншого розміру, і комбінування їх рішень для отримання відповіді до вихідного завдання; розбиття виконуються до тих пір, поки всі підзавдання не виявляться елементарними.</a:t>
            </a:r>
          </a:p>
          <a:p>
            <a:pPr algn="l" rtl="0"/>
            <a:endParaRPr lang="ru-RU" sz="2400"/>
          </a:p>
        </p:txBody>
      </p:sp>
      <p:pic>
        <p:nvPicPr>
          <p:cNvPr id="34819" name="Рисунок 3" descr="i_002.jpg"/>
          <p:cNvPicPr>
            <a:picLocks noChangeAspect="1"/>
          </p:cNvPicPr>
          <p:nvPr/>
        </p:nvPicPr>
        <p:blipFill>
          <a:blip r:embed="rId2"/>
          <a:srcRect/>
          <a:stretch>
            <a:fillRect/>
          </a:stretch>
        </p:blipFill>
        <p:spPr bwMode="auto">
          <a:xfrm>
            <a:off x="6705600" y="4038600"/>
            <a:ext cx="2060575" cy="2514600"/>
          </a:xfrm>
          <a:prstGeom prst="rect">
            <a:avLst/>
          </a:prstGeom>
          <a:noFill/>
          <a:ln w="9525">
            <a:solidFill>
              <a:schemeClr val="accent1"/>
            </a:solid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fontAlgn="auto">
              <a:spcAft>
                <a:spcPts val="0"/>
              </a:spcAft>
              <a:defRPr/>
            </a:pPr>
            <a:r>
              <a:rPr lang="uk-UA" dirty="0" err="1"/>
              <a:t>Нотація</a:t>
            </a:r>
            <a:endParaRPr lang="ru-RU" dirty="0"/>
          </a:p>
        </p:txBody>
      </p:sp>
      <p:sp>
        <p:nvSpPr>
          <p:cNvPr id="35842" name="Содержимое 2"/>
          <p:cNvSpPr>
            <a:spLocks noGrp="1"/>
          </p:cNvSpPr>
          <p:nvPr>
            <p:ph idx="1"/>
          </p:nvPr>
        </p:nvSpPr>
        <p:spPr/>
        <p:txBody>
          <a:bodyPr/>
          <a:lstStyle/>
          <a:p>
            <a:pPr algn="l" rtl="0"/>
            <a:r>
              <a:rPr lang="ru-RU"/>
              <a:t>Стандарт оформлення коду (стандарт кодування, стиль програмування) - набір правил і угод, що використовуються при написанні вихідного коду деякою мовою програмування.</a:t>
            </a:r>
            <a:endParaRPr lang="en-US"/>
          </a:p>
          <a:p>
            <a:pPr algn="l" rtl="0"/>
            <a:r>
              <a:rPr lang="ru-RU"/>
              <a:t>Зразком для стандарту кодування може стати набір угод, прийнятих у будь-якій поширеній друкованій роботі з мови</a:t>
            </a:r>
            <a:r>
              <a:rPr lang="en-US"/>
              <a:t>.</a:t>
            </a:r>
          </a:p>
          <a:p>
            <a:pPr algn="l" rtl="0"/>
            <a:endParaRPr lang="ru-RU"/>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5" name="Picture 2"/>
          <p:cNvPicPr>
            <a:picLocks noChangeAspect="1" noChangeArrowheads="1"/>
          </p:cNvPicPr>
          <p:nvPr/>
        </p:nvPicPr>
        <p:blipFill>
          <a:blip r:embed="rId2"/>
          <a:srcRect/>
          <a:stretch>
            <a:fillRect/>
          </a:stretch>
        </p:blipFill>
        <p:spPr bwMode="auto">
          <a:xfrm>
            <a:off x="1447800" y="3505200"/>
            <a:ext cx="6296025" cy="2886075"/>
          </a:xfrm>
          <a:prstGeom prst="rect">
            <a:avLst/>
          </a:prstGeom>
          <a:noFill/>
          <a:ln w="9525">
            <a:solidFill>
              <a:schemeClr val="accent1"/>
            </a:solidFill>
            <a:miter lim="800000"/>
            <a:headEnd/>
            <a:tailEnd/>
          </a:ln>
        </p:spPr>
      </p:pic>
      <p:sp>
        <p:nvSpPr>
          <p:cNvPr id="2" name="Заголовок 1"/>
          <p:cNvSpPr>
            <a:spLocks noGrp="1"/>
          </p:cNvSpPr>
          <p:nvPr>
            <p:ph type="title"/>
          </p:nvPr>
        </p:nvSpPr>
        <p:spPr/>
        <p:txBody>
          <a:bodyPr/>
          <a:lstStyle/>
          <a:p>
            <a:pPr algn="l" rtl="0" fontAlgn="auto">
              <a:spcAft>
                <a:spcPts val="0"/>
              </a:spcAft>
              <a:defRPr/>
            </a:pPr>
            <a:r>
              <a:rPr lang="uk-UA" dirty="0" err="1"/>
              <a:t>Нотація</a:t>
            </a:r>
            <a:endParaRPr lang="ru-RU" dirty="0"/>
          </a:p>
        </p:txBody>
      </p:sp>
      <p:sp>
        <p:nvSpPr>
          <p:cNvPr id="36867" name="Содержимое 2"/>
          <p:cNvSpPr>
            <a:spLocks noGrp="1"/>
          </p:cNvSpPr>
          <p:nvPr>
            <p:ph idx="1"/>
          </p:nvPr>
        </p:nvSpPr>
        <p:spPr/>
        <p:txBody>
          <a:bodyPr/>
          <a:lstStyle/>
          <a:p>
            <a:pPr algn="l" rtl="0"/>
            <a:r>
              <a:rPr lang="ru-RU" b="1"/>
              <a:t>Угорська нотація - угода програмістів про назву змінних, констант та інших ідентифікаторів у коді програм.</a:t>
            </a:r>
          </a:p>
          <a:p>
            <a:pPr algn="l" rtl="0"/>
            <a:endParaRPr lang="ru-RU"/>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fontAlgn="auto">
              <a:spcAft>
                <a:spcPts val="0"/>
              </a:spcAft>
              <a:defRPr/>
            </a:pPr>
            <a:r>
              <a:rPr lang="uk-UA" dirty="0"/>
              <a:t>Яз</a:t>
            </a:r>
            <a:r>
              <a:rPr lang="ru-RU" dirty="0" err="1"/>
              <a:t>ик</a:t>
            </a:r>
            <a:r>
              <a:rPr lang="ru-RU" dirty="0"/>
              <a:t> </a:t>
            </a:r>
          </a:p>
        </p:txBody>
      </p:sp>
      <p:sp>
        <p:nvSpPr>
          <p:cNvPr id="37890" name="Содержимое 2"/>
          <p:cNvSpPr>
            <a:spLocks noGrp="1"/>
          </p:cNvSpPr>
          <p:nvPr>
            <p:ph idx="1"/>
          </p:nvPr>
        </p:nvSpPr>
        <p:spPr/>
        <p:txBody>
          <a:bodyPr/>
          <a:lstStyle/>
          <a:p>
            <a:pPr algn="l" rtl="0"/>
            <a:r>
              <a:rPr lang="ru-RU"/>
              <a:t>Мова програмування - формальна мова, призначена для запису комп'ютерних програм</a:t>
            </a:r>
            <a:r>
              <a:rPr lang="en-US"/>
              <a:t>.</a:t>
            </a:r>
            <a:endParaRPr lang="ru-RU"/>
          </a:p>
          <a:p>
            <a:pPr algn="l" rtl="0"/>
            <a:endParaRPr lang="ru-RU"/>
          </a:p>
        </p:txBody>
      </p:sp>
      <p:pic>
        <p:nvPicPr>
          <p:cNvPr id="37891" name="Рисунок 3" descr="iazyk-programmirovanija.jpg"/>
          <p:cNvPicPr>
            <a:picLocks noChangeAspect="1"/>
          </p:cNvPicPr>
          <p:nvPr/>
        </p:nvPicPr>
        <p:blipFill>
          <a:blip r:embed="rId2"/>
          <a:srcRect/>
          <a:stretch>
            <a:fillRect/>
          </a:stretch>
        </p:blipFill>
        <p:spPr bwMode="auto">
          <a:xfrm>
            <a:off x="2057400" y="3352800"/>
            <a:ext cx="5048250" cy="2819400"/>
          </a:xfrm>
          <a:prstGeom prst="rect">
            <a:avLst/>
          </a:prstGeom>
          <a:noFill/>
          <a:ln w="9525">
            <a:solidFill>
              <a:schemeClr val="accent1"/>
            </a:solid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fontAlgn="auto">
              <a:spcAft>
                <a:spcPts val="0"/>
              </a:spcAft>
              <a:defRPr/>
            </a:pPr>
            <a:r>
              <a:rPr lang="uk-UA" dirty="0"/>
              <a:t>Яз</a:t>
            </a:r>
            <a:r>
              <a:rPr lang="ru-RU" dirty="0" err="1"/>
              <a:t>ик</a:t>
            </a:r>
            <a:r>
              <a:rPr lang="ru-RU" dirty="0"/>
              <a:t> </a:t>
            </a:r>
          </a:p>
        </p:txBody>
      </p:sp>
      <p:sp>
        <p:nvSpPr>
          <p:cNvPr id="38914" name="Содержимое 2"/>
          <p:cNvSpPr>
            <a:spLocks noGrp="1"/>
          </p:cNvSpPr>
          <p:nvPr>
            <p:ph idx="1"/>
          </p:nvPr>
        </p:nvSpPr>
        <p:spPr>
          <a:xfrm>
            <a:off x="457200" y="1295400"/>
            <a:ext cx="8229600" cy="4708525"/>
          </a:xfrm>
        </p:spPr>
        <p:txBody>
          <a:bodyPr/>
          <a:lstStyle/>
          <a:p>
            <a:pPr algn="l" rtl="0"/>
            <a:r>
              <a:rPr lang="ru-RU"/>
              <a:t>У будь-якій мові програмування визначені методи організації даних та методи організації дій над даними.</a:t>
            </a:r>
          </a:p>
          <a:p>
            <a:pPr algn="l" rtl="0"/>
            <a:r>
              <a:rPr lang="ru-RU"/>
              <a:t>Спільність структури різних мов програмування високого рівня схематично відбито малюнку.</a:t>
            </a:r>
          </a:p>
        </p:txBody>
      </p:sp>
      <p:pic>
        <p:nvPicPr>
          <p:cNvPr id="38915" name="Picture 2"/>
          <p:cNvPicPr>
            <a:picLocks noChangeAspect="1" noChangeArrowheads="1"/>
          </p:cNvPicPr>
          <p:nvPr/>
        </p:nvPicPr>
        <p:blipFill>
          <a:blip r:embed="rId2"/>
          <a:srcRect/>
          <a:stretch>
            <a:fillRect/>
          </a:stretch>
        </p:blipFill>
        <p:spPr bwMode="auto">
          <a:xfrm>
            <a:off x="2438400" y="4114800"/>
            <a:ext cx="4392613" cy="2466975"/>
          </a:xfrm>
          <a:prstGeom prst="rect">
            <a:avLst/>
          </a:prstGeom>
          <a:noFill/>
          <a:ln w="9525">
            <a:solidFill>
              <a:schemeClr val="accent1"/>
            </a:solid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4068762"/>
          </a:xfrm>
        </p:spPr>
        <p:txBody>
          <a:bodyPr>
            <a:no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l" rtl="0" fontAlgn="auto">
              <a:spcAft>
                <a:spcPts val="0"/>
              </a:spcAft>
              <a:defRPr/>
            </a:pPr>
            <a:br>
              <a:rPr lang="ru-RU" sz="3600"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br>
            <a:r>
              <a:rPr lang="ru-RU" sz="3600"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Функціональна та об'єктна декомпозиції (інкапсуляція, успадкування, поліморфізм та пізніше зв'язування).</a:t>
            </a:r>
            <a:br>
              <a:rPr lang="ru-RU" sz="3600"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br>
            <a:endParaRPr lang="ru-RU" sz="3600"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fontAlgn="auto">
              <a:spcAft>
                <a:spcPts val="0"/>
              </a:spcAft>
              <a:defRPr/>
            </a:pPr>
            <a:r>
              <a:rPr lang="ru-RU" dirty="0"/>
              <a:t>Об'єктна декомпозиція</a:t>
            </a:r>
          </a:p>
        </p:txBody>
      </p:sp>
      <p:sp>
        <p:nvSpPr>
          <p:cNvPr id="40962" name="Содержимое 2"/>
          <p:cNvSpPr>
            <a:spLocks noGrp="1"/>
          </p:cNvSpPr>
          <p:nvPr>
            <p:ph idx="1"/>
          </p:nvPr>
        </p:nvSpPr>
        <p:spPr/>
        <p:txBody>
          <a:bodyPr/>
          <a:lstStyle/>
          <a:p>
            <a:pPr algn="l" rtl="0"/>
            <a:r>
              <a:rPr lang="ru-RU"/>
              <a:t>Об'єктно-орієнтований підхід використовує об'єктну декомпозицію, причому статична структура описується в термінах</a:t>
            </a:r>
            <a:r>
              <a:rPr lang="ru-RU" b="1"/>
              <a:t>об'єктів та зв'язків</a:t>
            </a:r>
            <a:r>
              <a:rPr lang="ru-RU"/>
              <a:t>між ними, а поведінка системи описується в термінах</a:t>
            </a:r>
            <a:r>
              <a:rPr lang="ru-RU" b="1"/>
              <a:t>обміну повідомленнями</a:t>
            </a:r>
            <a:r>
              <a:rPr lang="ru-RU"/>
              <a:t>між об'єктами.</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fontAlgn="auto">
              <a:spcAft>
                <a:spcPts val="0"/>
              </a:spcAft>
              <a:defRPr/>
            </a:pPr>
            <a:r>
              <a:rPr lang="ru-RU" dirty="0"/>
              <a:t>Об'єктна декомпозиція</a:t>
            </a:r>
          </a:p>
        </p:txBody>
      </p:sp>
      <p:sp>
        <p:nvSpPr>
          <p:cNvPr id="41986" name="Содержимое 2"/>
          <p:cNvSpPr>
            <a:spLocks noGrp="1"/>
          </p:cNvSpPr>
          <p:nvPr>
            <p:ph idx="1"/>
          </p:nvPr>
        </p:nvSpPr>
        <p:spPr/>
        <p:txBody>
          <a:bodyPr/>
          <a:lstStyle/>
          <a:p>
            <a:pPr algn="l" rtl="0">
              <a:buFont typeface="Wingdings 2" pitchFamily="18" charset="2"/>
              <a:buNone/>
            </a:pPr>
            <a:r>
              <a:rPr lang="ru-RU"/>
              <a:t>Основні принципи:</a:t>
            </a:r>
          </a:p>
          <a:p>
            <a:pPr algn="l" rtl="0"/>
            <a:r>
              <a:rPr lang="ru-RU"/>
              <a:t>абстрагування;</a:t>
            </a:r>
          </a:p>
          <a:p>
            <a:pPr algn="l" rtl="0"/>
            <a:r>
              <a:rPr lang="ru-RU"/>
              <a:t>інкапсуляція;</a:t>
            </a:r>
          </a:p>
          <a:p>
            <a:pPr algn="l" rtl="0"/>
            <a:r>
              <a:rPr lang="ru-RU"/>
              <a:t>модульність;</a:t>
            </a:r>
          </a:p>
          <a:p>
            <a:pPr algn="l" rtl="0"/>
            <a:r>
              <a:rPr lang="ru-RU"/>
              <a:t>ієрархія;</a:t>
            </a:r>
          </a:p>
          <a:p>
            <a:pPr algn="l" rtl="0"/>
            <a:r>
              <a:rPr lang="ru-RU"/>
              <a:t>типізація;</a:t>
            </a:r>
          </a:p>
          <a:p>
            <a:pPr algn="l" rtl="0"/>
            <a:r>
              <a:rPr lang="ru-RU"/>
              <a:t>паралелізм;</a:t>
            </a:r>
          </a:p>
          <a:p>
            <a:pPr algn="l" rtl="0"/>
            <a:r>
              <a:rPr lang="ru-RU"/>
              <a:t>стійкість.</a:t>
            </a:r>
          </a:p>
          <a:p>
            <a:pPr algn="l" rtl="0"/>
            <a:endParaRPr lang="ru-RU"/>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fontAlgn="auto">
              <a:spcAft>
                <a:spcPts val="0"/>
              </a:spcAft>
              <a:defRPr/>
            </a:pPr>
            <a:r>
              <a:rPr lang="ru-RU" dirty="0"/>
              <a:t>Об'єктна декомпозиція</a:t>
            </a:r>
          </a:p>
        </p:txBody>
      </p:sp>
      <p:sp>
        <p:nvSpPr>
          <p:cNvPr id="43010" name="Содержимое 2"/>
          <p:cNvSpPr>
            <a:spLocks noGrp="1"/>
          </p:cNvSpPr>
          <p:nvPr>
            <p:ph idx="1"/>
          </p:nvPr>
        </p:nvSpPr>
        <p:spPr/>
        <p:txBody>
          <a:bodyPr/>
          <a:lstStyle/>
          <a:p>
            <a:pPr algn="l" rtl="0"/>
            <a:r>
              <a:rPr lang="ru-RU"/>
              <a:t>Основними поняттями</a:t>
            </a:r>
            <a:r>
              <a:rPr lang="ru-RU" i="1"/>
              <a:t>об'єктно-орієнтованого підходу</a:t>
            </a:r>
            <a:r>
              <a:rPr lang="ru-RU"/>
              <a:t>є об'єкт та клас.</a:t>
            </a:r>
          </a:p>
          <a:p>
            <a:pPr algn="l" rtl="0"/>
            <a:r>
              <a:rPr lang="ru-RU"/>
              <a:t>Наступну групу важливих понять об'єктного підходу становлять успадкування, поліморфізм, інкапсуляція, пізнє зв'язування.</a:t>
            </a:r>
          </a:p>
          <a:p>
            <a:pPr algn="l" rtl="0"/>
            <a:endParaRPr lang="ru-RU"/>
          </a:p>
        </p:txBody>
      </p:sp>
      <p:pic>
        <p:nvPicPr>
          <p:cNvPr id="43011" name="Рисунок 3" descr="atkritka_1280731803_565.jpg"/>
          <p:cNvPicPr>
            <a:picLocks noChangeAspect="1"/>
          </p:cNvPicPr>
          <p:nvPr/>
        </p:nvPicPr>
        <p:blipFill>
          <a:blip r:embed="rId2"/>
          <a:srcRect/>
          <a:stretch>
            <a:fillRect/>
          </a:stretch>
        </p:blipFill>
        <p:spPr bwMode="auto">
          <a:xfrm>
            <a:off x="3657600" y="4343400"/>
            <a:ext cx="4048125" cy="2257425"/>
          </a:xfrm>
          <a:prstGeom prst="rect">
            <a:avLst/>
          </a:prstGeom>
          <a:noFill/>
          <a:ln w="9525">
            <a:solidFill>
              <a:schemeClr val="accent1"/>
            </a:solid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fontAlgn="auto">
              <a:spcAft>
                <a:spcPts val="0"/>
              </a:spcAft>
              <a:defRPr/>
            </a:pPr>
            <a:r>
              <a:rPr lang="ru-RU" dirty="0"/>
              <a:t>Об'єктна декомпозиція</a:t>
            </a:r>
          </a:p>
        </p:txBody>
      </p:sp>
      <p:sp>
        <p:nvSpPr>
          <p:cNvPr id="44034" name="Содержимое 2"/>
          <p:cNvSpPr>
            <a:spLocks noGrp="1"/>
          </p:cNvSpPr>
          <p:nvPr>
            <p:ph idx="1"/>
          </p:nvPr>
        </p:nvSpPr>
        <p:spPr/>
        <p:txBody>
          <a:bodyPr/>
          <a:lstStyle/>
          <a:p>
            <a:pPr algn="l" rtl="0">
              <a:buFont typeface="Wingdings 2" pitchFamily="18" charset="2"/>
              <a:buNone/>
            </a:pPr>
            <a:r>
              <a:rPr lang="ru-RU"/>
              <a:t>Плюси</a:t>
            </a:r>
          </a:p>
          <a:p>
            <a:pPr algn="l" rtl="0"/>
            <a:r>
              <a:rPr lang="ru-RU"/>
              <a:t>можливість створювати моделі меншого розміру</a:t>
            </a:r>
          </a:p>
          <a:p>
            <a:pPr algn="l" rtl="0"/>
            <a:r>
              <a:rPr lang="ru-RU"/>
              <a:t>підвищує рівень уніфікації розробки та придатність для повторного використання</a:t>
            </a:r>
          </a:p>
          <a:p>
            <a:pPr algn="l" rtl="0"/>
            <a:r>
              <a:rPr lang="ru-RU"/>
              <a:t>дозволяє уникнути створення складних моделей</a:t>
            </a:r>
          </a:p>
          <a:p>
            <a:pPr algn="l" rtl="0"/>
            <a:r>
              <a:rPr lang="ru-RU"/>
              <a:t>Природна</a:t>
            </a:r>
          </a:p>
          <a:p>
            <a:pPr algn="l" rtl="0">
              <a:buFont typeface="Wingdings 2" pitchFamily="18" charset="2"/>
              <a:buNone/>
            </a:pPr>
            <a:r>
              <a:rPr lang="ru-RU"/>
              <a:t>Мінуси</a:t>
            </a:r>
          </a:p>
          <a:p>
            <a:pPr algn="l" rtl="0"/>
            <a:r>
              <a:rPr lang="ru-RU"/>
              <a:t>високі початкові витрати</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l" rtl="0" fontAlgn="auto">
              <a:spcAft>
                <a:spcPts val="0"/>
              </a:spcAft>
              <a:defRPr/>
            </a:pPr>
            <a:r>
              <a:rPr lang="ru-RU" dirty="0"/>
              <a:t>Функціональна декомпозиція</a:t>
            </a:r>
          </a:p>
        </p:txBody>
      </p:sp>
      <p:sp>
        <p:nvSpPr>
          <p:cNvPr id="45058" name="Содержимое 2"/>
          <p:cNvSpPr>
            <a:spLocks noGrp="1"/>
          </p:cNvSpPr>
          <p:nvPr>
            <p:ph idx="1"/>
          </p:nvPr>
        </p:nvSpPr>
        <p:spPr/>
        <p:txBody>
          <a:bodyPr/>
          <a:lstStyle/>
          <a:p>
            <a:pPr algn="l" rtl="0"/>
            <a:r>
              <a:rPr lang="ru-RU"/>
              <a:t>Головними структурними компонентами є</a:t>
            </a:r>
            <a:r>
              <a:rPr lang="ru-RU" i="1"/>
              <a:t>функції</a:t>
            </a:r>
            <a:r>
              <a:rPr lang="ru-RU"/>
              <a:t>(</a:t>
            </a:r>
            <a:r>
              <a:rPr lang="ru-RU" i="1"/>
              <a:t>операції</a:t>
            </a:r>
            <a:r>
              <a:rPr lang="ru-RU"/>
              <a:t>, дії, роботи), які на діаграмах зв'язуються між собою</a:t>
            </a:r>
            <a:r>
              <a:rPr lang="ru-RU" i="1"/>
              <a:t>потоками об'єктів</a:t>
            </a:r>
            <a:r>
              <a:rPr lang="ru-RU"/>
              <a:t>.</a:t>
            </a:r>
          </a:p>
          <a:p>
            <a:pPr algn="l" rtl="0"/>
            <a:r>
              <a:rPr lang="ru-RU"/>
              <a:t>Дозволяє розділити програму на окремі функціональні модулі.</a:t>
            </a:r>
          </a:p>
          <a:p>
            <a:pPr algn="l" rtl="0"/>
            <a:endParaRPr lang="ru-RU"/>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l" rtl="0" fontAlgn="auto">
              <a:spcAft>
                <a:spcPts val="0"/>
              </a:spcAft>
              <a:defRPr/>
            </a:pPr>
            <a:r>
              <a:rPr lang="ru-RU" dirty="0"/>
              <a:t>Функціональна декомпозиція</a:t>
            </a:r>
          </a:p>
        </p:txBody>
      </p:sp>
      <p:sp>
        <p:nvSpPr>
          <p:cNvPr id="46082" name="Содержимое 2"/>
          <p:cNvSpPr>
            <a:spLocks noGrp="1"/>
          </p:cNvSpPr>
          <p:nvPr>
            <p:ph idx="1"/>
          </p:nvPr>
        </p:nvSpPr>
        <p:spPr/>
        <p:txBody>
          <a:bodyPr/>
          <a:lstStyle/>
          <a:p>
            <a:pPr algn="l" rtl="0">
              <a:buFont typeface="Wingdings 2" pitchFamily="18" charset="2"/>
              <a:buNone/>
            </a:pPr>
            <a:r>
              <a:rPr lang="ru-RU"/>
              <a:t>Плюси</a:t>
            </a:r>
          </a:p>
          <a:p>
            <a:pPr algn="l" rtl="0"/>
            <a:r>
              <a:rPr lang="ru-RU"/>
              <a:t>реалізація</a:t>
            </a:r>
            <a:r>
              <a:rPr lang="ru-RU" i="1"/>
              <a:t>структурного підходу</a:t>
            </a:r>
            <a:r>
              <a:rPr lang="ru-RU"/>
              <a:t>до проектування ІВ за принципом "зверху-вниз"</a:t>
            </a:r>
          </a:p>
          <a:p>
            <a:pPr algn="l" rtl="0"/>
            <a:r>
              <a:rPr lang="ru-RU"/>
              <a:t>процедурна строгість декомпозиції ІВ та наочність подання</a:t>
            </a:r>
          </a:p>
          <a:p>
            <a:pPr algn="l" rtl="0">
              <a:buFont typeface="Wingdings 2" pitchFamily="18" charset="2"/>
              <a:buNone/>
            </a:pPr>
            <a:r>
              <a:rPr lang="ru-RU"/>
              <a:t>Мінуси</a:t>
            </a:r>
          </a:p>
          <a:p>
            <a:pPr algn="l" rtl="0"/>
            <a:r>
              <a:rPr lang="ru-RU"/>
              <a:t>процеси та дані існують окремо один від одного</a:t>
            </a:r>
          </a:p>
          <a:p>
            <a:pPr algn="l" rtl="0"/>
            <a:endParaRPr lang="ru-RU"/>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33400" y="2362200"/>
            <a:ext cx="8229600" cy="1143000"/>
          </a:xfrm>
        </p:spPr>
        <p:txBody>
          <a:bodyPr>
            <a:normAutofit fontScale="90000"/>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l" rtl="0" fontAlgn="auto">
              <a:spcAft>
                <a:spcPts val="0"/>
              </a:spcAft>
              <a:defRPr/>
            </a:pPr>
            <a:br>
              <a:rPr lang="ru-RU"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br>
            <a:r>
              <a:rPr lang="ru-RU"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Системна та програмна інженерія. Опис архітектури ПЗ. Стандарт</a:t>
            </a:r>
            <a:r>
              <a:rPr lang="en-US"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ISO/IEC/IEEE 42010:2011.</a:t>
            </a:r>
            <a:r>
              <a:rPr lang="ru-RU"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Мови опису архітектури</a:t>
            </a:r>
            <a:r>
              <a:rPr lang="en-US"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ADL (</a:t>
            </a:r>
            <a:r>
              <a:rPr lang="en-US" cap="all" dirty="0" err="1">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Ar-chitecture</a:t>
            </a:r>
            <a:r>
              <a:rPr lang="en-US"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Description Languages).</a:t>
            </a:r>
            <a:br>
              <a:rPr lang="en-US"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br>
            <a:endParaRPr lang="ru-RU"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fontAlgn="auto">
              <a:spcAft>
                <a:spcPts val="0"/>
              </a:spcAft>
              <a:defRPr/>
            </a:pPr>
            <a:r>
              <a:rPr lang="ru-RU"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Опис архітектури ПЗ</a:t>
            </a:r>
            <a:endParaRPr lang="ru-RU" dirty="0"/>
          </a:p>
        </p:txBody>
      </p:sp>
      <p:sp>
        <p:nvSpPr>
          <p:cNvPr id="48130" name="Содержимое 2"/>
          <p:cNvSpPr>
            <a:spLocks noGrp="1"/>
          </p:cNvSpPr>
          <p:nvPr>
            <p:ph idx="1"/>
          </p:nvPr>
        </p:nvSpPr>
        <p:spPr/>
        <p:txBody>
          <a:bodyPr/>
          <a:lstStyle/>
          <a:p>
            <a:pPr algn="l" rtl="0"/>
            <a:r>
              <a:rPr lang="ru-RU" b="1"/>
              <a:t>Архітектура програмного забезпечення</a:t>
            </a:r>
            <a:r>
              <a:rPr lang="ru-RU"/>
              <a:t>(</a:t>
            </a:r>
            <a:r>
              <a:rPr lang="ru-RU">
                <a:hlinkClick r:id="rId2" tooltip="Английский язык"/>
              </a:rPr>
              <a:t>англ.</a:t>
            </a:r>
            <a:r>
              <a:rPr lang="ru-RU"/>
              <a:t> </a:t>
            </a:r>
            <a:r>
              <a:rPr lang="ru-RU" i="1"/>
              <a:t>software architecture</a:t>
            </a:r>
            <a:r>
              <a:rPr lang="ru-RU"/>
              <a:t>) - Сукупність найважливіших рішень про організацію програмної системи.</a:t>
            </a:r>
            <a:endParaRPr lang="en-US"/>
          </a:p>
          <a:p>
            <a:pPr algn="l" rtl="0"/>
            <a:r>
              <a:rPr lang="ru-RU"/>
              <a:t>Архітектура ПЗ зазвичай містить кілька видів</a:t>
            </a:r>
            <a:r>
              <a:rPr lang="en-US"/>
              <a:t>,</a:t>
            </a:r>
            <a:r>
              <a:rPr lang="ru-RU"/>
              <a:t>які складаються з елементів та відносин між ними.</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fontAlgn="auto">
              <a:spcAft>
                <a:spcPts val="0"/>
              </a:spcAft>
              <a:defRPr/>
            </a:pPr>
            <a:r>
              <a:rPr lang="ru-RU"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Опис архітектури ПЗ</a:t>
            </a:r>
            <a:endParaRPr lang="ru-RU" dirty="0"/>
          </a:p>
        </p:txBody>
      </p:sp>
      <p:sp>
        <p:nvSpPr>
          <p:cNvPr id="49154" name="Содержимое 2"/>
          <p:cNvSpPr>
            <a:spLocks noGrp="1"/>
          </p:cNvSpPr>
          <p:nvPr>
            <p:ph idx="1"/>
          </p:nvPr>
        </p:nvSpPr>
        <p:spPr/>
        <p:txBody>
          <a:bodyPr/>
          <a:lstStyle/>
          <a:p>
            <a:pPr algn="l" rtl="0">
              <a:buFont typeface="Wingdings 2" pitchFamily="18" charset="2"/>
              <a:buNone/>
            </a:pPr>
            <a:r>
              <a:rPr lang="ru-RU"/>
              <a:t>Для задоволення проектованої системи різним атрибутам якості використовуються різні архітектурні шаблони (патерни).</a:t>
            </a:r>
          </a:p>
          <a:p>
            <a:pPr algn="l" rtl="0"/>
            <a:r>
              <a:rPr lang="ru-RU"/>
              <a:t>Багаторівневий шаблон (Layered pattern).</a:t>
            </a:r>
          </a:p>
          <a:p>
            <a:pPr algn="l" rtl="0"/>
            <a:r>
              <a:rPr lang="ru-RU"/>
              <a:t>Посередник шаблон (Broker pattern).</a:t>
            </a:r>
          </a:p>
          <a:p>
            <a:pPr algn="l" rtl="0"/>
            <a:r>
              <a:rPr lang="ru-RU"/>
              <a:t>Шаблон «Модель-Подання-Контролер»</a:t>
            </a:r>
          </a:p>
        </p:txBody>
      </p:sp>
      <p:pic>
        <p:nvPicPr>
          <p:cNvPr id="49155" name="Рисунок 3" descr="Javascript , HTML5 , css3 ,php , sql , Web , design , development.png"/>
          <p:cNvPicPr>
            <a:picLocks noChangeAspect="1"/>
          </p:cNvPicPr>
          <p:nvPr/>
        </p:nvPicPr>
        <p:blipFill>
          <a:blip r:embed="rId2"/>
          <a:srcRect/>
          <a:stretch>
            <a:fillRect/>
          </a:stretch>
        </p:blipFill>
        <p:spPr bwMode="auto">
          <a:xfrm>
            <a:off x="5638800" y="4495800"/>
            <a:ext cx="3303588" cy="2362200"/>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fontAlgn="auto">
              <a:spcAft>
                <a:spcPts val="0"/>
              </a:spcAft>
              <a:defRPr/>
            </a:pPr>
            <a:r>
              <a:rPr lang="ru-RU"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Опис архітектури ПЗ</a:t>
            </a:r>
            <a:endParaRPr lang="ru-RU" dirty="0"/>
          </a:p>
        </p:txBody>
      </p:sp>
      <p:sp>
        <p:nvSpPr>
          <p:cNvPr id="50178" name="Содержимое 2"/>
          <p:cNvSpPr>
            <a:spLocks noGrp="1"/>
          </p:cNvSpPr>
          <p:nvPr>
            <p:ph idx="1"/>
          </p:nvPr>
        </p:nvSpPr>
        <p:spPr/>
        <p:txBody>
          <a:bodyPr/>
          <a:lstStyle/>
          <a:p>
            <a:pPr algn="l" rtl="0">
              <a:buFont typeface="Wingdings 2" pitchFamily="18" charset="2"/>
              <a:buNone/>
            </a:pPr>
            <a:r>
              <a:rPr lang="ru-RU"/>
              <a:t>ANSI/IEEE 1471-2000, Recommended Practice for Architecture Description of Software-Intensive Systems</a:t>
            </a:r>
          </a:p>
          <a:p>
            <a:pPr algn="l" rtl="0">
              <a:buFont typeface="Wingdings 2" pitchFamily="18" charset="2"/>
              <a:buNone/>
            </a:pPr>
            <a:r>
              <a:rPr lang="ru-RU"/>
              <a:t>Методика опису архітектури виходить з трьох рівнях представлення архитектуры:</a:t>
            </a:r>
          </a:p>
          <a:p>
            <a:pPr algn="l" rtl="0"/>
            <a:r>
              <a:rPr lang="ru-RU"/>
              <a:t>Viewpoint</a:t>
            </a:r>
          </a:p>
          <a:p>
            <a:pPr algn="l" rtl="0"/>
            <a:r>
              <a:rPr lang="ru-RU"/>
              <a:t>View</a:t>
            </a:r>
          </a:p>
          <a:p>
            <a:pPr algn="l" rtl="0"/>
            <a:r>
              <a:rPr lang="en-US"/>
              <a:t>Model</a:t>
            </a:r>
            <a:endParaRPr lang="ru-RU"/>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l" rtl="0" fontAlgn="auto">
              <a:spcAft>
                <a:spcPts val="0"/>
              </a:spcAft>
              <a:defRPr/>
            </a:pPr>
            <a:r>
              <a:rPr lang="ru-RU" dirty="0"/>
              <a:t>Стандарт ISO/IEC/IEEE 42010:2011</a:t>
            </a:r>
          </a:p>
        </p:txBody>
      </p:sp>
      <p:sp>
        <p:nvSpPr>
          <p:cNvPr id="3" name="Содержимое 2"/>
          <p:cNvSpPr>
            <a:spLocks noGrp="1"/>
          </p:cNvSpPr>
          <p:nvPr>
            <p:ph idx="1"/>
          </p:nvPr>
        </p:nvSpPr>
        <p:spPr/>
        <p:txBody>
          <a:bodyPr>
            <a:normAutofit fontScale="92500"/>
          </a:bodyPr>
          <a:lstStyle/>
          <a:p>
            <a:pPr marL="548640" indent="-411480" algn="l" rtl="0" fontAlgn="auto">
              <a:spcAft>
                <a:spcPts val="0"/>
              </a:spcAft>
              <a:buClr>
                <a:schemeClr val="tx1">
                  <a:shade val="95000"/>
                </a:schemeClr>
              </a:buClr>
              <a:buFont typeface="Wingdings 2"/>
              <a:buChar char=""/>
              <a:defRPr/>
            </a:pPr>
            <a:r>
              <a:rPr lang="ru-RU" dirty="0"/>
              <a:t>визначає спосіб, за допомогою якого здійснюються організація та вираз опису архітектури систем.</a:t>
            </a:r>
          </a:p>
          <a:p>
            <a:pPr marL="548640" indent="-411480" algn="l" rtl="0" fontAlgn="auto">
              <a:spcAft>
                <a:spcPts val="0"/>
              </a:spcAft>
              <a:buClr>
                <a:schemeClr val="tx1">
                  <a:shade val="95000"/>
                </a:schemeClr>
              </a:buClr>
              <a:buFont typeface="Wingdings 2"/>
              <a:buChar char=""/>
              <a:defRPr/>
            </a:pPr>
            <a:r>
              <a:rPr lang="ru-RU" dirty="0"/>
              <a:t>визначає погляди на архітектуру, структуру та мови опису архітектури для використання в описах архітектури.</a:t>
            </a:r>
          </a:p>
          <a:p>
            <a:pPr marL="548640" indent="-411480" algn="l" rtl="0" fontAlgn="auto">
              <a:spcAft>
                <a:spcPts val="0"/>
              </a:spcAft>
              <a:buClr>
                <a:schemeClr val="tx1">
                  <a:shade val="95000"/>
                </a:schemeClr>
              </a:buClr>
              <a:buFont typeface="Wingdings 2"/>
              <a:buChar char=""/>
              <a:defRPr/>
            </a:pPr>
            <a:r>
              <a:rPr lang="ru-RU" dirty="0"/>
              <a:t>містить обґрунтування для термінів і понять, що використовуються, представляє посібник з визначення точок зору на архітектуру і демонструє використання цього стандарту у взаємодії з іншими стандартами.</a:t>
            </a:r>
          </a:p>
          <a:p>
            <a:pPr marL="548640" indent="-411480" algn="l" rtl="0" fontAlgn="auto">
              <a:spcAft>
                <a:spcPts val="0"/>
              </a:spcAft>
              <a:buClr>
                <a:schemeClr val="tx1">
                  <a:shade val="95000"/>
                </a:schemeClr>
              </a:buClr>
              <a:buFont typeface="Wingdings 2"/>
              <a:buChar char=""/>
              <a:defRPr/>
            </a:pPr>
            <a:endParaRPr lang="ru-RU"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l" rtl="0" fontAlgn="auto">
              <a:spcAft>
                <a:spcPts val="0"/>
              </a:spcAft>
              <a:defRPr/>
            </a:pPr>
            <a:r>
              <a:rPr lang="ru-RU" dirty="0"/>
              <a:t>Мови опису архітектури (ADLS)</a:t>
            </a:r>
          </a:p>
        </p:txBody>
      </p:sp>
      <p:sp>
        <p:nvSpPr>
          <p:cNvPr id="3" name="Содержимое 2"/>
          <p:cNvSpPr>
            <a:spLocks noGrp="1"/>
          </p:cNvSpPr>
          <p:nvPr>
            <p:ph idx="1"/>
          </p:nvPr>
        </p:nvSpPr>
        <p:spPr/>
        <p:txBody>
          <a:bodyPr>
            <a:normAutofit fontScale="92500"/>
          </a:bodyPr>
          <a:lstStyle/>
          <a:p>
            <a:pPr marL="548640" indent="-411480" algn="l" rtl="0" fontAlgn="auto">
              <a:spcAft>
                <a:spcPts val="0"/>
              </a:spcAft>
              <a:buClr>
                <a:schemeClr val="tx1">
                  <a:shade val="95000"/>
                </a:schemeClr>
              </a:buClr>
              <a:buFont typeface="Wingdings 2"/>
              <a:buChar char=""/>
              <a:defRPr/>
            </a:pPr>
            <a:r>
              <a:rPr lang="ru-RU" dirty="0"/>
              <a:t>використовуються для опису архітектури програмного забезпечення</a:t>
            </a:r>
            <a:endParaRPr lang="en-US" dirty="0"/>
          </a:p>
          <a:p>
            <a:pPr marL="548640" indent="-411480" algn="l" rtl="0" fontAlgn="auto">
              <a:spcAft>
                <a:spcPts val="0"/>
              </a:spcAft>
              <a:buClr>
                <a:schemeClr val="tx1">
                  <a:shade val="95000"/>
                </a:schemeClr>
              </a:buClr>
              <a:buFont typeface="Wingdings 2"/>
              <a:buChar char=""/>
              <a:defRPr/>
            </a:pPr>
            <a:r>
              <a:rPr lang="ru-RU" dirty="0"/>
              <a:t>Мови:</a:t>
            </a:r>
          </a:p>
          <a:p>
            <a:pPr marL="548640" indent="-411480" algn="l" rtl="0" fontAlgn="auto">
              <a:spcAft>
                <a:spcPts val="0"/>
              </a:spcAft>
              <a:buClr>
                <a:schemeClr val="tx1">
                  <a:shade val="95000"/>
                </a:schemeClr>
              </a:buClr>
              <a:buFont typeface="Wingdings 2"/>
              <a:buChar char=""/>
              <a:defRPr/>
            </a:pPr>
            <a:r>
              <a:rPr lang="ru-RU" dirty="0"/>
              <a:t>AADL (стандарт SAE)</a:t>
            </a:r>
          </a:p>
          <a:p>
            <a:pPr marL="548640" indent="-411480" algn="l" rtl="0" fontAlgn="auto">
              <a:spcAft>
                <a:spcPts val="0"/>
              </a:spcAft>
              <a:buClr>
                <a:schemeClr val="tx1">
                  <a:shade val="95000"/>
                </a:schemeClr>
              </a:buClr>
              <a:buFont typeface="Wingdings 2"/>
              <a:buChar char=""/>
              <a:defRPr/>
            </a:pPr>
            <a:r>
              <a:rPr lang="ru-RU" dirty="0"/>
              <a:t> </a:t>
            </a:r>
            <a:r>
              <a:rPr lang="ru-RU" dirty="0" err="1"/>
              <a:t>Wright</a:t>
            </a:r>
            <a:r>
              <a:rPr lang="ru-RU" dirty="0"/>
              <a:t>(розроблений в університеті</a:t>
            </a:r>
            <a:r>
              <a:rPr lang="ru-RU" dirty="0" err="1"/>
              <a:t>Carnegie</a:t>
            </a:r>
            <a:r>
              <a:rPr lang="ru-RU" dirty="0"/>
              <a:t> </a:t>
            </a:r>
            <a:r>
              <a:rPr lang="ru-RU" dirty="0" err="1"/>
              <a:t>Mellon</a:t>
            </a:r>
            <a:r>
              <a:rPr lang="ru-RU" dirty="0"/>
              <a:t>)</a:t>
            </a:r>
          </a:p>
          <a:p>
            <a:pPr marL="548640" indent="-411480" algn="l" rtl="0" fontAlgn="auto">
              <a:spcAft>
                <a:spcPts val="0"/>
              </a:spcAft>
              <a:buClr>
                <a:schemeClr val="tx1">
                  <a:shade val="95000"/>
                </a:schemeClr>
              </a:buClr>
              <a:buFont typeface="Wingdings 2"/>
              <a:buChar char=""/>
              <a:defRPr/>
            </a:pPr>
            <a:r>
              <a:rPr lang="ru-RU" dirty="0"/>
              <a:t> </a:t>
            </a:r>
            <a:r>
              <a:rPr lang="ru-RU" dirty="0" err="1"/>
              <a:t>Acme</a:t>
            </a:r>
            <a:r>
              <a:rPr lang="ru-RU" dirty="0"/>
              <a:t>(розроблений в університеті</a:t>
            </a:r>
            <a:r>
              <a:rPr lang="ru-RU" dirty="0" err="1"/>
              <a:t>Carnegie</a:t>
            </a:r>
            <a:r>
              <a:rPr lang="ru-RU" dirty="0"/>
              <a:t> </a:t>
            </a:r>
            <a:r>
              <a:rPr lang="ru-RU" dirty="0" err="1"/>
              <a:t>Mellon</a:t>
            </a:r>
            <a:r>
              <a:rPr lang="ru-RU" dirty="0"/>
              <a:t>)</a:t>
            </a:r>
          </a:p>
          <a:p>
            <a:pPr marL="548640" indent="-411480" algn="l" rtl="0" fontAlgn="auto">
              <a:spcAft>
                <a:spcPts val="0"/>
              </a:spcAft>
              <a:buClr>
                <a:schemeClr val="tx1">
                  <a:shade val="95000"/>
                </a:schemeClr>
              </a:buClr>
              <a:buFont typeface="Wingdings 2"/>
              <a:buChar char=""/>
              <a:defRPr/>
            </a:pPr>
            <a:r>
              <a:rPr lang="ru-RU" dirty="0"/>
              <a:t> </a:t>
            </a:r>
            <a:r>
              <a:rPr lang="ru-RU" dirty="0" err="1"/>
              <a:t>xADL</a:t>
            </a:r>
            <a:r>
              <a:rPr lang="ru-RU" dirty="0"/>
              <a:t>(розроблений у UCI)</a:t>
            </a:r>
          </a:p>
          <a:p>
            <a:pPr marL="548640" indent="-411480" algn="l" rtl="0" fontAlgn="auto">
              <a:spcAft>
                <a:spcPts val="0"/>
              </a:spcAft>
              <a:buClr>
                <a:schemeClr val="tx1">
                  <a:shade val="95000"/>
                </a:schemeClr>
              </a:buClr>
              <a:buFont typeface="Wingdings 2"/>
              <a:buChar char=""/>
              <a:defRPr/>
            </a:pPr>
            <a:r>
              <a:rPr lang="ru-RU" dirty="0"/>
              <a:t> </a:t>
            </a:r>
            <a:r>
              <a:rPr lang="ru-RU" dirty="0" err="1"/>
              <a:t>Darwin</a:t>
            </a:r>
            <a:r>
              <a:rPr lang="ru-RU" dirty="0"/>
              <a:t>(розроблений у</a:t>
            </a:r>
            <a:r>
              <a:rPr lang="ru-RU" dirty="0" err="1"/>
              <a:t>Imperial</a:t>
            </a:r>
            <a:r>
              <a:rPr lang="ru-RU" dirty="0"/>
              <a:t> </a:t>
            </a:r>
            <a:r>
              <a:rPr lang="ru-RU" dirty="0" err="1"/>
              <a:t>College</a:t>
            </a:r>
            <a:r>
              <a:rPr lang="ru-RU" dirty="0"/>
              <a:t> </a:t>
            </a:r>
            <a:r>
              <a:rPr lang="ru-RU" dirty="0" err="1"/>
              <a:t>в</a:t>
            </a:r>
            <a:r>
              <a:rPr lang="ru-RU" dirty="0"/>
              <a:t>Лондоні)</a:t>
            </a:r>
          </a:p>
          <a:p>
            <a:pPr marL="548640" indent="-411480" algn="l" rtl="0" fontAlgn="auto">
              <a:spcAft>
                <a:spcPts val="0"/>
              </a:spcAft>
              <a:buClr>
                <a:schemeClr val="tx1">
                  <a:shade val="95000"/>
                </a:schemeClr>
              </a:buClr>
              <a:buFont typeface="Wingdings 2"/>
              <a:buChar char=""/>
              <a:defRPr/>
            </a:pPr>
            <a:r>
              <a:rPr lang="ru-RU" dirty="0"/>
              <a:t>DAOP-ADL (розроблений в Університеті Малаги)</a:t>
            </a:r>
          </a:p>
          <a:p>
            <a:pPr marL="548640" indent="-411480" algn="l" rtl="0" fontAlgn="auto">
              <a:spcAft>
                <a:spcPts val="0"/>
              </a:spcAft>
              <a:buClr>
                <a:schemeClr val="tx1">
                  <a:shade val="95000"/>
                </a:schemeClr>
              </a:buClr>
              <a:buFont typeface="Wingdings 2"/>
              <a:buChar char=""/>
              <a:defRPr/>
            </a:pPr>
            <a:r>
              <a:rPr lang="ru-RU" dirty="0" err="1"/>
              <a:t>ByADL</a:t>
            </a:r>
            <a:r>
              <a:rPr lang="ru-RU" dirty="0"/>
              <a:t>(Університет</a:t>
            </a:r>
            <a:r>
              <a:rPr lang="ru-RU" dirty="0" err="1"/>
              <a:t>L'Aquila</a:t>
            </a:r>
            <a:r>
              <a:rPr lang="ru-RU" dirty="0"/>
              <a:t>, Італія)</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l" rtl="0" fontAlgn="auto">
              <a:spcAft>
                <a:spcPts val="0"/>
              </a:spcAft>
              <a:defRPr/>
            </a:pPr>
            <a:r>
              <a:rPr lang="ru-RU" dirty="0"/>
              <a:t>Мови опису архітектури (ADLS)</a:t>
            </a:r>
          </a:p>
        </p:txBody>
      </p:sp>
      <p:sp>
        <p:nvSpPr>
          <p:cNvPr id="53250" name="Содержимое 2"/>
          <p:cNvSpPr>
            <a:spLocks noGrp="1"/>
          </p:cNvSpPr>
          <p:nvPr>
            <p:ph idx="1"/>
          </p:nvPr>
        </p:nvSpPr>
        <p:spPr/>
        <p:txBody>
          <a:bodyPr/>
          <a:lstStyle/>
          <a:p>
            <a:pPr algn="l" rtl="0">
              <a:buFont typeface="Wingdings 2" pitchFamily="18" charset="2"/>
              <a:buNone/>
            </a:pPr>
            <a:r>
              <a:rPr lang="ru-RU"/>
              <a:t>«+»</a:t>
            </a:r>
          </a:p>
          <a:p>
            <a:pPr algn="l" rtl="0"/>
            <a:r>
              <a:rPr lang="ru-RU"/>
              <a:t>формальний спосіб представляти архітектуру</a:t>
            </a:r>
          </a:p>
          <a:p>
            <a:pPr algn="l" rtl="0"/>
            <a:r>
              <a:rPr lang="ru-RU"/>
              <a:t>надають можливість бути зрозумілою і людині, і машині</a:t>
            </a:r>
          </a:p>
          <a:p>
            <a:pPr algn="l" rtl="0"/>
            <a:r>
              <a:rPr lang="ru-RU"/>
              <a:t>описують систему високому рівні</a:t>
            </a:r>
          </a:p>
          <a:p>
            <a:pPr algn="l" rtl="0"/>
            <a:r>
              <a:rPr lang="ru-RU"/>
              <a:t>забезпечують аналіз та оцінку архітектури</a:t>
            </a:r>
          </a:p>
          <a:p>
            <a:pPr algn="l" rtl="0"/>
            <a:r>
              <a:rPr lang="ru-RU"/>
              <a:t>підтримують автоматичну генерацію систем програмного забезпечення</a:t>
            </a:r>
          </a:p>
          <a:p>
            <a:pPr algn="l" rtl="0"/>
            <a:endParaRPr lang="ru-RU"/>
          </a:p>
          <a:p>
            <a:pPr algn="l" rtl="0"/>
            <a:endParaRPr lang="ru-RU"/>
          </a:p>
          <a:p>
            <a:pPr algn="l" rtl="0"/>
            <a:endParaRPr lang="ru-RU"/>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l" rtl="0" fontAlgn="auto">
              <a:spcAft>
                <a:spcPts val="0"/>
              </a:spcAft>
              <a:defRPr/>
            </a:pPr>
            <a:r>
              <a:rPr lang="ru-RU" dirty="0"/>
              <a:t>Мови опису архітектури (ADLS)</a:t>
            </a:r>
          </a:p>
        </p:txBody>
      </p:sp>
      <p:sp>
        <p:nvSpPr>
          <p:cNvPr id="54274" name="Содержимое 2"/>
          <p:cNvSpPr>
            <a:spLocks noGrp="1"/>
          </p:cNvSpPr>
          <p:nvPr>
            <p:ph idx="1"/>
          </p:nvPr>
        </p:nvSpPr>
        <p:spPr/>
        <p:txBody>
          <a:bodyPr/>
          <a:lstStyle/>
          <a:p>
            <a:pPr algn="l" rtl="0">
              <a:buFont typeface="Wingdings 2" pitchFamily="18" charset="2"/>
              <a:buNone/>
            </a:pPr>
            <a:r>
              <a:rPr lang="ru-RU"/>
              <a:t>«-»</a:t>
            </a:r>
          </a:p>
          <a:p>
            <a:pPr algn="l" rtl="0"/>
            <a:r>
              <a:rPr lang="ru-RU"/>
              <a:t>Немає жодної універсальної угоди щодо того, що ADLs повинен представляти, особливо щодо поведінки архітектури</a:t>
            </a:r>
          </a:p>
          <a:p>
            <a:pPr algn="l" rtl="0"/>
            <a:r>
              <a:rPr lang="ru-RU"/>
              <a:t>Подання, що використовуються в даний час, відносно важко розібрати і вони не підтримуються комерційними інструментами</a:t>
            </a:r>
          </a:p>
          <a:p>
            <a:pPr algn="l" rtl="0">
              <a:buFont typeface="Wingdings 2" pitchFamily="18" charset="2"/>
              <a:buNone/>
            </a:pPr>
            <a:endParaRPr lang="ru-RU"/>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l" rtl="0" fontAlgn="auto">
              <a:spcAft>
                <a:spcPts val="0"/>
              </a:spcAft>
              <a:defRPr/>
            </a:pPr>
            <a:r>
              <a:rPr lang="uk-UA" dirty="0" err="1"/>
              <a:t>Критерії</a:t>
            </a:r>
            <a:r>
              <a:rPr lang="uk-UA" dirty="0"/>
              <a:t> </a:t>
            </a:r>
            <a:r>
              <a:rPr lang="uk-UA" dirty="0" err="1"/>
              <a:t>"зчеплення-зв'язності"</a:t>
            </a:r>
            <a:endParaRPr lang="ru-RU" dirty="0"/>
          </a:p>
        </p:txBody>
      </p:sp>
      <p:sp>
        <p:nvSpPr>
          <p:cNvPr id="55298" name="Содержимое 2"/>
          <p:cNvSpPr>
            <a:spLocks noGrp="1"/>
          </p:cNvSpPr>
          <p:nvPr>
            <p:ph idx="1"/>
          </p:nvPr>
        </p:nvSpPr>
        <p:spPr/>
        <p:txBody>
          <a:bodyPr/>
          <a:lstStyle/>
          <a:p>
            <a:pPr algn="l" rtl="0"/>
            <a:r>
              <a:rPr lang="ru-RU"/>
              <a:t>Один із фундаментальних принципів структурного проектування полягає в тому, що велика система має бути розчленована на доступні для огляду модулі.</a:t>
            </a:r>
            <a:r>
              <a:rPr lang="ru-RU" b="1" i="1"/>
              <a:t> </a:t>
            </a:r>
            <a:r>
              <a:rPr lang="ru-RU"/>
              <a:t>Це розчленування має бути виконане таким чином, щоб модулі були якомога незалежнішими (критерій зчеплення —</a:t>
            </a:r>
            <a:r>
              <a:rPr lang="ru-RU" b="1"/>
              <a:t> </a:t>
            </a:r>
            <a:r>
              <a:rPr lang="ru-RU"/>
              <a:t>coupling), і щоб кожен модуль виконував єдину (пов'язану із загальним завданням) функцію (критерій зв'язності)</a:t>
            </a:r>
            <a:r>
              <a:rPr lang="ru-RU" b="1"/>
              <a:t> </a:t>
            </a:r>
            <a:r>
              <a:rPr lang="ru-RU"/>
              <a:t>cohesion).</a:t>
            </a:r>
          </a:p>
          <a:p>
            <a:pPr algn="l" rtl="0"/>
            <a:endParaRPr lang="ru-RU"/>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l" rtl="0" fontAlgn="auto">
              <a:spcAft>
                <a:spcPts val="0"/>
              </a:spcAft>
              <a:defRPr/>
            </a:pPr>
            <a:r>
              <a:rPr lang="uk-UA" dirty="0" err="1"/>
              <a:t>Критерії</a:t>
            </a:r>
            <a:r>
              <a:rPr lang="uk-UA" dirty="0"/>
              <a:t> </a:t>
            </a:r>
            <a:r>
              <a:rPr lang="uk-UA" dirty="0" err="1"/>
              <a:t>"зчеплення-зв'язності"</a:t>
            </a:r>
            <a:endParaRPr lang="ru-RU" dirty="0"/>
          </a:p>
        </p:txBody>
      </p:sp>
      <p:sp>
        <p:nvSpPr>
          <p:cNvPr id="3" name="Содержимое 2"/>
          <p:cNvSpPr>
            <a:spLocks noGrp="1"/>
          </p:cNvSpPr>
          <p:nvPr>
            <p:ph idx="1"/>
          </p:nvPr>
        </p:nvSpPr>
        <p:spPr/>
        <p:txBody>
          <a:bodyPr>
            <a:normAutofit lnSpcReduction="10000"/>
          </a:bodyPr>
          <a:lstStyle/>
          <a:p>
            <a:pPr marL="548640" indent="-411480" algn="l" rtl="0" fontAlgn="auto">
              <a:spcAft>
                <a:spcPts val="0"/>
              </a:spcAft>
              <a:buClr>
                <a:schemeClr val="tx1">
                  <a:shade val="95000"/>
                </a:schemeClr>
              </a:buClr>
              <a:buFont typeface="Wingdings 2"/>
              <a:buChar char=""/>
              <a:defRPr/>
            </a:pPr>
            <a:r>
              <a:rPr lang="ru-RU" dirty="0"/>
              <a:t>Одним із способів оцінки якості моделі реалізації є аналіз зчеплення модулів.</a:t>
            </a:r>
          </a:p>
          <a:p>
            <a:pPr marL="548640" indent="-411480" algn="l" rtl="0" fontAlgn="auto">
              <a:spcAft>
                <a:spcPts val="0"/>
              </a:spcAft>
              <a:buClr>
                <a:schemeClr val="tx1">
                  <a:shade val="95000"/>
                </a:schemeClr>
              </a:buClr>
              <a:buFont typeface="Wingdings 2"/>
              <a:buChar char=""/>
              <a:defRPr/>
            </a:pPr>
            <a:r>
              <a:rPr lang="ru-RU" dirty="0"/>
              <a:t>Зчеплення – це міра взаємозалежності модулів.</a:t>
            </a:r>
          </a:p>
          <a:p>
            <a:pPr marL="548640" indent="-411480" algn="l" rtl="0" fontAlgn="auto">
              <a:spcAft>
                <a:spcPts val="0"/>
              </a:spcAft>
              <a:buClr>
                <a:schemeClr val="tx1">
                  <a:shade val="95000"/>
                </a:schemeClr>
              </a:buClr>
              <a:buFont typeface="Wingdings 2"/>
              <a:buChar char=""/>
              <a:defRPr/>
            </a:pPr>
            <a:r>
              <a:rPr lang="ru-RU" dirty="0"/>
              <a:t>Іншим критерієм оцінки якості розбиття системи на частини є критерій зв'язності, який контролює, як дії в одному модулі пов'язані один з одним.</a:t>
            </a:r>
          </a:p>
          <a:p>
            <a:pPr marL="548640" indent="-411480" algn="l" rtl="0" fontAlgn="auto">
              <a:spcAft>
                <a:spcPts val="0"/>
              </a:spcAft>
              <a:buClr>
                <a:schemeClr val="tx1">
                  <a:shade val="95000"/>
                </a:schemeClr>
              </a:buClr>
              <a:buFont typeface="Wingdings 2"/>
              <a:buChar char=""/>
              <a:defRPr/>
            </a:pPr>
            <a:r>
              <a:rPr lang="ru-RU" dirty="0"/>
              <a:t>Зв'язок - це міра міцності з'єднання функціональних та інформаційних об'єктів усередині одного модуля.</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fontAlgn="auto">
              <a:spcAft>
                <a:spcPts val="0"/>
              </a:spcAft>
              <a:defRPr/>
            </a:pPr>
            <a:r>
              <a:rPr lang="ru-RU" dirty="0"/>
              <a:t>Принцип факторизації</a:t>
            </a:r>
          </a:p>
        </p:txBody>
      </p:sp>
      <p:sp>
        <p:nvSpPr>
          <p:cNvPr id="3" name="Содержимое 2"/>
          <p:cNvSpPr>
            <a:spLocks noGrp="1"/>
          </p:cNvSpPr>
          <p:nvPr>
            <p:ph idx="1"/>
          </p:nvPr>
        </p:nvSpPr>
        <p:spPr/>
        <p:txBody>
          <a:bodyPr>
            <a:normAutofit fontScale="62500" lnSpcReduction="20000"/>
          </a:bodyPr>
          <a:lstStyle/>
          <a:p>
            <a:pPr marL="548640" indent="-411480" algn="l" rtl="0" fontAlgn="auto">
              <a:spcAft>
                <a:spcPts val="0"/>
              </a:spcAft>
              <a:buClr>
                <a:schemeClr val="tx1">
                  <a:shade val="95000"/>
                </a:schemeClr>
              </a:buClr>
              <a:buFont typeface="Wingdings 2"/>
              <a:buNone/>
              <a:defRPr/>
            </a:pPr>
            <a:r>
              <a:rPr lang="ru-RU" sz="3200" dirty="0"/>
              <a:t>за</a:t>
            </a:r>
            <a:r>
              <a:rPr lang="ru-RU" dirty="0"/>
              <a:t>д</a:t>
            </a:r>
            <a:r>
              <a:rPr lang="ru-RU" sz="3400" dirty="0"/>
              <a:t>факторизацией розуміється виділення подзадачи, реалізованої деяким модулем, новий самостійний модуль.</a:t>
            </a:r>
          </a:p>
          <a:p>
            <a:pPr marL="548640" indent="-411480" algn="l" rtl="0" fontAlgn="auto">
              <a:spcAft>
                <a:spcPts val="0"/>
              </a:spcAft>
              <a:buClr>
                <a:schemeClr val="tx1">
                  <a:shade val="95000"/>
                </a:schemeClr>
              </a:buClr>
              <a:buFont typeface="Wingdings 2"/>
              <a:buNone/>
              <a:defRPr/>
            </a:pPr>
            <a:r>
              <a:rPr lang="ru-RU" sz="3400" dirty="0"/>
              <a:t>Це може бути зроблено з метою:</a:t>
            </a:r>
          </a:p>
          <a:p>
            <a:pPr marL="548640" indent="-411480" algn="l" rtl="0" fontAlgn="auto">
              <a:spcAft>
                <a:spcPts val="0"/>
              </a:spcAft>
              <a:buClr>
                <a:schemeClr val="tx1">
                  <a:shade val="95000"/>
                </a:schemeClr>
              </a:buClr>
              <a:buFont typeface="Wingdings 2"/>
              <a:buChar char=""/>
              <a:defRPr/>
            </a:pPr>
            <a:r>
              <a:rPr lang="ru-RU" sz="3400" dirty="0"/>
              <a:t>зменшення розмірів модуля;</a:t>
            </a:r>
          </a:p>
          <a:p>
            <a:pPr marL="548640" indent="-411480" algn="l" rtl="0" fontAlgn="auto">
              <a:spcAft>
                <a:spcPts val="0"/>
              </a:spcAft>
              <a:buClr>
                <a:schemeClr val="tx1">
                  <a:shade val="95000"/>
                </a:schemeClr>
              </a:buClr>
              <a:buFont typeface="Wingdings 2"/>
              <a:buChar char=""/>
              <a:defRPr/>
            </a:pPr>
            <a:r>
              <a:rPr lang="ru-RU" sz="3400" dirty="0"/>
              <a:t>забезпечення можливості та переваги класичного проектування зверху вниз, що дозволяє будувати систему легшу для розуміння та полегшує модифікацію системи;</a:t>
            </a:r>
          </a:p>
          <a:p>
            <a:pPr marL="548640" indent="-411480" algn="l" rtl="0" fontAlgn="auto">
              <a:spcAft>
                <a:spcPts val="0"/>
              </a:spcAft>
              <a:buClr>
                <a:schemeClr val="tx1">
                  <a:shade val="95000"/>
                </a:schemeClr>
              </a:buClr>
              <a:buFont typeface="Wingdings 2"/>
              <a:buChar char=""/>
              <a:defRPr/>
            </a:pPr>
            <a:r>
              <a:rPr lang="ru-RU" sz="3400" dirty="0"/>
              <a:t>усунення дублювання підзавдання, що виконується більш ніж одним модулем;</a:t>
            </a:r>
          </a:p>
          <a:p>
            <a:pPr marL="548640" indent="-411480" algn="l" rtl="0" fontAlgn="auto">
              <a:spcAft>
                <a:spcPts val="0"/>
              </a:spcAft>
              <a:buClr>
                <a:schemeClr val="tx1">
                  <a:shade val="95000"/>
                </a:schemeClr>
              </a:buClr>
              <a:buFont typeface="Wingdings 2"/>
              <a:buChar char=""/>
              <a:defRPr/>
            </a:pPr>
            <a:r>
              <a:rPr lang="ru-RU" sz="3400" dirty="0"/>
              <a:t>відділення власне обчислень від управління (виклики та прийняття рішення);</a:t>
            </a:r>
          </a:p>
          <a:p>
            <a:pPr marL="548640" indent="-411480" algn="l" rtl="0" fontAlgn="auto">
              <a:spcAft>
                <a:spcPts val="0"/>
              </a:spcAft>
              <a:buClr>
                <a:schemeClr val="tx1">
                  <a:shade val="95000"/>
                </a:schemeClr>
              </a:buClr>
              <a:buFont typeface="Wingdings 2"/>
              <a:buChar char=""/>
              <a:defRPr/>
            </a:pPr>
            <a:r>
              <a:rPr lang="ru-RU" sz="3400" dirty="0"/>
              <a:t>забезпечення ширшої придатності модулів для використання їх у різних частинах системи;</a:t>
            </a:r>
          </a:p>
          <a:p>
            <a:pPr marL="548640" indent="-411480" algn="l" rtl="0" fontAlgn="auto">
              <a:spcAft>
                <a:spcPts val="0"/>
              </a:spcAft>
              <a:buClr>
                <a:schemeClr val="tx1">
                  <a:shade val="95000"/>
                </a:schemeClr>
              </a:buClr>
              <a:buFont typeface="Wingdings 2"/>
              <a:buChar char=""/>
              <a:defRPr/>
            </a:pPr>
            <a:r>
              <a:rPr lang="ru-RU" sz="3400" dirty="0"/>
              <a:t>спрощення реалізації.</a:t>
            </a:r>
          </a:p>
          <a:p>
            <a:pPr marL="548640" indent="-411480" algn="l" rtl="0" fontAlgn="auto">
              <a:spcAft>
                <a:spcPts val="0"/>
              </a:spcAft>
              <a:buClr>
                <a:schemeClr val="tx1">
                  <a:shade val="95000"/>
                </a:schemeClr>
              </a:buClr>
              <a:buFont typeface="Wingdings 2"/>
              <a:buChar char=""/>
              <a:defRPr/>
            </a:pPr>
            <a:endParaRPr lang="ru-RU"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l" rtl="0" fontAlgn="auto">
              <a:spcAft>
                <a:spcPts val="0"/>
              </a:spcAft>
              <a:defRPr/>
            </a:pPr>
            <a:r>
              <a:rPr lang="ru-RU" dirty="0"/>
              <a:t>Кваліфікаційні випробування</a:t>
            </a:r>
          </a:p>
        </p:txBody>
      </p:sp>
      <p:sp>
        <p:nvSpPr>
          <p:cNvPr id="3" name="Содержимое 2"/>
          <p:cNvSpPr>
            <a:spLocks noGrp="1"/>
          </p:cNvSpPr>
          <p:nvPr>
            <p:ph idx="1"/>
          </p:nvPr>
        </p:nvSpPr>
        <p:spPr/>
        <p:txBody>
          <a:bodyPr>
            <a:normAutofit fontScale="92500"/>
          </a:bodyPr>
          <a:lstStyle/>
          <a:p>
            <a:pPr marL="548640" indent="-411480" algn="l" rtl="0" fontAlgn="auto">
              <a:spcAft>
                <a:spcPts val="0"/>
              </a:spcAft>
              <a:buClr>
                <a:schemeClr val="tx1">
                  <a:shade val="95000"/>
                </a:schemeClr>
              </a:buClr>
              <a:buFont typeface="Wingdings 2"/>
              <a:buChar char=""/>
              <a:defRPr/>
            </a:pPr>
            <a:r>
              <a:rPr lang="ru-RU" dirty="0"/>
              <a:t>Контрольні випробування настановної серії або першої партії, зразка продукту</a:t>
            </a:r>
          </a:p>
          <a:p>
            <a:pPr marL="548640" indent="-411480" algn="l" rtl="0" fontAlgn="auto">
              <a:spcAft>
                <a:spcPts val="0"/>
              </a:spcAft>
              <a:buClr>
                <a:schemeClr val="tx1">
                  <a:shade val="95000"/>
                </a:schemeClr>
              </a:buClr>
              <a:buFont typeface="Wingdings 2"/>
              <a:buChar char=""/>
              <a:defRPr/>
            </a:pPr>
            <a:r>
              <a:rPr lang="ru-RU" dirty="0"/>
              <a:t>Кваліфікаційні випробування виробничого процесу проводяться на рівні одиниці, підсистеми та рівня системи. Результати цих випробувань є критичним чинником щодо оцінки готовності системи до виробництва.</a:t>
            </a:r>
          </a:p>
          <a:p>
            <a:pPr marL="548640" indent="-411480" algn="l" rtl="0" fontAlgn="auto">
              <a:spcAft>
                <a:spcPts val="0"/>
              </a:spcAft>
              <a:buClr>
                <a:schemeClr val="tx1">
                  <a:shade val="95000"/>
                </a:schemeClr>
              </a:buClr>
              <a:buFont typeface="Wingdings 2"/>
              <a:buChar char=""/>
              <a:defRPr/>
            </a:pPr>
            <a:r>
              <a:rPr lang="ru-RU" dirty="0"/>
              <a:t>Таке тестування виконується кожного компонента програмного продукту за всіма розділами вимог при широкому варіюванні тестів.</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l" rtl="0" fontAlgn="auto">
              <a:spcAft>
                <a:spcPts val="0"/>
              </a:spcAft>
              <a:defRPr/>
            </a:pPr>
            <a:r>
              <a:rPr lang="uk-UA" dirty="0"/>
              <a:t>Метод</a:t>
            </a:r>
            <a:r>
              <a:rPr lang="ru-RU" dirty="0" err="1"/>
              <a:t>ы</a:t>
            </a:r>
            <a:r>
              <a:rPr lang="ru-RU" dirty="0"/>
              <a:t>верифікації та</a:t>
            </a:r>
            <a:r>
              <a:rPr lang="ru-RU" dirty="0" err="1"/>
              <a:t>валідації</a:t>
            </a:r>
            <a:endParaRPr lang="ru-RU" dirty="0"/>
          </a:p>
        </p:txBody>
      </p:sp>
      <p:pic>
        <p:nvPicPr>
          <p:cNvPr id="59394" name="Picture 2"/>
          <p:cNvPicPr>
            <a:picLocks noGrp="1" noChangeAspect="1" noChangeArrowheads="1"/>
          </p:cNvPicPr>
          <p:nvPr>
            <p:ph idx="1"/>
          </p:nvPr>
        </p:nvPicPr>
        <p:blipFill>
          <a:blip r:embed="rId2"/>
          <a:srcRect/>
          <a:stretch>
            <a:fillRect/>
          </a:stretch>
        </p:blipFill>
        <p:spPr>
          <a:xfrm>
            <a:off x="990600" y="1524000"/>
            <a:ext cx="7058025" cy="4895850"/>
          </a:xfr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l" rtl="0" fontAlgn="auto">
              <a:spcAft>
                <a:spcPts val="0"/>
              </a:spcAft>
              <a:defRPr/>
            </a:pPr>
            <a:r>
              <a:rPr lang="uk-UA" dirty="0"/>
              <a:t>Метод</a:t>
            </a:r>
            <a:r>
              <a:rPr lang="ru-RU" dirty="0" err="1"/>
              <a:t>ы</a:t>
            </a:r>
            <a:r>
              <a:rPr lang="ru-RU" dirty="0"/>
              <a:t>верифікації та</a:t>
            </a:r>
            <a:r>
              <a:rPr lang="ru-RU" dirty="0" err="1"/>
              <a:t>валідації</a:t>
            </a:r>
            <a:endParaRPr lang="ru-RU" dirty="0"/>
          </a:p>
        </p:txBody>
      </p:sp>
      <p:sp>
        <p:nvSpPr>
          <p:cNvPr id="60418" name="Содержимое 2"/>
          <p:cNvSpPr>
            <a:spLocks noGrp="1"/>
          </p:cNvSpPr>
          <p:nvPr>
            <p:ph idx="1"/>
          </p:nvPr>
        </p:nvSpPr>
        <p:spPr/>
        <p:txBody>
          <a:bodyPr/>
          <a:lstStyle/>
          <a:p>
            <a:pPr algn="l" rtl="0"/>
            <a:r>
              <a:rPr lang="ru-RU"/>
              <a:t>Методи статичного аналізу</a:t>
            </a:r>
          </a:p>
          <a:p>
            <a:pPr algn="l" rtl="0"/>
            <a:r>
              <a:rPr lang="ru-RU"/>
              <a:t>Тестування</a:t>
            </a:r>
          </a:p>
          <a:p>
            <a:pPr algn="l" rtl="0"/>
            <a:r>
              <a:rPr lang="ru-RU"/>
              <a:t>Формальний аналіз</a:t>
            </a:r>
          </a:p>
          <a:p>
            <a:pPr algn="l" rtl="0"/>
            <a:r>
              <a:rPr lang="ru-RU"/>
              <a:t>Перевірка моделей</a:t>
            </a:r>
          </a:p>
          <a:p>
            <a:pPr algn="l" rtl="0"/>
            <a:r>
              <a:rPr lang="ru-RU"/>
              <a:t>Імітаційне моделювання</a:t>
            </a:r>
          </a:p>
          <a:p>
            <a:pPr algn="l" rtl="0"/>
            <a:endParaRPr lang="ru-RU"/>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l" rtl="0" fontAlgn="auto">
              <a:spcAft>
                <a:spcPts val="0"/>
              </a:spcAft>
              <a:defRPr/>
            </a:pPr>
            <a:r>
              <a:rPr lang="uk-UA" dirty="0"/>
              <a:t>Метод</a:t>
            </a:r>
            <a:r>
              <a:rPr lang="ru-RU" dirty="0" err="1"/>
              <a:t>ы</a:t>
            </a:r>
            <a:r>
              <a:rPr lang="ru-RU" dirty="0"/>
              <a:t>верифікації та</a:t>
            </a:r>
            <a:r>
              <a:rPr lang="ru-RU" dirty="0" err="1"/>
              <a:t>валідації</a:t>
            </a:r>
            <a:endParaRPr lang="ru-RU" dirty="0"/>
          </a:p>
        </p:txBody>
      </p:sp>
      <p:sp>
        <p:nvSpPr>
          <p:cNvPr id="3" name="Содержимое 2"/>
          <p:cNvSpPr>
            <a:spLocks noGrp="1"/>
          </p:cNvSpPr>
          <p:nvPr>
            <p:ph idx="1"/>
          </p:nvPr>
        </p:nvSpPr>
        <p:spPr/>
        <p:txBody>
          <a:bodyPr>
            <a:normAutofit fontScale="92500" lnSpcReduction="20000"/>
          </a:bodyPr>
          <a:lstStyle/>
          <a:p>
            <a:pPr marL="548640" indent="-411480" algn="l" rtl="0" fontAlgn="auto">
              <a:spcAft>
                <a:spcPts val="0"/>
              </a:spcAft>
              <a:buClr>
                <a:schemeClr val="tx1">
                  <a:shade val="95000"/>
                </a:schemeClr>
              </a:buClr>
              <a:buFont typeface="Wingdings 2"/>
              <a:buChar char=""/>
              <a:defRPr/>
            </a:pPr>
            <a:r>
              <a:rPr lang="ru-RU" dirty="0"/>
              <a:t>Методи статичного аналізу артефактів життєвого циклу можна розділити на два види: контроль того, що всі формалізовані правила коректності побудови цих артефактів виконані, та пошук типових помилок та дефектів у них на основі деяких шаблонів.</a:t>
            </a:r>
          </a:p>
          <a:p>
            <a:pPr marL="548640" indent="-411480" algn="l" rtl="0" fontAlgn="auto">
              <a:spcAft>
                <a:spcPts val="0"/>
              </a:spcAft>
              <a:buClr>
                <a:schemeClr val="tx1">
                  <a:shade val="95000"/>
                </a:schemeClr>
              </a:buClr>
              <a:buFont typeface="Wingdings 2"/>
              <a:buChar char=""/>
              <a:defRPr/>
            </a:pPr>
            <a:r>
              <a:rPr lang="ru-RU" dirty="0"/>
              <a:t>Тестування (</a:t>
            </a:r>
            <a:r>
              <a:rPr lang="ru-RU" dirty="0" err="1"/>
              <a:t>testing</a:t>
            </a:r>
            <a:r>
              <a:rPr lang="ru-RU" dirty="0"/>
              <a:t>) є методом верифікації, в рамках якого результати роботи системи або компонента, що тестується, в ситуаціях з виділеного кінцевого набору перевіряються на відповідність проектним рішенням, вимогам, загальним завданням проекту, в рамках якого ця система розробляється або супроводжується.</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l" rtl="0" fontAlgn="auto">
              <a:spcAft>
                <a:spcPts val="0"/>
              </a:spcAft>
              <a:defRPr/>
            </a:pPr>
            <a:r>
              <a:rPr lang="uk-UA" dirty="0"/>
              <a:t>Метод</a:t>
            </a:r>
            <a:r>
              <a:rPr lang="ru-RU" dirty="0" err="1"/>
              <a:t>ы</a:t>
            </a:r>
            <a:r>
              <a:rPr lang="ru-RU" dirty="0"/>
              <a:t>верифікації та</a:t>
            </a:r>
            <a:r>
              <a:rPr lang="ru-RU" dirty="0" err="1"/>
              <a:t>валідації</a:t>
            </a:r>
            <a:endParaRPr lang="ru-RU" dirty="0"/>
          </a:p>
        </p:txBody>
      </p:sp>
      <p:sp>
        <p:nvSpPr>
          <p:cNvPr id="3" name="Содержимое 2"/>
          <p:cNvSpPr>
            <a:spLocks noGrp="1"/>
          </p:cNvSpPr>
          <p:nvPr>
            <p:ph idx="1"/>
          </p:nvPr>
        </p:nvSpPr>
        <p:spPr/>
        <p:txBody>
          <a:bodyPr>
            <a:normAutofit lnSpcReduction="10000"/>
          </a:bodyPr>
          <a:lstStyle/>
          <a:p>
            <a:pPr marL="548640" indent="-411480" algn="l" rtl="0" fontAlgn="auto">
              <a:spcAft>
                <a:spcPts val="0"/>
              </a:spcAft>
              <a:buClr>
                <a:schemeClr val="tx1">
                  <a:shade val="95000"/>
                </a:schemeClr>
              </a:buClr>
              <a:buFont typeface="Wingdings 2"/>
              <a:buChar char=""/>
              <a:defRPr/>
            </a:pPr>
            <a:r>
              <a:rPr lang="ru-RU" b="1" dirty="0"/>
              <a:t>Формальний аналіз</a:t>
            </a:r>
            <a:r>
              <a:rPr lang="ru-RU" dirty="0"/>
              <a:t>— формальний доказ відповідності чи невідповідності формального предмета його формальному опису.</a:t>
            </a:r>
          </a:p>
          <a:p>
            <a:pPr marL="548640" indent="-411480" algn="l" rtl="0" fontAlgn="auto">
              <a:spcAft>
                <a:spcPts val="0"/>
              </a:spcAft>
              <a:buClr>
                <a:schemeClr val="tx1">
                  <a:shade val="95000"/>
                </a:schemeClr>
              </a:buClr>
              <a:buFont typeface="Wingdings 2"/>
              <a:buChar char=""/>
              <a:defRPr/>
            </a:pPr>
            <a:r>
              <a:rPr lang="ru-RU" dirty="0"/>
              <a:t>Мета імітаційного моделювання полягає у відтворенні поведінки досліджуваної системи на основі результатів аналізу найбільш суттєвих взаємозв'язків між її елементами або іншими словами – розробці симулятора предметної області, що досліджується, для проведення різних експериментів.</a:t>
            </a:r>
          </a:p>
          <a:p>
            <a:pPr marL="548640" indent="-411480" algn="l" rtl="0" fontAlgn="auto">
              <a:spcAft>
                <a:spcPts val="0"/>
              </a:spcAft>
              <a:buClr>
                <a:schemeClr val="tx1">
                  <a:shade val="95000"/>
                </a:schemeClr>
              </a:buClr>
              <a:buFont typeface="Wingdings 2"/>
              <a:buChar char=""/>
              <a:defRPr/>
            </a:pPr>
            <a:endParaRPr lang="ru-RU" dirty="0"/>
          </a:p>
          <a:p>
            <a:pPr marL="548640" indent="-411480" algn="l" rtl="0" fontAlgn="auto">
              <a:spcAft>
                <a:spcPts val="0"/>
              </a:spcAft>
              <a:buClr>
                <a:schemeClr val="tx1">
                  <a:shade val="95000"/>
                </a:schemeClr>
              </a:buClr>
              <a:buFont typeface="Wingdings 2"/>
              <a:buChar char=""/>
              <a:defRPr/>
            </a:pPr>
            <a:endParaRPr lang="ru-RU" dirty="0"/>
          </a:p>
          <a:p>
            <a:pPr marL="548640" indent="-411480" algn="l" rtl="0" fontAlgn="auto">
              <a:spcAft>
                <a:spcPts val="0"/>
              </a:spcAft>
              <a:buClr>
                <a:schemeClr val="tx1">
                  <a:shade val="95000"/>
                </a:schemeClr>
              </a:buClr>
              <a:buFont typeface="Wingdings 2"/>
              <a:buChar char=""/>
              <a:defRPr/>
            </a:pPr>
            <a:endParaRPr lang="ru-RU"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l" rtl="0" fontAlgn="auto">
              <a:spcAft>
                <a:spcPts val="0"/>
              </a:spcAft>
              <a:defRPr/>
            </a:pPr>
            <a:r>
              <a:rPr lang="uk-UA" dirty="0"/>
              <a:t>Метод</a:t>
            </a:r>
            <a:r>
              <a:rPr lang="ru-RU" dirty="0" err="1"/>
              <a:t>ы</a:t>
            </a:r>
            <a:r>
              <a:rPr lang="ru-RU" dirty="0"/>
              <a:t>верифікації та</a:t>
            </a:r>
            <a:r>
              <a:rPr lang="ru-RU" dirty="0" err="1"/>
              <a:t>валідації</a:t>
            </a:r>
            <a:endParaRPr lang="ru-RU" dirty="0"/>
          </a:p>
        </p:txBody>
      </p:sp>
      <p:sp>
        <p:nvSpPr>
          <p:cNvPr id="3" name="Содержимое 2"/>
          <p:cNvSpPr>
            <a:spLocks noGrp="1"/>
          </p:cNvSpPr>
          <p:nvPr>
            <p:ph idx="1"/>
          </p:nvPr>
        </p:nvSpPr>
        <p:spPr/>
        <p:txBody>
          <a:bodyPr>
            <a:normAutofit lnSpcReduction="10000"/>
          </a:bodyPr>
          <a:lstStyle/>
          <a:p>
            <a:pPr marL="548640" indent="-411480" algn="l" rtl="0" fontAlgn="auto">
              <a:spcAft>
                <a:spcPts val="0"/>
              </a:spcAft>
              <a:buClr>
                <a:schemeClr val="tx1">
                  <a:shade val="95000"/>
                </a:schemeClr>
              </a:buClr>
              <a:buFont typeface="Wingdings 2"/>
              <a:buChar char=""/>
              <a:defRPr/>
            </a:pPr>
            <a:r>
              <a:rPr lang="ru-RU" b="1" dirty="0"/>
              <a:t>Перевірка моделей</a:t>
            </a:r>
            <a:r>
              <a:rPr lang="ru-RU" dirty="0"/>
              <a:t>метод автоматичної формальної верифікації паралельних систем з кінцевим числом станів. Дозволяє перевірити, чи задовольняє задана модель системи формальним специфікаціям.</a:t>
            </a:r>
          </a:p>
          <a:p>
            <a:pPr marL="548640" indent="-411480" algn="l" rtl="0" fontAlgn="auto">
              <a:spcAft>
                <a:spcPts val="0"/>
              </a:spcAft>
              <a:buClr>
                <a:schemeClr val="tx1">
                  <a:shade val="95000"/>
                </a:schemeClr>
              </a:buClr>
              <a:buFont typeface="Wingdings 2"/>
              <a:buChar char=""/>
              <a:defRPr/>
            </a:pPr>
            <a:r>
              <a:rPr lang="ru-RU" dirty="0"/>
              <a:t>Як модель зазвичай використовується так звана модель</a:t>
            </a:r>
            <a:r>
              <a:rPr lang="ru-RU" dirty="0" err="1"/>
              <a:t>Крипці</a:t>
            </a:r>
            <a:r>
              <a:rPr lang="ru-RU" dirty="0"/>
              <a:t>, яка формально задається наступним чином:</a:t>
            </a:r>
            <a:r>
              <a:rPr lang="en-US" dirty="0"/>
              <a:t>M = (S, S</a:t>
            </a:r>
            <a:r>
              <a:rPr lang="en-US" baseline="-25000" dirty="0"/>
              <a:t>0</a:t>
            </a:r>
            <a:r>
              <a:rPr lang="en-US" dirty="0"/>
              <a:t>, R, L),</a:t>
            </a:r>
            <a:r>
              <a:rPr lang="ru-RU" dirty="0"/>
              <a:t>де</a:t>
            </a:r>
            <a:r>
              <a:rPr lang="en-US" dirty="0"/>
              <a:t>S</a:t>
            </a:r>
            <a:r>
              <a:rPr lang="ru-RU" dirty="0"/>
              <a:t>- безліч станів,</a:t>
            </a:r>
            <a:r>
              <a:rPr lang="en-US" dirty="0"/>
              <a:t>S</a:t>
            </a:r>
            <a:r>
              <a:rPr lang="en-US" baseline="-25000" dirty="0"/>
              <a:t>0</a:t>
            </a:r>
            <a:r>
              <a:rPr lang="ru-RU" dirty="0"/>
              <a:t>- безліч початкових станів,</a:t>
            </a:r>
            <a:r>
              <a:rPr lang="en-US" dirty="0"/>
              <a:t>R</a:t>
            </a:r>
            <a:r>
              <a:rPr lang="en-US" dirty="0">
                <a:sym typeface="Symbol"/>
              </a:rPr>
              <a:t></a:t>
            </a:r>
            <a:r>
              <a:rPr lang="en-US" dirty="0"/>
              <a:t>S*S</a:t>
            </a:r>
            <a:r>
              <a:rPr lang="ru-RU" dirty="0"/>
              <a:t>- Відношення переходів,</a:t>
            </a:r>
            <a:r>
              <a:rPr lang="en-US" dirty="0"/>
              <a:t>L:S</a:t>
            </a:r>
            <a:r>
              <a:rPr lang="ru-RU" dirty="0"/>
              <a:t>-</a:t>
            </a:r>
            <a:r>
              <a:rPr lang="en-US" dirty="0"/>
              <a:t>&gt; 2</a:t>
            </a:r>
            <a:r>
              <a:rPr lang="en-US" baseline="30000" dirty="0"/>
              <a:t>AP</a:t>
            </a:r>
            <a:r>
              <a:rPr lang="en-US" dirty="0"/>
              <a:t>, -</a:t>
            </a:r>
            <a:r>
              <a:rPr lang="ru-RU" dirty="0"/>
              <a:t>функція розмітки.</a:t>
            </a:r>
          </a:p>
          <a:p>
            <a:pPr marL="548640" indent="-411480" algn="l" rtl="0" fontAlgn="auto">
              <a:spcAft>
                <a:spcPts val="0"/>
              </a:spcAft>
              <a:buClr>
                <a:schemeClr val="tx1">
                  <a:shade val="95000"/>
                </a:schemeClr>
              </a:buClr>
              <a:buFont typeface="Wingdings 2"/>
              <a:buChar char=""/>
              <a:defRPr/>
            </a:pPr>
            <a:endParaRPr lang="ru-RU"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Рисунок 5" descr="0ri1ca.jpg"/>
          <p:cNvPicPr>
            <a:picLocks noChangeAspect="1"/>
          </p:cNvPicPr>
          <p:nvPr/>
        </p:nvPicPr>
        <p:blipFill>
          <a:blip r:embed="rId2" cstate="print"/>
          <a:stretch>
            <a:fillRect/>
          </a:stretch>
        </p:blipFill>
        <p:spPr>
          <a:xfrm>
            <a:off x="2590800" y="1066800"/>
            <a:ext cx="3124200" cy="3124200"/>
          </a:xfrm>
          <a:prstGeom prst="rect">
            <a:avLst/>
          </a:prstGeom>
          <a:ln>
            <a:solidFill>
              <a:schemeClr val="tx2">
                <a:lumMod val="75000"/>
              </a:schemeClr>
            </a:solidFill>
          </a:ln>
          <a:effectLst>
            <a:reflection blurRad="6350" stA="50000" endA="300" endPos="55000" dir="5400000" sy="-100000" algn="bl" rotWithShape="0"/>
          </a:effectLst>
          <a:scene3d>
            <a:camera prst="obliqueTopLeft"/>
            <a:lightRig rig="threePt" dir="t"/>
          </a:scene3d>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Апекс">
  <a:themeElements>
    <a:clrScheme name="Апекс">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Апекс">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Апекс">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280</TotalTime>
  <Words>1952</Words>
  <Application>Microsoft Office PowerPoint</Application>
  <PresentationFormat>Экран (4:3)</PresentationFormat>
  <Paragraphs>208</Paragraphs>
  <Slides>51</Slides>
  <Notes>0</Notes>
  <HiddenSlides>0</HiddenSlides>
  <MMClips>0</MMClips>
  <ScaleCrop>false</ScaleCrop>
  <HeadingPairs>
    <vt:vector size="6" baseType="variant">
      <vt:variant>
        <vt:lpstr>Использованные шрифты</vt:lpstr>
      </vt:variant>
      <vt:variant>
        <vt:i4>8</vt:i4>
      </vt:variant>
      <vt:variant>
        <vt:lpstr>Тема</vt:lpstr>
      </vt:variant>
      <vt:variant>
        <vt:i4>1</vt:i4>
      </vt:variant>
      <vt:variant>
        <vt:lpstr>Заголовки слайдов</vt:lpstr>
      </vt:variant>
      <vt:variant>
        <vt:i4>51</vt:i4>
      </vt:variant>
    </vt:vector>
  </HeadingPairs>
  <TitlesOfParts>
    <vt:vector size="60" baseType="lpstr">
      <vt:lpstr>Arial</vt:lpstr>
      <vt:lpstr>Book Antiqua</vt:lpstr>
      <vt:lpstr>Lucida Sans</vt:lpstr>
      <vt:lpstr>Roboto</vt:lpstr>
      <vt:lpstr>Times New Roman</vt:lpstr>
      <vt:lpstr>Wingdings</vt:lpstr>
      <vt:lpstr>Wingdings 2</vt:lpstr>
      <vt:lpstr>Wingdings 3</vt:lpstr>
      <vt:lpstr>Апекс</vt:lpstr>
      <vt:lpstr> ISO/IEC/IEEE 12207:2008 у термінах: контекст процесу, група процесів, процес у групі – об'єкт вивчення обраної теми, призначення (мета процесу), вихідний продукт, дії, завдання. </vt:lpstr>
      <vt:lpstr>Презентация PowerPoint</vt:lpstr>
      <vt:lpstr>Основні терміни </vt:lpstr>
      <vt:lpstr>Основні терміни </vt:lpstr>
      <vt:lpstr>Основні терміни </vt:lpstr>
      <vt:lpstr>Основні терміни </vt:lpstr>
      <vt:lpstr>Презентация PowerPoint</vt:lpstr>
      <vt:lpstr> Визначення для обраного складу процесів на основіаналітичнихоглядів рекомендованої літератури предметної області обраноїтеми  в термінах: абстракції, моделі, методи, заходи та метрики,інструментальнізасоби та середовища, інформаційні технології,керівництвата стандарти.   </vt:lpstr>
      <vt:lpstr>Основні терміни</vt:lpstr>
      <vt:lpstr>Основні терміни</vt:lpstr>
      <vt:lpstr>Основні терміни</vt:lpstr>
      <vt:lpstr>Основні терміни</vt:lpstr>
      <vt:lpstr>Основні терміни</vt:lpstr>
      <vt:lpstr>Основні терміни</vt:lpstr>
      <vt:lpstr> Анотація. Методи декомпозиції. Принцип «поділяй і володарюй» (divide  et impera). Нотації. Виразнізображальнізасоби (мови).  </vt:lpstr>
      <vt:lpstr>Абстракція та декомпозиція</vt:lpstr>
      <vt:lpstr>Абстракція та декомпозиція</vt:lpstr>
      <vt:lpstr>Work breakdown structure(WBS) </vt:lpstr>
      <vt:lpstr>Work breakdown structure(WBS) </vt:lpstr>
      <vt:lpstr>Work breakdown structure(WBS) </vt:lpstr>
      <vt:lpstr>Work breakdown structure(WBS) </vt:lpstr>
      <vt:lpstr>Divide and conquer</vt:lpstr>
      <vt:lpstr>Нотація</vt:lpstr>
      <vt:lpstr>Нотація</vt:lpstr>
      <vt:lpstr>Язик </vt:lpstr>
      <vt:lpstr>Язик </vt:lpstr>
      <vt:lpstr> Функціональна та об'єктна декомпозиції (інкапсуляція, успадкування, поліморфізм та пізніше зв'язування). </vt:lpstr>
      <vt:lpstr>Об'єктна декомпозиція</vt:lpstr>
      <vt:lpstr>Об'єктна декомпозиція</vt:lpstr>
      <vt:lpstr>Об'єктна декомпозиція</vt:lpstr>
      <vt:lpstr>Об'єктна декомпозиція</vt:lpstr>
      <vt:lpstr>Функціональна декомпозиція</vt:lpstr>
      <vt:lpstr>Функціональна декомпозиція</vt:lpstr>
      <vt:lpstr> Системна та програмна інженерія. Опис архітектури ПЗ. СтандартISO/IEC/IEEE 42010:2011.Мови опису архітектуриADL (Ar-chitectureDescription Languages). </vt:lpstr>
      <vt:lpstr>Опис архітектури ПЗ</vt:lpstr>
      <vt:lpstr>Опис архітектури ПЗ</vt:lpstr>
      <vt:lpstr>Опис архітектури ПЗ</vt:lpstr>
      <vt:lpstr>Стандарт ISO/IEC/IEEE 42010:2011</vt:lpstr>
      <vt:lpstr>Мови опису архітектури (ADLS)</vt:lpstr>
      <vt:lpstr>Мови опису архітектури (ADLS)</vt:lpstr>
      <vt:lpstr>Мови опису архітектури (ADLS)</vt:lpstr>
      <vt:lpstr>Критерії "зчеплення-зв'язності"</vt:lpstr>
      <vt:lpstr>Критерії "зчеплення-зв'язності"</vt:lpstr>
      <vt:lpstr>Принцип факторизації</vt:lpstr>
      <vt:lpstr>Кваліфікаційні випробування</vt:lpstr>
      <vt:lpstr>Методыверифікації тавалідації</vt:lpstr>
      <vt:lpstr>Методыверифікації тавалідації</vt:lpstr>
      <vt:lpstr>Методыверифікації тавалідації</vt:lpstr>
      <vt:lpstr>Методыверифікації тавалідації</vt:lpstr>
      <vt:lpstr>Методыверифікації тавалідації</vt:lpstr>
      <vt:lpstr>Презентация PowerPoint</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ISO/IEC/IEEE 12207:2008 в терминах: контекст процесса, группа процессов, процесс в группе – объект изучения выбранной темы, назначение (цель процесса), выходной продукт, действия, задачи.</dc:title>
  <dc:creator>polina</dc:creator>
  <cp:lastModifiedBy>380971674174</cp:lastModifiedBy>
  <cp:revision>24</cp:revision>
  <dcterms:created xsi:type="dcterms:W3CDTF">2017-03-12T15:45:28Z</dcterms:created>
  <dcterms:modified xsi:type="dcterms:W3CDTF">2023-03-27T17:42:08Z</dcterms:modified>
</cp:coreProperties>
</file>