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69" r:id="rId5"/>
    <p:sldId id="259" r:id="rId6"/>
    <p:sldId id="270" r:id="rId7"/>
    <p:sldId id="260" r:id="rId8"/>
    <p:sldId id="261" r:id="rId9"/>
    <p:sldId id="262" r:id="rId10"/>
    <p:sldId id="263" r:id="rId11"/>
    <p:sldId id="271" r:id="rId12"/>
    <p:sldId id="264" r:id="rId13"/>
    <p:sldId id="265" r:id="rId14"/>
    <p:sldId id="266" r:id="rId15"/>
    <p:sldId id="268"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F57EE1-F7AD-455A-9DB4-716D7FE52E9C}">
          <p14:sldIdLst>
            <p14:sldId id="256"/>
            <p14:sldId id="257"/>
            <p14:sldId id="258"/>
            <p14:sldId id="269"/>
            <p14:sldId id="259"/>
            <p14:sldId id="270"/>
            <p14:sldId id="260"/>
            <p14:sldId id="261"/>
            <p14:sldId id="262"/>
            <p14:sldId id="263"/>
            <p14:sldId id="271"/>
            <p14:sldId id="264"/>
            <p14:sldId id="265"/>
            <p14:sldId id="266"/>
            <p14:sldId id="268"/>
            <p14:sldId id="26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A99AF2-E456-4DCB-B174-FB419C1365C7}" type="datetimeFigureOut">
              <a:rPr lang="en-US" smtClean="0"/>
              <a:pPr/>
              <a:t>3/27/2023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D8AAF3-C5EF-43F1-9CD7-A2635BD28484}" type="slidenum">
              <a:rPr lang="en-US" smtClean="0"/>
              <a:pPr/>
              <a:t>‹#›</a:t>
            </a:fld>
            <a:endParaRPr lang="en-US"/>
          </a:p>
        </p:txBody>
      </p:sp>
    </p:spTree>
    <p:extLst>
      <p:ext uri="{BB962C8B-B14F-4D97-AF65-F5344CB8AC3E}">
        <p14:creationId xmlns:p14="http://schemas.microsoft.com/office/powerpoint/2010/main" val="152050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fld id="{71D8AAF3-C5EF-43F1-9CD7-A2635BD28484}" type="slidenum">
              <a:rPr lang="en-US" smtClean="0"/>
              <a:pPr algn="l" rtl="0"/>
              <a:t>13</a:t>
            </a:fld>
            <a:endParaRPr lang="en-US"/>
          </a:p>
        </p:txBody>
      </p:sp>
    </p:spTree>
    <p:extLst>
      <p:ext uri="{BB962C8B-B14F-4D97-AF65-F5344CB8AC3E}">
        <p14:creationId xmlns:p14="http://schemas.microsoft.com/office/powerpoint/2010/main" val="1602284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subtitle style</a:t>
            </a:r>
            <a:endParaRPr lang="en-US" dirty="0"/>
          </a:p>
        </p:txBody>
      </p:sp>
      <p:sp>
        <p:nvSpPr>
          <p:cNvPr id="4" name="Date Placeholder 3"/>
          <p:cNvSpPr>
            <a:spLocks noGrp="1"/>
          </p:cNvSpPr>
          <p:nvPr>
            <p:ph type="dt" sz="half" idx="10"/>
          </p:nvPr>
        </p:nvSpPr>
        <p:spPr/>
        <p:txBody>
          <a:bodyPr/>
          <a:lstStyle/>
          <a:p>
            <a:fld id="{E189F86E-3538-4779-91B4-6B1DA830FE08}" type="datetimeFigureOut">
              <a:rPr lang="en-US" smtClean="0"/>
              <a:pPr/>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89F86E-3538-4779-91B4-6B1DA830FE08}" type="datetimeFigureOut">
              <a:rPr lang="en-US" smtClean="0"/>
              <a:pPr/>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text styles</a:t>
            </a:r>
          </a:p>
        </p:txBody>
      </p:sp>
      <p:sp>
        <p:nvSpPr>
          <p:cNvPr id="4" name="Date Placeholder 3"/>
          <p:cNvSpPr>
            <a:spLocks noGrp="1"/>
          </p:cNvSpPr>
          <p:nvPr>
            <p:ph type="dt" sz="half" idx="10"/>
          </p:nvPr>
        </p:nvSpPr>
        <p:spPr/>
        <p:txBody>
          <a:bodyPr/>
          <a:lstStyle/>
          <a:p>
            <a:fld id="{E189F86E-3538-4779-91B4-6B1DA830FE08}" type="datetimeFigureOut">
              <a:rPr lang="en-US" smtClean="0"/>
              <a:pPr/>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89F86E-3538-4779-91B4-6B1DA830FE08}" type="datetimeFigureOut">
              <a:rPr lang="en-US" smtClean="0"/>
              <a:pPr/>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8E0C9-795A-424B-8707-394D4EFA24D7}" type="slidenum">
              <a:rPr lang="en-US" smtClean="0"/>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89F86E-3538-4779-91B4-6B1DA830FE08}" type="datetimeFigureOut">
              <a:rPr lang="en-US" smtClean="0"/>
              <a:pPr/>
              <a:t>3/27/2023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89F86E-3538-4779-91B4-6B1DA830FE08}" type="datetimeFigureOut">
              <a:rPr lang="en-US" smtClean="0"/>
              <a:pPr/>
              <a:t>3/27/2023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89F86E-3538-4779-91B4-6B1DA830FE08}" type="datetimeFigureOut">
              <a:rPr lang="en-US" smtClean="0"/>
              <a:pPr/>
              <a:t>3/27/2023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a:t>Click to edit Master text styles</a:t>
            </a:r>
          </a:p>
        </p:txBody>
      </p:sp>
      <p:sp>
        <p:nvSpPr>
          <p:cNvPr id="5" name="Date Placeholder 4"/>
          <p:cNvSpPr>
            <a:spLocks noGrp="1"/>
          </p:cNvSpPr>
          <p:nvPr>
            <p:ph type="dt" sz="half" idx="10"/>
          </p:nvPr>
        </p:nvSpPr>
        <p:spPr/>
        <p:txBody>
          <a:bodyPr/>
          <a:lstStyle/>
          <a:p>
            <a:fld id="{E189F86E-3538-4779-91B4-6B1DA830FE08}" type="datetimeFigureOut">
              <a:rPr lang="en-US" smtClean="0"/>
              <a:pPr/>
              <a:t>3/27/2023</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5C28E0C9-795A-424B-8707-394D4EFA24D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89F86E-3538-4779-91B4-6B1DA830FE08}" type="datetimeFigureOut">
              <a:rPr lang="en-US" smtClean="0"/>
              <a:pPr/>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89F86E-3538-4779-91B4-6B1DA830FE08}" type="datetimeFigureOut">
              <a:rPr lang="en-US" smtClean="0"/>
              <a:pPr/>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89F86E-3538-4779-91B4-6B1DA830FE08}" type="datetimeFigureOut">
              <a:rPr lang="en-US" smtClean="0"/>
              <a:pPr/>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8E0C9-795A-424B-8707-394D4EFA24D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E189F86E-3538-4779-91B4-6B1DA830FE08}" type="datetimeFigureOut">
              <a:rPr lang="en-US" smtClean="0"/>
              <a:pPr/>
              <a:t>3/27/2023</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5C28E0C9-795A-424B-8707-394D4EFA24D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onlinedoctranslator.com/en/?utm_source=onlinedoctranslator&amp;utm_medium=pptx&amp;utm_campaign=attribu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95400" y="2410361"/>
            <a:ext cx="7086600" cy="1323439"/>
          </a:xfrm>
          <a:prstGeom prst="rect">
            <a:avLst/>
          </a:prstGeom>
          <a:noFill/>
        </p:spPr>
        <p:txBody>
          <a:bodyPr wrap="square" rtlCol="0">
            <a:spAutoFit/>
          </a:bodyPr>
          <a:lstStyle/>
          <a:p>
            <a:pPr algn="ctr" rtl="0"/>
            <a:r>
              <a:rPr lang="ru-RU" sz="4000" i="1" dirty="0">
                <a:effectLst>
                  <a:outerShdw blurRad="38100" dist="38100" dir="2700000" algn="tl">
                    <a:srgbClr val="000000">
                      <a:alpha val="43137"/>
                    </a:srgbClr>
                  </a:outerShdw>
                </a:effectLst>
                <a:latin typeface="Times New Roman" pitchFamily="18" charset="0"/>
                <a:cs typeface="Times New Roman" pitchFamily="18" charset="0"/>
              </a:rPr>
              <a:t>Кваліфікаційні випробування критичного ПЗ</a:t>
            </a:r>
          </a:p>
        </p:txBody>
      </p:sp>
      <p:sp>
        <p:nvSpPr>
          <p:cNvPr id="5" name="TextBox 4"/>
          <p:cNvSpPr txBox="1"/>
          <p:nvPr/>
        </p:nvSpPr>
        <p:spPr>
          <a:xfrm>
            <a:off x="4953000" y="5181600"/>
            <a:ext cx="6248400" cy="584775"/>
          </a:xfrm>
          <a:prstGeom prst="rect">
            <a:avLst/>
          </a:prstGeom>
          <a:noFill/>
        </p:spPr>
        <p:txBody>
          <a:bodyPr wrap="square" rtlCol="0">
            <a:spAutoFit/>
          </a:bodyPr>
          <a:lstStyle/>
          <a:p>
            <a:pPr algn="l" rtl="0"/>
            <a:endParaRPr lang="en-US" sz="3200" dirty="0">
              <a:latin typeface="Times New Roman" pitchFamily="18" charset="0"/>
              <a:cs typeface="Times New Roman" pitchFamily="18" charset="0"/>
            </a:endParaRPr>
          </a:p>
        </p:txBody>
      </p:sp>
      <p:sp>
        <p:nvSpPr>
          <p:cNvPr id="100010001" name="ODT_ATTR_LBL_SHAPE">
            <a:extLst>
              <a:ext uri="{FF2B5EF4-FFF2-40B4-BE49-F238E27FC236}">
                <a16:creationId xmlns:a16="http://schemas.microsoft.com/office/drawing/2014/main" id="{ADCB8724-23CD-4EE8-B5B5-3CB2DDF8932E}"/>
              </a:ext>
            </a:extLst>
          </p:cNvPr>
          <p:cNvSpPr txBox="1"/>
          <p:nvPr/>
        </p:nvSpPr>
        <p:spPr>
          <a:xfrm>
            <a:off x="0" y="0"/>
            <a:ext cx="5000000" cy="276999"/>
          </a:xfrm>
          <a:prstGeom prst="rect">
            <a:avLst/>
          </a:prstGeom>
          <a:solidFill>
            <a:srgbClr val="FAFAFA"/>
          </a:solidFill>
        </p:spPr>
        <p:txBody>
          <a:bodyPr wrap="none" lIns="288000">
            <a:spAutoFit/>
          </a:bodyPr>
          <a:lstStyle/>
          <a:p>
            <a:pPr rtl="0"/>
            <a:r>
              <a:rPr lang="en-US" sz="1000" dirty="0">
                <a:solidFill>
                  <a:srgbClr val="0F2B46"/>
                </a:solidFill>
                <a:effectLst/>
                <a:latin typeface="Roboto" panose="02000000000000000000" pitchFamily="2" charset="0"/>
              </a:rPr>
              <a:t>Translated from Russian to Ukrainian - </a:t>
            </a:r>
            <a:r>
              <a:rPr lang="en-US" sz="1000" u="sng" dirty="0">
                <a:solidFill>
                  <a:srgbClr val="0F2B46"/>
                </a:solidFill>
                <a:effectLst/>
                <a:latin typeface="Roboto" panose="02000000000000000000" pitchFamily="2" charset="0"/>
                <a:hlinkClick r:id="rId2" tooltip="Doc Translator - www.onlinedoctranslator.com"/>
              </a:rPr>
              <a:t>www.onlinedoctranslator.com</a:t>
            </a:r>
            <a:endParaRPr lang="en-US" sz="1000" dirty="0"/>
          </a:p>
        </p:txBody>
      </p:sp>
      <p:pic>
        <p:nvPicPr>
          <p:cNvPr id="1000100002" name="ODT_ATTR_LBL_LOGO">
            <a:extLst>
              <a:ext uri="{FF2B5EF4-FFF2-40B4-BE49-F238E27FC236}">
                <a16:creationId xmlns:a16="http://schemas.microsoft.com/office/drawing/2014/main" id="{B066AC4A-9A1C-4C10-800A-DAF9F276438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6000"/>
            <a:ext cx="316230" cy="179705"/>
          </a:xfrm>
          <a:prstGeom prst="rect">
            <a:avLst/>
          </a:prstGeom>
        </p:spPr>
      </p:pic>
    </p:spTree>
    <p:extLst>
      <p:ext uri="{BB962C8B-B14F-4D97-AF65-F5344CB8AC3E}">
        <p14:creationId xmlns:p14="http://schemas.microsoft.com/office/powerpoint/2010/main" val="4167244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6200" y="42153"/>
            <a:ext cx="9144000" cy="1015663"/>
          </a:xfrm>
          <a:prstGeom prst="rect">
            <a:avLst/>
          </a:prstGeom>
        </p:spPr>
        <p:txBody>
          <a:bodyPr wrap="square">
            <a:spAutoFit/>
          </a:bodyPr>
          <a:lstStyle/>
          <a:p>
            <a:pPr algn="ctr" rtl="0"/>
            <a:r>
              <a:rPr lang="ru-RU" sz="2000" i="1" dirty="0">
                <a:latin typeface="Times New Roman" pitchFamily="18" charset="0"/>
                <a:cs typeface="Times New Roman" pitchFamily="18" charset="0"/>
              </a:rPr>
              <a:t>1 Ідентифікація, аналіз та деталізація об'єкта вивчення, представленого відповідними процесами системного та програмного контекстів опорної (посилальної) моделі процесів ЖЦ ПЗ.</a:t>
            </a:r>
          </a:p>
        </p:txBody>
      </p:sp>
      <p:sp>
        <p:nvSpPr>
          <p:cNvPr id="9" name="Rectangle 8"/>
          <p:cNvSpPr/>
          <p:nvPr/>
        </p:nvSpPr>
        <p:spPr>
          <a:xfrm>
            <a:off x="381000" y="1893651"/>
            <a:ext cx="7924800" cy="2677656"/>
          </a:xfrm>
          <a:prstGeom prst="rect">
            <a:avLst/>
          </a:prstGeom>
        </p:spPr>
        <p:txBody>
          <a:bodyPr wrap="square">
            <a:spAutoFit/>
          </a:bodyPr>
          <a:lstStyle/>
          <a:p>
            <a:pPr marL="285750" indent="-285750" algn="l" rtl="0">
              <a:buFont typeface="Arial" pitchFamily="34" charset="0"/>
              <a:buChar char="•"/>
            </a:pPr>
            <a:r>
              <a:rPr lang="ru-RU" sz="2400" dirty="0">
                <a:latin typeface="Times New Roman" pitchFamily="18" charset="0"/>
                <a:cs typeface="Times New Roman" pitchFamily="18" charset="0"/>
              </a:rPr>
              <a:t>Процесиугоди</a:t>
            </a:r>
            <a:endParaRPr lang="en-US" sz="2400" dirty="0">
              <a:latin typeface="Times New Roman" pitchFamily="18" charset="0"/>
              <a:cs typeface="Times New Roman" pitchFamily="18" charset="0"/>
            </a:endParaRPr>
          </a:p>
          <a:p>
            <a:pPr marL="285750" indent="-285750" algn="l" rtl="0">
              <a:buFont typeface="Arial" pitchFamily="34" charset="0"/>
              <a:buChar char="•"/>
            </a:pPr>
            <a:r>
              <a:rPr lang="ru-RU" sz="2400" dirty="0">
                <a:latin typeface="Times New Roman" pitchFamily="18" charset="0"/>
                <a:cs typeface="Times New Roman" pitchFamily="18" charset="0"/>
              </a:rPr>
              <a:t>Процеси організаційного забезпечення проекту.</a:t>
            </a:r>
            <a:endParaRPr lang="en-US" sz="2400" dirty="0">
              <a:latin typeface="Times New Roman" pitchFamily="18" charset="0"/>
              <a:cs typeface="Times New Roman" pitchFamily="18" charset="0"/>
            </a:endParaRPr>
          </a:p>
          <a:p>
            <a:pPr marL="285750" indent="-285750" algn="l" rtl="0">
              <a:buFont typeface="Arial" pitchFamily="34" charset="0"/>
              <a:buChar char="•"/>
            </a:pPr>
            <a:r>
              <a:rPr lang="ru-RU" sz="2400" dirty="0">
                <a:latin typeface="Times New Roman" pitchFamily="18" charset="0"/>
                <a:cs typeface="Times New Roman" pitchFamily="18" charset="0"/>
              </a:rPr>
              <a:t>Процеси проекту.</a:t>
            </a:r>
          </a:p>
          <a:p>
            <a:pPr marL="285750" indent="-285750" algn="l" rtl="0">
              <a:buFont typeface="Arial" pitchFamily="34" charset="0"/>
              <a:buChar char="•"/>
            </a:pPr>
            <a:r>
              <a:rPr lang="ru-RU" sz="2400" dirty="0">
                <a:latin typeface="Times New Roman" pitchFamily="18" charset="0"/>
                <a:cs typeface="Times New Roman" pitchFamily="18" charset="0"/>
              </a:rPr>
              <a:t>Технічні процеси</a:t>
            </a:r>
          </a:p>
          <a:p>
            <a:pPr marL="285750" indent="-285750" algn="l" rtl="0">
              <a:buFont typeface="Arial" pitchFamily="34" charset="0"/>
              <a:buChar char="•"/>
            </a:pPr>
            <a:r>
              <a:rPr lang="ru-RU" sz="2400" dirty="0">
                <a:latin typeface="Times New Roman" pitchFamily="18" charset="0"/>
                <a:cs typeface="Times New Roman" pitchFamily="18" charset="0"/>
              </a:rPr>
              <a:t>Процеси реалізації програмних засобів</a:t>
            </a:r>
          </a:p>
          <a:p>
            <a:pPr marL="285750" indent="-285750" algn="l" rtl="0">
              <a:buFont typeface="Arial" pitchFamily="34" charset="0"/>
              <a:buChar char="•"/>
            </a:pPr>
            <a:r>
              <a:rPr lang="ru-RU" sz="2400" dirty="0">
                <a:latin typeface="Times New Roman" pitchFamily="18" charset="0"/>
                <a:cs typeface="Times New Roman" pitchFamily="18" charset="0"/>
              </a:rPr>
              <a:t>Процеси підтримки програмних засобів</a:t>
            </a:r>
          </a:p>
          <a:p>
            <a:pPr marL="285750" indent="-285750" algn="l" rtl="0">
              <a:buFont typeface="Arial" pitchFamily="34" charset="0"/>
              <a:buChar char="•"/>
            </a:pPr>
            <a:r>
              <a:rPr lang="ru-RU" sz="2400" dirty="0">
                <a:latin typeface="Times New Roman" pitchFamily="18" charset="0"/>
                <a:cs typeface="Times New Roman" pitchFamily="18" charset="0"/>
              </a:rPr>
              <a:t>Процеси повторного застосування програмних засобів</a:t>
            </a:r>
            <a:endParaRPr lang="en-US" sz="2400" dirty="0">
              <a:latin typeface="Times New Roman" pitchFamily="18" charset="0"/>
              <a:cs typeface="Times New Roman" pitchFamily="18" charset="0"/>
            </a:endParaRPr>
          </a:p>
        </p:txBody>
      </p:sp>
      <p:sp>
        <p:nvSpPr>
          <p:cNvPr id="10" name="TextBox 9"/>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2</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338965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76200"/>
            <a:ext cx="8839200" cy="1200329"/>
          </a:xfrm>
          <a:prstGeom prst="rect">
            <a:avLst/>
          </a:prstGeom>
        </p:spPr>
        <p:txBody>
          <a:bodyPr wrap="square">
            <a:spAutoFit/>
          </a:bodyPr>
          <a:lstStyle/>
          <a:p>
            <a:pPr algn="ctr" rtl="0"/>
            <a:r>
              <a:rPr lang="ru-RU" i="1" dirty="0">
                <a:latin typeface="Times New Roman" pitchFamily="18" charset="0"/>
                <a:cs typeface="Times New Roman" pitchFamily="18" charset="0"/>
              </a:rPr>
              <a:t>2 Розкриття специфікації (деталізація структури) аналізованих процесів відповідно до ISO/IEC/IEEE 12207:2008 у термінах: контекст процесу, група процесів, процес у групі – об'єкт вивчення обраної теми, призначення (мета процесу), вихідний продукт, дії, завдання .</a:t>
            </a:r>
          </a:p>
        </p:txBody>
      </p:sp>
      <p:sp>
        <p:nvSpPr>
          <p:cNvPr id="10" name="Rectangle 9"/>
          <p:cNvSpPr/>
          <p:nvPr/>
        </p:nvSpPr>
        <p:spPr>
          <a:xfrm>
            <a:off x="533400" y="1600200"/>
            <a:ext cx="7848600" cy="2031325"/>
          </a:xfrm>
          <a:prstGeom prst="rect">
            <a:avLst/>
          </a:prstGeom>
        </p:spPr>
        <p:txBody>
          <a:bodyPr wrap="square">
            <a:spAutoFit/>
          </a:bodyPr>
          <a:lstStyle/>
          <a:p>
            <a:pPr algn="l" rtl="0"/>
            <a:r>
              <a:rPr lang="ru-RU" dirty="0">
                <a:latin typeface="Times New Roman" pitchFamily="18" charset="0"/>
                <a:cs typeface="Times New Roman" pitchFamily="18" charset="0"/>
              </a:rPr>
              <a:t>СтандартISO/IEC/IEEE 12207:2008 групує різні види діяльності, які можуть виконуватися протягом життєвого циклу програмних систем у сім груп процесів. Кожен із процесів життєвого циклу в межах цих груп описується в термінах мети та бажаних виходів, списків дій та завдань, які необхідно виконувати для досягнення цих результатів.</a:t>
            </a:r>
          </a:p>
          <a:p>
            <a:pPr algn="l" rtl="0"/>
            <a:r>
              <a:rPr lang="ru-RU" dirty="0">
                <a:latin typeface="Times New Roman" pitchFamily="18" charset="0"/>
                <a:cs typeface="Times New Roman" pitchFamily="18" charset="0"/>
              </a:rPr>
              <a:t> Група процесів ЖЦ ПЗ показана нижче на малюнку 1.</a:t>
            </a:r>
            <a:endParaRPr lang="en-US" dirty="0">
              <a:latin typeface="Times New Roman" pitchFamily="18" charset="0"/>
              <a:cs typeface="Times New Roman" pitchFamily="18" charset="0"/>
            </a:endParaRPr>
          </a:p>
        </p:txBody>
      </p:sp>
      <p:sp>
        <p:nvSpPr>
          <p:cNvPr id="13" name="TextBox 12"/>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3</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76200"/>
            <a:ext cx="8839200" cy="1200329"/>
          </a:xfrm>
          <a:prstGeom prst="rect">
            <a:avLst/>
          </a:prstGeom>
        </p:spPr>
        <p:txBody>
          <a:bodyPr wrap="square">
            <a:spAutoFit/>
          </a:bodyPr>
          <a:lstStyle/>
          <a:p>
            <a:pPr algn="ctr" rtl="0"/>
            <a:r>
              <a:rPr lang="ru-RU" i="1" dirty="0">
                <a:latin typeface="Times New Roman" pitchFamily="18" charset="0"/>
                <a:cs typeface="Times New Roman" pitchFamily="18" charset="0"/>
              </a:rPr>
              <a:t>2 Розкриття специфікації (деталізація структури) аналізованих процесів відповідно до ISO/IEC/IEEE 12207:2008 у термінах: контекст процесу, група процесів, процес у групі – об'єкт вивчення обраної теми, призначення (мета процесу), вихідний продукт, дії, завдання .</a:t>
            </a:r>
          </a:p>
        </p:txBody>
      </p:sp>
      <p:pic>
        <p:nvPicPr>
          <p:cNvPr id="1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428929"/>
            <a:ext cx="5153441" cy="51242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271920" y="6550223"/>
            <a:ext cx="4572000" cy="307777"/>
          </a:xfrm>
          <a:prstGeom prst="rect">
            <a:avLst/>
          </a:prstGeom>
        </p:spPr>
        <p:txBody>
          <a:bodyPr>
            <a:spAutoFit/>
          </a:bodyPr>
          <a:lstStyle/>
          <a:p>
            <a:pPr algn="ctr" rtl="0"/>
            <a:r>
              <a:rPr lang="ru-RU" sz="1400" dirty="0">
                <a:latin typeface="Times New Roman" pitchFamily="18" charset="0"/>
                <a:cs typeface="Times New Roman" pitchFamily="18" charset="0"/>
              </a:rPr>
              <a:t>Малюнок 1 - Групи процесів життєвого циклу</a:t>
            </a:r>
            <a:endParaRPr lang="en-US" sz="1400" dirty="0">
              <a:latin typeface="Times New Roman" pitchFamily="18" charset="0"/>
              <a:cs typeface="Times New Roman" pitchFamily="18" charset="0"/>
            </a:endParaRPr>
          </a:p>
        </p:txBody>
      </p:sp>
      <p:sp>
        <p:nvSpPr>
          <p:cNvPr id="5" name="TextBox 4"/>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4</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3679358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52400"/>
            <a:ext cx="8229600" cy="1477328"/>
          </a:xfrm>
          <a:prstGeom prst="rect">
            <a:avLst/>
          </a:prstGeom>
        </p:spPr>
        <p:txBody>
          <a:bodyPr wrap="square">
            <a:spAutoFit/>
          </a:bodyPr>
          <a:lstStyle/>
          <a:p>
            <a:pPr algn="ctr" rtl="0"/>
            <a:r>
              <a:rPr lang="ru-RU" i="1" dirty="0">
                <a:latin typeface="Times New Roman" pitchFamily="18" charset="0"/>
                <a:cs typeface="Times New Roman" pitchFamily="18" charset="0"/>
              </a:rPr>
              <a:t>3 Визначення для обраного складу процесів на основі аналітичних оглядів рекомендованої літератури предметної галузі обраної теми, представленої відповідною методологією та технологіями у термінах: абстракції, моделі, методи, заходи та метрики, інструментальні засоби та середовища, інформаційні технології, посібники та стандарти.</a:t>
            </a:r>
          </a:p>
        </p:txBody>
      </p:sp>
      <p:sp>
        <p:nvSpPr>
          <p:cNvPr id="5" name="Rectangle 4"/>
          <p:cNvSpPr/>
          <p:nvPr/>
        </p:nvSpPr>
        <p:spPr>
          <a:xfrm>
            <a:off x="228600" y="1828800"/>
            <a:ext cx="8382000" cy="2554545"/>
          </a:xfrm>
          <a:prstGeom prst="rect">
            <a:avLst/>
          </a:prstGeom>
        </p:spPr>
        <p:txBody>
          <a:bodyPr wrap="square">
            <a:spAutoFit/>
          </a:bodyPr>
          <a:lstStyle/>
          <a:p>
            <a:pPr algn="l" rtl="0"/>
            <a:r>
              <a:rPr lang="ru-RU" sz="1600" dirty="0">
                <a:latin typeface="Times New Roman" pitchFamily="18" charset="0"/>
                <a:cs typeface="Times New Roman" pitchFamily="18" charset="0"/>
              </a:rPr>
              <a:t>КритичністьПЗ пов'язана головним чином з функціями, що реалізуються, і визначається величиною ризиків, що супроводжують його використання за призначенням. Ризики через приховані дефекти критичного ПЗ є можливими (імовірними) збитками внаслідок некоректної програмної реалізації критичних функцій системи через приховані дефекти ПЗ. Ризики проявляються на системному рівні (у контексті функціонування системи). Величина можливої ​​шкоди може перебувати в діапазоні&gt;.</a:t>
            </a:r>
          </a:p>
          <a:p>
            <a:pPr algn="l" rtl="0"/>
            <a:r>
              <a:rPr lang="ru-RU" sz="1600" dirty="0">
                <a:latin typeface="Times New Roman" pitchFamily="18" charset="0"/>
                <a:cs typeface="Times New Roman" pitchFamily="18" charset="0"/>
              </a:rPr>
              <a:t> У таблиці 1 представлені приклади критичного програмного забезпечення, класифіковані за галузями.</a:t>
            </a:r>
          </a:p>
          <a:p>
            <a:pPr algn="l" rtl="0"/>
            <a:endParaRPr lang="en-US" sz="1600" dirty="0">
              <a:latin typeface="Times New Roman" pitchFamily="18" charset="0"/>
              <a:cs typeface="Times New Roman" pitchFamily="18" charset="0"/>
            </a:endParaRPr>
          </a:p>
        </p:txBody>
      </p:sp>
      <p:sp>
        <p:nvSpPr>
          <p:cNvPr id="6" name="TextBox 5"/>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5</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52400"/>
            <a:ext cx="8229600" cy="1477328"/>
          </a:xfrm>
          <a:prstGeom prst="rect">
            <a:avLst/>
          </a:prstGeom>
        </p:spPr>
        <p:txBody>
          <a:bodyPr wrap="square">
            <a:spAutoFit/>
          </a:bodyPr>
          <a:lstStyle/>
          <a:p>
            <a:pPr algn="ctr" rtl="0"/>
            <a:r>
              <a:rPr lang="ru-RU" i="1" dirty="0">
                <a:latin typeface="Times New Roman" pitchFamily="18" charset="0"/>
                <a:cs typeface="Times New Roman" pitchFamily="18" charset="0"/>
              </a:rPr>
              <a:t>3 Визначення для обраного складу процесів на основі аналітичних оглядів рекомендованої літератури предметної галузі обраної теми, представленої відповідною методологією та технологіями у термінах: абстракції, моделі, методи, заходи та метрики, інструментальні засоби та середовища, інформаційні технології, посібники та стандарти.</a:t>
            </a:r>
          </a:p>
        </p:txBody>
      </p:sp>
      <p:graphicFrame>
        <p:nvGraphicFramePr>
          <p:cNvPr id="6" name="Table 5"/>
          <p:cNvGraphicFramePr>
            <a:graphicFrameLocks noGrp="1"/>
          </p:cNvGraphicFramePr>
          <p:nvPr>
            <p:extLst>
              <p:ext uri="{D42A27DB-BD31-4B8C-83A1-F6EECF244321}">
                <p14:modId xmlns:p14="http://schemas.microsoft.com/office/powerpoint/2010/main" val="78450913"/>
              </p:ext>
            </p:extLst>
          </p:nvPr>
        </p:nvGraphicFramePr>
        <p:xfrm>
          <a:off x="1676400" y="1820589"/>
          <a:ext cx="6096001" cy="4504011"/>
        </p:xfrm>
        <a:graphic>
          <a:graphicData uri="http://schemas.openxmlformats.org/drawingml/2006/table">
            <a:tbl>
              <a:tblPr firstRow="1" firstCol="1" bandRow="1"/>
              <a:tblGrid>
                <a:gridCol w="1792207">
                  <a:extLst>
                    <a:ext uri="{9D8B030D-6E8A-4147-A177-3AD203B41FA5}">
                      <a16:colId xmlns:a16="http://schemas.microsoft.com/office/drawing/2014/main" val="20000"/>
                    </a:ext>
                  </a:extLst>
                </a:gridCol>
                <a:gridCol w="1547871">
                  <a:extLst>
                    <a:ext uri="{9D8B030D-6E8A-4147-A177-3AD203B41FA5}">
                      <a16:colId xmlns:a16="http://schemas.microsoft.com/office/drawing/2014/main" val="20001"/>
                    </a:ext>
                  </a:extLst>
                </a:gridCol>
                <a:gridCol w="1387746">
                  <a:extLst>
                    <a:ext uri="{9D8B030D-6E8A-4147-A177-3AD203B41FA5}">
                      <a16:colId xmlns:a16="http://schemas.microsoft.com/office/drawing/2014/main" val="20002"/>
                    </a:ext>
                  </a:extLst>
                </a:gridCol>
                <a:gridCol w="1368177">
                  <a:extLst>
                    <a:ext uri="{9D8B030D-6E8A-4147-A177-3AD203B41FA5}">
                      <a16:colId xmlns:a16="http://schemas.microsoft.com/office/drawing/2014/main" val="20003"/>
                    </a:ext>
                  </a:extLst>
                </a:gridCol>
              </a:tblGrid>
              <a:tr h="215725">
                <a:tc>
                  <a:txBody>
                    <a:bodyPr/>
                    <a:lstStyle/>
                    <a:p>
                      <a:pPr algn="ctr" rtl="0">
                        <a:spcAft>
                          <a:spcPts val="0"/>
                        </a:spcAft>
                      </a:pPr>
                      <a:r>
                        <a:rPr lang="ru-RU" sz="800" dirty="0">
                          <a:effectLst/>
                          <a:latin typeface="Times New Roman"/>
                          <a:ea typeface="Times New Roman"/>
                        </a:rPr>
                        <a:t>Інфроструктура</a:t>
                      </a:r>
                      <a:endParaRPr lang="en-US" sz="700" dirty="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rtl="0">
                        <a:spcAft>
                          <a:spcPts val="0"/>
                        </a:spcAft>
                      </a:pPr>
                      <a:r>
                        <a:rPr lang="ru-RU" sz="800">
                          <a:effectLst/>
                          <a:latin typeface="Times New Roman"/>
                          <a:ea typeface="Times New Roman"/>
                        </a:rPr>
                        <a:t>Медицина</a:t>
                      </a:r>
                      <a:endParaRPr lang="en-US" sz="70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rtl="0">
                        <a:spcAft>
                          <a:spcPts val="0"/>
                        </a:spcAft>
                      </a:pPr>
                      <a:r>
                        <a:rPr lang="ru-RU" sz="800">
                          <a:effectLst/>
                          <a:latin typeface="Times New Roman"/>
                          <a:ea typeface="Times New Roman"/>
                        </a:rPr>
                        <a:t>Ядерна техніка</a:t>
                      </a:r>
                      <a:endParaRPr lang="en-US" sz="70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rtl="0">
                        <a:spcAft>
                          <a:spcPts val="0"/>
                        </a:spcAft>
                      </a:pPr>
                      <a:r>
                        <a:rPr lang="ru-RU" sz="800">
                          <a:effectLst/>
                          <a:latin typeface="Times New Roman"/>
                          <a:ea typeface="Times New Roman"/>
                        </a:rPr>
                        <a:t>Розваги</a:t>
                      </a:r>
                      <a:endParaRPr lang="en-US" sz="70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2470360">
                <a:tc>
                  <a:txBody>
                    <a:bodyPr/>
                    <a:lstStyle/>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диспетчеризації</a:t>
                      </a:r>
                      <a:r>
                        <a:rPr lang="en-US" sz="800" dirty="0">
                          <a:effectLst/>
                          <a:latin typeface="Times New Roman"/>
                          <a:ea typeface="Calibri"/>
                          <a:cs typeface="Times New Roman"/>
                        </a:rPr>
                        <a:t> </a:t>
                      </a:r>
                      <a:r>
                        <a:rPr lang="en-US" sz="800" dirty="0" err="1">
                          <a:effectLst/>
                          <a:latin typeface="Times New Roman"/>
                          <a:ea typeface="Calibri"/>
                          <a:cs typeface="Times New Roman"/>
                        </a:rPr>
                        <a:t>аварійних</a:t>
                      </a:r>
                      <a:r>
                        <a:rPr lang="en-US" sz="800" dirty="0">
                          <a:effectLst/>
                          <a:latin typeface="Times New Roman"/>
                          <a:ea typeface="Calibri"/>
                          <a:cs typeface="Times New Roman"/>
                        </a:rPr>
                        <a:t> </a:t>
                      </a:r>
                      <a:r>
                        <a:rPr lang="en-US" sz="800" dirty="0" err="1">
                          <a:effectLst/>
                          <a:latin typeface="Times New Roman"/>
                          <a:ea typeface="Calibri"/>
                          <a:cs typeface="Times New Roman"/>
                        </a:rPr>
                        <a:t>служб</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ru-RU" sz="800" dirty="0">
                          <a:effectLst/>
                          <a:latin typeface="Times New Roman"/>
                          <a:ea typeface="Calibri"/>
                          <a:cs typeface="Times New Roman"/>
                        </a:rPr>
                        <a:t>Виробництво, передача та розподілення електроенергії;</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Пожежна</a:t>
                      </a:r>
                      <a:r>
                        <a:rPr lang="en-US" sz="800" dirty="0">
                          <a:effectLst/>
                          <a:latin typeface="Times New Roman"/>
                          <a:ea typeface="Calibri"/>
                          <a:cs typeface="Times New Roman"/>
                        </a:rPr>
                        <a:t> </a:t>
                      </a:r>
                      <a:r>
                        <a:rPr lang="en-US" sz="800" dirty="0" err="1">
                          <a:effectLst/>
                          <a:latin typeface="Times New Roman"/>
                          <a:ea typeface="Calibri"/>
                          <a:cs typeface="Times New Roman"/>
                        </a:rPr>
                        <a:t>тривога</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Пожежний</a:t>
                      </a:r>
                      <a:r>
                        <a:rPr lang="en-US" sz="800" dirty="0">
                          <a:effectLst/>
                          <a:latin typeface="Times New Roman"/>
                          <a:ea typeface="Calibri"/>
                          <a:cs typeface="Times New Roman"/>
                        </a:rPr>
                        <a:t> </a:t>
                      </a:r>
                      <a:r>
                        <a:rPr lang="en-US" sz="800" dirty="0" err="1">
                          <a:effectLst/>
                          <a:latin typeface="Times New Roman"/>
                          <a:ea typeface="Calibri"/>
                          <a:cs typeface="Times New Roman"/>
                        </a:rPr>
                        <a:t>спринклер</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Запобіжник</a:t>
                      </a:r>
                      <a:r>
                        <a:rPr lang="en-US" sz="800" dirty="0">
                          <a:effectLst/>
                          <a:latin typeface="Times New Roman"/>
                          <a:ea typeface="Calibri"/>
                          <a:cs typeface="Times New Roman"/>
                        </a:rPr>
                        <a:t>(</a:t>
                      </a:r>
                      <a:r>
                        <a:rPr lang="en-US" sz="800" dirty="0" err="1">
                          <a:effectLst/>
                          <a:latin typeface="Times New Roman"/>
                          <a:ea typeface="Calibri"/>
                          <a:cs typeface="Times New Roman"/>
                        </a:rPr>
                        <a:t>електричний</a:t>
                      </a:r>
                      <a:r>
                        <a:rPr lang="en-US" sz="800" dirty="0">
                          <a:effectLst/>
                          <a:latin typeface="Times New Roman"/>
                          <a:ea typeface="Calibri"/>
                          <a:cs typeface="Times New Roman"/>
                        </a:rPr>
                        <a:t>)</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Запобіжник</a:t>
                      </a:r>
                      <a:r>
                        <a:rPr lang="en-US" sz="800" dirty="0">
                          <a:effectLst/>
                          <a:latin typeface="Times New Roman"/>
                          <a:ea typeface="Calibri"/>
                          <a:cs typeface="Times New Roman"/>
                        </a:rPr>
                        <a:t>(</a:t>
                      </a:r>
                      <a:r>
                        <a:rPr lang="en-US" sz="800" dirty="0" err="1">
                          <a:effectLst/>
                          <a:latin typeface="Times New Roman"/>
                          <a:ea typeface="Calibri"/>
                          <a:cs typeface="Times New Roman"/>
                        </a:rPr>
                        <a:t>гідравлічний</a:t>
                      </a:r>
                      <a:r>
                        <a:rPr lang="en-US" sz="800" dirty="0">
                          <a:effectLst/>
                          <a:latin typeface="Times New Roman"/>
                          <a:ea typeface="Calibri"/>
                          <a:cs typeface="Times New Roman"/>
                        </a:rPr>
                        <a:t>)</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Телекомунікації</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управління</a:t>
                      </a:r>
                      <a:r>
                        <a:rPr lang="en-US" sz="800" dirty="0">
                          <a:effectLst/>
                          <a:latin typeface="Times New Roman"/>
                          <a:ea typeface="Calibri"/>
                          <a:cs typeface="Times New Roman"/>
                        </a:rPr>
                        <a:t> </a:t>
                      </a:r>
                      <a:r>
                        <a:rPr lang="en-US" sz="800" dirty="0" err="1">
                          <a:effectLst/>
                          <a:latin typeface="Times New Roman"/>
                          <a:ea typeface="Calibri"/>
                          <a:cs typeface="Times New Roman"/>
                        </a:rPr>
                        <a:t>пальником</a:t>
                      </a:r>
                      <a:r>
                        <a:rPr lang="ru-RU" sz="800" dirty="0">
                          <a:effectLst/>
                          <a:latin typeface="Times New Roman"/>
                          <a:ea typeface="Calibri"/>
                          <a:cs typeface="Times New Roman"/>
                        </a:rPr>
                        <a:t>;</a:t>
                      </a:r>
                      <a:endParaRPr lang="en-US" sz="700" dirty="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Серцево-легеневі</a:t>
                      </a:r>
                      <a:r>
                        <a:rPr lang="en-US" sz="800" dirty="0">
                          <a:effectLst/>
                          <a:latin typeface="Times New Roman"/>
                          <a:ea typeface="Calibri"/>
                          <a:cs typeface="Times New Roman"/>
                        </a:rPr>
                        <a:t> </a:t>
                      </a:r>
                      <a:r>
                        <a:rPr lang="en-US" sz="800" dirty="0" err="1">
                          <a:effectLst/>
                          <a:latin typeface="Times New Roman"/>
                          <a:ea typeface="Calibri"/>
                          <a:cs typeface="Times New Roman"/>
                        </a:rPr>
                        <a:t>машини</a:t>
                      </a:r>
                      <a:r>
                        <a:rPr lang="en-US"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механічною</a:t>
                      </a:r>
                      <a:r>
                        <a:rPr lang="en-US" sz="800" dirty="0">
                          <a:effectLst/>
                          <a:latin typeface="Times New Roman"/>
                          <a:ea typeface="Calibri"/>
                          <a:cs typeface="Times New Roman"/>
                        </a:rPr>
                        <a:t> </a:t>
                      </a:r>
                      <a:r>
                        <a:rPr lang="en-US" sz="800" dirty="0" err="1">
                          <a:effectLst/>
                          <a:latin typeface="Times New Roman"/>
                          <a:ea typeface="Calibri"/>
                          <a:cs typeface="Times New Roman"/>
                        </a:rPr>
                        <a:t>вентиляції</a:t>
                      </a:r>
                      <a:r>
                        <a:rPr lang="en-US"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ru-RU" sz="800" dirty="0">
                          <a:effectLst/>
                          <a:latin typeface="Times New Roman"/>
                          <a:ea typeface="Calibri"/>
                          <a:cs typeface="Times New Roman"/>
                        </a:rPr>
                        <a:t>Інфузійні насоси та насоси для інсуліну;</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Устаткування</a:t>
                      </a:r>
                      <a:r>
                        <a:rPr lang="en-US" sz="800" dirty="0">
                          <a:effectLst/>
                          <a:latin typeface="Times New Roman"/>
                          <a:ea typeface="Calibri"/>
                          <a:cs typeface="Times New Roman"/>
                        </a:rPr>
                        <a:t> </a:t>
                      </a:r>
                      <a:r>
                        <a:rPr lang="en-US" sz="800" dirty="0" err="1">
                          <a:effectLst/>
                          <a:latin typeface="Times New Roman"/>
                          <a:ea typeface="Calibri"/>
                          <a:cs typeface="Times New Roman"/>
                        </a:rPr>
                        <a:t>для</a:t>
                      </a:r>
                      <a:r>
                        <a:rPr lang="en-US" sz="800" dirty="0">
                          <a:effectLst/>
                          <a:latin typeface="Times New Roman"/>
                          <a:ea typeface="Calibri"/>
                          <a:cs typeface="Times New Roman"/>
                        </a:rPr>
                        <a:t> </a:t>
                      </a:r>
                      <a:r>
                        <a:rPr lang="en-US" sz="800" dirty="0" err="1">
                          <a:effectLst/>
                          <a:latin typeface="Times New Roman"/>
                          <a:ea typeface="Calibri"/>
                          <a:cs typeface="Times New Roman"/>
                        </a:rPr>
                        <a:t>променевий</a:t>
                      </a:r>
                      <a:r>
                        <a:rPr lang="en-US" sz="800" dirty="0">
                          <a:effectLst/>
                          <a:latin typeface="Times New Roman"/>
                          <a:ea typeface="Calibri"/>
                          <a:cs typeface="Times New Roman"/>
                        </a:rPr>
                        <a:t> </a:t>
                      </a:r>
                      <a:r>
                        <a:rPr lang="en-US" sz="800" dirty="0" err="1">
                          <a:effectLst/>
                          <a:latin typeface="Times New Roman"/>
                          <a:ea typeface="Calibri"/>
                          <a:cs typeface="Times New Roman"/>
                        </a:rPr>
                        <a:t>терапії</a:t>
                      </a:r>
                      <a:r>
                        <a:rPr lang="en-US"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Роботизовані</a:t>
                      </a:r>
                      <a:r>
                        <a:rPr lang="en-US" sz="800" dirty="0">
                          <a:effectLst/>
                          <a:latin typeface="Times New Roman"/>
                          <a:ea typeface="Calibri"/>
                          <a:cs typeface="Times New Roman"/>
                        </a:rPr>
                        <a:t> </a:t>
                      </a:r>
                      <a:r>
                        <a:rPr lang="en-US" sz="800" dirty="0" err="1">
                          <a:effectLst/>
                          <a:latin typeface="Times New Roman"/>
                          <a:ea typeface="Calibri"/>
                          <a:cs typeface="Times New Roman"/>
                        </a:rPr>
                        <a:t>хірургічні</a:t>
                      </a:r>
                      <a:r>
                        <a:rPr lang="en-US" sz="800" dirty="0">
                          <a:effectLst/>
                          <a:latin typeface="Times New Roman"/>
                          <a:ea typeface="Calibri"/>
                          <a:cs typeface="Times New Roman"/>
                        </a:rPr>
                        <a:t> </a:t>
                      </a:r>
                      <a:r>
                        <a:rPr lang="en-US" sz="800" dirty="0" err="1">
                          <a:effectLst/>
                          <a:latin typeface="Times New Roman"/>
                          <a:ea typeface="Calibri"/>
                          <a:cs typeface="Times New Roman"/>
                        </a:rPr>
                        <a:t>машини</a:t>
                      </a:r>
                      <a:r>
                        <a:rPr lang="en-US"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ru-RU" sz="800" dirty="0">
                          <a:effectLst/>
                          <a:latin typeface="Times New Roman"/>
                          <a:ea typeface="Calibri"/>
                          <a:cs typeface="Times New Roman"/>
                        </a:rPr>
                        <a:t>Пристрої, що електронним чином контролюють життєві функції;</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Медичні</a:t>
                      </a:r>
                      <a:r>
                        <a:rPr lang="en-US" sz="800" dirty="0">
                          <a:effectLst/>
                          <a:latin typeface="Times New Roman"/>
                          <a:ea typeface="Calibri"/>
                          <a:cs typeface="Times New Roman"/>
                        </a:rPr>
                        <a:t> </a:t>
                      </a:r>
                      <a:r>
                        <a:rPr lang="en-US" sz="800" dirty="0" err="1">
                          <a:effectLst/>
                          <a:latin typeface="Times New Roman"/>
                          <a:ea typeface="Calibri"/>
                          <a:cs typeface="Times New Roman"/>
                        </a:rPr>
                        <a:t>пристрої</a:t>
                      </a:r>
                      <a:r>
                        <a:rPr lang="en-US" sz="800" dirty="0">
                          <a:effectLst/>
                          <a:latin typeface="Times New Roman"/>
                          <a:ea typeface="Calibri"/>
                          <a:cs typeface="Times New Roman"/>
                        </a:rPr>
                        <a:t> </a:t>
                      </a:r>
                      <a:r>
                        <a:rPr lang="en-US" sz="800" dirty="0" err="1">
                          <a:effectLst/>
                          <a:latin typeface="Times New Roman"/>
                          <a:ea typeface="Calibri"/>
                          <a:cs typeface="Times New Roman"/>
                        </a:rPr>
                        <a:t>для</a:t>
                      </a:r>
                      <a:r>
                        <a:rPr lang="en-US" sz="800" dirty="0">
                          <a:effectLst/>
                          <a:latin typeface="Times New Roman"/>
                          <a:ea typeface="Calibri"/>
                          <a:cs typeface="Times New Roman"/>
                        </a:rPr>
                        <a:t> </a:t>
                      </a:r>
                      <a:r>
                        <a:rPr lang="en-US" sz="800" dirty="0" err="1">
                          <a:effectLst/>
                          <a:latin typeface="Times New Roman"/>
                          <a:ea typeface="Calibri"/>
                          <a:cs typeface="Times New Roman"/>
                        </a:rPr>
                        <a:t>візуалізації</a:t>
                      </a:r>
                      <a:r>
                        <a:rPr lang="en-US" sz="800" dirty="0">
                          <a:effectLst/>
                          <a:latin typeface="Times New Roman"/>
                          <a:ea typeface="Calibri"/>
                          <a:cs typeface="Times New Roman"/>
                        </a:rPr>
                        <a:t>;</a:t>
                      </a:r>
                      <a:endParaRPr lang="en-US" sz="700" dirty="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контролю</a:t>
                      </a:r>
                      <a:r>
                        <a:rPr lang="en-US" sz="800" dirty="0">
                          <a:effectLst/>
                          <a:latin typeface="Times New Roman"/>
                          <a:ea typeface="Calibri"/>
                          <a:cs typeface="Times New Roman"/>
                        </a:rPr>
                        <a:t> </a:t>
                      </a:r>
                      <a:r>
                        <a:rPr lang="en-US" sz="800" dirty="0" err="1">
                          <a:effectLst/>
                          <a:latin typeface="Times New Roman"/>
                          <a:ea typeface="Calibri"/>
                          <a:cs typeface="Times New Roman"/>
                        </a:rPr>
                        <a:t>ядерного</a:t>
                      </a:r>
                      <a:r>
                        <a:rPr lang="en-US" sz="800" dirty="0">
                          <a:effectLst/>
                          <a:latin typeface="Times New Roman"/>
                          <a:ea typeface="Calibri"/>
                          <a:cs typeface="Times New Roman"/>
                        </a:rPr>
                        <a:t> </a:t>
                      </a:r>
                      <a:r>
                        <a:rPr lang="en-US" sz="800" dirty="0" err="1">
                          <a:effectLst/>
                          <a:latin typeface="Times New Roman"/>
                          <a:ea typeface="Calibri"/>
                          <a:cs typeface="Times New Roman"/>
                        </a:rPr>
                        <a:t>реактора</a:t>
                      </a:r>
                      <a:r>
                        <a:rPr lang="ru-RU" sz="800" dirty="0">
                          <a:effectLst/>
                          <a:latin typeface="Times New Roman"/>
                          <a:ea typeface="Calibri"/>
                          <a:cs typeface="Times New Roman"/>
                        </a:rPr>
                        <a:t>;</a:t>
                      </a:r>
                      <a:endParaRPr lang="en-US" sz="700" dirty="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Атракціони</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Підйомне</a:t>
                      </a:r>
                      <a:r>
                        <a:rPr lang="en-US" sz="800" dirty="0">
                          <a:effectLst/>
                          <a:latin typeface="Times New Roman"/>
                          <a:ea typeface="Calibri"/>
                          <a:cs typeface="Times New Roman"/>
                        </a:rPr>
                        <a:t> </a:t>
                      </a:r>
                      <a:r>
                        <a:rPr lang="en-US" sz="800" dirty="0" err="1">
                          <a:effectLst/>
                          <a:latin typeface="Times New Roman"/>
                          <a:ea typeface="Calibri"/>
                          <a:cs typeface="Times New Roman"/>
                        </a:rPr>
                        <a:t>обладнання</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Парашути</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Устаткування</a:t>
                      </a:r>
                      <a:r>
                        <a:rPr lang="en-US" sz="800" dirty="0">
                          <a:effectLst/>
                          <a:latin typeface="Times New Roman"/>
                          <a:ea typeface="Calibri"/>
                          <a:cs typeface="Times New Roman"/>
                        </a:rPr>
                        <a:t> </a:t>
                      </a:r>
                      <a:r>
                        <a:rPr lang="en-US" sz="800" dirty="0" err="1">
                          <a:effectLst/>
                          <a:latin typeface="Times New Roman"/>
                          <a:ea typeface="Calibri"/>
                          <a:cs typeface="Times New Roman"/>
                        </a:rPr>
                        <a:t>для</a:t>
                      </a:r>
                      <a:r>
                        <a:rPr lang="en-US" sz="800" dirty="0">
                          <a:effectLst/>
                          <a:latin typeface="Times New Roman"/>
                          <a:ea typeface="Calibri"/>
                          <a:cs typeface="Times New Roman"/>
                        </a:rPr>
                        <a:t> </a:t>
                      </a:r>
                      <a:r>
                        <a:rPr lang="en-US" sz="800" dirty="0" err="1">
                          <a:effectLst/>
                          <a:latin typeface="Times New Roman"/>
                          <a:ea typeface="Calibri"/>
                          <a:cs typeface="Times New Roman"/>
                        </a:rPr>
                        <a:t>дайвінгу</a:t>
                      </a:r>
                      <a:r>
                        <a:rPr lang="ru-RU" sz="800" dirty="0">
                          <a:effectLst/>
                          <a:latin typeface="Times New Roman"/>
                          <a:ea typeface="Calibri"/>
                          <a:cs typeface="Times New Roman"/>
                        </a:rPr>
                        <a:t>;</a:t>
                      </a:r>
                      <a:endParaRPr lang="en-US" sz="700" dirty="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171019">
                <a:tc>
                  <a:txBody>
                    <a:bodyPr/>
                    <a:lstStyle/>
                    <a:p>
                      <a:pPr algn="ctr" rtl="0">
                        <a:spcAft>
                          <a:spcPts val="0"/>
                        </a:spcAft>
                      </a:pPr>
                      <a:r>
                        <a:rPr lang="ru-RU" sz="800">
                          <a:effectLst/>
                          <a:latin typeface="Times New Roman"/>
                          <a:ea typeface="Times New Roman"/>
                        </a:rPr>
                        <a:t>Залізнична пром-ть</a:t>
                      </a:r>
                      <a:endParaRPr lang="en-US" sz="70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rtl="0">
                        <a:spcAft>
                          <a:spcPts val="0"/>
                        </a:spcAft>
                      </a:pPr>
                      <a:r>
                        <a:rPr lang="ru-RU" sz="800">
                          <a:effectLst/>
                          <a:latin typeface="Times New Roman"/>
                          <a:ea typeface="Times New Roman"/>
                        </a:rPr>
                        <a:t>Автомобільна пром-ть</a:t>
                      </a:r>
                      <a:endParaRPr lang="en-US" sz="70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rtl="0">
                        <a:spcAft>
                          <a:spcPts val="0"/>
                        </a:spcAft>
                      </a:pPr>
                      <a:r>
                        <a:rPr lang="ru-RU" sz="800" dirty="0">
                          <a:effectLst/>
                          <a:latin typeface="Times New Roman"/>
                          <a:ea typeface="Times New Roman"/>
                        </a:rPr>
                        <a:t>Авіаційна пром-ть</a:t>
                      </a:r>
                      <a:endParaRPr lang="en-US" sz="700" dirty="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rtl="0">
                        <a:spcAft>
                          <a:spcPts val="0"/>
                        </a:spcAft>
                      </a:pPr>
                      <a:r>
                        <a:rPr lang="ru-RU" sz="800">
                          <a:effectLst/>
                          <a:latin typeface="Times New Roman"/>
                          <a:ea typeface="Times New Roman"/>
                        </a:rPr>
                        <a:t>Космічна пром-ть</a:t>
                      </a:r>
                      <a:endParaRPr lang="en-US" sz="700">
                        <a:effectLst/>
                        <a:latin typeface="Times New Roman"/>
                        <a:ea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1646907">
                <a:tc>
                  <a:txBody>
                    <a:bodyPr/>
                    <a:lstStyle/>
                    <a:p>
                      <a:pPr marL="342900" lvl="0" indent="-342900" algn="l" rtl="0">
                        <a:lnSpc>
                          <a:spcPct val="107000"/>
                        </a:lnSpc>
                        <a:spcAft>
                          <a:spcPts val="0"/>
                        </a:spcAft>
                        <a:buFont typeface="Symbol"/>
                        <a:buChar char=""/>
                      </a:pPr>
                      <a:r>
                        <a:rPr lang="ru-RU" sz="800">
                          <a:effectLst/>
                          <a:latin typeface="Times New Roman"/>
                          <a:ea typeface="Calibri"/>
                          <a:cs typeface="Times New Roman"/>
                        </a:rPr>
                        <a:t>Системи сигналізації та управління залізничним транспортом;</a:t>
                      </a:r>
                      <a:endParaRPr lang="en-US" sz="700">
                        <a:effectLst/>
                        <a:latin typeface="Calibri"/>
                        <a:ea typeface="Calibri"/>
                        <a:cs typeface="Times New Roman"/>
                      </a:endParaRPr>
                    </a:p>
                    <a:p>
                      <a:pPr marL="342900" lvl="0" indent="-342900" algn="l" rtl="0">
                        <a:lnSpc>
                          <a:spcPct val="107000"/>
                        </a:lnSpc>
                        <a:spcAft>
                          <a:spcPts val="0"/>
                        </a:spcAft>
                        <a:buFont typeface="Symbol"/>
                        <a:buChar char=""/>
                      </a:pPr>
                      <a:r>
                        <a:rPr lang="ru-RU" sz="800">
                          <a:effectLst/>
                          <a:latin typeface="Times New Roman"/>
                          <a:ea typeface="Calibri"/>
                          <a:cs typeface="Times New Roman"/>
                        </a:rPr>
                        <a:t>визначення платформи для контролю дверей поїздів;</a:t>
                      </a:r>
                      <a:endParaRPr lang="en-US" sz="700">
                        <a:effectLst/>
                        <a:latin typeface="Calibri"/>
                        <a:ea typeface="Calibri"/>
                        <a:cs typeface="Times New Roman"/>
                      </a:endParaRPr>
                    </a:p>
                    <a:p>
                      <a:pPr marL="342900" lvl="0" indent="-342900" algn="l" rtl="0">
                        <a:lnSpc>
                          <a:spcPct val="107000"/>
                        </a:lnSpc>
                        <a:spcAft>
                          <a:spcPts val="0"/>
                        </a:spcAft>
                        <a:buFont typeface="Symbol"/>
                        <a:buChar char=""/>
                      </a:pPr>
                      <a:r>
                        <a:rPr lang="en-US" sz="800">
                          <a:effectLst/>
                          <a:latin typeface="Times New Roman"/>
                          <a:ea typeface="Calibri"/>
                          <a:cs typeface="Times New Roman"/>
                        </a:rPr>
                        <a:t>Автоматична зупинка поїзда;</a:t>
                      </a:r>
                      <a:endParaRPr lang="en-US" sz="70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342900" lvl="0" indent="-342900" algn="l" rtl="0">
                        <a:lnSpc>
                          <a:spcPct val="107000"/>
                        </a:lnSpc>
                        <a:spcAft>
                          <a:spcPts val="0"/>
                        </a:spcAft>
                        <a:buFont typeface="Symbol"/>
                        <a:buChar char=""/>
                      </a:pPr>
                      <a:r>
                        <a:rPr lang="en-US" sz="800">
                          <a:effectLst/>
                          <a:latin typeface="Times New Roman"/>
                          <a:ea typeface="Calibri"/>
                          <a:cs typeface="Times New Roman"/>
                        </a:rPr>
                        <a:t>Системи подушок безпеки</a:t>
                      </a:r>
                      <a:r>
                        <a:rPr lang="ru-RU" sz="800">
                          <a:effectLst/>
                          <a:latin typeface="Times New Roman"/>
                          <a:ea typeface="Calibri"/>
                          <a:cs typeface="Times New Roman"/>
                        </a:rPr>
                        <a:t>;</a:t>
                      </a:r>
                      <a:endParaRPr lang="en-US" sz="700">
                        <a:effectLst/>
                        <a:latin typeface="Calibri"/>
                        <a:ea typeface="Calibri"/>
                        <a:cs typeface="Times New Roman"/>
                      </a:endParaRPr>
                    </a:p>
                    <a:p>
                      <a:pPr marL="342900" lvl="0" indent="-342900" algn="l" rtl="0">
                        <a:lnSpc>
                          <a:spcPct val="107000"/>
                        </a:lnSpc>
                        <a:spcAft>
                          <a:spcPts val="0"/>
                        </a:spcAft>
                        <a:buFont typeface="Symbol"/>
                        <a:buChar char=""/>
                      </a:pPr>
                      <a:r>
                        <a:rPr lang="en-US" sz="800">
                          <a:effectLst/>
                          <a:latin typeface="Times New Roman"/>
                          <a:ea typeface="Calibri"/>
                          <a:cs typeface="Times New Roman"/>
                        </a:rPr>
                        <a:t>Гальмівні системи</a:t>
                      </a:r>
                      <a:r>
                        <a:rPr lang="ru-RU" sz="800">
                          <a:effectLst/>
                          <a:latin typeface="Times New Roman"/>
                          <a:ea typeface="Calibri"/>
                          <a:cs typeface="Times New Roman"/>
                        </a:rPr>
                        <a:t>;</a:t>
                      </a:r>
                      <a:endParaRPr lang="en-US" sz="700">
                        <a:effectLst/>
                        <a:latin typeface="Calibri"/>
                        <a:ea typeface="Calibri"/>
                        <a:cs typeface="Times New Roman"/>
                      </a:endParaRPr>
                    </a:p>
                    <a:p>
                      <a:pPr marL="342900" lvl="0" indent="-342900" algn="l" rtl="0">
                        <a:lnSpc>
                          <a:spcPct val="107000"/>
                        </a:lnSpc>
                        <a:spcAft>
                          <a:spcPts val="0"/>
                        </a:spcAft>
                        <a:buFont typeface="Symbol"/>
                        <a:buChar char=""/>
                      </a:pPr>
                      <a:r>
                        <a:rPr lang="en-US" sz="800">
                          <a:effectLst/>
                          <a:latin typeface="Times New Roman"/>
                          <a:ea typeface="Calibri"/>
                          <a:cs typeface="Times New Roman"/>
                        </a:rPr>
                        <a:t>Ремені безпеки</a:t>
                      </a:r>
                      <a:r>
                        <a:rPr lang="ru-RU" sz="800">
                          <a:effectLst/>
                          <a:latin typeface="Times New Roman"/>
                          <a:ea typeface="Calibri"/>
                          <a:cs typeface="Times New Roman"/>
                        </a:rPr>
                        <a:t>;</a:t>
                      </a:r>
                      <a:endParaRPr lang="en-US" sz="700">
                        <a:effectLst/>
                        <a:latin typeface="Calibri"/>
                        <a:ea typeface="Calibri"/>
                        <a:cs typeface="Times New Roman"/>
                      </a:endParaRPr>
                    </a:p>
                    <a:p>
                      <a:pPr marL="342900" lvl="0" indent="-342900" algn="l" rtl="0">
                        <a:lnSpc>
                          <a:spcPct val="107000"/>
                        </a:lnSpc>
                        <a:spcAft>
                          <a:spcPts val="0"/>
                        </a:spcAft>
                        <a:buFont typeface="Symbol"/>
                        <a:buChar char=""/>
                      </a:pPr>
                      <a:r>
                        <a:rPr lang="ru-RU" sz="800">
                          <a:effectLst/>
                          <a:latin typeface="Times New Roman"/>
                          <a:ea typeface="Calibri"/>
                          <a:cs typeface="Times New Roman"/>
                        </a:rPr>
                        <a:t>Системи кермового керування з підсилювачем;</a:t>
                      </a:r>
                      <a:endParaRPr lang="en-US" sz="700">
                        <a:effectLst/>
                        <a:latin typeface="Calibri"/>
                        <a:ea typeface="Calibri"/>
                        <a:cs typeface="Times New Roman"/>
                      </a:endParaRPr>
                    </a:p>
                    <a:p>
                      <a:pPr marL="342900" lvl="0" indent="-342900" algn="l" rtl="0">
                        <a:lnSpc>
                          <a:spcPct val="107000"/>
                        </a:lnSpc>
                        <a:spcAft>
                          <a:spcPts val="0"/>
                        </a:spcAft>
                        <a:buFont typeface="Symbol"/>
                        <a:buChar char=""/>
                      </a:pPr>
                      <a:r>
                        <a:rPr lang="en-US" sz="800">
                          <a:effectLst/>
                          <a:latin typeface="Times New Roman"/>
                          <a:ea typeface="Calibri"/>
                          <a:cs typeface="Times New Roman"/>
                        </a:rPr>
                        <a:t>Розширені системи підтримки водіїв</a:t>
                      </a:r>
                      <a:r>
                        <a:rPr lang="ru-RU" sz="800">
                          <a:effectLst/>
                          <a:latin typeface="Times New Roman"/>
                          <a:ea typeface="Calibri"/>
                          <a:cs typeface="Times New Roman"/>
                        </a:rPr>
                        <a:t>;</a:t>
                      </a:r>
                      <a:endParaRPr lang="en-US" sz="700">
                        <a:effectLst/>
                        <a:latin typeface="Calibri"/>
                        <a:ea typeface="Calibri"/>
                        <a:cs typeface="Times New Roman"/>
                      </a:endParaRPr>
                    </a:p>
                    <a:p>
                      <a:pPr marL="342900" lvl="0" indent="-342900" algn="l" rtl="0">
                        <a:lnSpc>
                          <a:spcPct val="107000"/>
                        </a:lnSpc>
                        <a:spcAft>
                          <a:spcPts val="0"/>
                        </a:spcAft>
                        <a:buFont typeface="Symbol"/>
                        <a:buChar char=""/>
                      </a:pPr>
                      <a:r>
                        <a:rPr lang="en-US" sz="800">
                          <a:effectLst/>
                          <a:latin typeface="Times New Roman"/>
                          <a:ea typeface="Calibri"/>
                          <a:cs typeface="Times New Roman"/>
                        </a:rPr>
                        <a:t>Електричне гальмо паркування</a:t>
                      </a:r>
                      <a:r>
                        <a:rPr lang="ru-RU" sz="800">
                          <a:effectLst/>
                          <a:latin typeface="Times New Roman"/>
                          <a:ea typeface="Calibri"/>
                          <a:cs typeface="Times New Roman"/>
                        </a:rPr>
                        <a:t>;</a:t>
                      </a:r>
                      <a:endParaRPr lang="en-US" sz="70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управління</a:t>
                      </a:r>
                      <a:r>
                        <a:rPr lang="en-US" sz="800" dirty="0">
                          <a:effectLst/>
                          <a:latin typeface="Times New Roman"/>
                          <a:ea typeface="Calibri"/>
                          <a:cs typeface="Times New Roman"/>
                        </a:rPr>
                        <a:t> </a:t>
                      </a:r>
                      <a:r>
                        <a:rPr lang="en-US" sz="800" dirty="0" err="1">
                          <a:effectLst/>
                          <a:latin typeface="Times New Roman"/>
                          <a:ea typeface="Calibri"/>
                          <a:cs typeface="Times New Roman"/>
                        </a:rPr>
                        <a:t>повітряним</a:t>
                      </a:r>
                      <a:r>
                        <a:rPr lang="en-US" sz="800" dirty="0">
                          <a:effectLst/>
                          <a:latin typeface="Times New Roman"/>
                          <a:ea typeface="Calibri"/>
                          <a:cs typeface="Times New Roman"/>
                        </a:rPr>
                        <a:t> </a:t>
                      </a:r>
                      <a:r>
                        <a:rPr lang="en-US" sz="800" dirty="0" err="1">
                          <a:effectLst/>
                          <a:latin typeface="Times New Roman"/>
                          <a:ea typeface="Calibri"/>
                          <a:cs typeface="Times New Roman"/>
                        </a:rPr>
                        <a:t>рухом</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ru-RU" sz="800" dirty="0">
                          <a:effectLst/>
                          <a:latin typeface="Times New Roman"/>
                          <a:ea typeface="Calibri"/>
                          <a:cs typeface="Times New Roman"/>
                        </a:rPr>
                        <a:t>Авіоніка, зокрема, польотні системи;</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управління</a:t>
                      </a:r>
                      <a:r>
                        <a:rPr lang="en-US" sz="800" dirty="0">
                          <a:effectLst/>
                          <a:latin typeface="Times New Roman"/>
                          <a:ea typeface="Calibri"/>
                          <a:cs typeface="Times New Roman"/>
                        </a:rPr>
                        <a:t> </a:t>
                      </a:r>
                      <a:r>
                        <a:rPr lang="en-US" sz="800" dirty="0" err="1">
                          <a:effectLst/>
                          <a:latin typeface="Times New Roman"/>
                          <a:ea typeface="Calibri"/>
                          <a:cs typeface="Times New Roman"/>
                        </a:rPr>
                        <a:t>двигуном</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ru-RU" sz="800" dirty="0">
                          <a:effectLst/>
                          <a:latin typeface="Times New Roman"/>
                          <a:ea typeface="Calibri"/>
                          <a:cs typeface="Times New Roman"/>
                        </a:rPr>
                        <a:t>Планування польоту визначення потреб у паливі для польоту;</a:t>
                      </a:r>
                      <a:endParaRPr lang="en-US" sz="700" dirty="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Людські</a:t>
                      </a:r>
                      <a:r>
                        <a:rPr lang="en-US" sz="800" dirty="0">
                          <a:effectLst/>
                          <a:latin typeface="Times New Roman"/>
                          <a:ea typeface="Calibri"/>
                          <a:cs typeface="Times New Roman"/>
                        </a:rPr>
                        <a:t> </a:t>
                      </a:r>
                      <a:r>
                        <a:rPr lang="en-US" sz="800" dirty="0" err="1">
                          <a:effectLst/>
                          <a:latin typeface="Times New Roman"/>
                          <a:ea typeface="Calibri"/>
                          <a:cs typeface="Times New Roman"/>
                        </a:rPr>
                        <a:t>космічні</a:t>
                      </a:r>
                      <a:r>
                        <a:rPr lang="en-US" sz="800" dirty="0">
                          <a:effectLst/>
                          <a:latin typeface="Times New Roman"/>
                          <a:ea typeface="Calibri"/>
                          <a:cs typeface="Times New Roman"/>
                        </a:rPr>
                        <a:t> </a:t>
                      </a:r>
                      <a:r>
                        <a:rPr lang="en-US" sz="800" dirty="0" err="1">
                          <a:effectLst/>
                          <a:latin typeface="Times New Roman"/>
                          <a:ea typeface="Calibri"/>
                          <a:cs typeface="Times New Roman"/>
                        </a:rPr>
                        <a:t>кораблі</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безпеки</a:t>
                      </a:r>
                      <a:r>
                        <a:rPr lang="en-US" sz="800" dirty="0">
                          <a:effectLst/>
                          <a:latin typeface="Times New Roman"/>
                          <a:ea typeface="Calibri"/>
                          <a:cs typeface="Times New Roman"/>
                        </a:rPr>
                        <a:t> </a:t>
                      </a:r>
                      <a:r>
                        <a:rPr lang="en-US" sz="800" dirty="0" err="1">
                          <a:effectLst/>
                          <a:latin typeface="Times New Roman"/>
                          <a:ea typeface="Calibri"/>
                          <a:cs typeface="Times New Roman"/>
                        </a:rPr>
                        <a:t>запуску</a:t>
                      </a:r>
                      <a:r>
                        <a:rPr lang="en-US" sz="800" dirty="0">
                          <a:effectLst/>
                          <a:latin typeface="Times New Roman"/>
                          <a:ea typeface="Calibri"/>
                          <a:cs typeface="Times New Roman"/>
                        </a:rPr>
                        <a:t> </a:t>
                      </a:r>
                      <a:r>
                        <a:rPr lang="en-US" sz="800" dirty="0" err="1">
                          <a:effectLst/>
                          <a:latin typeface="Times New Roman"/>
                          <a:ea typeface="Calibri"/>
                          <a:cs typeface="Times New Roman"/>
                        </a:rPr>
                        <a:t>ракети</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Забезпечити</a:t>
                      </a:r>
                      <a:r>
                        <a:rPr lang="en-US" sz="800" dirty="0">
                          <a:effectLst/>
                          <a:latin typeface="Times New Roman"/>
                          <a:ea typeface="Calibri"/>
                          <a:cs typeface="Times New Roman"/>
                        </a:rPr>
                        <a:t> </a:t>
                      </a:r>
                      <a:r>
                        <a:rPr lang="en-US" sz="800" dirty="0" err="1">
                          <a:effectLst/>
                          <a:latin typeface="Times New Roman"/>
                          <a:ea typeface="Calibri"/>
                          <a:cs typeface="Times New Roman"/>
                        </a:rPr>
                        <a:t>безпека</a:t>
                      </a:r>
                      <a:r>
                        <a:rPr lang="en-US" sz="800" dirty="0">
                          <a:effectLst/>
                          <a:latin typeface="Times New Roman"/>
                          <a:ea typeface="Calibri"/>
                          <a:cs typeface="Times New Roman"/>
                        </a:rPr>
                        <a:t> </a:t>
                      </a:r>
                      <a:r>
                        <a:rPr lang="en-US" sz="800" dirty="0" err="1">
                          <a:effectLst/>
                          <a:latin typeface="Times New Roman"/>
                          <a:ea typeface="Calibri"/>
                          <a:cs typeface="Times New Roman"/>
                        </a:rPr>
                        <a:t>автомобіля</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Аварійні</a:t>
                      </a:r>
                      <a:r>
                        <a:rPr lang="en-US" sz="800" dirty="0">
                          <a:effectLst/>
                          <a:latin typeface="Times New Roman"/>
                          <a:ea typeface="Calibri"/>
                          <a:cs typeface="Times New Roman"/>
                        </a:rPr>
                        <a:t> </a:t>
                      </a: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екіпажу</a:t>
                      </a:r>
                      <a:r>
                        <a:rPr lang="ru-RU" sz="800" dirty="0">
                          <a:effectLst/>
                          <a:latin typeface="Times New Roman"/>
                          <a:ea typeface="Calibri"/>
                          <a:cs typeface="Times New Roman"/>
                        </a:rPr>
                        <a:t>;</a:t>
                      </a:r>
                      <a:endParaRPr lang="en-US" sz="700" dirty="0">
                        <a:effectLst/>
                        <a:latin typeface="Calibri"/>
                        <a:ea typeface="Calibri"/>
                        <a:cs typeface="Times New Roman"/>
                      </a:endParaRPr>
                    </a:p>
                    <a:p>
                      <a:pPr marL="342900" lvl="0" indent="-342900" algn="l" rtl="0">
                        <a:lnSpc>
                          <a:spcPct val="107000"/>
                        </a:lnSpc>
                        <a:spcAft>
                          <a:spcPts val="0"/>
                        </a:spcAft>
                        <a:buFont typeface="Symbol"/>
                        <a:buChar char=""/>
                      </a:pPr>
                      <a:r>
                        <a:rPr lang="en-US" sz="800" dirty="0" err="1">
                          <a:effectLst/>
                          <a:latin typeface="Times New Roman"/>
                          <a:ea typeface="Calibri"/>
                          <a:cs typeface="Times New Roman"/>
                        </a:rPr>
                        <a:t>Системи</a:t>
                      </a:r>
                      <a:r>
                        <a:rPr lang="en-US" sz="800" dirty="0">
                          <a:effectLst/>
                          <a:latin typeface="Times New Roman"/>
                          <a:ea typeface="Calibri"/>
                          <a:cs typeface="Times New Roman"/>
                        </a:rPr>
                        <a:t> </a:t>
                      </a:r>
                      <a:r>
                        <a:rPr lang="en-US" sz="800" dirty="0" err="1">
                          <a:effectLst/>
                          <a:latin typeface="Times New Roman"/>
                          <a:ea typeface="Calibri"/>
                          <a:cs typeface="Times New Roman"/>
                        </a:rPr>
                        <a:t>передачі</a:t>
                      </a:r>
                      <a:r>
                        <a:rPr lang="en-US" sz="800" dirty="0">
                          <a:effectLst/>
                          <a:latin typeface="Times New Roman"/>
                          <a:ea typeface="Calibri"/>
                          <a:cs typeface="Times New Roman"/>
                        </a:rPr>
                        <a:t> </a:t>
                      </a:r>
                      <a:r>
                        <a:rPr lang="en-US" sz="800" dirty="0" err="1">
                          <a:effectLst/>
                          <a:latin typeface="Times New Roman"/>
                          <a:ea typeface="Calibri"/>
                          <a:cs typeface="Times New Roman"/>
                        </a:rPr>
                        <a:t>екіпажу</a:t>
                      </a:r>
                      <a:r>
                        <a:rPr lang="ru-RU" sz="800" dirty="0">
                          <a:effectLst/>
                          <a:latin typeface="Times New Roman"/>
                          <a:ea typeface="Calibri"/>
                          <a:cs typeface="Times New Roman"/>
                        </a:rPr>
                        <a:t>;</a:t>
                      </a:r>
                      <a:endParaRPr lang="en-US" sz="700" dirty="0">
                        <a:effectLst/>
                        <a:latin typeface="Calibri"/>
                        <a:ea typeface="Calibri"/>
                        <a:cs typeface="Times New Roman"/>
                      </a:endParaRPr>
                    </a:p>
                  </a:txBody>
                  <a:tcPr marL="25708" marR="257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836542" y="6248400"/>
            <a:ext cx="2895600" cy="338554"/>
          </a:xfrm>
          <a:prstGeom prst="rect">
            <a:avLst/>
          </a:prstGeom>
          <a:noFill/>
        </p:spPr>
        <p:txBody>
          <a:bodyPr wrap="square" rtlCol="0">
            <a:spAutoFit/>
          </a:bodyPr>
          <a:lstStyle/>
          <a:p>
            <a:pPr algn="l" rtl="0"/>
            <a:r>
              <a:rPr lang="ru-RU" sz="1600" dirty="0">
                <a:latin typeface="Times New Roman" pitchFamily="18" charset="0"/>
                <a:cs typeface="Times New Roman" pitchFamily="18" charset="0"/>
              </a:rPr>
              <a:t>Таблиця 1 - Приклади</a:t>
            </a:r>
            <a:endParaRPr lang="en-US" sz="1600" dirty="0">
              <a:latin typeface="Times New Roman" pitchFamily="18" charset="0"/>
              <a:cs typeface="Times New Roman" pitchFamily="18" charset="0"/>
            </a:endParaRPr>
          </a:p>
        </p:txBody>
      </p:sp>
      <p:sp>
        <p:nvSpPr>
          <p:cNvPr id="9" name="TextBox 8"/>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6</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2727275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0" y="152400"/>
            <a:ext cx="8229600" cy="646331"/>
          </a:xfrm>
          <a:prstGeom prst="rect">
            <a:avLst/>
          </a:prstGeom>
        </p:spPr>
        <p:txBody>
          <a:bodyPr wrap="square">
            <a:spAutoFit/>
          </a:bodyPr>
          <a:lstStyle/>
          <a:p>
            <a:pPr algn="ctr" rtl="0"/>
            <a:r>
              <a:rPr lang="ru-RU" i="1" dirty="0">
                <a:latin typeface="Times New Roman" pitchFamily="18" charset="0"/>
                <a:cs typeface="Times New Roman" pitchFamily="18" charset="0"/>
              </a:rPr>
              <a:t>4 Роль кваліфікаційних випробувань ЖЦ ПЗ. Модель переходів станів проекту ПЗ. Цілі, завдання, методи (методологія).</a:t>
            </a:r>
          </a:p>
        </p:txBody>
      </p:sp>
      <p:sp>
        <p:nvSpPr>
          <p:cNvPr id="6" name="Rectangle 5"/>
          <p:cNvSpPr/>
          <p:nvPr/>
        </p:nvSpPr>
        <p:spPr>
          <a:xfrm>
            <a:off x="304800" y="1219200"/>
            <a:ext cx="8153400" cy="2031325"/>
          </a:xfrm>
          <a:prstGeom prst="rect">
            <a:avLst/>
          </a:prstGeom>
        </p:spPr>
        <p:txBody>
          <a:bodyPr wrap="square">
            <a:spAutoFit/>
          </a:bodyPr>
          <a:lstStyle/>
          <a:p>
            <a:pPr algn="l" rtl="0"/>
            <a:r>
              <a:rPr lang="ru-RU" sz="1400" dirty="0">
                <a:latin typeface="Times New Roman" pitchFamily="18" charset="0"/>
                <a:cs typeface="Times New Roman" pitchFamily="18" charset="0"/>
              </a:rPr>
              <a:t>Щододо ПЗ термін «кваліфікаційні випробування» використовується для позначення «загальної множини дій з верифікації та валідації критичного ПЗ». У ширшому контексті для системного рівня нормативними документами Національного космічного агентства України цей термін використовується для позначення оцінки «готовність до серійного виробництва» та використання за призначенням обладнання елемента космічного комплексу, що включає в загальному випадку апаратні та програмні компоненти.</a:t>
            </a:r>
            <a:r>
              <a:rPr lang="ru-RU" sz="1400">
                <a:latin typeface="Times New Roman" pitchFamily="18" charset="0"/>
                <a:cs typeface="Times New Roman" pitchFamily="18" charset="0"/>
              </a:rPr>
              <a:t>Рівеньнормативно-методичного</a:t>
            </a:r>
            <a:r>
              <a:rPr lang="ru-RU" sz="1400" dirty="0">
                <a:latin typeface="Times New Roman" pitchFamily="18" charset="0"/>
                <a:cs typeface="Times New Roman" pitchFamily="18" charset="0"/>
              </a:rPr>
              <a:t>та інструментального оснащення робіт у контурах нормативного регулювання якості критичного ПЗ значною мірою визначає реальні можливості досягнення необхідних показників гарантоспроможності та функціональної безпеки космічного комплексу загалом.</a:t>
            </a:r>
            <a:endParaRPr lang="en-US" sz="1400" dirty="0">
              <a:latin typeface="Times New Roman" pitchFamily="18" charset="0"/>
              <a:cs typeface="Times New Roman" pitchFamily="18" charset="0"/>
            </a:endParaRPr>
          </a:p>
        </p:txBody>
      </p:sp>
      <p:sp>
        <p:nvSpPr>
          <p:cNvPr id="9" name="Rectangle 8"/>
          <p:cNvSpPr/>
          <p:nvPr/>
        </p:nvSpPr>
        <p:spPr>
          <a:xfrm>
            <a:off x="381000" y="3250525"/>
            <a:ext cx="8077200" cy="738664"/>
          </a:xfrm>
          <a:prstGeom prst="rect">
            <a:avLst/>
          </a:prstGeom>
        </p:spPr>
        <p:txBody>
          <a:bodyPr wrap="square">
            <a:spAutoFit/>
          </a:bodyPr>
          <a:lstStyle/>
          <a:p>
            <a:pPr algn="l" rtl="0"/>
            <a:r>
              <a:rPr lang="ru-RU" sz="1400" dirty="0">
                <a:latin typeface="Times New Roman" pitchFamily="18" charset="0"/>
                <a:cs typeface="Times New Roman" pitchFamily="18" charset="0"/>
              </a:rPr>
              <a:t>Відповідно до таксономії міжнародних стандартів у сфері інформаційних технологій та програмної інженерії може бути він розподілена 3-рівнева класифікаційна схема процесів кваліфікаційних випробувань критичного ПЗ, представленанамалюнку 2.</a:t>
            </a:r>
            <a:endParaRPr lang="en-US" sz="1400" dirty="0">
              <a:latin typeface="Times New Roman" pitchFamily="18" charset="0"/>
              <a:cs typeface="Times New Roman" pitchFamily="18" charset="0"/>
            </a:endParaRPr>
          </a:p>
        </p:txBody>
      </p:sp>
      <p:pic>
        <p:nvPicPr>
          <p:cNvPr id="11" name="Picture 10"/>
          <p:cNvPicPr/>
          <p:nvPr/>
        </p:nvPicPr>
        <p:blipFill>
          <a:blip r:embed="rId2"/>
          <a:stretch>
            <a:fillRect/>
          </a:stretch>
        </p:blipFill>
        <p:spPr>
          <a:xfrm>
            <a:off x="3276600" y="4160142"/>
            <a:ext cx="2895600" cy="1649611"/>
          </a:xfrm>
          <a:prstGeom prst="rect">
            <a:avLst/>
          </a:prstGeom>
        </p:spPr>
      </p:pic>
      <p:sp>
        <p:nvSpPr>
          <p:cNvPr id="10" name="Rectangle 9"/>
          <p:cNvSpPr/>
          <p:nvPr/>
        </p:nvSpPr>
        <p:spPr>
          <a:xfrm>
            <a:off x="838200" y="5791200"/>
            <a:ext cx="8077200" cy="738664"/>
          </a:xfrm>
          <a:prstGeom prst="rect">
            <a:avLst/>
          </a:prstGeom>
        </p:spPr>
        <p:txBody>
          <a:bodyPr wrap="square">
            <a:spAutoFit/>
          </a:bodyPr>
          <a:lstStyle/>
          <a:p>
            <a:pPr algn="ctr" rtl="0"/>
            <a:r>
              <a:rPr lang="ru-RU" sz="1400" dirty="0">
                <a:latin typeface="Times New Roman" pitchFamily="18" charset="0"/>
                <a:cs typeface="Times New Roman" pitchFamily="18" charset="0"/>
              </a:rPr>
              <a:t>Малюнок2 – Таксономія вимог до процесів кваліфікаційних випробувань критичного програмного забезпечення: 1 – процеси (фундаментальні методики кваліфікаційних випробувань); 2 – методологія (моделі, методи, метрики, цільові технології); 3 – технологічні інструкції</a:t>
            </a:r>
            <a:r>
              <a:rPr lang="ru-RU" sz="1400" i="1"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p:txBody>
      </p:sp>
      <p:sp>
        <p:nvSpPr>
          <p:cNvPr id="13" name="TextBox 12"/>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7</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62000" y="152400"/>
            <a:ext cx="8229600" cy="1200329"/>
          </a:xfrm>
          <a:prstGeom prst="rect">
            <a:avLst/>
          </a:prstGeom>
        </p:spPr>
        <p:txBody>
          <a:bodyPr wrap="square">
            <a:spAutoFit/>
          </a:bodyPr>
          <a:lstStyle/>
          <a:p>
            <a:pPr algn="ctr" rtl="0"/>
            <a:r>
              <a:rPr lang="ru-RU" i="1" dirty="0">
                <a:latin typeface="Times New Roman" pitchFamily="18" charset="0"/>
                <a:cs typeface="Times New Roman" pitchFamily="18" charset="0"/>
              </a:rPr>
              <a:t>5 Класифікація методів верифікації та валідації критичного ПЗ. Сертифікація, атестація. Процеси кваліфікаційних випробувань критичного ПЗ у системному та програмному контекстах опорної моделі процесів ЖЦ (ISO/IEC/IEEE 12207:2008) (6.4.6, 1.2, рисунок 1).</a:t>
            </a:r>
          </a:p>
        </p:txBody>
      </p:sp>
      <p:sp>
        <p:nvSpPr>
          <p:cNvPr id="7" name="Rectangle 6"/>
          <p:cNvSpPr/>
          <p:nvPr/>
        </p:nvSpPr>
        <p:spPr>
          <a:xfrm>
            <a:off x="381000" y="1676400"/>
            <a:ext cx="8382000" cy="2893100"/>
          </a:xfrm>
          <a:prstGeom prst="rect">
            <a:avLst/>
          </a:prstGeom>
        </p:spPr>
        <p:txBody>
          <a:bodyPr wrap="square">
            <a:spAutoFit/>
          </a:bodyPr>
          <a:lstStyle/>
          <a:p>
            <a:pPr algn="l" rtl="0"/>
            <a:r>
              <a:rPr lang="ru-RU" sz="1400" dirty="0">
                <a:latin typeface="Times New Roman" pitchFamily="18" charset="0"/>
                <a:cs typeface="Times New Roman" pitchFamily="18" charset="0"/>
              </a:rPr>
              <a:t>Методологіяцільової технології доказової незалежної верифікації критичного програмного забезпечення космічних систем базується на наступних основних положеннях.</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1. Процесний підхід. Сценарій цільової технології незалежної верифікації представляє мережу взаємодіючих процесів, що реалізують три концепт-методики:</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Нормалізація проекту ПЗ як об'єкта експертизи;</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Вимір інваріантів та оцінка характеристик якості ПЗ;</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marL="285750" indent="-285750" algn="l" rtl="0">
              <a:buFontTx/>
              <a:buChar char="-"/>
            </a:pPr>
            <a:r>
              <a:rPr lang="ru-RU" sz="1400" dirty="0">
                <a:latin typeface="Times New Roman" pitchFamily="18" charset="0"/>
                <a:cs typeface="Times New Roman" pitchFamily="18" charset="0"/>
              </a:rPr>
              <a:t>калібруваннячутливості та ступеня різноманітності методів вимірювання інваріантів та прогноз ймовірності прихованих дефектів ПЗ.</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p>
          <a:p>
            <a:pPr algn="l" rtl="0"/>
            <a:r>
              <a:rPr lang="ru-RU" sz="1400" dirty="0">
                <a:latin typeface="Times New Roman" pitchFamily="18" charset="0"/>
                <a:cs typeface="Times New Roman" pitchFamily="18" charset="0"/>
              </a:rPr>
              <a:t>2. Нормалізація проекту програмного забезпечення.</a:t>
            </a:r>
          </a:p>
          <a:p>
            <a:pPr algn="l" rtl="0"/>
            <a:r>
              <a:rPr lang="ru-RU" sz="1400" dirty="0">
                <a:latin typeface="Times New Roman" pitchFamily="18" charset="0"/>
                <a:cs typeface="Times New Roman" pitchFamily="18" charset="0"/>
              </a:rPr>
              <a:t>3. Диверсифікована зміна варіантів на платформі статичного аналізу вихідних текстів.</a:t>
            </a:r>
          </a:p>
          <a:p>
            <a:pPr algn="l" rtl="0"/>
            <a:r>
              <a:rPr lang="ru-RU" sz="1400" dirty="0">
                <a:latin typeface="Times New Roman" pitchFamily="18" charset="0"/>
                <a:cs typeface="Times New Roman" pitchFamily="18" charset="0"/>
              </a:rPr>
              <a:t>4. Кількісна оцінка ймовірності прихованих дефектів на основі експериментального калібрування чутливості та ступеня різноманітності диверсних методів вимірювання інваріантів.</a:t>
            </a:r>
          </a:p>
          <a:p>
            <a:pPr algn="l" rtl="0"/>
            <a:r>
              <a:rPr lang="ru-RU" sz="1400" dirty="0">
                <a:latin typeface="Times New Roman" pitchFamily="18" charset="0"/>
                <a:cs typeface="Times New Roman" pitchFamily="18" charset="0"/>
              </a:rPr>
              <a:t>5. Оцінка повноти тестового покриття цільової технології незалежної верифікації.</a:t>
            </a:r>
            <a:endParaRPr lang="en-US" sz="1400" dirty="0">
              <a:latin typeface="Times New Roman" pitchFamily="18" charset="0"/>
              <a:cs typeface="Times New Roman" pitchFamily="18" charset="0"/>
            </a:endParaRPr>
          </a:p>
        </p:txBody>
      </p:sp>
      <p:sp>
        <p:nvSpPr>
          <p:cNvPr id="8" name="TextBox 7"/>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8</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0" y="191869"/>
            <a:ext cx="8229600" cy="1477328"/>
          </a:xfrm>
          <a:prstGeom prst="rect">
            <a:avLst/>
          </a:prstGeom>
        </p:spPr>
        <p:txBody>
          <a:bodyPr wrap="square">
            <a:spAutoFit/>
          </a:bodyPr>
          <a:lstStyle/>
          <a:p>
            <a:pPr algn="ctr" rtl="0"/>
            <a:r>
              <a:rPr lang="ru-RU" i="1" dirty="0">
                <a:latin typeface="Times New Roman" pitchFamily="18" charset="0"/>
                <a:cs typeface="Times New Roman" pitchFamily="18" charset="0"/>
              </a:rPr>
              <a:t>6 Аналіз критичності ПЗ. Програмний та системний контексти. Приховані дефекти програмного забезпечення. Оцінки та регулювання ризиків критичного ПЗ, пов'язаних із прихованими дефектами. Функціональна безпека. Аналіз. Методи. Метрики. Фундаментальні методики аналізу критичності ПЗ (FMECA, FTA, HAZOP тощо).</a:t>
            </a:r>
          </a:p>
        </p:txBody>
      </p:sp>
      <p:sp>
        <p:nvSpPr>
          <p:cNvPr id="6" name="Rectangle 5"/>
          <p:cNvSpPr/>
          <p:nvPr/>
        </p:nvSpPr>
        <p:spPr>
          <a:xfrm>
            <a:off x="304800" y="1752600"/>
            <a:ext cx="8534400" cy="4093428"/>
          </a:xfrm>
          <a:prstGeom prst="rect">
            <a:avLst/>
          </a:prstGeom>
        </p:spPr>
        <p:txBody>
          <a:bodyPr wrap="square">
            <a:spAutoFit/>
          </a:bodyPr>
          <a:lstStyle/>
          <a:p>
            <a:pPr algn="l" rtl="0"/>
            <a:r>
              <a:rPr lang="ru-RU" sz="1400" dirty="0">
                <a:latin typeface="Times New Roman" pitchFamily="18" charset="0"/>
                <a:cs typeface="Times New Roman" pitchFamily="18" charset="0"/>
              </a:rPr>
              <a:t>Сукупністьдиверсних методів вимірювання інваріантів, реалізованих на платформі статичного аналізу вихідних текстів, утворює багатоверсійну технологію диверсифікованого вимірювання атрибутів-інваріантів ПЗ. Реальна різноманітність диверсних методів є необхідною умовою підвищення достовірності (зменшення невизначеності) під час використання багатоверсійної технології вимірювання інваріантів ПЗ. Кількісна оцінка ступеня різноманітності є базовою характеристикою методу диверсифікованого вимірювання інваріантів ПЗ при незалежній верифікації.</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Профіль вимог регламентує обов'язкове використання базового набору фундаментальних методик, що включають:</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незалежну верифікацію та валідацію критичного ПЗ (</a:t>
            </a:r>
            <a:r>
              <a:rPr lang="en-GB" sz="1400" dirty="0">
                <a:latin typeface="Times New Roman" pitchFamily="18" charset="0"/>
                <a:cs typeface="Times New Roman" pitchFamily="18" charset="0"/>
              </a:rPr>
              <a:t>IS V</a:t>
            </a:r>
            <a:r>
              <a:rPr lang="ru-RU" sz="1400" dirty="0">
                <a:latin typeface="Times New Roman" pitchFamily="18" charset="0"/>
                <a:cs typeface="Times New Roman" pitchFamily="18" charset="0"/>
              </a:rPr>
              <a:t>&amp;</a:t>
            </a:r>
            <a:r>
              <a:rPr lang="en-GB" sz="1400" dirty="0">
                <a:latin typeface="Times New Roman" pitchFamily="18" charset="0"/>
                <a:cs typeface="Times New Roman" pitchFamily="18" charset="0"/>
              </a:rPr>
              <a:t>V</a:t>
            </a:r>
            <a:r>
              <a:rPr lang="ru-RU" sz="1400"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аналіз видів, впливу та критичності відмов критичного ПЗ (</a:t>
            </a:r>
            <a:r>
              <a:rPr lang="en-GB" sz="1400" dirty="0">
                <a:latin typeface="Times New Roman" pitchFamily="18" charset="0"/>
                <a:cs typeface="Times New Roman" pitchFamily="18" charset="0"/>
              </a:rPr>
              <a:t>SFMEA</a:t>
            </a:r>
            <a:r>
              <a:rPr lang="ru-RU" sz="1400" dirty="0">
                <a:latin typeface="Times New Roman" pitchFamily="18" charset="0"/>
                <a:cs typeface="Times New Roman" pitchFamily="18" charset="0"/>
              </a:rPr>
              <a:t>/</a:t>
            </a:r>
            <a:r>
              <a:rPr lang="en-GB" sz="1400" dirty="0">
                <a:latin typeface="Times New Roman" pitchFamily="18" charset="0"/>
                <a:cs typeface="Times New Roman" pitchFamily="18" charset="0"/>
              </a:rPr>
              <a:t>SFMECA</a:t>
            </a:r>
            <a:r>
              <a:rPr lang="ru-RU" sz="1400"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аналіз дерева дефектів ПЗ (</a:t>
            </a:r>
            <a:r>
              <a:rPr lang="en-GB" sz="1400" dirty="0">
                <a:latin typeface="Times New Roman" pitchFamily="18" charset="0"/>
                <a:cs typeface="Times New Roman" pitchFamily="18" charset="0"/>
              </a:rPr>
              <a:t>SF</a:t>
            </a:r>
            <a:r>
              <a:rPr lang="ru-RU" sz="1400" dirty="0">
                <a:latin typeface="Times New Roman" pitchFamily="18" charset="0"/>
                <a:cs typeface="Times New Roman" pitchFamily="18" charset="0"/>
              </a:rPr>
              <a:t>ТА);</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Виявлення, ізоляція та видалення відмов ПЗ (</a:t>
            </a:r>
            <a:r>
              <a:rPr lang="en-GB" sz="1400" dirty="0">
                <a:latin typeface="Times New Roman" pitchFamily="18" charset="0"/>
                <a:cs typeface="Times New Roman" pitchFamily="18" charset="0"/>
              </a:rPr>
              <a:t>SFDIR</a:t>
            </a:r>
            <a:r>
              <a:rPr lang="ru-RU" sz="1400"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аналіз апаратно-програмних взаємодій (Н</a:t>
            </a:r>
            <a:r>
              <a:rPr lang="en-GB" sz="1400" dirty="0">
                <a:latin typeface="Times New Roman" pitchFamily="18" charset="0"/>
                <a:cs typeface="Times New Roman" pitchFamily="18" charset="0"/>
              </a:rPr>
              <a:t>SI</a:t>
            </a:r>
            <a:r>
              <a:rPr lang="ru-RU" sz="1400" dirty="0">
                <a:latin typeface="Times New Roman" pitchFamily="18" charset="0"/>
                <a:cs typeface="Times New Roman" pitchFamily="18" charset="0"/>
              </a:rPr>
              <a:t>А);</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аналіз безпеки та аналіз експлуатаційної безпеки для ПЗ (НА</a:t>
            </a:r>
            <a:r>
              <a:rPr lang="en-GB" sz="1400" dirty="0">
                <a:latin typeface="Times New Roman" pitchFamily="18" charset="0"/>
                <a:cs typeface="Times New Roman" pitchFamily="18" charset="0"/>
              </a:rPr>
              <a:t>Z</a:t>
            </a:r>
            <a:r>
              <a:rPr lang="ru-RU" sz="1400" dirty="0">
                <a:latin typeface="Times New Roman" pitchFamily="18" charset="0"/>
                <a:cs typeface="Times New Roman" pitchFamily="18" charset="0"/>
              </a:rPr>
              <a:t>ОР);</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аналіз відмови із загальної причини (</a:t>
            </a:r>
            <a:r>
              <a:rPr lang="en-GB" sz="1400" dirty="0">
                <a:latin typeface="Times New Roman" pitchFamily="18" charset="0"/>
                <a:cs typeface="Times New Roman" pitchFamily="18" charset="0"/>
              </a:rPr>
              <a:t>S</a:t>
            </a:r>
            <a:r>
              <a:rPr lang="ru-RU" sz="1400" dirty="0">
                <a:latin typeface="Times New Roman" pitchFamily="18" charset="0"/>
                <a:cs typeface="Times New Roman" pitchFamily="18" charset="0"/>
              </a:rPr>
              <a:t>СС</a:t>
            </a:r>
            <a:r>
              <a:rPr lang="en-GB" sz="1400" dirty="0">
                <a:latin typeface="Times New Roman" pitchFamily="18" charset="0"/>
                <a:cs typeface="Times New Roman" pitchFamily="18" charset="0"/>
              </a:rPr>
              <a:t>F</a:t>
            </a:r>
            <a:r>
              <a:rPr lang="ru-RU" sz="1400" dirty="0">
                <a:latin typeface="Times New Roman" pitchFamily="18" charset="0"/>
                <a:cs typeface="Times New Roman" pitchFamily="18" charset="0"/>
              </a:rPr>
              <a:t>А);</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Історію експлуатації ПЗ.</a:t>
            </a:r>
            <a:endParaRPr lang="en-US" sz="1400" dirty="0">
              <a:latin typeface="Times New Roman" pitchFamily="18" charset="0"/>
              <a:cs typeface="Times New Roman" pitchFamily="18" charset="0"/>
            </a:endParaRPr>
          </a:p>
          <a:p>
            <a:pPr algn="l" rtl="0"/>
            <a:br>
              <a:rPr lang="ru-RU" b="1" dirty="0"/>
            </a:br>
            <a:r>
              <a:rPr lang="ru-RU" dirty="0"/>
              <a:t> </a:t>
            </a:r>
            <a:endParaRPr lang="en-US" dirty="0"/>
          </a:p>
        </p:txBody>
      </p:sp>
      <p:sp>
        <p:nvSpPr>
          <p:cNvPr id="7" name="TextBox 6"/>
          <p:cNvSpPr txBox="1"/>
          <p:nvPr/>
        </p:nvSpPr>
        <p:spPr>
          <a:xfrm>
            <a:off x="8791575" y="6372225"/>
            <a:ext cx="342900" cy="381000"/>
          </a:xfrm>
          <a:prstGeom prst="rect">
            <a:avLst/>
          </a:prstGeom>
          <a:noFill/>
        </p:spPr>
        <p:txBody>
          <a:bodyPr wrap="square" rtlCol="0">
            <a:spAutoFit/>
          </a:bodyPr>
          <a:lstStyle/>
          <a:p>
            <a:pPr algn="l" rtl="0"/>
            <a:r>
              <a:rPr lang="en-GB" i="1" dirty="0">
                <a:latin typeface="Times New Roman" pitchFamily="18" charset="0"/>
                <a:cs typeface="Times New Roman" pitchFamily="18" charset="0"/>
              </a:rPr>
              <a:t>9</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52400"/>
            <a:ext cx="8229600" cy="1200329"/>
          </a:xfrm>
          <a:prstGeom prst="rect">
            <a:avLst/>
          </a:prstGeom>
        </p:spPr>
        <p:txBody>
          <a:bodyPr wrap="square">
            <a:spAutoFit/>
          </a:bodyPr>
          <a:lstStyle/>
          <a:p>
            <a:pPr algn="ctr" rtl="0"/>
            <a:r>
              <a:rPr lang="ru-RU" i="1" dirty="0">
                <a:latin typeface="Times New Roman" pitchFamily="18" charset="0"/>
                <a:cs typeface="Times New Roman" pitchFamily="18" charset="0"/>
              </a:rPr>
              <a:t>7 Оцінка ймовірності прихованих дефектів – відправна точка аналізу при risk-informed оцінках характеристик «Функціональна безпека» та «Гарантоспроможність» критичного ПЗ.</a:t>
            </a:r>
          </a:p>
          <a:p>
            <a:pPr algn="ctr" rtl="0"/>
            <a:r>
              <a:rPr lang="ru-RU" i="1" dirty="0">
                <a:latin typeface="Times New Roman" pitchFamily="18" charset="0"/>
                <a:cs typeface="Times New Roman" pitchFamily="18" charset="0"/>
              </a:rPr>
              <a:t>проекту ПЗ. Цілі, завдання, методи (методологія).</a:t>
            </a:r>
          </a:p>
        </p:txBody>
      </p:sp>
      <p:sp>
        <p:nvSpPr>
          <p:cNvPr id="5" name="Rectangle 4"/>
          <p:cNvSpPr/>
          <p:nvPr/>
        </p:nvSpPr>
        <p:spPr>
          <a:xfrm>
            <a:off x="304800" y="1676400"/>
            <a:ext cx="8153400" cy="2893100"/>
          </a:xfrm>
          <a:prstGeom prst="rect">
            <a:avLst/>
          </a:prstGeom>
        </p:spPr>
        <p:txBody>
          <a:bodyPr wrap="square">
            <a:spAutoFit/>
          </a:bodyPr>
          <a:lstStyle/>
          <a:p>
            <a:pPr algn="l" rtl="0"/>
            <a:r>
              <a:rPr lang="ru-RU" sz="1400" dirty="0">
                <a:latin typeface="Times New Roman" pitchFamily="18" charset="0"/>
                <a:cs typeface="Times New Roman" pitchFamily="18" charset="0"/>
              </a:rPr>
              <a:t>Загальнасхема диверсифікованого виміру інваріантів та теоретико-множинна модель інтегральної перевіряючої здатності (чутливості) композиції диверсних технологій верифікації, заснованих на вимірі інваріантів ПЗ, представлена ​​на малюнку3.Ілюструється випадок виміру двох типів інваріантів, які є підмножинами бази консолідованої оцінки якості</a:t>
            </a:r>
            <a:r>
              <a:rPr lang="en-GB" sz="1400" dirty="0">
                <a:latin typeface="Times New Roman" pitchFamily="18" charset="0"/>
                <a:cs typeface="Times New Roman" pitchFamily="18" charset="0"/>
              </a:rPr>
              <a:t>UA</a:t>
            </a:r>
            <a:r>
              <a:rPr lang="ru-RU" sz="1400" dirty="0">
                <a:latin typeface="Times New Roman" pitchFamily="18" charset="0"/>
                <a:cs typeface="Times New Roman" pitchFamily="18" charset="0"/>
              </a:rPr>
              <a:t>­­</a:t>
            </a:r>
            <a:r>
              <a:rPr lang="en-GB" sz="1400" baseline="-25000" dirty="0">
                <a:latin typeface="Times New Roman" pitchFamily="18" charset="0"/>
                <a:cs typeface="Times New Roman" pitchFamily="18" charset="0"/>
              </a:rPr>
              <a:t>i</a:t>
            </a:r>
            <a:r>
              <a:rPr lang="ru-RU" sz="1400" dirty="0">
                <a:latin typeface="Times New Roman" pitchFamily="18" charset="0"/>
                <a:cs typeface="Times New Roman" pitchFamily="18" charset="0"/>
              </a:rPr>
              <a:t>, і = 1, 3. Схема включає дві базові процедури:</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інструментування вузького ПЗ, що полягає у формуванні технологічної версії - інструментованої моделі вихідного ПЗ, в якій визначено контрольні точки - зонди, що містять вихідні дані та алгебру оцінки різних інваріантів;</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інтерпретація інструментованої версії вихідного ПЗ та вимірювання в контрольних точках інваріантів для реалізованих у ПЗ операторних відображень та розгалужень та оцінка збереження значень інваріантів.</a:t>
            </a:r>
            <a:endParaRPr lang="en-US" sz="1400" dirty="0">
              <a:latin typeface="Times New Roman" pitchFamily="18" charset="0"/>
              <a:cs typeface="Times New Roman" pitchFamily="18" charset="0"/>
            </a:endParaRPr>
          </a:p>
        </p:txBody>
      </p:sp>
      <p:sp>
        <p:nvSpPr>
          <p:cNvPr id="6" name="TextBox 5"/>
          <p:cNvSpPr txBox="1"/>
          <p:nvPr/>
        </p:nvSpPr>
        <p:spPr>
          <a:xfrm>
            <a:off x="8686800" y="6372225"/>
            <a:ext cx="447675" cy="369332"/>
          </a:xfrm>
          <a:prstGeom prst="rect">
            <a:avLst/>
          </a:prstGeom>
          <a:noFill/>
        </p:spPr>
        <p:txBody>
          <a:bodyPr wrap="square" rtlCol="0">
            <a:spAutoFit/>
          </a:bodyPr>
          <a:lstStyle/>
          <a:p>
            <a:pPr algn="l" rtl="0"/>
            <a:r>
              <a:rPr lang="en-GB" i="1" dirty="0">
                <a:latin typeface="Times New Roman" pitchFamily="18" charset="0"/>
                <a:cs typeface="Times New Roman" pitchFamily="18" charset="0"/>
              </a:rPr>
              <a:t>10</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52400"/>
            <a:ext cx="8229600" cy="1200329"/>
          </a:xfrm>
          <a:prstGeom prst="rect">
            <a:avLst/>
          </a:prstGeom>
        </p:spPr>
        <p:txBody>
          <a:bodyPr wrap="square">
            <a:spAutoFit/>
          </a:bodyPr>
          <a:lstStyle/>
          <a:p>
            <a:pPr algn="ctr" rtl="0"/>
            <a:r>
              <a:rPr lang="ru-RU" i="1" dirty="0">
                <a:latin typeface="Times New Roman" pitchFamily="18" charset="0"/>
                <a:cs typeface="Times New Roman" pitchFamily="18" charset="0"/>
              </a:rPr>
              <a:t>7 Оцінка ймовірності прихованих дефектів – відправна точка аналізу при risk-informed оцінках характеристик «Функціональна безпека» та «Гарантоспроможність» критичного ПЗ.</a:t>
            </a:r>
          </a:p>
          <a:p>
            <a:pPr algn="ctr" rtl="0"/>
            <a:r>
              <a:rPr lang="ru-RU" i="1" dirty="0">
                <a:latin typeface="Times New Roman" pitchFamily="18" charset="0"/>
                <a:cs typeface="Times New Roman" pitchFamily="18" charset="0"/>
              </a:rPr>
              <a:t>проекту ПЗ. Цілі, завдання, методи (методологія).</a:t>
            </a: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rtl="0"/>
            <a:endParaRPr lang="en-US"/>
          </a:p>
        </p:txBody>
      </p:sp>
      <p:pic>
        <p:nvPicPr>
          <p:cNvPr id="14337"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524000"/>
            <a:ext cx="3505200" cy="301752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0" y="4648200"/>
            <a:ext cx="4572000" cy="307777"/>
          </a:xfrm>
          <a:prstGeom prst="rect">
            <a:avLst/>
          </a:prstGeom>
        </p:spPr>
        <p:txBody>
          <a:bodyPr>
            <a:spAutoFit/>
          </a:bodyPr>
          <a:lstStyle/>
          <a:p>
            <a:pPr algn="l" rtl="0"/>
            <a:r>
              <a:rPr lang="ru-RU" sz="1400" dirty="0">
                <a:latin typeface="Times New Roman" pitchFamily="18" charset="0"/>
                <a:cs typeface="Times New Roman" pitchFamily="18" charset="0"/>
              </a:rPr>
              <a:t>Малюнок</a:t>
            </a:r>
            <a:r>
              <a:rPr lang="uk-UA" sz="1400" dirty="0">
                <a:latin typeface="Times New Roman" pitchFamily="18" charset="0"/>
                <a:cs typeface="Times New Roman" pitchFamily="18" charset="0"/>
              </a:rPr>
              <a:t>7</a:t>
            </a:r>
            <a:r>
              <a:rPr lang="ru-RU" sz="1400" dirty="0">
                <a:latin typeface="Times New Roman" pitchFamily="18" charset="0"/>
                <a:cs typeface="Times New Roman" pitchFamily="18" charset="0"/>
              </a:rPr>
              <a:t>- Іверсійна модель залишкових дефектів</a:t>
            </a:r>
            <a:endParaRPr lang="en-US" sz="1400" dirty="0">
              <a:latin typeface="Times New Roman" pitchFamily="18" charset="0"/>
              <a:cs typeface="Times New Roman" pitchFamily="18" charset="0"/>
            </a:endParaRPr>
          </a:p>
        </p:txBody>
      </p:sp>
      <p:sp>
        <p:nvSpPr>
          <p:cNvPr id="8" name="TextBox 7"/>
          <p:cNvSpPr txBox="1"/>
          <p:nvPr/>
        </p:nvSpPr>
        <p:spPr>
          <a:xfrm>
            <a:off x="8686800" y="6372225"/>
            <a:ext cx="447675" cy="369332"/>
          </a:xfrm>
          <a:prstGeom prst="rect">
            <a:avLst/>
          </a:prstGeom>
          <a:noFill/>
        </p:spPr>
        <p:txBody>
          <a:bodyPr wrap="square" rtlCol="0">
            <a:spAutoFit/>
          </a:bodyPr>
          <a:lstStyle/>
          <a:p>
            <a:pPr algn="l" rtl="0"/>
            <a:r>
              <a:rPr lang="en-GB" i="1" dirty="0">
                <a:latin typeface="Times New Roman" pitchFamily="18" charset="0"/>
                <a:cs typeface="Times New Roman" pitchFamily="18" charset="0"/>
              </a:rPr>
              <a:t>11</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531832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52400"/>
            <a:ext cx="8229600" cy="646331"/>
          </a:xfrm>
          <a:prstGeom prst="rect">
            <a:avLst/>
          </a:prstGeom>
        </p:spPr>
        <p:txBody>
          <a:bodyPr wrap="square">
            <a:spAutoFit/>
          </a:bodyPr>
          <a:lstStyle/>
          <a:p>
            <a:pPr algn="ctr" rtl="0"/>
            <a:r>
              <a:rPr lang="ru-RU" i="1" dirty="0">
                <a:latin typeface="Times New Roman" pitchFamily="18" charset="0"/>
                <a:cs typeface="Times New Roman" pitchFamily="18" charset="0"/>
              </a:rPr>
              <a:t>8 Оцінка характеристик якості критичного ПЗ: «функціональна/інформаційна безпека»; "гарантоспроможність".</a:t>
            </a:r>
          </a:p>
        </p:txBody>
      </p:sp>
      <p:sp>
        <p:nvSpPr>
          <p:cNvPr id="5" name="Rectangle 4"/>
          <p:cNvSpPr/>
          <p:nvPr/>
        </p:nvSpPr>
        <p:spPr>
          <a:xfrm>
            <a:off x="228600" y="1066800"/>
            <a:ext cx="8534400" cy="3539430"/>
          </a:xfrm>
          <a:prstGeom prst="rect">
            <a:avLst/>
          </a:prstGeom>
        </p:spPr>
        <p:txBody>
          <a:bodyPr wrap="square">
            <a:spAutoFit/>
          </a:bodyPr>
          <a:lstStyle/>
          <a:p>
            <a:pPr algn="l" rtl="0"/>
            <a:r>
              <a:rPr lang="ru-RU" sz="1400" dirty="0">
                <a:latin typeface="Times New Roman" pitchFamily="18" charset="0"/>
                <a:cs typeface="Times New Roman" pitchFamily="18" charset="0"/>
              </a:rPr>
              <a:t>Щододо ПЗ гарантоспроможність (надійність, готовність, обслуговуваність) та функціональна безпека представляють два</a:t>
            </a:r>
            <a:r>
              <a:rPr lang="en-GB" sz="1400" dirty="0">
                <a:latin typeface="Times New Roman" pitchFamily="18" charset="0"/>
                <a:cs typeface="Times New Roman" pitchFamily="18" charset="0"/>
              </a:rPr>
              <a:t>c</a:t>
            </a:r>
            <a:r>
              <a:rPr lang="ru-RU" sz="1400" dirty="0">
                <a:latin typeface="Times New Roman" pitchFamily="18" charset="0"/>
                <a:cs typeface="Times New Roman" pitchFamily="18" charset="0"/>
              </a:rPr>
              <a:t>в'язаних, але не ідентичних понять. Гарантоздатність концентрується на аналізі критичності, прогнозуванні ймовірності прихованих дефектів та забезпеченні безвідмовності ПЗ. Функціональна безпека безпосередньо з тяжкістю наслідків відмов, а чи не просто з наявністю дефектів ПО. Програмне забезпечення стає критичним для безпеки у випадках програмної реалізації функцій управління потенційно небезпечними системами чи процесами.</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Оцінки гарантоспроможності та функціональної безпеки критичного ПЗ необхідно проводити з урахуванням наступної специфіки:</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Високий рівень критичності програмно реалізованих функцій елемента космічного комплексу та гранично високі вимоги до якості ПЗ;</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розробка, як правило, оригінального, складного програмного забезпечення для створюваного комплексу;</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часті модифікації та реінжиніринг ПЗ у процесі експлуатації комплексу;</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життєвий цикл перевищує тривалість використання стандартних комп'ютерних програм;</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a:p>
            <a:pPr algn="l" rtl="0"/>
            <a:r>
              <a:rPr lang="ru-RU" sz="1400" dirty="0">
                <a:latin typeface="Times New Roman" pitchFamily="18" charset="0"/>
                <a:cs typeface="Times New Roman" pitchFamily="18" charset="0"/>
              </a:rPr>
              <a:t>- відсутність достовірних статистичних даних щодо ПЗ критичних систем.</a:t>
            </a:r>
            <a:r>
              <a:rPr lang="en-US" sz="1400" dirty="0">
                <a:effectLst/>
                <a:latin typeface="Times New Roman" pitchFamily="18" charset="0"/>
                <a:cs typeface="Times New Roman" pitchFamily="18" charset="0"/>
              </a:rPr>
              <a:t> </a:t>
            </a:r>
            <a:r>
              <a:rPr lang="ru-RU" sz="1400"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p:txBody>
      </p:sp>
      <p:sp>
        <p:nvSpPr>
          <p:cNvPr id="6" name="TextBox 5"/>
          <p:cNvSpPr txBox="1"/>
          <p:nvPr/>
        </p:nvSpPr>
        <p:spPr>
          <a:xfrm>
            <a:off x="8686800" y="6372225"/>
            <a:ext cx="447675" cy="369332"/>
          </a:xfrm>
          <a:prstGeom prst="rect">
            <a:avLst/>
          </a:prstGeom>
          <a:noFill/>
        </p:spPr>
        <p:txBody>
          <a:bodyPr wrap="square" rtlCol="0">
            <a:spAutoFit/>
          </a:bodyPr>
          <a:lstStyle/>
          <a:p>
            <a:pPr algn="l" rtl="0"/>
            <a:r>
              <a:rPr lang="en-GB" i="1" dirty="0">
                <a:latin typeface="Times New Roman" pitchFamily="18" charset="0"/>
                <a:cs typeface="Times New Roman" pitchFamily="18" charset="0"/>
              </a:rPr>
              <a:t>12</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52400"/>
            <a:ext cx="8229600" cy="646331"/>
          </a:xfrm>
          <a:prstGeom prst="rect">
            <a:avLst/>
          </a:prstGeom>
        </p:spPr>
        <p:txBody>
          <a:bodyPr wrap="square">
            <a:spAutoFit/>
          </a:bodyPr>
          <a:lstStyle/>
          <a:p>
            <a:pPr algn="ctr" rtl="0"/>
            <a:r>
              <a:rPr lang="ru-RU" i="1" dirty="0">
                <a:latin typeface="Times New Roman" pitchFamily="18" charset="0"/>
                <a:cs typeface="Times New Roman" pitchFamily="18" charset="0"/>
              </a:rPr>
              <a:t>9 Незалежна верифікація критичного програмного забезпечення. Обумовленість (концепція). Цілі. Достовірність результатів. Доказовість.</a:t>
            </a:r>
          </a:p>
        </p:txBody>
      </p:sp>
      <p:sp>
        <p:nvSpPr>
          <p:cNvPr id="5" name="Rectangle 4"/>
          <p:cNvSpPr/>
          <p:nvPr/>
        </p:nvSpPr>
        <p:spPr>
          <a:xfrm>
            <a:off x="228600" y="958215"/>
            <a:ext cx="8686800" cy="5478423"/>
          </a:xfrm>
          <a:prstGeom prst="rect">
            <a:avLst/>
          </a:prstGeom>
        </p:spPr>
        <p:txBody>
          <a:bodyPr wrap="square">
            <a:spAutoFit/>
          </a:bodyPr>
          <a:lstStyle/>
          <a:p>
            <a:pPr algn="l" rtl="0"/>
            <a:r>
              <a:rPr lang="ru-RU" sz="1400" dirty="0">
                <a:latin typeface="Times New Roman" pitchFamily="18" charset="0"/>
                <a:cs typeface="Times New Roman" pitchFamily="18" charset="0"/>
              </a:rPr>
              <a:t>Пропонованацільова технологія доказової незалежної верифікації та прогнозування прихованих дефектів критичного ПЗ заснована на використанні вдосконаленої метоцології статичного аналізу вихорних текстів ПЗ, що забезпечує:</a:t>
            </a:r>
          </a:p>
          <a:p>
            <a:pPr algn="l" rtl="0"/>
            <a:endParaRPr lang="en-US" sz="1400" dirty="0">
              <a:latin typeface="Times New Roman" pitchFamily="18" charset="0"/>
              <a:cs typeface="Times New Roman" pitchFamily="18" charset="0"/>
            </a:endParaRPr>
          </a:p>
          <a:p>
            <a:pPr marL="285750" indent="-285750" algn="l" rtl="0">
              <a:buFontTx/>
              <a:buChar char="-"/>
            </a:pPr>
            <a:r>
              <a:rPr lang="ru-RU" sz="1400" dirty="0">
                <a:latin typeface="Times New Roman" pitchFamily="18" charset="0"/>
                <a:cs typeface="Times New Roman" pitchFamily="18" charset="0"/>
              </a:rPr>
              <a:t>підвищеннядостовірності оцінок характеристик П0 за рахунок реалізації принципів</a:t>
            </a:r>
            <a:r>
              <a:rPr lang="ru-RU" sz="1400" b="1" dirty="0">
                <a:latin typeface="Times New Roman" pitchFamily="18" charset="0"/>
                <a:cs typeface="Times New Roman" pitchFamily="18" charset="0"/>
              </a:rPr>
              <a:t> </a:t>
            </a:r>
            <a:r>
              <a:rPr lang="ru-RU" sz="1400" dirty="0">
                <a:latin typeface="Times New Roman" pitchFamily="18" charset="0"/>
                <a:cs typeface="Times New Roman" pitchFamily="18" charset="0"/>
              </a:rPr>
              <a:t>технологічного розмаїття (диверсності) та незалежності на основі методу диверсифікованого виміру семантичних, інтервально-точнісних, логічних та інших інваріантів ПЗ (фізичних або абстрактних властивостей ПЗ, що не змінюються за визначенням протягом життєвого циклу);</a:t>
            </a:r>
          </a:p>
          <a:p>
            <a:pPr marL="285750" indent="-285750" algn="l" rtl="0">
              <a:buFontTx/>
              <a:buChar char="-"/>
            </a:pPr>
            <a:endParaRPr lang="en-US" sz="1400" dirty="0">
              <a:latin typeface="Times New Roman" pitchFamily="18" charset="0"/>
              <a:cs typeface="Times New Roman" pitchFamily="18" charset="0"/>
            </a:endParaRPr>
          </a:p>
          <a:p>
            <a:pPr marL="285750" indent="-285750" algn="l" rtl="0">
              <a:buFontTx/>
              <a:buChar char="-"/>
            </a:pPr>
            <a:r>
              <a:rPr lang="ru-RU" sz="1400" dirty="0">
                <a:latin typeface="Times New Roman" pitchFamily="18" charset="0"/>
                <a:cs typeface="Times New Roman" pitchFamily="18" charset="0"/>
              </a:rPr>
              <a:t>прогнозуванняймовірності прихованих дефектів ПЗ на основі експериментального калібрування чутливості та ступеня різноманітності диверсних методів вимірювання інваріантів в умовах конкретного проекту ПЗ, методом посіву тестових дефектів;</a:t>
            </a:r>
          </a:p>
          <a:p>
            <a:pPr marL="285750" indent="-285750" algn="l" rtl="0">
              <a:buFontTx/>
              <a:buChar char="-"/>
            </a:pPr>
            <a:r>
              <a:rPr lang="ru-RU" sz="1400" dirty="0">
                <a:latin typeface="Times New Roman" pitchFamily="18" charset="0"/>
                <a:cs typeface="Times New Roman" pitchFamily="18" charset="0"/>
              </a:rPr>
              <a:t> управління рентабельністю (шляхом мінімізації ресурсів, що витрачаються) прогнозу ймовірності прихованих дефектів з використанням індикатора зниження ймовірності залишкових дефектів ПЗ у процесі реалізації композиції диверсних методів вимірювання інваріантів, при цьому функціональна безпека космічної системи трактується як знаходження системи в умовах проектного ризику аномального функціонування . Як метрика оцінки ризику в загальному випадку використовується двовимірна величина (міра) прогнозованих рівнів ризиків</a:t>
            </a:r>
            <a:r>
              <a:rPr lang="en-GB" sz="1400" dirty="0" err="1">
                <a:latin typeface="Times New Roman" pitchFamily="18" charset="0"/>
                <a:cs typeface="Times New Roman" pitchFamily="18" charset="0"/>
              </a:rPr>
              <a:t>m</a:t>
            </a:r>
            <a:r>
              <a:rPr lang="en-GB" sz="1400" baseline="-25000" dirty="0" err="1">
                <a:latin typeface="Times New Roman" pitchFamily="18" charset="0"/>
                <a:cs typeface="Times New Roman" pitchFamily="18" charset="0"/>
              </a:rPr>
              <a:t>ij</a:t>
            </a:r>
            <a:r>
              <a:rPr lang="ru-RU" sz="1400" dirty="0">
                <a:latin typeface="Times New Roman" pitchFamily="18" charset="0"/>
                <a:cs typeface="Times New Roman" pitchFamily="18" charset="0"/>
              </a:rPr>
              <a:t>= (В, Т), що пов'язує ймовірність прихованих дефектів і тяжкість наслідків їх прояву на системному рівні Т.</a:t>
            </a:r>
          </a:p>
          <a:p>
            <a:pPr marL="285750" indent="-285750" algn="l" rtl="0">
              <a:buFontTx/>
              <a:buChar char="-"/>
            </a:pPr>
            <a:r>
              <a:rPr lang="ru-RU" sz="1400" dirty="0">
                <a:latin typeface="Times New Roman" pitchFamily="18" charset="0"/>
                <a:cs typeface="Times New Roman" pitchFamily="18" charset="0"/>
              </a:rPr>
              <a:t>оцінкуповноти тестового покриття критичного ПЗ при доказовій незалежно верифікації методом прямого та зворотного трасування множин диз'юнктів:</a:t>
            </a:r>
            <a:endParaRPr lang="en-US" sz="1400" dirty="0">
              <a:latin typeface="Times New Roman" pitchFamily="18" charset="0"/>
              <a:cs typeface="Times New Roman" pitchFamily="18" charset="0"/>
            </a:endParaRPr>
          </a:p>
          <a:p>
            <a:pPr lvl="1" algn="l" rtl="0"/>
            <a:r>
              <a:rPr lang="ru-RU" sz="1400" dirty="0">
                <a:latin typeface="Times New Roman" pitchFamily="18" charset="0"/>
                <a:cs typeface="Times New Roman" pitchFamily="18" charset="0"/>
              </a:rPr>
              <a:t>а) опорної (посилальної) та оціночної моделей якості ПЗ;</a:t>
            </a:r>
            <a:endParaRPr lang="en-US" sz="1400" dirty="0">
              <a:latin typeface="Times New Roman" pitchFamily="18" charset="0"/>
              <a:cs typeface="Times New Roman" pitchFamily="18" charset="0"/>
            </a:endParaRPr>
          </a:p>
          <a:p>
            <a:pPr lvl="1" algn="l" rtl="0"/>
            <a:r>
              <a:rPr lang="ru-RU" sz="1400" dirty="0">
                <a:latin typeface="Times New Roman" pitchFamily="18" charset="0"/>
                <a:cs typeface="Times New Roman" pitchFamily="18" charset="0"/>
              </a:rPr>
              <a:t>б) технічного завдання (специфікації вимог до ПЗ);</a:t>
            </a:r>
            <a:endParaRPr lang="en-US" sz="1400" dirty="0">
              <a:latin typeface="Times New Roman" pitchFamily="18" charset="0"/>
              <a:cs typeface="Times New Roman" pitchFamily="18" charset="0"/>
            </a:endParaRPr>
          </a:p>
          <a:p>
            <a:pPr lvl="1" algn="l" rtl="0"/>
            <a:r>
              <a:rPr lang="ru-RU" sz="1400" dirty="0">
                <a:latin typeface="Times New Roman" pitchFamily="18" charset="0"/>
                <a:cs typeface="Times New Roman" pitchFamily="18" charset="0"/>
              </a:rPr>
              <a:t>в) проектних визначень та обґрунтувань (проектно-конструкторської документації ПЗ).</a:t>
            </a:r>
            <a:endParaRPr lang="en-US" sz="1400" dirty="0">
              <a:latin typeface="Times New Roman" pitchFamily="18" charset="0"/>
              <a:cs typeface="Times New Roman" pitchFamily="18" charset="0"/>
            </a:endParaRPr>
          </a:p>
        </p:txBody>
      </p:sp>
      <p:sp>
        <p:nvSpPr>
          <p:cNvPr id="6" name="TextBox 5"/>
          <p:cNvSpPr txBox="1"/>
          <p:nvPr/>
        </p:nvSpPr>
        <p:spPr>
          <a:xfrm>
            <a:off x="8686800" y="6372225"/>
            <a:ext cx="447675" cy="369332"/>
          </a:xfrm>
          <a:prstGeom prst="rect">
            <a:avLst/>
          </a:prstGeom>
          <a:noFill/>
        </p:spPr>
        <p:txBody>
          <a:bodyPr wrap="square" rtlCol="0">
            <a:spAutoFit/>
          </a:bodyPr>
          <a:lstStyle/>
          <a:p>
            <a:pPr algn="l" rtl="0"/>
            <a:r>
              <a:rPr lang="en-GB" i="1" dirty="0">
                <a:latin typeface="Times New Roman" pitchFamily="18" charset="0"/>
                <a:cs typeface="Times New Roman" pitchFamily="18" charset="0"/>
              </a:rPr>
              <a:t>13</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52400"/>
            <a:ext cx="8229600" cy="923330"/>
          </a:xfrm>
          <a:prstGeom prst="rect">
            <a:avLst/>
          </a:prstGeom>
        </p:spPr>
        <p:txBody>
          <a:bodyPr wrap="square">
            <a:spAutoFit/>
          </a:bodyPr>
          <a:lstStyle/>
          <a:p>
            <a:pPr algn="ctr" rtl="0"/>
            <a:r>
              <a:rPr lang="ru-RU" i="1" dirty="0">
                <a:latin typeface="Times New Roman" pitchFamily="18" charset="0"/>
                <a:cs typeface="Times New Roman" pitchFamily="18" charset="0"/>
              </a:rPr>
              <a:t>10 Диверсифікація методів верифікації – реалізація принципу різноманітності. Обмеження - реально досяжний ступінь різноманітності при оцінках достовірності.</a:t>
            </a:r>
          </a:p>
        </p:txBody>
      </p:sp>
      <p:sp>
        <p:nvSpPr>
          <p:cNvPr id="11" name="Rectangle 10"/>
          <p:cNvSpPr/>
          <p:nvPr/>
        </p:nvSpPr>
        <p:spPr>
          <a:xfrm>
            <a:off x="152400" y="1126927"/>
            <a:ext cx="8305800" cy="4616648"/>
          </a:xfrm>
          <a:prstGeom prst="rect">
            <a:avLst/>
          </a:prstGeom>
        </p:spPr>
        <p:txBody>
          <a:bodyPr wrap="square">
            <a:spAutoFit/>
          </a:bodyPr>
          <a:lstStyle/>
          <a:p>
            <a:pPr algn="l" rtl="0"/>
            <a:r>
              <a:rPr lang="en-GB" sz="1400" dirty="0">
                <a:latin typeface="Times New Roman" pitchFamily="18" charset="0"/>
                <a:cs typeface="Times New Roman" pitchFamily="18" charset="0"/>
              </a:rPr>
              <a:t> </a:t>
            </a:r>
            <a:r>
              <a:rPr lang="ru-RU" sz="1400" dirty="0">
                <a:latin typeface="Times New Roman" pitchFamily="18" charset="0"/>
                <a:cs typeface="Times New Roman" pitchFamily="18" charset="0"/>
              </a:rPr>
              <a:t>Експериментальне калібрування парціальної та повної чутливості кожного методу інтегральної чутливості композиції диверсних методів проводиться в контексті простору калібрувальних випробувань, що представляє декартове твір , де N = {</a:t>
            </a:r>
            <a:r>
              <a:rPr lang="ru-RU" sz="1400" i="1" dirty="0">
                <a:latin typeface="Times New Roman" pitchFamily="18" charset="0"/>
                <a:cs typeface="Times New Roman" pitchFamily="18" charset="0"/>
              </a:rPr>
              <a:t>n</a:t>
            </a:r>
            <a:r>
              <a:rPr lang="ru-RU" sz="1050" i="1" dirty="0">
                <a:latin typeface="Times New Roman" pitchFamily="18" charset="0"/>
                <a:cs typeface="Times New Roman" pitchFamily="18" charset="0"/>
              </a:rPr>
              <a:t>i</a:t>
            </a:r>
            <a:r>
              <a:rPr lang="ru-RU" sz="1400" dirty="0">
                <a:latin typeface="Times New Roman" pitchFamily="18" charset="0"/>
                <a:cs typeface="Times New Roman" pitchFamily="18" charset="0"/>
              </a:rPr>
              <a:t>} - безліч ін'єкцій тестових дефектів, реалізованих при калібруванні; М = {mj} - безліч методів вимірювання інваріантів, що калібруються, T = {ti} - безліч типів ін'єктованих тестових дефектів або профіль дефектів. ПКІ - визначає безліч (кортеж) результатів - результатів експериментів при калібруванні. Значення елемента Пкі З координатою (ni; mj; tk) може приймати значення 0, якщо тестовий дефект не виявлений, або 1, якщо тестовий дефект виявлений. Ін'єкція кортежу Т=tk, при калібруванні методу М=mj. представляє крок або шар калібрування у просторі ПКІ. На кожному кроці ni для кожного методу mj виконується ітеративна параметрично керована процедура, що включає послідовність операцій:</a:t>
            </a:r>
          </a:p>
          <a:p>
            <a:pPr marL="285750" indent="-285750" algn="l" rtl="0">
              <a:buFontTx/>
              <a:buChar char="-"/>
            </a:pPr>
            <a:r>
              <a:rPr lang="ru-RU" sz="1400" dirty="0">
                <a:latin typeface="Times New Roman" pitchFamily="18" charset="0"/>
                <a:cs typeface="Times New Roman" pitchFamily="18" charset="0"/>
              </a:rPr>
              <a:t>визначення на підставі спектра операцій конкретного проекту програмного забезпечення в адресному просторі точки (адреси) для ін'єкції тестового дефекту;</a:t>
            </a:r>
            <a:endParaRPr lang="en-GB" sz="1400" dirty="0">
              <a:latin typeface="Times New Roman" pitchFamily="18" charset="0"/>
              <a:cs typeface="Times New Roman" pitchFamily="18" charset="0"/>
            </a:endParaRPr>
          </a:p>
          <a:p>
            <a:pPr marL="285750" indent="-285750" algn="l" rtl="0">
              <a:buFontTx/>
              <a:buChar char="-"/>
            </a:pPr>
            <a:r>
              <a:rPr lang="ru-RU" sz="1400" dirty="0">
                <a:latin typeface="Times New Roman" pitchFamily="18" charset="0"/>
                <a:cs typeface="Times New Roman" pitchFamily="18" charset="0"/>
              </a:rPr>
              <a:t>ін'єкція тестового дефекту в інструментовану версію вихідного програмного забезпечення;</a:t>
            </a:r>
            <a:endParaRPr lang="en-GB" sz="1400" dirty="0">
              <a:latin typeface="Times New Roman" pitchFamily="18" charset="0"/>
              <a:cs typeface="Times New Roman" pitchFamily="18" charset="0"/>
            </a:endParaRPr>
          </a:p>
          <a:p>
            <a:pPr marL="285750" indent="-285750" algn="l" rtl="0">
              <a:buFontTx/>
              <a:buChar char="-"/>
            </a:pPr>
            <a:r>
              <a:rPr lang="ru-RU" sz="1400" dirty="0">
                <a:latin typeface="Times New Roman" pitchFamily="18" charset="0"/>
                <a:cs typeface="Times New Roman" pitchFamily="18" charset="0"/>
              </a:rPr>
              <a:t>цикл інтерпретації інструментованої версії вихованця, оснащеної контрольними точками - зондами вимірювання інваріантів, та вилучення тестового дефекту; - реєстрація результатів виявлення дефекту та формування множин виявлених та не виявлених (залишкових) дефектів;</a:t>
            </a:r>
            <a:endParaRPr lang="en-GB" sz="1400" dirty="0">
              <a:latin typeface="Times New Roman" pitchFamily="18" charset="0"/>
              <a:cs typeface="Times New Roman" pitchFamily="18" charset="0"/>
            </a:endParaRPr>
          </a:p>
          <a:p>
            <a:pPr marL="285750" indent="-285750" algn="l" rtl="0">
              <a:buFontTx/>
              <a:buChar char="-"/>
            </a:pPr>
            <a:r>
              <a:rPr lang="ru-RU" sz="1400" dirty="0">
                <a:latin typeface="Times New Roman" pitchFamily="18" charset="0"/>
                <a:cs typeface="Times New Roman" pitchFamily="18" charset="0"/>
              </a:rPr>
              <a:t>формування для кожної пари каліброваних методів поточних значень елементів матриці різноманітності де Di - безліч залишкових дефектів та індикатора I зменшення ймовірності залишкових дефектів;</a:t>
            </a:r>
          </a:p>
        </p:txBody>
      </p:sp>
      <p:sp>
        <p:nvSpPr>
          <p:cNvPr id="16" name="TextBox 15"/>
          <p:cNvSpPr txBox="1"/>
          <p:nvPr/>
        </p:nvSpPr>
        <p:spPr>
          <a:xfrm>
            <a:off x="8686800" y="6372225"/>
            <a:ext cx="447675" cy="369332"/>
          </a:xfrm>
          <a:prstGeom prst="rect">
            <a:avLst/>
          </a:prstGeom>
          <a:noFill/>
        </p:spPr>
        <p:txBody>
          <a:bodyPr wrap="square" rtlCol="0">
            <a:spAutoFit/>
          </a:bodyPr>
          <a:lstStyle/>
          <a:p>
            <a:pPr algn="l" rtl="0"/>
            <a:r>
              <a:rPr lang="en-GB" i="1" dirty="0">
                <a:latin typeface="Times New Roman" pitchFamily="18" charset="0"/>
                <a:cs typeface="Times New Roman" pitchFamily="18" charset="0"/>
              </a:rPr>
              <a:t>14</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920478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0" y="152400"/>
            <a:ext cx="8229600" cy="1200329"/>
          </a:xfrm>
          <a:prstGeom prst="rect">
            <a:avLst/>
          </a:prstGeom>
        </p:spPr>
        <p:txBody>
          <a:bodyPr wrap="square">
            <a:spAutoFit/>
          </a:bodyPr>
          <a:lstStyle/>
          <a:p>
            <a:pPr algn="ctr" rtl="0"/>
            <a:r>
              <a:rPr lang="ru-RU" i="1" dirty="0">
                <a:latin typeface="Times New Roman" pitchFamily="18" charset="0"/>
                <a:cs typeface="Times New Roman" pitchFamily="18" charset="0"/>
              </a:rPr>
              <a:t>11 Model-checking - верифікація критичного ПЗ з використанням моделей темпоральної логіки ПЗ та інваріанто-орієнтованих моделей. Концепція. Моделі ПЗ. Обмеження та граничні можливості в умовах «комбінаторного вибуху» у просторі станів ПЗ.</a:t>
            </a:r>
          </a:p>
        </p:txBody>
      </p:sp>
      <p:sp>
        <p:nvSpPr>
          <p:cNvPr id="6" name="Rectangle 2"/>
          <p:cNvSpPr>
            <a:spLocks noChangeArrowheads="1"/>
          </p:cNvSpPr>
          <p:nvPr/>
        </p:nvSpPr>
        <p:spPr bwMode="auto">
          <a:xfrm>
            <a:off x="304800" y="1707922"/>
            <a:ext cx="86106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fontAlgn="base">
              <a:spcBef>
                <a:spcPct val="0"/>
              </a:spcBef>
              <a:spcAft>
                <a:spcPct val="0"/>
              </a:spcAft>
            </a:pPr>
            <a:r>
              <a:rPr kumimoji="0" lang="en-GB"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ru-RU"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Компоненти схеми формальної верифікації.</a:t>
            </a:r>
            <a:r>
              <a:rPr kumimoji="0" lang="en-GB"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4</a:t>
            </a:r>
            <a:r>
              <a:rPr kumimoji="0" lang="ru-RU"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повинні задовольняти певним вимогам. Модель, що представляє систему, повинна дозволяти уявити поведінку паралельних процесів та їхню взаємодію. Бажано, щоб сам алгоритм верифікації дозволяв автоматично виконати перевірку властивостей систем, які розробляються для практичного застосування. Далі, якщо система задовольняє специфікації, верифікатор повинен підтвердити це. Якщо система не задовольняє специфікації, верифікатор повинен надати контрприклад – ту траєкторію функціонування системи, на якій властивість, що перевіряється, не виконується. Така інформація є надзвичайно важливою для виправлення дефектів. Застосування методу перевірки моделі складається з кількох етапів: моделювання; специфікація; верифікація моделі (підтвердження відповідності моделі системи її специфікації).</a:t>
            </a:r>
          </a:p>
          <a:p>
            <a:pPr lvl="0" algn="l" rtl="0" fontAlgn="base">
              <a:spcBef>
                <a:spcPct val="0"/>
              </a:spcBef>
              <a:spcAft>
                <a:spcPct val="0"/>
              </a:spcAft>
            </a:pPr>
            <a:r>
              <a:rPr kumimoji="0" lang="ru-RU"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p>
        </p:txBody>
      </p:sp>
      <p:pic>
        <p:nvPicPr>
          <p:cNvPr id="8193"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191000"/>
            <a:ext cx="5219700" cy="162877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049832" y="5867400"/>
            <a:ext cx="3198568" cy="307777"/>
          </a:xfrm>
          <a:prstGeom prst="rect">
            <a:avLst/>
          </a:prstGeom>
        </p:spPr>
        <p:txBody>
          <a:bodyPr wrap="none">
            <a:spAutoFit/>
          </a:bodyPr>
          <a:lstStyle/>
          <a:p>
            <a:pPr lvl="0" algn="l" rtl="0" fontAlgn="base">
              <a:spcBef>
                <a:spcPct val="0"/>
              </a:spcBef>
              <a:spcAft>
                <a:spcPct val="0"/>
              </a:spcAft>
            </a:pPr>
            <a:r>
              <a:rPr kumimoji="0" lang="ru-RU"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Малюнок</a:t>
            </a:r>
            <a:r>
              <a:rPr kumimoji="0" lang="en-GB"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4</a:t>
            </a:r>
            <a:r>
              <a:rPr kumimoji="0" lang="ru-RU" sz="1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Загальна схема верифікації</a:t>
            </a:r>
          </a:p>
        </p:txBody>
      </p:sp>
      <p:sp>
        <p:nvSpPr>
          <p:cNvPr id="10" name="TextBox 9"/>
          <p:cNvSpPr txBox="1"/>
          <p:nvPr/>
        </p:nvSpPr>
        <p:spPr>
          <a:xfrm>
            <a:off x="8686800" y="6372225"/>
            <a:ext cx="447675" cy="369332"/>
          </a:xfrm>
          <a:prstGeom prst="rect">
            <a:avLst/>
          </a:prstGeom>
          <a:noFill/>
        </p:spPr>
        <p:txBody>
          <a:bodyPr wrap="square" rtlCol="0">
            <a:spAutoFit/>
          </a:bodyPr>
          <a:lstStyle/>
          <a:p>
            <a:pPr algn="l" rtl="0"/>
            <a:r>
              <a:rPr lang="en-GB" i="1" dirty="0">
                <a:latin typeface="Times New Roman" pitchFamily="18" charset="0"/>
                <a:cs typeface="Times New Roman" pitchFamily="18" charset="0"/>
              </a:rPr>
              <a:t>15</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2739451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61353" y="2514600"/>
            <a:ext cx="7086600" cy="707886"/>
          </a:xfrm>
          <a:prstGeom prst="rect">
            <a:avLst/>
          </a:prstGeom>
          <a:noFill/>
        </p:spPr>
        <p:txBody>
          <a:bodyPr wrap="square" rtlCol="0">
            <a:spAutoFit/>
          </a:bodyPr>
          <a:lstStyle/>
          <a:p>
            <a:pPr algn="ctr" rtl="0"/>
            <a:r>
              <a:rPr lang="ru-RU" sz="4000" i="1" dirty="0">
                <a:effectLst>
                  <a:outerShdw blurRad="38100" dist="38100" dir="2700000" algn="tl">
                    <a:srgbClr val="000000">
                      <a:alpha val="43137"/>
                    </a:srgbClr>
                  </a:outerShdw>
                </a:effectLst>
                <a:latin typeface="Times New Roman" pitchFamily="18" charset="0"/>
                <a:cs typeface="Times New Roman" pitchFamily="18" charset="0"/>
              </a:rPr>
              <a:t>Дякую за увагу</a:t>
            </a:r>
          </a:p>
        </p:txBody>
      </p:sp>
    </p:spTree>
    <p:extLst>
      <p:ext uri="{BB962C8B-B14F-4D97-AF65-F5344CB8AC3E}">
        <p14:creationId xmlns:p14="http://schemas.microsoft.com/office/powerpoint/2010/main" val="192047840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308</TotalTime>
  <Words>2213</Words>
  <Application>Microsoft Office PowerPoint</Application>
  <PresentationFormat>Экран (4:3)</PresentationFormat>
  <Paragraphs>148</Paragraphs>
  <Slides>16</Slides>
  <Notes>1</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16</vt:i4>
      </vt:variant>
    </vt:vector>
  </HeadingPairs>
  <TitlesOfParts>
    <vt:vector size="25" baseType="lpstr">
      <vt:lpstr>Arial</vt:lpstr>
      <vt:lpstr>Calibri</vt:lpstr>
      <vt:lpstr>Franklin Gothic Book</vt:lpstr>
      <vt:lpstr>Franklin Gothic Medium</vt:lpstr>
      <vt:lpstr>Roboto</vt:lpstr>
      <vt:lpstr>Symbol</vt:lpstr>
      <vt:lpstr>Times New Roman</vt:lpstr>
      <vt:lpstr>Wingdings</vt:lpstr>
      <vt:lpstr>Angles</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Gosha</dc:creator>
  <cp:lastModifiedBy>380971674174</cp:lastModifiedBy>
  <cp:revision>23</cp:revision>
  <dcterms:created xsi:type="dcterms:W3CDTF">2018-03-20T13:16:27Z</dcterms:created>
  <dcterms:modified xsi:type="dcterms:W3CDTF">2023-03-27T17:41:14Z</dcterms:modified>
</cp:coreProperties>
</file>